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92" r:id="rId2"/>
  </p:sldMasterIdLst>
  <p:notesMasterIdLst>
    <p:notesMasterId r:id="rId97"/>
  </p:notesMasterIdLst>
  <p:handoutMasterIdLst>
    <p:handoutMasterId r:id="rId98"/>
  </p:handoutMasterIdLst>
  <p:sldIdLst>
    <p:sldId id="256" r:id="rId3"/>
    <p:sldId id="2147474478" r:id="rId4"/>
    <p:sldId id="2147474584" r:id="rId5"/>
    <p:sldId id="2147474485" r:id="rId6"/>
    <p:sldId id="2147474486" r:id="rId7"/>
    <p:sldId id="2147474479" r:id="rId8"/>
    <p:sldId id="2147474483" r:id="rId9"/>
    <p:sldId id="2147474481" r:id="rId10"/>
    <p:sldId id="2147474329" r:id="rId11"/>
    <p:sldId id="2147474484" r:id="rId12"/>
    <p:sldId id="2147474402" r:id="rId13"/>
    <p:sldId id="2147474477" r:id="rId14"/>
    <p:sldId id="2147474482" r:id="rId15"/>
    <p:sldId id="2147474585" r:id="rId16"/>
    <p:sldId id="2147474519" r:id="rId17"/>
    <p:sldId id="2147474523" r:id="rId18"/>
    <p:sldId id="2147474524" r:id="rId19"/>
    <p:sldId id="2147474525" r:id="rId20"/>
    <p:sldId id="2147474526" r:id="rId21"/>
    <p:sldId id="2147474527" r:id="rId22"/>
    <p:sldId id="2147474586" r:id="rId23"/>
    <p:sldId id="2147474471" r:id="rId24"/>
    <p:sldId id="2147474458" r:id="rId25"/>
    <p:sldId id="2147474473" r:id="rId26"/>
    <p:sldId id="2147474404" r:id="rId27"/>
    <p:sldId id="2147474405" r:id="rId28"/>
    <p:sldId id="2147474407" r:id="rId29"/>
    <p:sldId id="2147474408" r:id="rId30"/>
    <p:sldId id="2147474393" r:id="rId31"/>
    <p:sldId id="2147474587" r:id="rId32"/>
    <p:sldId id="2147474515" r:id="rId33"/>
    <p:sldId id="2147474505" r:id="rId34"/>
    <p:sldId id="2147474521" r:id="rId35"/>
    <p:sldId id="2147474529" r:id="rId36"/>
    <p:sldId id="2147474530" r:id="rId37"/>
    <p:sldId id="2147474516" r:id="rId38"/>
    <p:sldId id="2147474502" r:id="rId39"/>
    <p:sldId id="2147474531" r:id="rId40"/>
    <p:sldId id="2147474321" r:id="rId41"/>
    <p:sldId id="2147474504" r:id="rId42"/>
    <p:sldId id="2147474532" r:id="rId43"/>
    <p:sldId id="2147474533" r:id="rId44"/>
    <p:sldId id="2147474332" r:id="rId45"/>
    <p:sldId id="2147474488" r:id="rId46"/>
    <p:sldId id="2147474588" r:id="rId47"/>
    <p:sldId id="2147474475" r:id="rId48"/>
    <p:sldId id="2147474456" r:id="rId49"/>
    <p:sldId id="2147474463" r:id="rId50"/>
    <p:sldId id="2147474412" r:id="rId51"/>
    <p:sldId id="2147474356" r:id="rId52"/>
    <p:sldId id="2147474457" r:id="rId53"/>
    <p:sldId id="2147474357" r:id="rId54"/>
    <p:sldId id="2147474474" r:id="rId55"/>
    <p:sldId id="2147474589" r:id="rId56"/>
    <p:sldId id="2147474541" r:id="rId57"/>
    <p:sldId id="2147474573" r:id="rId58"/>
    <p:sldId id="2147474574" r:id="rId59"/>
    <p:sldId id="2147474568" r:id="rId60"/>
    <p:sldId id="2147474572" r:id="rId61"/>
    <p:sldId id="2147474583" r:id="rId62"/>
    <p:sldId id="2147474545" r:id="rId63"/>
    <p:sldId id="2147474575" r:id="rId64"/>
    <p:sldId id="2147474576" r:id="rId65"/>
    <p:sldId id="350" r:id="rId66"/>
    <p:sldId id="2147474562" r:id="rId67"/>
    <p:sldId id="2147474564" r:id="rId68"/>
    <p:sldId id="2147474577" r:id="rId69"/>
    <p:sldId id="2147474582" r:id="rId70"/>
    <p:sldId id="2147474580" r:id="rId71"/>
    <p:sldId id="2147474581" r:id="rId72"/>
    <p:sldId id="2147474590" r:id="rId73"/>
    <p:sldId id="2147474595" r:id="rId74"/>
    <p:sldId id="2147474597" r:id="rId75"/>
    <p:sldId id="2147474598" r:id="rId76"/>
    <p:sldId id="2147474599" r:id="rId77"/>
    <p:sldId id="2147474600" r:id="rId78"/>
    <p:sldId id="2147474601" r:id="rId79"/>
    <p:sldId id="2147474596" r:id="rId80"/>
    <p:sldId id="2147474537" r:id="rId81"/>
    <p:sldId id="2147474447" r:id="rId82"/>
    <p:sldId id="2147474465" r:id="rId83"/>
    <p:sldId id="2147474461" r:id="rId84"/>
    <p:sldId id="2147474467" r:id="rId85"/>
    <p:sldId id="2147474468" r:id="rId86"/>
    <p:sldId id="2147474440" r:id="rId87"/>
    <p:sldId id="2147474462" r:id="rId88"/>
    <p:sldId id="2147474449" r:id="rId89"/>
    <p:sldId id="2147474444" r:id="rId90"/>
    <p:sldId id="2147474591" r:id="rId91"/>
    <p:sldId id="2147474592" r:id="rId92"/>
    <p:sldId id="2147474593" r:id="rId93"/>
    <p:sldId id="2147474594" r:id="rId94"/>
    <p:sldId id="2147474602" r:id="rId95"/>
    <p:sldId id="2147471497" r:id="rId96"/>
  </p:sldIdLst>
  <p:sldSz cx="12192000" cy="6858000"/>
  <p:notesSz cx="7104063" cy="10234613"/>
  <p:defaultTextStyle>
    <a:defPPr>
      <a:defRPr lang="pt-BR"/>
    </a:defPPr>
    <a:lvl1pPr marL="0" algn="l" defTabSz="1055035" rtl="0" eaLnBrk="1" latinLnBrk="0" hangingPunct="1">
      <a:defRPr sz="2100" kern="1200">
        <a:solidFill>
          <a:schemeClr val="tx1"/>
        </a:solidFill>
        <a:latin typeface="+mn-lt"/>
        <a:ea typeface="+mn-ea"/>
        <a:cs typeface="+mn-cs"/>
      </a:defRPr>
    </a:lvl1pPr>
    <a:lvl2pPr marL="527517" algn="l" defTabSz="1055035" rtl="0" eaLnBrk="1" latinLnBrk="0" hangingPunct="1">
      <a:defRPr sz="2100" kern="1200">
        <a:solidFill>
          <a:schemeClr val="tx1"/>
        </a:solidFill>
        <a:latin typeface="+mn-lt"/>
        <a:ea typeface="+mn-ea"/>
        <a:cs typeface="+mn-cs"/>
      </a:defRPr>
    </a:lvl2pPr>
    <a:lvl3pPr marL="1055035" algn="l" defTabSz="1055035" rtl="0" eaLnBrk="1" latinLnBrk="0" hangingPunct="1">
      <a:defRPr sz="2100" kern="1200">
        <a:solidFill>
          <a:schemeClr val="tx1"/>
        </a:solidFill>
        <a:latin typeface="+mn-lt"/>
        <a:ea typeface="+mn-ea"/>
        <a:cs typeface="+mn-cs"/>
      </a:defRPr>
    </a:lvl3pPr>
    <a:lvl4pPr marL="1582552" algn="l" defTabSz="1055035" rtl="0" eaLnBrk="1" latinLnBrk="0" hangingPunct="1">
      <a:defRPr sz="2100" kern="1200">
        <a:solidFill>
          <a:schemeClr val="tx1"/>
        </a:solidFill>
        <a:latin typeface="+mn-lt"/>
        <a:ea typeface="+mn-ea"/>
        <a:cs typeface="+mn-cs"/>
      </a:defRPr>
    </a:lvl4pPr>
    <a:lvl5pPr marL="2110069" algn="l" defTabSz="1055035" rtl="0" eaLnBrk="1" latinLnBrk="0" hangingPunct="1">
      <a:defRPr sz="2100" kern="1200">
        <a:solidFill>
          <a:schemeClr val="tx1"/>
        </a:solidFill>
        <a:latin typeface="+mn-lt"/>
        <a:ea typeface="+mn-ea"/>
        <a:cs typeface="+mn-cs"/>
      </a:defRPr>
    </a:lvl5pPr>
    <a:lvl6pPr marL="2637587" algn="l" defTabSz="1055035" rtl="0" eaLnBrk="1" latinLnBrk="0" hangingPunct="1">
      <a:defRPr sz="2100" kern="1200">
        <a:solidFill>
          <a:schemeClr val="tx1"/>
        </a:solidFill>
        <a:latin typeface="+mn-lt"/>
        <a:ea typeface="+mn-ea"/>
        <a:cs typeface="+mn-cs"/>
      </a:defRPr>
    </a:lvl6pPr>
    <a:lvl7pPr marL="3165104" algn="l" defTabSz="1055035" rtl="0" eaLnBrk="1" latinLnBrk="0" hangingPunct="1">
      <a:defRPr sz="2100" kern="1200">
        <a:solidFill>
          <a:schemeClr val="tx1"/>
        </a:solidFill>
        <a:latin typeface="+mn-lt"/>
        <a:ea typeface="+mn-ea"/>
        <a:cs typeface="+mn-cs"/>
      </a:defRPr>
    </a:lvl7pPr>
    <a:lvl8pPr marL="3692622" algn="l" defTabSz="1055035" rtl="0" eaLnBrk="1" latinLnBrk="0" hangingPunct="1">
      <a:defRPr sz="2100" kern="1200">
        <a:solidFill>
          <a:schemeClr val="tx1"/>
        </a:solidFill>
        <a:latin typeface="+mn-lt"/>
        <a:ea typeface="+mn-ea"/>
        <a:cs typeface="+mn-cs"/>
      </a:defRPr>
    </a:lvl8pPr>
    <a:lvl9pPr marL="4220139" algn="l" defTabSz="1055035"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AA638489-2EFF-40F7-BD79-F33053E54E73}">
          <p14:sldIdLst>
            <p14:sldId id="256"/>
            <p14:sldId id="2147474478"/>
            <p14:sldId id="2147474584"/>
            <p14:sldId id="2147474485"/>
            <p14:sldId id="2147474486"/>
            <p14:sldId id="2147474479"/>
            <p14:sldId id="2147474483"/>
            <p14:sldId id="2147474481"/>
            <p14:sldId id="2147474329"/>
            <p14:sldId id="2147474484"/>
            <p14:sldId id="2147474402"/>
            <p14:sldId id="2147474477"/>
            <p14:sldId id="2147474482"/>
            <p14:sldId id="2147474585"/>
            <p14:sldId id="2147474519"/>
            <p14:sldId id="2147474523"/>
            <p14:sldId id="2147474524"/>
            <p14:sldId id="2147474525"/>
            <p14:sldId id="2147474526"/>
            <p14:sldId id="2147474527"/>
            <p14:sldId id="2147474586"/>
            <p14:sldId id="2147474471"/>
            <p14:sldId id="2147474458"/>
            <p14:sldId id="2147474473"/>
            <p14:sldId id="2147474404"/>
            <p14:sldId id="2147474405"/>
            <p14:sldId id="2147474407"/>
            <p14:sldId id="2147474408"/>
            <p14:sldId id="2147474393"/>
            <p14:sldId id="2147474587"/>
            <p14:sldId id="2147474515"/>
            <p14:sldId id="2147474505"/>
            <p14:sldId id="2147474521"/>
            <p14:sldId id="2147474529"/>
            <p14:sldId id="2147474530"/>
            <p14:sldId id="2147474516"/>
            <p14:sldId id="2147474502"/>
            <p14:sldId id="2147474531"/>
            <p14:sldId id="2147474321"/>
            <p14:sldId id="2147474504"/>
            <p14:sldId id="2147474532"/>
            <p14:sldId id="2147474533"/>
            <p14:sldId id="2147474332"/>
            <p14:sldId id="2147474488"/>
            <p14:sldId id="2147474588"/>
            <p14:sldId id="2147474475"/>
            <p14:sldId id="2147474456"/>
            <p14:sldId id="2147474463"/>
            <p14:sldId id="2147474412"/>
            <p14:sldId id="2147474356"/>
            <p14:sldId id="2147474457"/>
            <p14:sldId id="2147474357"/>
            <p14:sldId id="2147474474"/>
            <p14:sldId id="2147474589"/>
            <p14:sldId id="2147474541"/>
            <p14:sldId id="2147474573"/>
            <p14:sldId id="2147474574"/>
            <p14:sldId id="2147474568"/>
            <p14:sldId id="2147474572"/>
            <p14:sldId id="2147474583"/>
            <p14:sldId id="2147474545"/>
            <p14:sldId id="2147474575"/>
            <p14:sldId id="2147474576"/>
            <p14:sldId id="350"/>
            <p14:sldId id="2147474562"/>
            <p14:sldId id="2147474564"/>
            <p14:sldId id="2147474577"/>
            <p14:sldId id="2147474582"/>
            <p14:sldId id="2147474580"/>
            <p14:sldId id="2147474581"/>
            <p14:sldId id="2147474590"/>
            <p14:sldId id="2147474595"/>
            <p14:sldId id="2147474597"/>
            <p14:sldId id="2147474598"/>
            <p14:sldId id="2147474599"/>
            <p14:sldId id="2147474600"/>
            <p14:sldId id="2147474601"/>
            <p14:sldId id="2147474596"/>
            <p14:sldId id="2147474537"/>
            <p14:sldId id="2147474447"/>
            <p14:sldId id="2147474465"/>
            <p14:sldId id="2147474461"/>
            <p14:sldId id="2147474467"/>
            <p14:sldId id="2147474468"/>
            <p14:sldId id="2147474440"/>
            <p14:sldId id="2147474462"/>
            <p14:sldId id="2147474449"/>
            <p14:sldId id="2147474444"/>
            <p14:sldId id="2147474591"/>
            <p14:sldId id="2147474592"/>
            <p14:sldId id="2147474593"/>
            <p14:sldId id="2147474594"/>
            <p14:sldId id="2147474602"/>
            <p14:sldId id="214747149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838" userDrawn="1">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igner Moura" initials="" lastIdx="22" clrIdx="0">
    <p:extLst>
      <p:ext uri="{19B8F6BF-5375-455C-9EA6-DF929625EA0E}">
        <p15:presenceInfo xmlns:p15="http://schemas.microsoft.com/office/powerpoint/2012/main" userId="S::lmoura@oceanpact.com::cc4c746c-1be6-4551-bd42-bec91713c299" providerId="AD"/>
      </p:ext>
    </p:extLst>
  </p:cmAuthor>
  <p:cmAuthor id="2" name="Gustavo Sued" initials="GS" lastIdx="3" clrIdx="1">
    <p:extLst>
      <p:ext uri="{19B8F6BF-5375-455C-9EA6-DF929625EA0E}">
        <p15:presenceInfo xmlns:p15="http://schemas.microsoft.com/office/powerpoint/2012/main" userId="S::gustavo.sued@leggiogroup.com::b8c5a26c-4013-438b-b3c1-007ab6a812e6" providerId="AD"/>
      </p:ext>
    </p:extLst>
  </p:cmAuthor>
  <p:cmAuthor id="3" name="Anderson Bravim - Vectis" initials="AG" lastIdx="1" clrIdx="2">
    <p:extLst>
      <p:ext uri="{19B8F6BF-5375-455C-9EA6-DF929625EA0E}">
        <p15:presenceInfo xmlns:p15="http://schemas.microsoft.com/office/powerpoint/2012/main" userId="S::anderson.vectis@oceanpact.com::8a1386db-6f22-443f-bdc1-20540b9c28c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A65"/>
    <a:srgbClr val="FFFFFF"/>
    <a:srgbClr val="009DC3"/>
    <a:srgbClr val="03738E"/>
    <a:srgbClr val="FFFF99"/>
    <a:srgbClr val="FFFF66"/>
    <a:srgbClr val="F4EB7C"/>
    <a:srgbClr val="EFEFF4"/>
    <a:srgbClr val="FEED00"/>
    <a:srgbClr val="007E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Estilo Claro 3 - Ênfase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62" autoAdjust="0"/>
    <p:restoredTop sz="93111" autoAdjust="0"/>
  </p:normalViewPr>
  <p:slideViewPr>
    <p:cSldViewPr>
      <p:cViewPr varScale="1">
        <p:scale>
          <a:sx n="60" d="100"/>
          <a:sy n="60" d="100"/>
        </p:scale>
        <p:origin x="1134" y="72"/>
      </p:cViewPr>
      <p:guideLst>
        <p:guide orient="horz" pos="2160"/>
        <p:guide pos="3840"/>
        <p:guide orient="horz" pos="3838"/>
      </p:guideLst>
    </p:cSldViewPr>
  </p:slideViewPr>
  <p:notesTextViewPr>
    <p:cViewPr>
      <p:scale>
        <a:sx n="3" d="2"/>
        <a:sy n="3" d="2"/>
      </p:scale>
      <p:origin x="0" y="0"/>
    </p:cViewPr>
  </p:notesTextViewPr>
  <p:sorterViewPr>
    <p:cViewPr>
      <p:scale>
        <a:sx n="100" d="100"/>
        <a:sy n="100" d="100"/>
      </p:scale>
      <p:origin x="0" y="-3252"/>
    </p:cViewPr>
  </p:sorterViewPr>
  <p:notesViewPr>
    <p:cSldViewPr>
      <p:cViewPr varScale="1">
        <p:scale>
          <a:sx n="96" d="100"/>
          <a:sy n="96" d="100"/>
        </p:scale>
        <p:origin x="4328" y="17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theme" Target="theme/theme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handoutMaster" Target="handoutMasters/handoutMaster1.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oleObject" Target="https://oceanpact-my.sharepoint.com/personal/anderson_vectis_oceanpact_com/Documents/Documentos/Projeto%20Capex/Bases%20para%20Trabalhar/250325_EXTRA&#199;&#195;O_BI_PCO%20-%20REALIZADO_v01%20(1).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9020472615375611E-2"/>
          <c:y val="3.3165522501906942E-2"/>
          <c:w val="0.91360123706822916"/>
          <c:h val="0.70964662342162144"/>
        </c:manualLayout>
      </c:layout>
      <c:lineChart>
        <c:grouping val="standard"/>
        <c:varyColors val="0"/>
        <c:ser>
          <c:idx val="0"/>
          <c:order val="0"/>
          <c:tx>
            <c:v>Material</c:v>
          </c:tx>
          <c:spPr>
            <a:ln w="28575" cap="rnd">
              <a:solidFill>
                <a:srgbClr val="03738E"/>
              </a:solidFill>
              <a:round/>
            </a:ln>
            <a:effectLst/>
          </c:spPr>
          <c:marker>
            <c:symbol val="none"/>
          </c:marker>
          <c:cat>
            <c:numRef>
              <c:f>'ID23 Curvas Evolução'!$K$7:$K$30</c:f>
              <c:numCache>
                <c:formatCode>General</c:formatCode>
                <c:ptCount val="24"/>
                <c:pt idx="0">
                  <c:v>202304</c:v>
                </c:pt>
                <c:pt idx="1">
                  <c:v>202305</c:v>
                </c:pt>
                <c:pt idx="2">
                  <c:v>202306</c:v>
                </c:pt>
                <c:pt idx="3">
                  <c:v>202307</c:v>
                </c:pt>
                <c:pt idx="4">
                  <c:v>202308</c:v>
                </c:pt>
                <c:pt idx="5">
                  <c:v>202309</c:v>
                </c:pt>
                <c:pt idx="6">
                  <c:v>202310</c:v>
                </c:pt>
                <c:pt idx="7">
                  <c:v>202311</c:v>
                </c:pt>
                <c:pt idx="8">
                  <c:v>202312</c:v>
                </c:pt>
                <c:pt idx="9">
                  <c:v>202401</c:v>
                </c:pt>
                <c:pt idx="10">
                  <c:v>202402</c:v>
                </c:pt>
                <c:pt idx="11">
                  <c:v>202403</c:v>
                </c:pt>
                <c:pt idx="12">
                  <c:v>202404</c:v>
                </c:pt>
                <c:pt idx="13">
                  <c:v>202405</c:v>
                </c:pt>
                <c:pt idx="14">
                  <c:v>202406</c:v>
                </c:pt>
                <c:pt idx="15">
                  <c:v>202407</c:v>
                </c:pt>
                <c:pt idx="16">
                  <c:v>202408</c:v>
                </c:pt>
                <c:pt idx="17">
                  <c:v>202409</c:v>
                </c:pt>
                <c:pt idx="18">
                  <c:v>202410</c:v>
                </c:pt>
                <c:pt idx="19">
                  <c:v>202411</c:v>
                </c:pt>
                <c:pt idx="20">
                  <c:v>202412</c:v>
                </c:pt>
                <c:pt idx="21">
                  <c:v>202501</c:v>
                </c:pt>
                <c:pt idx="22">
                  <c:v>202502</c:v>
                </c:pt>
                <c:pt idx="23">
                  <c:v>202503</c:v>
                </c:pt>
              </c:numCache>
            </c:numRef>
          </c:cat>
          <c:val>
            <c:numRef>
              <c:f>'ID23 Curvas Evolução'!$M$7:$M$30</c:f>
              <c:numCache>
                <c:formatCode>"R$"#,##0_);[Red]\("R$"#,##0\)</c:formatCode>
                <c:ptCount val="24"/>
                <c:pt idx="0">
                  <c:v>0.72383000000000008</c:v>
                </c:pt>
                <c:pt idx="1">
                  <c:v>0.72383000000000008</c:v>
                </c:pt>
                <c:pt idx="2">
                  <c:v>0.72383000000000008</c:v>
                </c:pt>
                <c:pt idx="3">
                  <c:v>0.72383000000000008</c:v>
                </c:pt>
                <c:pt idx="4">
                  <c:v>0.72383000000000008</c:v>
                </c:pt>
                <c:pt idx="5">
                  <c:v>129.44476</c:v>
                </c:pt>
                <c:pt idx="6">
                  <c:v>232.8288</c:v>
                </c:pt>
                <c:pt idx="7">
                  <c:v>258.06254999999999</c:v>
                </c:pt>
                <c:pt idx="8">
                  <c:v>268.27467999999999</c:v>
                </c:pt>
                <c:pt idx="9">
                  <c:v>268.27467999999999</c:v>
                </c:pt>
                <c:pt idx="10">
                  <c:v>268.99178999999998</c:v>
                </c:pt>
                <c:pt idx="11">
                  <c:v>274.21877999999998</c:v>
                </c:pt>
                <c:pt idx="12">
                  <c:v>443.72286999999994</c:v>
                </c:pt>
                <c:pt idx="13">
                  <c:v>1194.4110900000001</c:v>
                </c:pt>
                <c:pt idx="14">
                  <c:v>5285.0036700000001</c:v>
                </c:pt>
                <c:pt idx="15">
                  <c:v>8329.8983200000002</c:v>
                </c:pt>
                <c:pt idx="16">
                  <c:v>9321.3634000000002</c:v>
                </c:pt>
                <c:pt idx="17">
                  <c:v>10198.14659</c:v>
                </c:pt>
                <c:pt idx="18">
                  <c:v>10451.729290000001</c:v>
                </c:pt>
                <c:pt idx="19">
                  <c:v>10660.212440000001</c:v>
                </c:pt>
                <c:pt idx="20">
                  <c:v>10721.08977</c:v>
                </c:pt>
                <c:pt idx="21">
                  <c:v>10722.661380000001</c:v>
                </c:pt>
                <c:pt idx="22">
                  <c:v>10793.115100000001</c:v>
                </c:pt>
                <c:pt idx="23">
                  <c:v>11106.010950000002</c:v>
                </c:pt>
              </c:numCache>
            </c:numRef>
          </c:val>
          <c:smooth val="0"/>
          <c:extLst>
            <c:ext xmlns:c16="http://schemas.microsoft.com/office/drawing/2014/chart" uri="{C3380CC4-5D6E-409C-BE32-E72D297353CC}">
              <c16:uniqueId val="{00000000-FB83-4A11-A4BF-3F9F3AD12C5B}"/>
            </c:ext>
          </c:extLst>
        </c:ser>
        <c:ser>
          <c:idx val="1"/>
          <c:order val="1"/>
          <c:tx>
            <c:v>Serviços - Estaleiro</c:v>
          </c:tx>
          <c:spPr>
            <a:ln w="28575" cap="rnd">
              <a:solidFill>
                <a:srgbClr val="00B9CE"/>
              </a:solidFill>
              <a:round/>
            </a:ln>
            <a:effectLst/>
          </c:spPr>
          <c:marker>
            <c:symbol val="none"/>
          </c:marker>
          <c:cat>
            <c:numRef>
              <c:f>'ID23 Curvas Evolução'!$K$7:$K$30</c:f>
              <c:numCache>
                <c:formatCode>General</c:formatCode>
                <c:ptCount val="24"/>
                <c:pt idx="0">
                  <c:v>202304</c:v>
                </c:pt>
                <c:pt idx="1">
                  <c:v>202305</c:v>
                </c:pt>
                <c:pt idx="2">
                  <c:v>202306</c:v>
                </c:pt>
                <c:pt idx="3">
                  <c:v>202307</c:v>
                </c:pt>
                <c:pt idx="4">
                  <c:v>202308</c:v>
                </c:pt>
                <c:pt idx="5">
                  <c:v>202309</c:v>
                </c:pt>
                <c:pt idx="6">
                  <c:v>202310</c:v>
                </c:pt>
                <c:pt idx="7">
                  <c:v>202311</c:v>
                </c:pt>
                <c:pt idx="8">
                  <c:v>202312</c:v>
                </c:pt>
                <c:pt idx="9">
                  <c:v>202401</c:v>
                </c:pt>
                <c:pt idx="10">
                  <c:v>202402</c:v>
                </c:pt>
                <c:pt idx="11">
                  <c:v>202403</c:v>
                </c:pt>
                <c:pt idx="12">
                  <c:v>202404</c:v>
                </c:pt>
                <c:pt idx="13">
                  <c:v>202405</c:v>
                </c:pt>
                <c:pt idx="14">
                  <c:v>202406</c:v>
                </c:pt>
                <c:pt idx="15">
                  <c:v>202407</c:v>
                </c:pt>
                <c:pt idx="16">
                  <c:v>202408</c:v>
                </c:pt>
                <c:pt idx="17">
                  <c:v>202409</c:v>
                </c:pt>
                <c:pt idx="18">
                  <c:v>202410</c:v>
                </c:pt>
                <c:pt idx="19">
                  <c:v>202411</c:v>
                </c:pt>
                <c:pt idx="20">
                  <c:v>202412</c:v>
                </c:pt>
                <c:pt idx="21">
                  <c:v>202501</c:v>
                </c:pt>
                <c:pt idx="22">
                  <c:v>202502</c:v>
                </c:pt>
                <c:pt idx="23">
                  <c:v>202503</c:v>
                </c:pt>
              </c:numCache>
            </c:numRef>
          </c:cat>
          <c:val>
            <c:numRef>
              <c:f>'ID23 Curvas Evolução'!$O$7:$O$30</c:f>
              <c:numCache>
                <c:formatCode>"R$"#,##0_);[Red]\("R$"#,##0\)</c:formatCode>
                <c:ptCount val="24"/>
                <c:pt idx="0">
                  <c:v>0</c:v>
                </c:pt>
                <c:pt idx="1">
                  <c:v>0</c:v>
                </c:pt>
                <c:pt idx="2">
                  <c:v>0</c:v>
                </c:pt>
                <c:pt idx="3">
                  <c:v>0</c:v>
                </c:pt>
                <c:pt idx="4">
                  <c:v>0</c:v>
                </c:pt>
                <c:pt idx="5">
                  <c:v>156.08445</c:v>
                </c:pt>
                <c:pt idx="6">
                  <c:v>160.47675000000001</c:v>
                </c:pt>
                <c:pt idx="7">
                  <c:v>160.47675000000001</c:v>
                </c:pt>
                <c:pt idx="8">
                  <c:v>160.47675000000001</c:v>
                </c:pt>
                <c:pt idx="9">
                  <c:v>160.47675000000001</c:v>
                </c:pt>
                <c:pt idx="10">
                  <c:v>160.47675000000001</c:v>
                </c:pt>
                <c:pt idx="11">
                  <c:v>160.47675000000001</c:v>
                </c:pt>
                <c:pt idx="12">
                  <c:v>160.47675000000001</c:v>
                </c:pt>
                <c:pt idx="13">
                  <c:v>160.47675000000001</c:v>
                </c:pt>
                <c:pt idx="14">
                  <c:v>160.47675000000001</c:v>
                </c:pt>
                <c:pt idx="15">
                  <c:v>160.47675000000001</c:v>
                </c:pt>
                <c:pt idx="16">
                  <c:v>995.10300000000007</c:v>
                </c:pt>
                <c:pt idx="17">
                  <c:v>3088.7486399999998</c:v>
                </c:pt>
                <c:pt idx="18">
                  <c:v>3088.7486399999998</c:v>
                </c:pt>
                <c:pt idx="19">
                  <c:v>3088.7486399999998</c:v>
                </c:pt>
                <c:pt idx="20">
                  <c:v>3088.7486399999998</c:v>
                </c:pt>
                <c:pt idx="21">
                  <c:v>3088.7486399999998</c:v>
                </c:pt>
                <c:pt idx="22">
                  <c:v>3089.6411999999996</c:v>
                </c:pt>
                <c:pt idx="23">
                  <c:v>3089.6411999999996</c:v>
                </c:pt>
              </c:numCache>
            </c:numRef>
          </c:val>
          <c:smooth val="0"/>
          <c:extLst>
            <c:ext xmlns:c16="http://schemas.microsoft.com/office/drawing/2014/chart" uri="{C3380CC4-5D6E-409C-BE32-E72D297353CC}">
              <c16:uniqueId val="{00000001-FB83-4A11-A4BF-3F9F3AD12C5B}"/>
            </c:ext>
          </c:extLst>
        </c:ser>
        <c:ser>
          <c:idx val="2"/>
          <c:order val="2"/>
          <c:tx>
            <c:v>Serviços - Oficinas</c:v>
          </c:tx>
          <c:spPr>
            <a:ln w="28575" cap="rnd">
              <a:solidFill>
                <a:srgbClr val="FDA30F"/>
              </a:solidFill>
              <a:round/>
            </a:ln>
            <a:effectLst/>
          </c:spPr>
          <c:marker>
            <c:symbol val="none"/>
          </c:marker>
          <c:cat>
            <c:numRef>
              <c:f>'ID23 Curvas Evolução'!$K$7:$K$30</c:f>
              <c:numCache>
                <c:formatCode>General</c:formatCode>
                <c:ptCount val="24"/>
                <c:pt idx="0">
                  <c:v>202304</c:v>
                </c:pt>
                <c:pt idx="1">
                  <c:v>202305</c:v>
                </c:pt>
                <c:pt idx="2">
                  <c:v>202306</c:v>
                </c:pt>
                <c:pt idx="3">
                  <c:v>202307</c:v>
                </c:pt>
                <c:pt idx="4">
                  <c:v>202308</c:v>
                </c:pt>
                <c:pt idx="5">
                  <c:v>202309</c:v>
                </c:pt>
                <c:pt idx="6">
                  <c:v>202310</c:v>
                </c:pt>
                <c:pt idx="7">
                  <c:v>202311</c:v>
                </c:pt>
                <c:pt idx="8">
                  <c:v>202312</c:v>
                </c:pt>
                <c:pt idx="9">
                  <c:v>202401</c:v>
                </c:pt>
                <c:pt idx="10">
                  <c:v>202402</c:v>
                </c:pt>
                <c:pt idx="11">
                  <c:v>202403</c:v>
                </c:pt>
                <c:pt idx="12">
                  <c:v>202404</c:v>
                </c:pt>
                <c:pt idx="13">
                  <c:v>202405</c:v>
                </c:pt>
                <c:pt idx="14">
                  <c:v>202406</c:v>
                </c:pt>
                <c:pt idx="15">
                  <c:v>202407</c:v>
                </c:pt>
                <c:pt idx="16">
                  <c:v>202408</c:v>
                </c:pt>
                <c:pt idx="17">
                  <c:v>202409</c:v>
                </c:pt>
                <c:pt idx="18">
                  <c:v>202410</c:v>
                </c:pt>
                <c:pt idx="19">
                  <c:v>202411</c:v>
                </c:pt>
                <c:pt idx="20">
                  <c:v>202412</c:v>
                </c:pt>
                <c:pt idx="21">
                  <c:v>202501</c:v>
                </c:pt>
                <c:pt idx="22">
                  <c:v>202502</c:v>
                </c:pt>
                <c:pt idx="23">
                  <c:v>202503</c:v>
                </c:pt>
              </c:numCache>
            </c:numRef>
          </c:cat>
          <c:val>
            <c:numRef>
              <c:f>'ID23 Curvas Evolução'!$Q$7:$Q$30</c:f>
              <c:numCache>
                <c:formatCode>"R$"#,##0_);[Red]\("R$"#,##0\)</c:formatCode>
                <c:ptCount val="24"/>
                <c:pt idx="0">
                  <c:v>0</c:v>
                </c:pt>
                <c:pt idx="1">
                  <c:v>0</c:v>
                </c:pt>
                <c:pt idx="2">
                  <c:v>0</c:v>
                </c:pt>
                <c:pt idx="3">
                  <c:v>0</c:v>
                </c:pt>
                <c:pt idx="4">
                  <c:v>0</c:v>
                </c:pt>
                <c:pt idx="5">
                  <c:v>0</c:v>
                </c:pt>
                <c:pt idx="6">
                  <c:v>29.974719999999998</c:v>
                </c:pt>
                <c:pt idx="7">
                  <c:v>51.30097</c:v>
                </c:pt>
                <c:pt idx="8">
                  <c:v>84.958629999999999</c:v>
                </c:pt>
                <c:pt idx="9">
                  <c:v>84.958629999999999</c:v>
                </c:pt>
                <c:pt idx="10">
                  <c:v>84.958629999999999</c:v>
                </c:pt>
                <c:pt idx="11">
                  <c:v>141.94003000000001</c:v>
                </c:pt>
                <c:pt idx="12">
                  <c:v>141.94003000000001</c:v>
                </c:pt>
                <c:pt idx="13">
                  <c:v>141.94003000000001</c:v>
                </c:pt>
                <c:pt idx="14">
                  <c:v>157.57373000000001</c:v>
                </c:pt>
                <c:pt idx="15">
                  <c:v>195.80623000000003</c:v>
                </c:pt>
                <c:pt idx="16">
                  <c:v>463.95654999999999</c:v>
                </c:pt>
                <c:pt idx="17">
                  <c:v>1174.3176900000001</c:v>
                </c:pt>
                <c:pt idx="18">
                  <c:v>1972.87959</c:v>
                </c:pt>
                <c:pt idx="19">
                  <c:v>2090.5216599999999</c:v>
                </c:pt>
                <c:pt idx="20">
                  <c:v>2095.5697999999998</c:v>
                </c:pt>
                <c:pt idx="21">
                  <c:v>2120.7006799999999</c:v>
                </c:pt>
                <c:pt idx="22">
                  <c:v>2120.7006799999999</c:v>
                </c:pt>
                <c:pt idx="23">
                  <c:v>2120.7006799999999</c:v>
                </c:pt>
              </c:numCache>
            </c:numRef>
          </c:val>
          <c:smooth val="0"/>
          <c:extLst>
            <c:ext xmlns:c16="http://schemas.microsoft.com/office/drawing/2014/chart" uri="{C3380CC4-5D6E-409C-BE32-E72D297353CC}">
              <c16:uniqueId val="{00000002-FB83-4A11-A4BF-3F9F3AD12C5B}"/>
            </c:ext>
          </c:extLst>
        </c:ser>
        <c:dLbls>
          <c:showLegendKey val="0"/>
          <c:showVal val="0"/>
          <c:showCatName val="0"/>
          <c:showSerName val="0"/>
          <c:showPercent val="0"/>
          <c:showBubbleSize val="0"/>
        </c:dLbls>
        <c:smooth val="0"/>
        <c:axId val="162721983"/>
        <c:axId val="162722463"/>
      </c:lineChart>
      <c:catAx>
        <c:axId val="162721983"/>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1" i="0" u="none" strike="noStrike" kern="1200" baseline="0">
                <a:solidFill>
                  <a:schemeClr val="tx1">
                    <a:lumMod val="65000"/>
                    <a:lumOff val="35000"/>
                  </a:schemeClr>
                </a:solidFill>
                <a:latin typeface="+mn-lt"/>
                <a:ea typeface="+mn-ea"/>
                <a:cs typeface="+mn-cs"/>
              </a:defRPr>
            </a:pPr>
            <a:endParaRPr lang="pt-BR"/>
          </a:p>
        </c:txPr>
        <c:crossAx val="162722463"/>
        <c:crosses val="autoZero"/>
        <c:auto val="1"/>
        <c:lblAlgn val="ctr"/>
        <c:lblOffset val="100"/>
        <c:noMultiLvlLbl val="0"/>
      </c:catAx>
      <c:valAx>
        <c:axId val="162722463"/>
        <c:scaling>
          <c:orientation val="minMax"/>
        </c:scaling>
        <c:delete val="0"/>
        <c:axPos val="l"/>
        <c:majorGridlines>
          <c:spPr>
            <a:ln w="9525" cap="flat" cmpd="sng" algn="ctr">
              <a:solidFill>
                <a:schemeClr val="tx1">
                  <a:lumMod val="15000"/>
                  <a:lumOff val="85000"/>
                </a:schemeClr>
              </a:solidFill>
              <a:round/>
            </a:ln>
            <a:effectLst/>
          </c:spPr>
        </c:majorGridlines>
        <c:numFmt formatCode="#,##0_);[Red]\(#,##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200" b="1" i="0" u="none" strike="noStrike" kern="1200" baseline="0">
                <a:solidFill>
                  <a:schemeClr val="tx1">
                    <a:lumMod val="65000"/>
                    <a:lumOff val="35000"/>
                  </a:schemeClr>
                </a:solidFill>
                <a:latin typeface="+mn-lt"/>
                <a:ea typeface="+mn-ea"/>
                <a:cs typeface="+mn-cs"/>
              </a:defRPr>
            </a:pPr>
            <a:endParaRPr lang="pt-BR"/>
          </a:p>
        </c:txPr>
        <c:crossAx val="162721983"/>
        <c:crosses val="autoZero"/>
        <c:crossBetween val="between"/>
      </c:valAx>
      <c:spPr>
        <a:noFill/>
        <a:ln>
          <a:noFill/>
        </a:ln>
        <a:effectLst/>
      </c:spPr>
    </c:plotArea>
    <c:legend>
      <c:legendPos val="b"/>
      <c:layout>
        <c:manualLayout>
          <c:xMode val="edge"/>
          <c:yMode val="edge"/>
          <c:x val="0.21756655222172464"/>
          <c:y val="0.92745518858046505"/>
          <c:w val="0.5648667711598746"/>
          <c:h val="6.609739907832464E-2"/>
        </c:manualLayout>
      </c:layout>
      <c:overlay val="0"/>
      <c:spPr>
        <a:noFill/>
        <a:ln>
          <a:noFill/>
        </a:ln>
        <a:effectLst/>
      </c:spPr>
      <c:txPr>
        <a:bodyPr rot="0" spcFirstLastPara="1" vertOverflow="ellipsis" vert="horz" wrap="square" anchor="ctr" anchorCtr="1"/>
        <a:lstStyle/>
        <a:p>
          <a:pPr>
            <a:defRPr lang="en-US" sz="1200" b="1"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8428" cy="511730"/>
          </a:xfrm>
          <a:prstGeom prst="rect">
            <a:avLst/>
          </a:prstGeom>
        </p:spPr>
        <p:txBody>
          <a:bodyPr vert="horz" lIns="94650" tIns="47325" rIns="94650" bIns="47325" rtlCol="0"/>
          <a:lstStyle>
            <a:lvl1pPr algn="l">
              <a:defRPr sz="1200"/>
            </a:lvl1pPr>
          </a:lstStyle>
          <a:p>
            <a:endParaRPr lang="pt-BR"/>
          </a:p>
        </p:txBody>
      </p:sp>
      <p:sp>
        <p:nvSpPr>
          <p:cNvPr id="3" name="Espaço Reservado para Data 2"/>
          <p:cNvSpPr>
            <a:spLocks noGrp="1"/>
          </p:cNvSpPr>
          <p:nvPr>
            <p:ph type="dt" sz="quarter" idx="1"/>
          </p:nvPr>
        </p:nvSpPr>
        <p:spPr>
          <a:xfrm>
            <a:off x="4023991" y="0"/>
            <a:ext cx="3078428" cy="511730"/>
          </a:xfrm>
          <a:prstGeom prst="rect">
            <a:avLst/>
          </a:prstGeom>
        </p:spPr>
        <p:txBody>
          <a:bodyPr vert="horz" lIns="94650" tIns="47325" rIns="94650" bIns="47325" rtlCol="0"/>
          <a:lstStyle>
            <a:lvl1pPr algn="r">
              <a:defRPr sz="1200"/>
            </a:lvl1pPr>
          </a:lstStyle>
          <a:p>
            <a:fld id="{D855BD43-A7CB-4E09-85EC-D1218AA13ED0}" type="datetimeFigureOut">
              <a:rPr lang="pt-BR" smtClean="0"/>
              <a:t>29/12/2025</a:t>
            </a:fld>
            <a:endParaRPr lang="pt-BR"/>
          </a:p>
        </p:txBody>
      </p:sp>
      <p:sp>
        <p:nvSpPr>
          <p:cNvPr id="4" name="Espaço Reservado para Rodapé 3"/>
          <p:cNvSpPr>
            <a:spLocks noGrp="1"/>
          </p:cNvSpPr>
          <p:nvPr>
            <p:ph type="ftr" sz="quarter" idx="2"/>
          </p:nvPr>
        </p:nvSpPr>
        <p:spPr>
          <a:xfrm>
            <a:off x="0" y="9721107"/>
            <a:ext cx="3078428" cy="511730"/>
          </a:xfrm>
          <a:prstGeom prst="rect">
            <a:avLst/>
          </a:prstGeom>
        </p:spPr>
        <p:txBody>
          <a:bodyPr vert="horz" lIns="94650" tIns="47325" rIns="94650" bIns="47325"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4023991" y="9721107"/>
            <a:ext cx="3078428" cy="511730"/>
          </a:xfrm>
          <a:prstGeom prst="rect">
            <a:avLst/>
          </a:prstGeom>
        </p:spPr>
        <p:txBody>
          <a:bodyPr vert="horz" lIns="94650" tIns="47325" rIns="94650" bIns="47325" rtlCol="0" anchor="b"/>
          <a:lstStyle>
            <a:lvl1pPr algn="r">
              <a:defRPr sz="1200"/>
            </a:lvl1pPr>
          </a:lstStyle>
          <a:p>
            <a:fld id="{AB29FC6C-5ED0-412A-A1EF-634DA65D3B63}" type="slidenum">
              <a:rPr lang="pt-BR" smtClean="0"/>
              <a:t>‹nº›</a:t>
            </a:fld>
            <a:endParaRPr lang="pt-BR"/>
          </a:p>
        </p:txBody>
      </p:sp>
    </p:spTree>
    <p:extLst>
      <p:ext uri="{BB962C8B-B14F-4D97-AF65-F5344CB8AC3E}">
        <p14:creationId xmlns:p14="http://schemas.microsoft.com/office/powerpoint/2010/main" val="2540831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078428" cy="511730"/>
          </a:xfrm>
          <a:prstGeom prst="rect">
            <a:avLst/>
          </a:prstGeom>
        </p:spPr>
        <p:txBody>
          <a:bodyPr vert="horz" lIns="94650" tIns="47325" rIns="94650" bIns="47325" rtlCol="0"/>
          <a:lstStyle>
            <a:lvl1pPr algn="l">
              <a:defRPr sz="1200"/>
            </a:lvl1pPr>
          </a:lstStyle>
          <a:p>
            <a:endParaRPr lang="pt-BR"/>
          </a:p>
        </p:txBody>
      </p:sp>
      <p:sp>
        <p:nvSpPr>
          <p:cNvPr id="3" name="Espaço Reservado para Data 2"/>
          <p:cNvSpPr>
            <a:spLocks noGrp="1"/>
          </p:cNvSpPr>
          <p:nvPr>
            <p:ph type="dt" idx="1"/>
          </p:nvPr>
        </p:nvSpPr>
        <p:spPr>
          <a:xfrm>
            <a:off x="4023991" y="0"/>
            <a:ext cx="3078428" cy="511730"/>
          </a:xfrm>
          <a:prstGeom prst="rect">
            <a:avLst/>
          </a:prstGeom>
        </p:spPr>
        <p:txBody>
          <a:bodyPr vert="horz" lIns="94650" tIns="47325" rIns="94650" bIns="47325" rtlCol="0"/>
          <a:lstStyle>
            <a:lvl1pPr algn="r">
              <a:defRPr sz="1200"/>
            </a:lvl1pPr>
          </a:lstStyle>
          <a:p>
            <a:fld id="{446A844E-D240-4F27-B497-BEEF03AF6ED2}" type="datetimeFigureOut">
              <a:rPr lang="pt-BR" smtClean="0"/>
              <a:t>29/12/2025</a:t>
            </a:fld>
            <a:endParaRPr lang="pt-BR"/>
          </a:p>
        </p:txBody>
      </p:sp>
      <p:sp>
        <p:nvSpPr>
          <p:cNvPr id="4" name="Espaço Reservado para Imagem de Slide 3"/>
          <p:cNvSpPr>
            <a:spLocks noGrp="1" noRot="1" noChangeAspect="1"/>
          </p:cNvSpPr>
          <p:nvPr>
            <p:ph type="sldImg" idx="2"/>
          </p:nvPr>
        </p:nvSpPr>
        <p:spPr>
          <a:xfrm>
            <a:off x="141288" y="768350"/>
            <a:ext cx="6821487" cy="3836988"/>
          </a:xfrm>
          <a:prstGeom prst="rect">
            <a:avLst/>
          </a:prstGeom>
          <a:noFill/>
          <a:ln w="12700">
            <a:solidFill>
              <a:prstClr val="black"/>
            </a:solidFill>
          </a:ln>
        </p:spPr>
        <p:txBody>
          <a:bodyPr vert="horz" lIns="94650" tIns="47325" rIns="94650" bIns="47325" rtlCol="0" anchor="ctr"/>
          <a:lstStyle/>
          <a:p>
            <a:endParaRPr lang="pt-BR"/>
          </a:p>
        </p:txBody>
      </p:sp>
      <p:sp>
        <p:nvSpPr>
          <p:cNvPr id="5" name="Espaço Reservado para Anotações 4"/>
          <p:cNvSpPr>
            <a:spLocks noGrp="1"/>
          </p:cNvSpPr>
          <p:nvPr>
            <p:ph type="body" sz="quarter" idx="3"/>
          </p:nvPr>
        </p:nvSpPr>
        <p:spPr>
          <a:xfrm>
            <a:off x="710407" y="4861442"/>
            <a:ext cx="5683250" cy="4605576"/>
          </a:xfrm>
          <a:prstGeom prst="rect">
            <a:avLst/>
          </a:prstGeom>
        </p:spPr>
        <p:txBody>
          <a:bodyPr vert="horz" lIns="94650" tIns="47325" rIns="94650" bIns="47325"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721107"/>
            <a:ext cx="3078428" cy="511730"/>
          </a:xfrm>
          <a:prstGeom prst="rect">
            <a:avLst/>
          </a:prstGeom>
        </p:spPr>
        <p:txBody>
          <a:bodyPr vert="horz" lIns="94650" tIns="47325" rIns="94650" bIns="47325"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4023991" y="9721107"/>
            <a:ext cx="3078428" cy="511730"/>
          </a:xfrm>
          <a:prstGeom prst="rect">
            <a:avLst/>
          </a:prstGeom>
        </p:spPr>
        <p:txBody>
          <a:bodyPr vert="horz" lIns="94650" tIns="47325" rIns="94650" bIns="47325" rtlCol="0" anchor="b"/>
          <a:lstStyle>
            <a:lvl1pPr algn="r">
              <a:defRPr sz="1200"/>
            </a:lvl1pPr>
          </a:lstStyle>
          <a:p>
            <a:fld id="{377FFAA5-5653-4E35-A9F8-3278F48CA81E}" type="slidenum">
              <a:rPr lang="pt-BR" smtClean="0"/>
              <a:t>‹nº›</a:t>
            </a:fld>
            <a:endParaRPr lang="pt-BR"/>
          </a:p>
        </p:txBody>
      </p:sp>
    </p:spTree>
    <p:extLst>
      <p:ext uri="{BB962C8B-B14F-4D97-AF65-F5344CB8AC3E}">
        <p14:creationId xmlns:p14="http://schemas.microsoft.com/office/powerpoint/2010/main" val="2000206073"/>
      </p:ext>
    </p:extLst>
  </p:cSld>
  <p:clrMap bg1="lt1" tx1="dk1" bg2="lt2" tx2="dk2" accent1="accent1" accent2="accent2" accent3="accent3" accent4="accent4" accent5="accent5" accent6="accent6" hlink="hlink" folHlink="folHlink"/>
  <p:notesStyle>
    <a:lvl1pPr marL="0" algn="l" defTabSz="1055035" rtl="0" eaLnBrk="1" latinLnBrk="0" hangingPunct="1">
      <a:defRPr sz="1400" kern="1200">
        <a:solidFill>
          <a:schemeClr val="tx1"/>
        </a:solidFill>
        <a:latin typeface="+mn-lt"/>
        <a:ea typeface="+mn-ea"/>
        <a:cs typeface="+mn-cs"/>
      </a:defRPr>
    </a:lvl1pPr>
    <a:lvl2pPr marL="527517" algn="l" defTabSz="1055035" rtl="0" eaLnBrk="1" latinLnBrk="0" hangingPunct="1">
      <a:defRPr sz="1400" kern="1200">
        <a:solidFill>
          <a:schemeClr val="tx1"/>
        </a:solidFill>
        <a:latin typeface="+mn-lt"/>
        <a:ea typeface="+mn-ea"/>
        <a:cs typeface="+mn-cs"/>
      </a:defRPr>
    </a:lvl2pPr>
    <a:lvl3pPr marL="1055035" algn="l" defTabSz="1055035" rtl="0" eaLnBrk="1" latinLnBrk="0" hangingPunct="1">
      <a:defRPr sz="1400" kern="1200">
        <a:solidFill>
          <a:schemeClr val="tx1"/>
        </a:solidFill>
        <a:latin typeface="+mn-lt"/>
        <a:ea typeface="+mn-ea"/>
        <a:cs typeface="+mn-cs"/>
      </a:defRPr>
    </a:lvl3pPr>
    <a:lvl4pPr marL="1582552" algn="l" defTabSz="1055035" rtl="0" eaLnBrk="1" latinLnBrk="0" hangingPunct="1">
      <a:defRPr sz="1400" kern="1200">
        <a:solidFill>
          <a:schemeClr val="tx1"/>
        </a:solidFill>
        <a:latin typeface="+mn-lt"/>
        <a:ea typeface="+mn-ea"/>
        <a:cs typeface="+mn-cs"/>
      </a:defRPr>
    </a:lvl4pPr>
    <a:lvl5pPr marL="2110069" algn="l" defTabSz="1055035" rtl="0" eaLnBrk="1" latinLnBrk="0" hangingPunct="1">
      <a:defRPr sz="1400" kern="1200">
        <a:solidFill>
          <a:schemeClr val="tx1"/>
        </a:solidFill>
        <a:latin typeface="+mn-lt"/>
        <a:ea typeface="+mn-ea"/>
        <a:cs typeface="+mn-cs"/>
      </a:defRPr>
    </a:lvl5pPr>
    <a:lvl6pPr marL="2637587" algn="l" defTabSz="1055035" rtl="0" eaLnBrk="1" latinLnBrk="0" hangingPunct="1">
      <a:defRPr sz="1400" kern="1200">
        <a:solidFill>
          <a:schemeClr val="tx1"/>
        </a:solidFill>
        <a:latin typeface="+mn-lt"/>
        <a:ea typeface="+mn-ea"/>
        <a:cs typeface="+mn-cs"/>
      </a:defRPr>
    </a:lvl6pPr>
    <a:lvl7pPr marL="3165104" algn="l" defTabSz="1055035" rtl="0" eaLnBrk="1" latinLnBrk="0" hangingPunct="1">
      <a:defRPr sz="1400" kern="1200">
        <a:solidFill>
          <a:schemeClr val="tx1"/>
        </a:solidFill>
        <a:latin typeface="+mn-lt"/>
        <a:ea typeface="+mn-ea"/>
        <a:cs typeface="+mn-cs"/>
      </a:defRPr>
    </a:lvl7pPr>
    <a:lvl8pPr marL="3692622" algn="l" defTabSz="1055035" rtl="0" eaLnBrk="1" latinLnBrk="0" hangingPunct="1">
      <a:defRPr sz="1400" kern="1200">
        <a:solidFill>
          <a:schemeClr val="tx1"/>
        </a:solidFill>
        <a:latin typeface="+mn-lt"/>
        <a:ea typeface="+mn-ea"/>
        <a:cs typeface="+mn-cs"/>
      </a:defRPr>
    </a:lvl8pPr>
    <a:lvl9pPr marL="4220139" algn="l" defTabSz="1055035"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R" dirty="0"/>
          </a:p>
        </p:txBody>
      </p:sp>
      <p:sp>
        <p:nvSpPr>
          <p:cNvPr id="4" name="Slide Number Placeholder 3"/>
          <p:cNvSpPr>
            <a:spLocks noGrp="1"/>
          </p:cNvSpPr>
          <p:nvPr>
            <p:ph type="sldNum" sz="quarter" idx="5"/>
          </p:nvPr>
        </p:nvSpPr>
        <p:spPr/>
        <p:txBody>
          <a:bodyPr/>
          <a:lstStyle/>
          <a:p>
            <a:fld id="{377FFAA5-5653-4E35-A9F8-3278F48CA81E}" type="slidenum">
              <a:rPr lang="pt-BR" smtClean="0"/>
              <a:t>1</a:t>
            </a:fld>
            <a:endParaRPr lang="pt-BR"/>
          </a:p>
        </p:txBody>
      </p:sp>
    </p:spTree>
    <p:extLst>
      <p:ext uri="{BB962C8B-B14F-4D97-AF65-F5344CB8AC3E}">
        <p14:creationId xmlns:p14="http://schemas.microsoft.com/office/powerpoint/2010/main" val="808640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DE82C-46D8-8C31-B29A-B642BD32E9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E216E-109E-52E6-1616-57DB20174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906EA-BCF5-E165-9F72-104CAC835631}"/>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65CA96E0-135C-627C-9CA8-0D8EE1B47F14}"/>
              </a:ext>
            </a:extLst>
          </p:cNvPr>
          <p:cNvSpPr>
            <a:spLocks noGrp="1"/>
          </p:cNvSpPr>
          <p:nvPr>
            <p:ph type="sldNum" sz="quarter" idx="5"/>
          </p:nvPr>
        </p:nvSpPr>
        <p:spPr/>
        <p:txBody>
          <a:bodyPr/>
          <a:lstStyle/>
          <a:p>
            <a:fld id="{377FFAA5-5653-4E35-A9F8-3278F48CA81E}" type="slidenum">
              <a:rPr lang="pt-BR" smtClean="0"/>
              <a:t>2</a:t>
            </a:fld>
            <a:endParaRPr lang="pt-BR"/>
          </a:p>
        </p:txBody>
      </p:sp>
    </p:spTree>
    <p:extLst>
      <p:ext uri="{BB962C8B-B14F-4D97-AF65-F5344CB8AC3E}">
        <p14:creationId xmlns:p14="http://schemas.microsoft.com/office/powerpoint/2010/main" val="535505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6518-B8FC-798B-DE41-BED0B27EDC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B7234-CAD3-0E6A-23FE-4BD2852407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389C01-D207-93FB-1B46-C28E08552C4D}"/>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B9356705-4542-13AE-E3CF-D6C88EA48FBB}"/>
              </a:ext>
            </a:extLst>
          </p:cNvPr>
          <p:cNvSpPr>
            <a:spLocks noGrp="1"/>
          </p:cNvSpPr>
          <p:nvPr>
            <p:ph type="sldNum" sz="quarter" idx="5"/>
          </p:nvPr>
        </p:nvSpPr>
        <p:spPr/>
        <p:txBody>
          <a:bodyPr/>
          <a:lstStyle/>
          <a:p>
            <a:fld id="{377FFAA5-5653-4E35-A9F8-3278F48CA81E}" type="slidenum">
              <a:rPr lang="pt-BR" smtClean="0"/>
              <a:t>3</a:t>
            </a:fld>
            <a:endParaRPr lang="pt-BR"/>
          </a:p>
        </p:txBody>
      </p:sp>
    </p:spTree>
    <p:extLst>
      <p:ext uri="{BB962C8B-B14F-4D97-AF65-F5344CB8AC3E}">
        <p14:creationId xmlns:p14="http://schemas.microsoft.com/office/powerpoint/2010/main" val="1365794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52F5-D3C3-94CA-D839-5DA382DEE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AA1C4-438D-5316-C0B5-52A8CB590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B70A6-0967-9672-AFC3-EFEF600E0E98}"/>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5F6D6A20-94E3-56D5-05B7-6209B1955247}"/>
              </a:ext>
            </a:extLst>
          </p:cNvPr>
          <p:cNvSpPr>
            <a:spLocks noGrp="1"/>
          </p:cNvSpPr>
          <p:nvPr>
            <p:ph type="sldNum" sz="quarter" idx="5"/>
          </p:nvPr>
        </p:nvSpPr>
        <p:spPr/>
        <p:txBody>
          <a:bodyPr/>
          <a:lstStyle/>
          <a:p>
            <a:fld id="{377FFAA5-5653-4E35-A9F8-3278F48CA81E}" type="slidenum">
              <a:rPr lang="pt-BR" smtClean="0"/>
              <a:t>6</a:t>
            </a:fld>
            <a:endParaRPr lang="pt-BR"/>
          </a:p>
        </p:txBody>
      </p:sp>
    </p:spTree>
    <p:extLst>
      <p:ext uri="{BB962C8B-B14F-4D97-AF65-F5344CB8AC3E}">
        <p14:creationId xmlns:p14="http://schemas.microsoft.com/office/powerpoint/2010/main" val="2948119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AD94-2641-759E-2922-275059B55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9471E-DC72-C01C-3439-B83DC9075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1EB57-6F32-301E-162E-22A8DA339C31}"/>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58E7B5A6-BC64-9F23-3E18-4CF8D5098A51}"/>
              </a:ext>
            </a:extLst>
          </p:cNvPr>
          <p:cNvSpPr>
            <a:spLocks noGrp="1"/>
          </p:cNvSpPr>
          <p:nvPr>
            <p:ph type="sldNum" sz="quarter" idx="5"/>
          </p:nvPr>
        </p:nvSpPr>
        <p:spPr/>
        <p:txBody>
          <a:bodyPr/>
          <a:lstStyle/>
          <a:p>
            <a:fld id="{377FFAA5-5653-4E35-A9F8-3278F48CA81E}" type="slidenum">
              <a:rPr lang="pt-BR" smtClean="0"/>
              <a:t>15</a:t>
            </a:fld>
            <a:endParaRPr lang="pt-BR"/>
          </a:p>
        </p:txBody>
      </p:sp>
    </p:spTree>
    <p:extLst>
      <p:ext uri="{BB962C8B-B14F-4D97-AF65-F5344CB8AC3E}">
        <p14:creationId xmlns:p14="http://schemas.microsoft.com/office/powerpoint/2010/main" val="22058968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8BDF7-1AA2-AD89-62BD-E59FC2F55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391A22-A046-F879-D690-8A7B27A50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363E6-1C4B-8B58-9E62-D9DADF0411A3}"/>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21F528EB-2D91-2610-FD5F-56B5FD996E78}"/>
              </a:ext>
            </a:extLst>
          </p:cNvPr>
          <p:cNvSpPr>
            <a:spLocks noGrp="1"/>
          </p:cNvSpPr>
          <p:nvPr>
            <p:ph type="sldNum" sz="quarter" idx="5"/>
          </p:nvPr>
        </p:nvSpPr>
        <p:spPr/>
        <p:txBody>
          <a:bodyPr/>
          <a:lstStyle/>
          <a:p>
            <a:fld id="{377FFAA5-5653-4E35-A9F8-3278F48CA81E}" type="slidenum">
              <a:rPr lang="pt-BR" smtClean="0"/>
              <a:t>22</a:t>
            </a:fld>
            <a:endParaRPr lang="pt-BR"/>
          </a:p>
        </p:txBody>
      </p:sp>
    </p:spTree>
    <p:extLst>
      <p:ext uri="{BB962C8B-B14F-4D97-AF65-F5344CB8AC3E}">
        <p14:creationId xmlns:p14="http://schemas.microsoft.com/office/powerpoint/2010/main" val="40199122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E14F8-D0D6-B31C-4626-00F3F883C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A6F87-E6A9-853A-656F-3757E8153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8504E4-6A03-353D-6999-B9E0D56DEB6C}"/>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4D71B1E7-B294-4B64-0BFE-09C5F22A0B8F}"/>
              </a:ext>
            </a:extLst>
          </p:cNvPr>
          <p:cNvSpPr>
            <a:spLocks noGrp="1"/>
          </p:cNvSpPr>
          <p:nvPr>
            <p:ph type="sldNum" sz="quarter" idx="5"/>
          </p:nvPr>
        </p:nvSpPr>
        <p:spPr/>
        <p:txBody>
          <a:bodyPr/>
          <a:lstStyle/>
          <a:p>
            <a:fld id="{377FFAA5-5653-4E35-A9F8-3278F48CA81E}" type="slidenum">
              <a:rPr lang="pt-BR" smtClean="0"/>
              <a:t>31</a:t>
            </a:fld>
            <a:endParaRPr lang="pt-BR"/>
          </a:p>
        </p:txBody>
      </p:sp>
    </p:spTree>
    <p:extLst>
      <p:ext uri="{BB962C8B-B14F-4D97-AF65-F5344CB8AC3E}">
        <p14:creationId xmlns:p14="http://schemas.microsoft.com/office/powerpoint/2010/main" val="3199680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0437A-CD61-E329-0C55-7123E8D0F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5F58B-FA83-C1E7-60E3-96C6D79A1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47AC99-7D79-04EB-44BF-6EBD914371DE}"/>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57790D79-FBA6-78AD-C36B-4F2F38B499EB}"/>
              </a:ext>
            </a:extLst>
          </p:cNvPr>
          <p:cNvSpPr>
            <a:spLocks noGrp="1"/>
          </p:cNvSpPr>
          <p:nvPr>
            <p:ph type="sldNum" sz="quarter" idx="5"/>
          </p:nvPr>
        </p:nvSpPr>
        <p:spPr/>
        <p:txBody>
          <a:bodyPr/>
          <a:lstStyle/>
          <a:p>
            <a:fld id="{377FFAA5-5653-4E35-A9F8-3278F48CA81E}" type="slidenum">
              <a:rPr lang="pt-BR" smtClean="0"/>
              <a:t>46</a:t>
            </a:fld>
            <a:endParaRPr lang="pt-BR"/>
          </a:p>
        </p:txBody>
      </p:sp>
    </p:spTree>
    <p:extLst>
      <p:ext uri="{BB962C8B-B14F-4D97-AF65-F5344CB8AC3E}">
        <p14:creationId xmlns:p14="http://schemas.microsoft.com/office/powerpoint/2010/main" val="29910283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C47C6-56F3-A0C6-215E-D18545D6B2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5BA9C8-D716-A920-67F4-85DDC2975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02446-D61D-4871-CD70-1C53B176761E}"/>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B2FC7B21-1C82-62CD-8570-D300EE63981C}"/>
              </a:ext>
            </a:extLst>
          </p:cNvPr>
          <p:cNvSpPr>
            <a:spLocks noGrp="1"/>
          </p:cNvSpPr>
          <p:nvPr>
            <p:ph type="sldNum" sz="quarter" idx="5"/>
          </p:nvPr>
        </p:nvSpPr>
        <p:spPr/>
        <p:txBody>
          <a:bodyPr/>
          <a:lstStyle/>
          <a:p>
            <a:fld id="{377FFAA5-5653-4E35-A9F8-3278F48CA81E}" type="slidenum">
              <a:rPr lang="pt-BR" smtClean="0"/>
              <a:t>55</a:t>
            </a:fld>
            <a:endParaRPr lang="pt-BR"/>
          </a:p>
        </p:txBody>
      </p:sp>
    </p:spTree>
    <p:extLst>
      <p:ext uri="{BB962C8B-B14F-4D97-AF65-F5344CB8AC3E}">
        <p14:creationId xmlns:p14="http://schemas.microsoft.com/office/powerpoint/2010/main" val="1954130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B3FE4-3FA8-A2A2-227E-010C7F303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59390-5E6E-0E80-4667-C6269509D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71376-D866-619C-EDEB-BCC8E8B9D6E4}"/>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1D33B47F-F8BB-C36E-DBE0-CFB05CE90E02}"/>
              </a:ext>
            </a:extLst>
          </p:cNvPr>
          <p:cNvSpPr>
            <a:spLocks noGrp="1"/>
          </p:cNvSpPr>
          <p:nvPr>
            <p:ph type="sldNum" sz="quarter" idx="5"/>
          </p:nvPr>
        </p:nvSpPr>
        <p:spPr/>
        <p:txBody>
          <a:bodyPr/>
          <a:lstStyle/>
          <a:p>
            <a:fld id="{377FFAA5-5653-4E35-A9F8-3278F48CA81E}" type="slidenum">
              <a:rPr lang="pt-BR" smtClean="0"/>
              <a:t>72</a:t>
            </a:fld>
            <a:endParaRPr lang="pt-BR"/>
          </a:p>
        </p:txBody>
      </p:sp>
    </p:spTree>
    <p:extLst>
      <p:ext uri="{BB962C8B-B14F-4D97-AF65-F5344CB8AC3E}">
        <p14:creationId xmlns:p14="http://schemas.microsoft.com/office/powerpoint/2010/main" val="907454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A0D2E-5DC8-AEA5-E3DF-6E4B5918D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1F558-3F89-05AC-539A-7BB961426D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A536EC-C4A0-1DA5-34B0-CA51552AAEA0}"/>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A0D261D4-474E-FD55-6DC6-4164F5A05ED1}"/>
              </a:ext>
            </a:extLst>
          </p:cNvPr>
          <p:cNvSpPr>
            <a:spLocks noGrp="1"/>
          </p:cNvSpPr>
          <p:nvPr>
            <p:ph type="sldNum" sz="quarter" idx="5"/>
          </p:nvPr>
        </p:nvSpPr>
        <p:spPr/>
        <p:txBody>
          <a:bodyPr/>
          <a:lstStyle/>
          <a:p>
            <a:fld id="{377FFAA5-5653-4E35-A9F8-3278F48CA81E}" type="slidenum">
              <a:rPr lang="pt-BR" smtClean="0"/>
              <a:t>74</a:t>
            </a:fld>
            <a:endParaRPr lang="pt-BR"/>
          </a:p>
        </p:txBody>
      </p:sp>
    </p:spTree>
    <p:extLst>
      <p:ext uri="{BB962C8B-B14F-4D97-AF65-F5344CB8AC3E}">
        <p14:creationId xmlns:p14="http://schemas.microsoft.com/office/powerpoint/2010/main" val="3217665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052F5-D3C3-94CA-D839-5DA382DEE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AA1C4-438D-5316-C0B5-52A8CB5906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B70A6-0967-9672-AFC3-EFEF600E0E98}"/>
              </a:ext>
            </a:extLst>
          </p:cNvPr>
          <p:cNvSpPr>
            <a:spLocks noGrp="1"/>
          </p:cNvSpPr>
          <p:nvPr>
            <p:ph type="body" idx="1"/>
          </p:nvPr>
        </p:nvSpPr>
        <p:spPr/>
        <p:txBody>
          <a:bodyPr/>
          <a:lstStyle/>
          <a:p>
            <a:r>
              <a:rPr lang="en-BR" dirty="0"/>
              <a:t>Fontes:</a:t>
            </a:r>
            <a:br>
              <a:rPr lang="en-BR" dirty="0"/>
            </a:br>
            <a:r>
              <a:rPr lang="en-BR" dirty="0"/>
              <a:t>- Linha do Tempo = OceanPact Day</a:t>
            </a:r>
            <a:br>
              <a:rPr lang="en-BR" dirty="0"/>
            </a:br>
            <a:r>
              <a:rPr lang="en-BR" dirty="0"/>
              <a:t>- Comissionamento = </a:t>
            </a:r>
          </a:p>
        </p:txBody>
      </p:sp>
      <p:sp>
        <p:nvSpPr>
          <p:cNvPr id="4" name="Slide Number Placeholder 3">
            <a:extLst>
              <a:ext uri="{FF2B5EF4-FFF2-40B4-BE49-F238E27FC236}">
                <a16:creationId xmlns:a16="http://schemas.microsoft.com/office/drawing/2014/main" id="{5F6D6A20-94E3-56D5-05B7-6209B1955247}"/>
              </a:ext>
            </a:extLst>
          </p:cNvPr>
          <p:cNvSpPr>
            <a:spLocks noGrp="1"/>
          </p:cNvSpPr>
          <p:nvPr>
            <p:ph type="sldNum" sz="quarter" idx="5"/>
          </p:nvPr>
        </p:nvSpPr>
        <p:spPr/>
        <p:txBody>
          <a:bodyPr/>
          <a:lstStyle/>
          <a:p>
            <a:fld id="{377FFAA5-5653-4E35-A9F8-3278F48CA81E}" type="slidenum">
              <a:rPr lang="pt-BR" smtClean="0"/>
              <a:t>79</a:t>
            </a:fld>
            <a:endParaRPr lang="pt-BR"/>
          </a:p>
        </p:txBody>
      </p:sp>
    </p:spTree>
    <p:extLst>
      <p:ext uri="{BB962C8B-B14F-4D97-AF65-F5344CB8AC3E}">
        <p14:creationId xmlns:p14="http://schemas.microsoft.com/office/powerpoint/2010/main" val="29481191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8.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údo com Legenda">
    <p:spTree>
      <p:nvGrpSpPr>
        <p:cNvPr id="1" name=""/>
        <p:cNvGrpSpPr/>
        <p:nvPr/>
      </p:nvGrpSpPr>
      <p:grpSpPr>
        <a:xfrm>
          <a:off x="0" y="0"/>
          <a:ext cx="0" cy="0"/>
          <a:chOff x="0" y="0"/>
          <a:chExt cx="0" cy="0"/>
        </a:xfrm>
      </p:grpSpPr>
      <p:sp>
        <p:nvSpPr>
          <p:cNvPr id="3" name="Retângulo 12">
            <a:extLst>
              <a:ext uri="{FF2B5EF4-FFF2-40B4-BE49-F238E27FC236}">
                <a16:creationId xmlns:a16="http://schemas.microsoft.com/office/drawing/2014/main" id="{1325013F-7859-DED0-2CB3-5AEA193051CC}"/>
              </a:ext>
            </a:extLst>
          </p:cNvPr>
          <p:cNvSpPr/>
          <p:nvPr userDrawn="1"/>
        </p:nvSpPr>
        <p:spPr>
          <a:xfrm>
            <a:off x="0" y="1613217"/>
            <a:ext cx="12192000" cy="3631565"/>
          </a:xfrm>
          <a:prstGeom prst="rect">
            <a:avLst/>
          </a:prstGeom>
          <a:solidFill>
            <a:srgbClr val="1432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4" name="Picture 2">
            <a:extLst>
              <a:ext uri="{FF2B5EF4-FFF2-40B4-BE49-F238E27FC236}">
                <a16:creationId xmlns:a16="http://schemas.microsoft.com/office/drawing/2014/main" id="{C561A365-6DBB-8617-45F0-D4BAC2107842}"/>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85766" y="6021288"/>
            <a:ext cx="1056543" cy="3855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descr="OceanPact_logo">
            <a:extLst>
              <a:ext uri="{FF2B5EF4-FFF2-40B4-BE49-F238E27FC236}">
                <a16:creationId xmlns:a16="http://schemas.microsoft.com/office/drawing/2014/main" id="{9F9457BB-3812-3626-C5DF-05E2E5949F14}"/>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50677" t="19932" r="16807" b="37114"/>
          <a:stretch/>
        </p:blipFill>
        <p:spPr bwMode="auto">
          <a:xfrm>
            <a:off x="725574" y="363931"/>
            <a:ext cx="2360756" cy="983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858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onteúdo com Legenda">
    <p:spTree>
      <p:nvGrpSpPr>
        <p:cNvPr id="1" name=""/>
        <p:cNvGrpSpPr/>
        <p:nvPr/>
      </p:nvGrpSpPr>
      <p:grpSpPr>
        <a:xfrm>
          <a:off x="0" y="0"/>
          <a:ext cx="0" cy="0"/>
          <a:chOff x="0" y="0"/>
          <a:chExt cx="0" cy="0"/>
        </a:xfrm>
      </p:grpSpPr>
      <p:pic>
        <p:nvPicPr>
          <p:cNvPr id="9" name="Picture 8" descr="A close up of water&#10;&#10;Description automatically generated">
            <a:extLst>
              <a:ext uri="{FF2B5EF4-FFF2-40B4-BE49-F238E27FC236}">
                <a16:creationId xmlns:a16="http://schemas.microsoft.com/office/drawing/2014/main" id="{FE88FC12-44E5-886C-2CDB-CD7AD3455DEE}"/>
              </a:ext>
            </a:extLst>
          </p:cNvPr>
          <p:cNvPicPr>
            <a:picLocks noChangeAspect="1"/>
          </p:cNvPicPr>
          <p:nvPr userDrawn="1"/>
        </p:nvPicPr>
        <p:blipFill>
          <a:blip r:embed="rId2">
            <a:extLst>
              <a:ext uri="{28A0092B-C50C-407E-A947-70E740481C1C}">
                <a14:useLocalDpi xmlns:a14="http://schemas.microsoft.com/office/drawing/2010/main" val="0"/>
              </a:ext>
            </a:extLst>
          </a:blip>
          <a:srcRect r="31577"/>
          <a:stretch/>
        </p:blipFill>
        <p:spPr>
          <a:xfrm>
            <a:off x="0" y="0"/>
            <a:ext cx="2015998" cy="6857999"/>
          </a:xfrm>
          <a:prstGeom prst="rect">
            <a:avLst/>
          </a:prstGeom>
        </p:spPr>
      </p:pic>
      <p:sp>
        <p:nvSpPr>
          <p:cNvPr id="4" name="CaixaDeTexto 13">
            <a:extLst>
              <a:ext uri="{FF2B5EF4-FFF2-40B4-BE49-F238E27FC236}">
                <a16:creationId xmlns:a16="http://schemas.microsoft.com/office/drawing/2014/main" id="{B7D5CA88-2181-6B96-69D1-AD8D7B536D68}"/>
              </a:ext>
            </a:extLst>
          </p:cNvPr>
          <p:cNvSpPr txBox="1"/>
          <p:nvPr userDrawn="1"/>
        </p:nvSpPr>
        <p:spPr>
          <a:xfrm rot="16200000">
            <a:off x="-1769143" y="2351782"/>
            <a:ext cx="5284011" cy="2154436"/>
          </a:xfrm>
          <a:prstGeom prst="rect">
            <a:avLst/>
          </a:prstGeom>
          <a:noFill/>
        </p:spPr>
        <p:txBody>
          <a:bodyPr wrap="none" rtlCol="0">
            <a:spAutoFit/>
          </a:bodyPr>
          <a:lstStyle/>
          <a:p>
            <a:r>
              <a:rPr lang="pt-BR" sz="13400" dirty="0">
                <a:solidFill>
                  <a:schemeClr val="bg1"/>
                </a:solidFill>
              </a:rPr>
              <a:t>agenda</a:t>
            </a:r>
            <a:endParaRPr lang="en-US" sz="13400" dirty="0">
              <a:solidFill>
                <a:schemeClr val="bg1"/>
              </a:solidFill>
            </a:endParaRPr>
          </a:p>
        </p:txBody>
      </p:sp>
      <p:sp>
        <p:nvSpPr>
          <p:cNvPr id="5" name="Espaço Reservado para Conteúdo 2">
            <a:extLst>
              <a:ext uri="{FF2B5EF4-FFF2-40B4-BE49-F238E27FC236}">
                <a16:creationId xmlns:a16="http://schemas.microsoft.com/office/drawing/2014/main" id="{DE7CE568-BEF3-5290-6B8F-2FB1CEEA1F77}"/>
              </a:ext>
            </a:extLst>
          </p:cNvPr>
          <p:cNvSpPr>
            <a:spLocks noGrp="1"/>
          </p:cNvSpPr>
          <p:nvPr>
            <p:ph idx="1"/>
          </p:nvPr>
        </p:nvSpPr>
        <p:spPr>
          <a:xfrm>
            <a:off x="3281680" y="1439972"/>
            <a:ext cx="7716520" cy="4351338"/>
          </a:xfrm>
          <a:prstGeom prst="rect">
            <a:avLst/>
          </a:prstGeom>
        </p:spPr>
        <p:txBody>
          <a:bodyPr>
            <a:normAutofit/>
          </a:bodyPr>
          <a:lstStyle>
            <a:lvl1pPr>
              <a:defRPr sz="2800" b="1"/>
            </a:lvl1pPr>
            <a:lvl2pPr>
              <a:defRPr sz="2400" b="1"/>
            </a:lvl2pPr>
            <a:lvl3pPr>
              <a:defRPr sz="2000" b="1"/>
            </a:lvl3pPr>
            <a:lvl4pPr>
              <a:defRPr sz="1800" b="1"/>
            </a:lvl4pPr>
            <a:lvl5pPr>
              <a:defRPr sz="1800" b="1"/>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endParaRPr lang="en-US" dirty="0"/>
          </a:p>
        </p:txBody>
      </p:sp>
      <p:pic>
        <p:nvPicPr>
          <p:cNvPr id="4098" name="Picture 2" descr="Homepage - English - OceanPact">
            <a:extLst>
              <a:ext uri="{FF2B5EF4-FFF2-40B4-BE49-F238E27FC236}">
                <a16:creationId xmlns:a16="http://schemas.microsoft.com/office/drawing/2014/main" id="{5B27920D-87B7-9FE7-788E-F7F5BBC87981}"/>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0896" t="22281" r="20873" b="22281"/>
          <a:stretch/>
        </p:blipFill>
        <p:spPr bwMode="auto">
          <a:xfrm>
            <a:off x="10978333" y="471706"/>
            <a:ext cx="599355" cy="53276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45B581ED-3DB1-69FD-F341-825039B9755C}"/>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978332" y="6381328"/>
            <a:ext cx="599355" cy="2187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65415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onteúdo com Legenda">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16497" y="1700809"/>
            <a:ext cx="10959008" cy="4425355"/>
          </a:xfrm>
          <a:prstGeom prst="rect">
            <a:avLst/>
          </a:prstGeom>
        </p:spPr>
        <p:txBody>
          <a:bodyPr lIns="53998" tIns="41537" rIns="53998" bIns="41537">
            <a:normAutofit/>
          </a:bodyPr>
          <a:lstStyle>
            <a:lvl1pPr marL="311390" indent="-311390">
              <a:buClr>
                <a:srgbClr val="143244"/>
              </a:buClr>
              <a:buSzPct val="90000"/>
              <a:buFont typeface="Arial" panose="020B0604020202020204" pitchFamily="34" charset="0"/>
              <a:buChar char="●"/>
              <a:defRPr sz="1800"/>
            </a:lvl1pPr>
            <a:lvl2pPr marL="716197" indent="-188666">
              <a:buClr>
                <a:srgbClr val="143244"/>
              </a:buClr>
              <a:buSzPct val="90000"/>
              <a:buFont typeface="Arial" panose="020B0604020202020204" pitchFamily="34" charset="0"/>
              <a:buChar char="–"/>
              <a:tabLst/>
              <a:defRPr sz="1800"/>
            </a:lvl2pPr>
            <a:lvl3pPr marL="1135656" indent="-80595">
              <a:buClr>
                <a:srgbClr val="143244"/>
              </a:buClr>
              <a:buSzPct val="90000"/>
              <a:defRPr sz="1800"/>
            </a:lvl3pPr>
            <a:lvl4pPr>
              <a:defRPr sz="1800"/>
            </a:lvl4pPr>
            <a:lvl5pPr marL="1650365" indent="-163022">
              <a:buClr>
                <a:srgbClr val="143244"/>
              </a:buClr>
              <a:buSzPct val="90000"/>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7" name="Espaço Reservado para Texto 2"/>
          <p:cNvSpPr>
            <a:spLocks noGrp="1"/>
          </p:cNvSpPr>
          <p:nvPr>
            <p:ph type="body" idx="13"/>
          </p:nvPr>
        </p:nvSpPr>
        <p:spPr>
          <a:xfrm>
            <a:off x="2152509" y="1152547"/>
            <a:ext cx="7886987" cy="304453"/>
          </a:xfrm>
          <a:prstGeom prst="rect">
            <a:avLst/>
          </a:prstGeom>
        </p:spPr>
        <p:txBody>
          <a:bodyPr lIns="105503" tIns="52752" rIns="105503" bIns="52752" anchor="ctr">
            <a:noAutofit/>
          </a:bodyPr>
          <a:lstStyle>
            <a:lvl1pPr marL="0" indent="0" algn="ctr">
              <a:buNone/>
              <a:defRPr sz="1800" b="1">
                <a:solidFill>
                  <a:srgbClr val="143244"/>
                </a:solidFill>
              </a:defRPr>
            </a:lvl1pPr>
            <a:lvl2pPr marL="527530" indent="0">
              <a:buNone/>
              <a:defRPr sz="2300" b="1"/>
            </a:lvl2pPr>
            <a:lvl3pPr marL="1055061" indent="0">
              <a:buNone/>
              <a:defRPr sz="2100" b="1"/>
            </a:lvl3pPr>
            <a:lvl4pPr marL="1582592" indent="0">
              <a:buNone/>
              <a:defRPr sz="1800" b="1"/>
            </a:lvl4pPr>
            <a:lvl5pPr marL="2110122" indent="0">
              <a:buNone/>
              <a:defRPr sz="1800" b="1"/>
            </a:lvl5pPr>
            <a:lvl6pPr marL="2637653" indent="0">
              <a:buNone/>
              <a:defRPr sz="1800" b="1"/>
            </a:lvl6pPr>
            <a:lvl7pPr marL="3165183" indent="0">
              <a:buNone/>
              <a:defRPr sz="1800" b="1"/>
            </a:lvl7pPr>
            <a:lvl8pPr marL="3692714" indent="0">
              <a:buNone/>
              <a:defRPr sz="1800" b="1"/>
            </a:lvl8pPr>
            <a:lvl9pPr marL="4220244" indent="0">
              <a:buNone/>
              <a:defRPr sz="1800" b="1"/>
            </a:lvl9pPr>
          </a:lstStyle>
          <a:p>
            <a:pPr lvl="0"/>
            <a:r>
              <a:rPr lang="pt-BR" dirty="0"/>
              <a:t>Clique para editar o texto mestre</a:t>
            </a:r>
          </a:p>
        </p:txBody>
      </p:sp>
      <p:sp>
        <p:nvSpPr>
          <p:cNvPr id="11" name="Título 1"/>
          <p:cNvSpPr txBox="1">
            <a:spLocks/>
          </p:cNvSpPr>
          <p:nvPr userDrawn="1"/>
        </p:nvSpPr>
        <p:spPr>
          <a:xfrm>
            <a:off x="143339" y="116633"/>
            <a:ext cx="10959008" cy="635671"/>
          </a:xfrm>
          <a:prstGeom prst="rect">
            <a:avLst/>
          </a:prstGeom>
        </p:spPr>
        <p:txBody>
          <a:bodyPr vert="horz" lIns="105503" tIns="52752" rIns="105503" bIns="52752" rtlCol="0" anchor="ctr">
            <a:normAutofit/>
          </a:bodyPr>
          <a:lstStyle>
            <a:lvl1pPr algn="l" defTabSz="914400" rtl="0" eaLnBrk="1" latinLnBrk="0" hangingPunct="1">
              <a:spcBef>
                <a:spcPct val="0"/>
              </a:spcBef>
              <a:buNone/>
              <a:defRPr sz="2200" b="1" kern="1200">
                <a:solidFill>
                  <a:schemeClr val="tx1"/>
                </a:solidFill>
                <a:latin typeface="+mj-lt"/>
                <a:ea typeface="+mj-ea"/>
                <a:cs typeface="+mj-cs"/>
              </a:defRPr>
            </a:lvl1pPr>
          </a:lstStyle>
          <a:p>
            <a:endParaRPr lang="pt-BR" sz="2200" dirty="0"/>
          </a:p>
        </p:txBody>
      </p:sp>
      <p:sp>
        <p:nvSpPr>
          <p:cNvPr id="6" name="Espaço Reservado para Texto 5"/>
          <p:cNvSpPr>
            <a:spLocks noGrp="1"/>
          </p:cNvSpPr>
          <p:nvPr>
            <p:ph type="body" sz="quarter" idx="14"/>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8"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9" name="Espaço Reservado para Título 1">
            <a:extLst>
              <a:ext uri="{FF2B5EF4-FFF2-40B4-BE49-F238E27FC236}">
                <a16:creationId xmlns:a16="http://schemas.microsoft.com/office/drawing/2014/main" id="{94422DE2-8A4A-49CA-AC69-D95914B70C54}"/>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2" name="Picture 2" descr="Homepage - English - OceanPact">
            <a:extLst>
              <a:ext uri="{FF2B5EF4-FFF2-40B4-BE49-F238E27FC236}">
                <a16:creationId xmlns:a16="http://schemas.microsoft.com/office/drawing/2014/main" id="{149DE336-4232-6B07-8D0D-A6F2BB243C49}"/>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364A254C-5C8B-C591-A43F-5BED8A59130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993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onteúdo com Legenda">
    <p:spTree>
      <p:nvGrpSpPr>
        <p:cNvPr id="1" name=""/>
        <p:cNvGrpSpPr/>
        <p:nvPr/>
      </p:nvGrpSpPr>
      <p:grpSpPr>
        <a:xfrm>
          <a:off x="0" y="0"/>
          <a:ext cx="0" cy="0"/>
          <a:chOff x="0" y="0"/>
          <a:chExt cx="0" cy="0"/>
        </a:xfrm>
      </p:grpSpPr>
      <p:sp>
        <p:nvSpPr>
          <p:cNvPr id="3" name="Espaço Reservado para Conteúdo 2"/>
          <p:cNvSpPr>
            <a:spLocks noGrp="1"/>
          </p:cNvSpPr>
          <p:nvPr>
            <p:ph idx="1"/>
          </p:nvPr>
        </p:nvSpPr>
        <p:spPr>
          <a:xfrm>
            <a:off x="616497" y="1700809"/>
            <a:ext cx="10959008" cy="4425355"/>
          </a:xfrm>
          <a:prstGeom prst="rect">
            <a:avLst/>
          </a:prstGeom>
        </p:spPr>
        <p:txBody>
          <a:bodyPr lIns="53998" tIns="41537" rIns="53998" bIns="41537">
            <a:normAutofit/>
          </a:bodyPr>
          <a:lstStyle>
            <a:lvl1pPr marL="311390" indent="-311390">
              <a:buClr>
                <a:srgbClr val="143244"/>
              </a:buClr>
              <a:buSzPct val="90000"/>
              <a:buFont typeface="Arial" panose="020B0604020202020204" pitchFamily="34" charset="0"/>
              <a:buChar char="●"/>
              <a:defRPr sz="1800"/>
            </a:lvl1pPr>
            <a:lvl2pPr marL="716197" indent="-188666">
              <a:buClr>
                <a:srgbClr val="143244"/>
              </a:buClr>
              <a:buSzPct val="90000"/>
              <a:buFont typeface="Arial" panose="020B0604020202020204" pitchFamily="34" charset="0"/>
              <a:buChar char="–"/>
              <a:tabLst/>
              <a:defRPr sz="1800"/>
            </a:lvl2pPr>
            <a:lvl3pPr marL="1135656" indent="-80595">
              <a:buClr>
                <a:srgbClr val="143244"/>
              </a:buClr>
              <a:buSzPct val="90000"/>
              <a:defRPr sz="1800"/>
            </a:lvl3pPr>
            <a:lvl4pPr>
              <a:defRPr sz="1800"/>
            </a:lvl4pPr>
            <a:lvl5pPr marL="1650365" indent="-163022">
              <a:buClr>
                <a:srgbClr val="143244"/>
              </a:buClr>
              <a:buSzPct val="90000"/>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6" name="Espaço Reservado para Texto 5"/>
          <p:cNvSpPr>
            <a:spLocks noGrp="1"/>
          </p:cNvSpPr>
          <p:nvPr>
            <p:ph type="body" sz="quarter" idx="14"/>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7"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2" name="Espaço Reservado para Título 1">
            <a:extLst>
              <a:ext uri="{FF2B5EF4-FFF2-40B4-BE49-F238E27FC236}">
                <a16:creationId xmlns:a16="http://schemas.microsoft.com/office/drawing/2014/main" id="{A99D56CA-EF0E-68E6-F94C-51D4BA062371}"/>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4" name="Picture 2" descr="Homepage - English - OceanPact">
            <a:extLst>
              <a:ext uri="{FF2B5EF4-FFF2-40B4-BE49-F238E27FC236}">
                <a16:creationId xmlns:a16="http://schemas.microsoft.com/office/drawing/2014/main" id="{280075F4-D38F-863A-0B5E-040B388FAE3A}"/>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7E08B111-C91F-55E8-6873-3C421C1FE8D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4732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lide de título">
    <p:spTree>
      <p:nvGrpSpPr>
        <p:cNvPr id="1" name=""/>
        <p:cNvGrpSpPr/>
        <p:nvPr/>
      </p:nvGrpSpPr>
      <p:grpSpPr>
        <a:xfrm>
          <a:off x="0" y="0"/>
          <a:ext cx="0" cy="0"/>
          <a:chOff x="0" y="0"/>
          <a:chExt cx="0" cy="0"/>
        </a:xfrm>
      </p:grpSpPr>
      <p:sp>
        <p:nvSpPr>
          <p:cNvPr id="7" name="Espaço Reservado para Texto 2"/>
          <p:cNvSpPr>
            <a:spLocks noGrp="1"/>
          </p:cNvSpPr>
          <p:nvPr>
            <p:ph type="body" idx="13"/>
          </p:nvPr>
        </p:nvSpPr>
        <p:spPr>
          <a:xfrm>
            <a:off x="2152509" y="1152547"/>
            <a:ext cx="7886987" cy="304453"/>
          </a:xfrm>
          <a:prstGeom prst="rect">
            <a:avLst/>
          </a:prstGeom>
        </p:spPr>
        <p:txBody>
          <a:bodyPr lIns="105503" tIns="52752" rIns="105503" bIns="52752" anchor="ctr">
            <a:noAutofit/>
          </a:bodyPr>
          <a:lstStyle>
            <a:lvl1pPr marL="0" indent="0" algn="ctr">
              <a:buNone/>
              <a:defRPr sz="1800" b="1">
                <a:solidFill>
                  <a:srgbClr val="143244"/>
                </a:solidFill>
              </a:defRPr>
            </a:lvl1pPr>
            <a:lvl2pPr marL="527530" indent="0">
              <a:buNone/>
              <a:defRPr sz="2300" b="1"/>
            </a:lvl2pPr>
            <a:lvl3pPr marL="1055061" indent="0">
              <a:buNone/>
              <a:defRPr sz="2100" b="1"/>
            </a:lvl3pPr>
            <a:lvl4pPr marL="1582592" indent="0">
              <a:buNone/>
              <a:defRPr sz="1800" b="1"/>
            </a:lvl4pPr>
            <a:lvl5pPr marL="2110122" indent="0">
              <a:buNone/>
              <a:defRPr sz="1800" b="1"/>
            </a:lvl5pPr>
            <a:lvl6pPr marL="2637653" indent="0">
              <a:buNone/>
              <a:defRPr sz="1800" b="1"/>
            </a:lvl6pPr>
            <a:lvl7pPr marL="3165183" indent="0">
              <a:buNone/>
              <a:defRPr sz="1800" b="1"/>
            </a:lvl7pPr>
            <a:lvl8pPr marL="3692714" indent="0">
              <a:buNone/>
              <a:defRPr sz="1800" b="1"/>
            </a:lvl8pPr>
            <a:lvl9pPr marL="4220244" indent="0">
              <a:buNone/>
              <a:defRPr sz="1800" b="1"/>
            </a:lvl9pPr>
          </a:lstStyle>
          <a:p>
            <a:pPr lvl="0"/>
            <a:r>
              <a:rPr lang="pt-BR" dirty="0"/>
              <a:t>Clique para editar o texto mestre</a:t>
            </a:r>
          </a:p>
        </p:txBody>
      </p:sp>
      <p:sp>
        <p:nvSpPr>
          <p:cNvPr id="5" name="Espaço Reservado para Texto 5"/>
          <p:cNvSpPr>
            <a:spLocks noGrp="1"/>
          </p:cNvSpPr>
          <p:nvPr>
            <p:ph type="body" sz="quarter" idx="14"/>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6"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2" name="Espaço Reservado para Título 1">
            <a:extLst>
              <a:ext uri="{FF2B5EF4-FFF2-40B4-BE49-F238E27FC236}">
                <a16:creationId xmlns:a16="http://schemas.microsoft.com/office/drawing/2014/main" id="{ADDFF1D9-33D0-C948-45E0-EE595A75ADC9}"/>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3" name="Picture 2" descr="Homepage - English - OceanPact">
            <a:extLst>
              <a:ext uri="{FF2B5EF4-FFF2-40B4-BE49-F238E27FC236}">
                <a16:creationId xmlns:a16="http://schemas.microsoft.com/office/drawing/2014/main" id="{C4E9364E-959E-FE8D-571A-B7A6A04D17AD}"/>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6D548B03-1E2B-1E72-0A99-D80BAEE21CB7}"/>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498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Espaço Reservado para Texto 5"/>
          <p:cNvSpPr>
            <a:spLocks noGrp="1"/>
          </p:cNvSpPr>
          <p:nvPr>
            <p:ph type="body" sz="quarter" idx="14"/>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4"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2" name="Espaço Reservado para Título 1">
            <a:extLst>
              <a:ext uri="{FF2B5EF4-FFF2-40B4-BE49-F238E27FC236}">
                <a16:creationId xmlns:a16="http://schemas.microsoft.com/office/drawing/2014/main" id="{364F4DC8-A3D2-3D98-46BE-6405E6B026FD}"/>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3" name="Picture 2" descr="Homepage - English - OceanPact">
            <a:extLst>
              <a:ext uri="{FF2B5EF4-FFF2-40B4-BE49-F238E27FC236}">
                <a16:creationId xmlns:a16="http://schemas.microsoft.com/office/drawing/2014/main" id="{4C517C07-ADF7-2A06-98AF-C0EF5BB2006C}"/>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952A58D7-87C4-F84C-D035-4C930F4B7818}"/>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0023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Slide de título">
    <p:spTree>
      <p:nvGrpSpPr>
        <p:cNvPr id="1" name=""/>
        <p:cNvGrpSpPr/>
        <p:nvPr/>
      </p:nvGrpSpPr>
      <p:grpSpPr>
        <a:xfrm>
          <a:off x="0" y="0"/>
          <a:ext cx="0" cy="0"/>
          <a:chOff x="0" y="0"/>
          <a:chExt cx="0" cy="0"/>
        </a:xfrm>
      </p:grpSpPr>
      <p:sp>
        <p:nvSpPr>
          <p:cNvPr id="7" name="Espaço Reservado para Texto 2"/>
          <p:cNvSpPr>
            <a:spLocks noGrp="1"/>
          </p:cNvSpPr>
          <p:nvPr>
            <p:ph type="body" idx="13"/>
          </p:nvPr>
        </p:nvSpPr>
        <p:spPr>
          <a:xfrm>
            <a:off x="2152509" y="1152547"/>
            <a:ext cx="7886987" cy="304453"/>
          </a:xfrm>
          <a:prstGeom prst="rect">
            <a:avLst/>
          </a:prstGeom>
        </p:spPr>
        <p:txBody>
          <a:bodyPr lIns="105503" tIns="52752" rIns="105503" bIns="52752" anchor="ctr">
            <a:noAutofit/>
          </a:bodyPr>
          <a:lstStyle>
            <a:lvl1pPr marL="0" indent="0" algn="ctr">
              <a:buNone/>
              <a:defRPr sz="1800" b="1">
                <a:solidFill>
                  <a:srgbClr val="143244"/>
                </a:solidFill>
              </a:defRPr>
            </a:lvl1pPr>
            <a:lvl2pPr marL="527530" indent="0">
              <a:buNone/>
              <a:defRPr sz="2300" b="1"/>
            </a:lvl2pPr>
            <a:lvl3pPr marL="1055061" indent="0">
              <a:buNone/>
              <a:defRPr sz="2100" b="1"/>
            </a:lvl3pPr>
            <a:lvl4pPr marL="1582592" indent="0">
              <a:buNone/>
              <a:defRPr sz="1800" b="1"/>
            </a:lvl4pPr>
            <a:lvl5pPr marL="2110122" indent="0">
              <a:buNone/>
              <a:defRPr sz="1800" b="1"/>
            </a:lvl5pPr>
            <a:lvl6pPr marL="2637653" indent="0">
              <a:buNone/>
              <a:defRPr sz="1800" b="1"/>
            </a:lvl6pPr>
            <a:lvl7pPr marL="3165183" indent="0">
              <a:buNone/>
              <a:defRPr sz="1800" b="1"/>
            </a:lvl7pPr>
            <a:lvl8pPr marL="3692714" indent="0">
              <a:buNone/>
              <a:defRPr sz="1800" b="1"/>
            </a:lvl8pPr>
            <a:lvl9pPr marL="4220244" indent="0">
              <a:buNone/>
              <a:defRPr sz="1800" b="1"/>
            </a:lvl9pPr>
          </a:lstStyle>
          <a:p>
            <a:pPr lvl="0"/>
            <a:r>
              <a:rPr lang="pt-BR" dirty="0"/>
              <a:t>Clique para editar o texto mestre</a:t>
            </a:r>
          </a:p>
        </p:txBody>
      </p:sp>
      <p:sp>
        <p:nvSpPr>
          <p:cNvPr id="3" name="Espaço Reservado para Conteúdo 2"/>
          <p:cNvSpPr>
            <a:spLocks noGrp="1"/>
          </p:cNvSpPr>
          <p:nvPr>
            <p:ph idx="1"/>
          </p:nvPr>
        </p:nvSpPr>
        <p:spPr>
          <a:xfrm>
            <a:off x="567964" y="1772816"/>
            <a:ext cx="5280000" cy="4320000"/>
          </a:xfrm>
          <a:prstGeom prst="rect">
            <a:avLst/>
          </a:prstGeom>
        </p:spPr>
        <p:txBody>
          <a:bodyPr lIns="53998" tIns="41537" rIns="53998" bIns="41537">
            <a:normAutofit/>
          </a:bodyPr>
          <a:lstStyle>
            <a:lvl1pPr marL="311390" indent="-311390">
              <a:buClr>
                <a:srgbClr val="143244"/>
              </a:buClr>
              <a:buSzPct val="90000"/>
              <a:buFont typeface="Arial" panose="020B0604020202020204" pitchFamily="34" charset="0"/>
              <a:buChar char="●"/>
              <a:defRPr sz="1800"/>
            </a:lvl1pPr>
            <a:lvl2pPr marL="716197" indent="-188666">
              <a:buClr>
                <a:srgbClr val="143244"/>
              </a:buClr>
              <a:buSzPct val="90000"/>
              <a:buFont typeface="Arial" panose="020B0604020202020204" pitchFamily="34" charset="0"/>
              <a:buChar char="–"/>
              <a:tabLst/>
              <a:defRPr sz="1800"/>
            </a:lvl2pPr>
            <a:lvl3pPr marL="1135656" indent="-80595">
              <a:buClr>
                <a:srgbClr val="143244"/>
              </a:buClr>
              <a:buSzPct val="90000"/>
              <a:defRPr sz="1800"/>
            </a:lvl3pPr>
            <a:lvl4pPr>
              <a:defRPr sz="1800"/>
            </a:lvl4pPr>
            <a:lvl5pPr marL="1650365" indent="-163022">
              <a:buClr>
                <a:srgbClr val="143244"/>
              </a:buClr>
              <a:buSzPct val="90000"/>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4" name="Espaço Reservado para Conteúdo 2"/>
          <p:cNvSpPr>
            <a:spLocks noGrp="1"/>
          </p:cNvSpPr>
          <p:nvPr>
            <p:ph idx="14"/>
          </p:nvPr>
        </p:nvSpPr>
        <p:spPr>
          <a:xfrm>
            <a:off x="6335500" y="1772816"/>
            <a:ext cx="5280000" cy="4320000"/>
          </a:xfrm>
          <a:prstGeom prst="rect">
            <a:avLst/>
          </a:prstGeom>
        </p:spPr>
        <p:txBody>
          <a:bodyPr lIns="53998" tIns="41537" rIns="53998" bIns="41537">
            <a:normAutofit/>
          </a:bodyPr>
          <a:lstStyle>
            <a:lvl1pPr marL="311390" indent="-311390">
              <a:buClr>
                <a:srgbClr val="143244"/>
              </a:buClr>
              <a:buSzPct val="90000"/>
              <a:buFont typeface="Arial" panose="020B0604020202020204" pitchFamily="34" charset="0"/>
              <a:buChar char="●"/>
              <a:defRPr sz="1800"/>
            </a:lvl1pPr>
            <a:lvl2pPr marL="716197" indent="-188666">
              <a:buClr>
                <a:srgbClr val="143244"/>
              </a:buClr>
              <a:buSzPct val="90000"/>
              <a:buFont typeface="Arial" panose="020B0604020202020204" pitchFamily="34" charset="0"/>
              <a:buChar char="–"/>
              <a:tabLst/>
              <a:defRPr sz="1800"/>
            </a:lvl2pPr>
            <a:lvl3pPr marL="1135656" indent="-80595">
              <a:buClr>
                <a:srgbClr val="143244"/>
              </a:buClr>
              <a:buSzPct val="90000"/>
              <a:defRPr sz="1800"/>
            </a:lvl3pPr>
            <a:lvl4pPr>
              <a:defRPr sz="1800"/>
            </a:lvl4pPr>
            <a:lvl5pPr marL="1650365" indent="-163022">
              <a:buClr>
                <a:srgbClr val="143244"/>
              </a:buClr>
              <a:buSzPct val="90000"/>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8" name="Espaço Reservado para Texto 5"/>
          <p:cNvSpPr>
            <a:spLocks noGrp="1"/>
          </p:cNvSpPr>
          <p:nvPr>
            <p:ph type="body" sz="quarter" idx="15"/>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9"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2" name="Espaço Reservado para Título 1">
            <a:extLst>
              <a:ext uri="{FF2B5EF4-FFF2-40B4-BE49-F238E27FC236}">
                <a16:creationId xmlns:a16="http://schemas.microsoft.com/office/drawing/2014/main" id="{71DED0DD-948E-64E4-F425-CB73F81E2095}"/>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5" name="Picture 2" descr="Homepage - English - OceanPact">
            <a:extLst>
              <a:ext uri="{FF2B5EF4-FFF2-40B4-BE49-F238E27FC236}">
                <a16:creationId xmlns:a16="http://schemas.microsoft.com/office/drawing/2014/main" id="{B3A10F43-CFC8-B853-DF12-422270036254}"/>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DAB1C373-DF4B-988C-CA88-96A1D5C3CAF3}"/>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144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Slide de título">
    <p:spTree>
      <p:nvGrpSpPr>
        <p:cNvPr id="1" name=""/>
        <p:cNvGrpSpPr/>
        <p:nvPr/>
      </p:nvGrpSpPr>
      <p:grpSpPr>
        <a:xfrm>
          <a:off x="0" y="0"/>
          <a:ext cx="0" cy="0"/>
          <a:chOff x="0" y="0"/>
          <a:chExt cx="0" cy="0"/>
        </a:xfrm>
      </p:grpSpPr>
      <p:sp>
        <p:nvSpPr>
          <p:cNvPr id="5" name="Espaço Reservado para Conteúdo 2"/>
          <p:cNvSpPr>
            <a:spLocks noGrp="1"/>
          </p:cNvSpPr>
          <p:nvPr>
            <p:ph idx="1"/>
          </p:nvPr>
        </p:nvSpPr>
        <p:spPr>
          <a:xfrm>
            <a:off x="567964" y="1772816"/>
            <a:ext cx="5280000" cy="4320000"/>
          </a:xfrm>
          <a:prstGeom prst="rect">
            <a:avLst/>
          </a:prstGeom>
        </p:spPr>
        <p:txBody>
          <a:bodyPr lIns="53998" tIns="41537" rIns="53998" bIns="41537">
            <a:normAutofit/>
          </a:bodyPr>
          <a:lstStyle>
            <a:lvl1pPr marL="311390" indent="-311390">
              <a:buClr>
                <a:schemeClr val="tx2"/>
              </a:buClr>
              <a:buFont typeface="Arial" panose="020B0604020202020204" pitchFamily="34" charset="0"/>
              <a:buChar char="●"/>
              <a:defRPr sz="1800"/>
            </a:lvl1pPr>
            <a:lvl2pPr marL="716197" indent="-188666">
              <a:buClr>
                <a:schemeClr val="tx2"/>
              </a:buClr>
              <a:buFont typeface="Arial" panose="020B0604020202020204" pitchFamily="34" charset="0"/>
              <a:buChar char="–"/>
              <a:tabLst/>
              <a:defRPr sz="1800"/>
            </a:lvl2pPr>
            <a:lvl3pPr marL="1135656" indent="-80595">
              <a:buClr>
                <a:schemeClr val="tx2"/>
              </a:buClr>
              <a:defRPr sz="1800"/>
            </a:lvl3pPr>
            <a:lvl4pPr>
              <a:defRPr sz="1800"/>
            </a:lvl4pPr>
            <a:lvl5pPr marL="1650365" indent="-163022">
              <a:buClr>
                <a:schemeClr val="accent1"/>
              </a:buClr>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6" name="Espaço Reservado para Conteúdo 2"/>
          <p:cNvSpPr>
            <a:spLocks noGrp="1"/>
          </p:cNvSpPr>
          <p:nvPr>
            <p:ph idx="14"/>
          </p:nvPr>
        </p:nvSpPr>
        <p:spPr>
          <a:xfrm>
            <a:off x="6335500" y="1772816"/>
            <a:ext cx="5280000" cy="4320000"/>
          </a:xfrm>
          <a:prstGeom prst="rect">
            <a:avLst/>
          </a:prstGeom>
        </p:spPr>
        <p:txBody>
          <a:bodyPr lIns="53998" tIns="41537" rIns="53998" bIns="41537">
            <a:normAutofit/>
          </a:bodyPr>
          <a:lstStyle>
            <a:lvl1pPr marL="311390" indent="-311390">
              <a:buClr>
                <a:schemeClr val="tx2"/>
              </a:buClr>
              <a:buFont typeface="Arial" panose="020B0604020202020204" pitchFamily="34" charset="0"/>
              <a:buChar char="●"/>
              <a:defRPr sz="1800"/>
            </a:lvl1pPr>
            <a:lvl2pPr marL="716197" indent="-188666">
              <a:buClr>
                <a:schemeClr val="tx2"/>
              </a:buClr>
              <a:buFont typeface="Arial" panose="020B0604020202020204" pitchFamily="34" charset="0"/>
              <a:buChar char="–"/>
              <a:tabLst/>
              <a:defRPr sz="1800"/>
            </a:lvl2pPr>
            <a:lvl3pPr marL="1135656" indent="-80595">
              <a:buClr>
                <a:schemeClr val="tx2"/>
              </a:buClr>
              <a:defRPr sz="1800"/>
            </a:lvl3pPr>
            <a:lvl4pPr>
              <a:defRPr sz="1800"/>
            </a:lvl4pPr>
            <a:lvl5pPr marL="1650365" indent="-163022">
              <a:buClr>
                <a:schemeClr val="accent1"/>
              </a:buClr>
              <a:defRPr sz="1800"/>
            </a:lvl5pPr>
            <a:lvl6pPr>
              <a:defRPr sz="2300"/>
            </a:lvl6pPr>
            <a:lvl7pPr>
              <a:defRPr sz="2300"/>
            </a:lvl7pPr>
            <a:lvl8pPr>
              <a:defRPr sz="2300"/>
            </a:lvl8pPr>
            <a:lvl9pPr>
              <a:defRPr sz="2300"/>
            </a:lvl9pPr>
          </a:lstStyle>
          <a:p>
            <a:pPr lvl="0"/>
            <a:r>
              <a:rPr lang="pt-BR" dirty="0"/>
              <a:t>Clique para editar o texto mestre</a:t>
            </a:r>
          </a:p>
          <a:p>
            <a:pPr lvl="1"/>
            <a:r>
              <a:rPr lang="pt-BR" dirty="0"/>
              <a:t>Segundo nível</a:t>
            </a:r>
          </a:p>
          <a:p>
            <a:pPr lvl="2"/>
            <a:r>
              <a:rPr lang="pt-BR" dirty="0"/>
              <a:t>Terceiro nível</a:t>
            </a:r>
          </a:p>
          <a:p>
            <a:pPr lvl="4"/>
            <a:r>
              <a:rPr lang="pt-BR" dirty="0"/>
              <a:t>Quinto nível</a:t>
            </a:r>
          </a:p>
        </p:txBody>
      </p:sp>
      <p:sp>
        <p:nvSpPr>
          <p:cNvPr id="10" name="Espaço Reservado para Texto 5"/>
          <p:cNvSpPr>
            <a:spLocks noGrp="1"/>
          </p:cNvSpPr>
          <p:nvPr>
            <p:ph type="body" sz="quarter" idx="15"/>
          </p:nvPr>
        </p:nvSpPr>
        <p:spPr>
          <a:xfrm>
            <a:off x="1488020" y="6624466"/>
            <a:ext cx="9984316" cy="188912"/>
          </a:xfrm>
          <a:prstGeom prst="rect">
            <a:avLst/>
          </a:prstGeom>
        </p:spPr>
        <p:txBody>
          <a:bodyPr lIns="41537" tIns="41537" rIns="41537" bIns="41537" anchor="b"/>
          <a:lstStyle>
            <a:lvl1pPr marL="0" indent="0">
              <a:buNone/>
              <a:defRPr sz="1200" i="1">
                <a:solidFill>
                  <a:schemeClr val="tx1">
                    <a:lumMod val="65000"/>
                    <a:lumOff val="35000"/>
                  </a:schemeClr>
                </a:solidFill>
              </a:defRPr>
            </a:lvl1pPr>
            <a:lvl2pPr marL="527530" indent="0">
              <a:buNone/>
              <a:defRPr sz="1200" i="1">
                <a:solidFill>
                  <a:schemeClr val="tx1">
                    <a:lumMod val="65000"/>
                    <a:lumOff val="35000"/>
                  </a:schemeClr>
                </a:solidFill>
              </a:defRPr>
            </a:lvl2pPr>
            <a:lvl3pPr marL="1055061" indent="0">
              <a:buNone/>
              <a:defRPr sz="1200" i="1">
                <a:solidFill>
                  <a:schemeClr val="tx1">
                    <a:lumMod val="65000"/>
                    <a:lumOff val="35000"/>
                  </a:schemeClr>
                </a:solidFill>
              </a:defRPr>
            </a:lvl3pPr>
            <a:lvl4pPr marL="1582592" indent="0">
              <a:buNone/>
              <a:defRPr sz="1200" i="1">
                <a:solidFill>
                  <a:schemeClr val="tx1">
                    <a:lumMod val="65000"/>
                    <a:lumOff val="35000"/>
                  </a:schemeClr>
                </a:solidFill>
              </a:defRPr>
            </a:lvl4pPr>
            <a:lvl5pPr marL="2110122" indent="0">
              <a:buNone/>
              <a:defRPr sz="1200" i="1">
                <a:solidFill>
                  <a:schemeClr val="tx1">
                    <a:lumMod val="65000"/>
                    <a:lumOff val="35000"/>
                  </a:schemeClr>
                </a:solidFill>
              </a:defRPr>
            </a:lvl5pPr>
          </a:lstStyle>
          <a:p>
            <a:pPr lvl="0"/>
            <a:r>
              <a:rPr lang="pt-BR" dirty="0"/>
              <a:t>Clique para editar o texto mestre</a:t>
            </a:r>
          </a:p>
        </p:txBody>
      </p:sp>
      <p:sp>
        <p:nvSpPr>
          <p:cNvPr id="7" name="Espaço Reservado para Número de Slide 2"/>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
        <p:nvSpPr>
          <p:cNvPr id="2" name="Espaço Reservado para Título 1">
            <a:extLst>
              <a:ext uri="{FF2B5EF4-FFF2-40B4-BE49-F238E27FC236}">
                <a16:creationId xmlns:a16="http://schemas.microsoft.com/office/drawing/2014/main" id="{7345EBF2-9EF4-D31E-2042-8168196FBCB2}"/>
              </a:ext>
            </a:extLst>
          </p:cNvPr>
          <p:cNvSpPr>
            <a:spLocks noGrp="1"/>
          </p:cNvSpPr>
          <p:nvPr>
            <p:ph type="title"/>
          </p:nvPr>
        </p:nvSpPr>
        <p:spPr>
          <a:xfrm>
            <a:off x="1089653" y="303578"/>
            <a:ext cx="10485852" cy="645195"/>
          </a:xfrm>
          <a:prstGeom prst="rect">
            <a:avLst/>
          </a:prstGeom>
        </p:spPr>
        <p:txBody>
          <a:bodyPr vert="horz" lIns="91440" tIns="45720" rIns="91440" bIns="45720" rtlCol="0" anchor="ctr">
            <a:noAutofit/>
          </a:bodyPr>
          <a:lstStyle>
            <a:lvl1pPr>
              <a:defRPr lang="pt-BR" dirty="0"/>
            </a:lvl1pPr>
          </a:lstStyle>
          <a:p>
            <a:pPr lvl="0"/>
            <a:endParaRPr lang="pt-BR" dirty="0"/>
          </a:p>
        </p:txBody>
      </p:sp>
      <p:pic>
        <p:nvPicPr>
          <p:cNvPr id="3" name="Picture 2" descr="Homepage - English - OceanPact">
            <a:extLst>
              <a:ext uri="{FF2B5EF4-FFF2-40B4-BE49-F238E27FC236}">
                <a16:creationId xmlns:a16="http://schemas.microsoft.com/office/drawing/2014/main" id="{3A0BC5B1-8C36-8106-E7D7-710EE9F892CF}"/>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9AF21903-246B-6965-E121-8D15FDD7CE3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11583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1_Blank">
    <p:bg>
      <p:bgPr>
        <a:solidFill>
          <a:schemeClr val="bg1"/>
        </a:solidFill>
        <a:effectLst/>
      </p:bgPr>
    </p:bg>
    <p:spTree>
      <p:nvGrpSpPr>
        <p:cNvPr id="1" name=""/>
        <p:cNvGrpSpPr/>
        <p:nvPr/>
      </p:nvGrpSpPr>
      <p:grpSpPr>
        <a:xfrm>
          <a:off x="0" y="0"/>
          <a:ext cx="0" cy="0"/>
          <a:chOff x="0" y="0"/>
          <a:chExt cx="0" cy="0"/>
        </a:xfrm>
      </p:grpSpPr>
      <p:graphicFrame>
        <p:nvGraphicFramePr>
          <p:cNvPr id="7" name="Objeto 6" hidden="1"/>
          <p:cNvGraphicFramePr>
            <a:graphicFrameLocks noChangeAspect="1"/>
          </p:cNvGraphicFramePr>
          <p:nvPr userDrawn="1">
            <p:custDataLst>
              <p:tags r:id="rId1"/>
            </p:custDataLst>
            <p:extLst>
              <p:ext uri="{D42A27DB-BD31-4B8C-83A1-F6EECF244321}">
                <p14:modId xmlns:p14="http://schemas.microsoft.com/office/powerpoint/2010/main" val="6513836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3" imgW="425" imgH="426" progId="TCLayout.ActiveDocument.1">
                  <p:embed/>
                </p:oleObj>
              </mc:Choice>
              <mc:Fallback>
                <p:oleObj name="Slide do think-cell" r:id="rId3" imgW="425" imgH="426" progId="TCLayout.ActiveDocument.1">
                  <p:embed/>
                  <p:pic>
                    <p:nvPicPr>
                      <p:cNvPr id="7" name="Objeto 6"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Espaço Reservado para Número de Slide 2">
            <a:extLst>
              <a:ext uri="{FF2B5EF4-FFF2-40B4-BE49-F238E27FC236}">
                <a16:creationId xmlns:a16="http://schemas.microsoft.com/office/drawing/2014/main" id="{06CCD80E-3975-0591-176B-2A587F2302B0}"/>
              </a:ext>
            </a:extLst>
          </p:cNvPr>
          <p:cNvSpPr>
            <a:spLocks noGrp="1"/>
          </p:cNvSpPr>
          <p:nvPr>
            <p:ph type="sldNum" sz="quarter" idx="4"/>
          </p:nvPr>
        </p:nvSpPr>
        <p:spPr>
          <a:xfrm>
            <a:off x="11413517" y="6404781"/>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pic>
        <p:nvPicPr>
          <p:cNvPr id="3" name="Picture 2" descr="Homepage - English - OceanPact">
            <a:extLst>
              <a:ext uri="{FF2B5EF4-FFF2-40B4-BE49-F238E27FC236}">
                <a16:creationId xmlns:a16="http://schemas.microsoft.com/office/drawing/2014/main" id="{4B4114F0-ED9B-2400-95D9-0F6E042E808C}"/>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val="0"/>
              </a:ext>
            </a:extLst>
          </a:blip>
          <a:srcRect l="20896" t="22281" r="20873" b="22281"/>
          <a:stretch/>
        </p:blipFill>
        <p:spPr bwMode="auto">
          <a:xfrm>
            <a:off x="282998" y="303855"/>
            <a:ext cx="725220" cy="6446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24439379-B1BD-EBC5-8902-612E4EC36009}"/>
              </a:ext>
            </a:extLst>
          </p:cNvPr>
          <p:cNvPicPr>
            <a:picLocks noChangeAspect="1" noChangeArrowheads="1"/>
          </p:cNvPicPr>
          <p:nvPr userDrawn="1"/>
        </p:nvPicPr>
        <p:blipFill>
          <a:blip r:embed="rId6"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1608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Título e Conteúdo">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5160E87B-9A84-4C15-93EA-CC6C029090DE}"/>
              </a:ext>
            </a:extLst>
          </p:cNvPr>
          <p:cNvPicPr>
            <a:picLocks noChangeAspect="1"/>
          </p:cNvPicPr>
          <p:nvPr userDrawn="1"/>
        </p:nvPicPr>
        <p:blipFill>
          <a:blip r:embed="rId2"/>
          <a:stretch>
            <a:fillRect/>
          </a:stretch>
        </p:blipFill>
        <p:spPr>
          <a:xfrm>
            <a:off x="550864" y="224086"/>
            <a:ext cx="515936" cy="478276"/>
          </a:xfrm>
          <a:prstGeom prst="rect">
            <a:avLst/>
          </a:prstGeom>
        </p:spPr>
      </p:pic>
      <p:pic>
        <p:nvPicPr>
          <p:cNvPr id="9" name="Imagem 8" descr="Forma&#10;&#10;Descrição gerada automaticamente">
            <a:extLst>
              <a:ext uri="{FF2B5EF4-FFF2-40B4-BE49-F238E27FC236}">
                <a16:creationId xmlns:a16="http://schemas.microsoft.com/office/drawing/2014/main" id="{9167F124-20EB-64F6-C159-DDB9CECF52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492000" y="0"/>
            <a:ext cx="2700000" cy="1571238"/>
          </a:xfrm>
          <a:prstGeom prst="rect">
            <a:avLst/>
          </a:prstGeom>
        </p:spPr>
      </p:pic>
    </p:spTree>
    <p:extLst>
      <p:ext uri="{BB962C8B-B14F-4D97-AF65-F5344CB8AC3E}">
        <p14:creationId xmlns:p14="http://schemas.microsoft.com/office/powerpoint/2010/main" val="33517620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A550572-0738-4CDC-AAE5-59DDA8108599}"/>
              </a:ext>
            </a:extLst>
          </p:cNvPr>
          <p:cNvSpPr>
            <a:spLocks noGrp="1"/>
          </p:cNvSpPr>
          <p:nvPr>
            <p:ph type="dt" sz="half" idx="10"/>
          </p:nvPr>
        </p:nvSpPr>
        <p:spPr/>
        <p:txBody>
          <a:bodyPr/>
          <a:lstStyle/>
          <a:p>
            <a:fld id="{DF3EA704-7110-4DC6-990C-D79483702BE2}" type="datetimeFigureOut">
              <a:rPr lang="pt-BR" smtClean="0"/>
              <a:t>29/12/2025</a:t>
            </a:fld>
            <a:endParaRPr lang="pt-BR"/>
          </a:p>
        </p:txBody>
      </p:sp>
      <p:sp>
        <p:nvSpPr>
          <p:cNvPr id="3" name="Espaço Reservado para Rodapé 2">
            <a:extLst>
              <a:ext uri="{FF2B5EF4-FFF2-40B4-BE49-F238E27FC236}">
                <a16:creationId xmlns:a16="http://schemas.microsoft.com/office/drawing/2014/main" id="{8DCF5E12-8AD3-A7FE-2C3F-E2D0D0D491F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94338BD-3055-49D4-727E-B9D5162862AB}"/>
              </a:ext>
            </a:extLst>
          </p:cNvPr>
          <p:cNvSpPr>
            <a:spLocks noGrp="1"/>
          </p:cNvSpPr>
          <p:nvPr>
            <p:ph type="sldNum" sz="quarter" idx="12"/>
          </p:nvPr>
        </p:nvSpPr>
        <p:spPr/>
        <p:txBody>
          <a:bodyPr/>
          <a:lstStyle/>
          <a:p>
            <a:fld id="{0B053298-9C0C-4549-8D38-D351E80E012B}" type="slidenum">
              <a:rPr lang="pt-BR" smtClean="0"/>
              <a:t>‹nº›</a:t>
            </a:fld>
            <a:endParaRPr lang="pt-BR"/>
          </a:p>
        </p:txBody>
      </p:sp>
    </p:spTree>
    <p:extLst>
      <p:ext uri="{BB962C8B-B14F-4D97-AF65-F5344CB8AC3E}">
        <p14:creationId xmlns:p14="http://schemas.microsoft.com/office/powerpoint/2010/main" val="3311725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pic>
        <p:nvPicPr>
          <p:cNvPr id="3" name="Imagem 2" descr="Água do mar&#10;&#10;Descrição gerada automaticamente com confiança média">
            <a:extLst>
              <a:ext uri="{FF2B5EF4-FFF2-40B4-BE49-F238E27FC236}">
                <a16:creationId xmlns:a16="http://schemas.microsoft.com/office/drawing/2014/main" id="{73725153-2D83-428F-A299-ED3CDED842A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3345" y="-20955"/>
            <a:ext cx="12484343" cy="7020000"/>
          </a:xfrm>
          <a:prstGeom prst="rect">
            <a:avLst/>
          </a:prstGeom>
        </p:spPr>
      </p:pic>
      <p:pic>
        <p:nvPicPr>
          <p:cNvPr id="4" name="Imagem 3">
            <a:extLst>
              <a:ext uri="{FF2B5EF4-FFF2-40B4-BE49-F238E27FC236}">
                <a16:creationId xmlns:a16="http://schemas.microsoft.com/office/drawing/2014/main" id="{5028BEE6-D15B-4EAD-88F3-9CBF98E3E39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9" r="41233" b="20961"/>
          <a:stretch/>
        </p:blipFill>
        <p:spPr>
          <a:xfrm>
            <a:off x="-93346" y="-20956"/>
            <a:ext cx="6567819" cy="4973955"/>
          </a:xfrm>
          <a:prstGeom prst="rect">
            <a:avLst/>
          </a:prstGeom>
        </p:spPr>
      </p:pic>
      <p:pic>
        <p:nvPicPr>
          <p:cNvPr id="26" name="Imagem 25" descr="Logotipo&#10;&#10;Descrição gerada automaticamente">
            <a:extLst>
              <a:ext uri="{FF2B5EF4-FFF2-40B4-BE49-F238E27FC236}">
                <a16:creationId xmlns:a16="http://schemas.microsoft.com/office/drawing/2014/main" id="{4C2582AC-1EE2-4D95-88F7-AA071F7E6C0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7430" y="-69666"/>
            <a:ext cx="4343790" cy="2273960"/>
          </a:xfrm>
          <a:prstGeom prst="rect">
            <a:avLst/>
          </a:prstGeom>
        </p:spPr>
      </p:pic>
      <p:pic>
        <p:nvPicPr>
          <p:cNvPr id="6" name="Imagem 5" descr="Ícone&#10;&#10;Descrição gerada automaticamente">
            <a:extLst>
              <a:ext uri="{FF2B5EF4-FFF2-40B4-BE49-F238E27FC236}">
                <a16:creationId xmlns:a16="http://schemas.microsoft.com/office/drawing/2014/main" id="{9C899660-415C-4486-B1F6-2D99CD984E44}"/>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334314" y="2072002"/>
            <a:ext cx="972000" cy="393169"/>
          </a:xfrm>
          <a:prstGeom prst="rect">
            <a:avLst/>
          </a:prstGeom>
        </p:spPr>
      </p:pic>
      <p:sp>
        <p:nvSpPr>
          <p:cNvPr id="7" name="CaixaDeTexto 6">
            <a:extLst>
              <a:ext uri="{FF2B5EF4-FFF2-40B4-BE49-F238E27FC236}">
                <a16:creationId xmlns:a16="http://schemas.microsoft.com/office/drawing/2014/main" id="{8DB4CB51-B055-4691-A521-44CF51D35CA9}"/>
              </a:ext>
            </a:extLst>
          </p:cNvPr>
          <p:cNvSpPr txBox="1"/>
          <p:nvPr userDrawn="1"/>
        </p:nvSpPr>
        <p:spPr>
          <a:xfrm>
            <a:off x="11791405" y="6585840"/>
            <a:ext cx="801189" cy="338554"/>
          </a:xfrm>
          <a:prstGeom prst="rect">
            <a:avLst/>
          </a:prstGeom>
          <a:noFill/>
        </p:spPr>
        <p:txBody>
          <a:bodyPr wrap="square" rtlCol="0">
            <a:spAutoFit/>
          </a:bodyPr>
          <a:lstStyle/>
          <a:p>
            <a:endParaRPr lang="pt-BR" sz="1600" b="1" dirty="0">
              <a:solidFill>
                <a:schemeClr val="bg2">
                  <a:lumMod val="50000"/>
                </a:schemeClr>
              </a:solidFill>
            </a:endParaRPr>
          </a:p>
        </p:txBody>
      </p:sp>
    </p:spTree>
    <p:extLst>
      <p:ext uri="{BB962C8B-B14F-4D97-AF65-F5344CB8AC3E}">
        <p14:creationId xmlns:p14="http://schemas.microsoft.com/office/powerpoint/2010/main" val="2098480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ítulo e Conteúdo">
    <p:spTree>
      <p:nvGrpSpPr>
        <p:cNvPr id="1" name=""/>
        <p:cNvGrpSpPr/>
        <p:nvPr/>
      </p:nvGrpSpPr>
      <p:grpSpPr>
        <a:xfrm>
          <a:off x="0" y="0"/>
          <a:ext cx="0" cy="0"/>
          <a:chOff x="0" y="0"/>
          <a:chExt cx="0" cy="0"/>
        </a:xfrm>
      </p:grpSpPr>
      <p:pic>
        <p:nvPicPr>
          <p:cNvPr id="6" name="Imagem 5" descr="Forma&#10;&#10;Descrição gerada automaticamente">
            <a:extLst>
              <a:ext uri="{FF2B5EF4-FFF2-40B4-BE49-F238E27FC236}">
                <a16:creationId xmlns:a16="http://schemas.microsoft.com/office/drawing/2014/main" id="{306056FD-4273-46D0-AE12-B56554FD8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9418"/>
            <a:ext cx="12204000" cy="6867418"/>
          </a:xfrm>
          <a:prstGeom prst="rect">
            <a:avLst/>
          </a:prstGeom>
        </p:spPr>
      </p:pic>
      <p:pic>
        <p:nvPicPr>
          <p:cNvPr id="4" name="Picture 3">
            <a:extLst>
              <a:ext uri="{FF2B5EF4-FFF2-40B4-BE49-F238E27FC236}">
                <a16:creationId xmlns:a16="http://schemas.microsoft.com/office/drawing/2014/main" id="{A88B1731-68D9-4B65-96FC-5DD7B982713D}"/>
              </a:ext>
            </a:extLst>
          </p:cNvPr>
          <p:cNvPicPr>
            <a:picLocks noChangeAspect="1"/>
          </p:cNvPicPr>
          <p:nvPr userDrawn="1"/>
        </p:nvPicPr>
        <p:blipFill>
          <a:blip r:embed="rId3"/>
          <a:stretch>
            <a:fillRect/>
          </a:stretch>
        </p:blipFill>
        <p:spPr>
          <a:xfrm>
            <a:off x="549847" y="224086"/>
            <a:ext cx="515936" cy="478276"/>
          </a:xfrm>
          <a:prstGeom prst="rect">
            <a:avLst/>
          </a:prstGeom>
        </p:spPr>
      </p:pic>
    </p:spTree>
    <p:extLst>
      <p:ext uri="{BB962C8B-B14F-4D97-AF65-F5344CB8AC3E}">
        <p14:creationId xmlns:p14="http://schemas.microsoft.com/office/powerpoint/2010/main" val="3196719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ítulo e Conteúdo">
    <p:spTree>
      <p:nvGrpSpPr>
        <p:cNvPr id="1" name=""/>
        <p:cNvGrpSpPr/>
        <p:nvPr/>
      </p:nvGrpSpPr>
      <p:grpSpPr>
        <a:xfrm>
          <a:off x="0" y="0"/>
          <a:ext cx="0" cy="0"/>
          <a:chOff x="0" y="0"/>
          <a:chExt cx="0" cy="0"/>
        </a:xfrm>
      </p:grpSpPr>
      <p:pic>
        <p:nvPicPr>
          <p:cNvPr id="7" name="Picture 7">
            <a:extLst>
              <a:ext uri="{FF2B5EF4-FFF2-40B4-BE49-F238E27FC236}">
                <a16:creationId xmlns:a16="http://schemas.microsoft.com/office/drawing/2014/main" id="{5160E87B-9A84-4C15-93EA-CC6C029090DE}"/>
              </a:ext>
            </a:extLst>
          </p:cNvPr>
          <p:cNvPicPr>
            <a:picLocks noChangeAspect="1"/>
          </p:cNvPicPr>
          <p:nvPr userDrawn="1"/>
        </p:nvPicPr>
        <p:blipFill>
          <a:blip r:embed="rId2"/>
          <a:stretch>
            <a:fillRect/>
          </a:stretch>
        </p:blipFill>
        <p:spPr>
          <a:xfrm>
            <a:off x="550864" y="224086"/>
            <a:ext cx="515936" cy="478276"/>
          </a:xfrm>
          <a:prstGeom prst="rect">
            <a:avLst/>
          </a:prstGeom>
        </p:spPr>
      </p:pic>
    </p:spTree>
    <p:extLst>
      <p:ext uri="{BB962C8B-B14F-4D97-AF65-F5344CB8AC3E}">
        <p14:creationId xmlns:p14="http://schemas.microsoft.com/office/powerpoint/2010/main" val="1468704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5" name="Imagem 4" descr="Fundo preto com letras brancas&#10;&#10;Descrição gerada automaticamente">
            <a:extLst>
              <a:ext uri="{FF2B5EF4-FFF2-40B4-BE49-F238E27FC236}">
                <a16:creationId xmlns:a16="http://schemas.microsoft.com/office/drawing/2014/main" id="{DA06D681-4CE9-4A01-9EEF-9CF61051164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11" y="0"/>
            <a:ext cx="12204000" cy="6870852"/>
          </a:xfrm>
          <a:prstGeom prst="rect">
            <a:avLst/>
          </a:prstGeom>
        </p:spPr>
      </p:pic>
      <p:sp>
        <p:nvSpPr>
          <p:cNvPr id="3" name="CaixaDeTexto 2">
            <a:extLst>
              <a:ext uri="{FF2B5EF4-FFF2-40B4-BE49-F238E27FC236}">
                <a16:creationId xmlns:a16="http://schemas.microsoft.com/office/drawing/2014/main" id="{02085743-EAEF-4A1E-8DF4-F35C84E84A80}"/>
              </a:ext>
            </a:extLst>
          </p:cNvPr>
          <p:cNvSpPr txBox="1"/>
          <p:nvPr userDrawn="1"/>
        </p:nvSpPr>
        <p:spPr>
          <a:xfrm>
            <a:off x="11697137" y="6532298"/>
            <a:ext cx="801189" cy="338554"/>
          </a:xfrm>
          <a:prstGeom prst="rect">
            <a:avLst/>
          </a:prstGeom>
          <a:noFill/>
        </p:spPr>
        <p:txBody>
          <a:bodyPr wrap="square" rtlCol="0">
            <a:spAutoFit/>
          </a:bodyPr>
          <a:lstStyle/>
          <a:p>
            <a:fld id="{A82274C2-11DD-4939-A758-19DA907E8A18}" type="slidenum">
              <a:rPr lang="pt-BR" sz="1600" b="1" smtClean="0">
                <a:solidFill>
                  <a:schemeClr val="bg2">
                    <a:lumMod val="50000"/>
                  </a:schemeClr>
                </a:solidFill>
              </a:rPr>
              <a:t>‹nº›</a:t>
            </a:fld>
            <a:endParaRPr lang="pt-BR" sz="1600" b="1" dirty="0">
              <a:solidFill>
                <a:schemeClr val="bg2">
                  <a:lumMod val="50000"/>
                </a:schemeClr>
              </a:solidFill>
            </a:endParaRPr>
          </a:p>
        </p:txBody>
      </p:sp>
    </p:spTree>
    <p:extLst>
      <p:ext uri="{BB962C8B-B14F-4D97-AF65-F5344CB8AC3E}">
        <p14:creationId xmlns:p14="http://schemas.microsoft.com/office/powerpoint/2010/main" val="3885027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246734" y="119510"/>
            <a:ext cx="10989530" cy="645195"/>
          </a:xfrm>
          <a:prstGeom prst="rect">
            <a:avLst/>
          </a:prstGeom>
        </p:spPr>
        <p:txBody>
          <a:bodyPr vert="horz" lIns="91440" tIns="45720" rIns="91440" bIns="45720" rtlCol="0" anchor="ctr">
            <a:noAutofit/>
          </a:bodyPr>
          <a:lstStyle/>
          <a:p>
            <a:endParaRPr lang="pt-BR" dirty="0"/>
          </a:p>
        </p:txBody>
      </p:sp>
      <p:sp>
        <p:nvSpPr>
          <p:cNvPr id="3" name="Espaço Reservado para Número de Slide 2"/>
          <p:cNvSpPr>
            <a:spLocks noGrp="1"/>
          </p:cNvSpPr>
          <p:nvPr>
            <p:ph type="sldNum" sz="quarter" idx="4"/>
          </p:nvPr>
        </p:nvSpPr>
        <p:spPr>
          <a:xfrm>
            <a:off x="11413517" y="6448256"/>
            <a:ext cx="626441" cy="365125"/>
          </a:xfrm>
          <a:prstGeom prst="rect">
            <a:avLst/>
          </a:prstGeom>
        </p:spPr>
        <p:txBody>
          <a:bodyPr vert="horz" lIns="91440" tIns="45720" rIns="91440" bIns="45720" rtlCol="0" anchor="ctr"/>
          <a:lstStyle>
            <a:lvl1pPr algn="r">
              <a:defRPr sz="1200">
                <a:solidFill>
                  <a:schemeClr val="accent1"/>
                </a:solidFill>
              </a:defRPr>
            </a:lvl1pPr>
          </a:lstStyle>
          <a:p>
            <a:fld id="{8BE70CED-CD14-46CD-A10E-2FA926F3A0EF}" type="slidenum">
              <a:rPr lang="pt-BR" smtClean="0"/>
              <a:pPr/>
              <a:t>‹nº›</a:t>
            </a:fld>
            <a:endParaRPr lang="pt-BR"/>
          </a:p>
        </p:txBody>
      </p:sp>
    </p:spTree>
    <p:extLst>
      <p:ext uri="{BB962C8B-B14F-4D97-AF65-F5344CB8AC3E}">
        <p14:creationId xmlns:p14="http://schemas.microsoft.com/office/powerpoint/2010/main" val="2325555746"/>
      </p:ext>
    </p:extLst>
  </p:cSld>
  <p:clrMap bg1="lt1" tx1="dk1" bg2="lt2" tx2="dk2" accent1="accent1" accent2="accent2" accent3="accent3" accent4="accent4" accent5="accent5" accent6="accent6" hlink="hlink" folHlink="folHlink"/>
  <p:sldLayoutIdLst>
    <p:sldLayoutId id="2147483660" r:id="rId1"/>
    <p:sldLayoutId id="2147483688" r:id="rId2"/>
    <p:sldLayoutId id="2147483687" r:id="rId3"/>
    <p:sldLayoutId id="2147483670" r:id="rId4"/>
    <p:sldLayoutId id="2147483671" r:id="rId5"/>
    <p:sldLayoutId id="2147483649" r:id="rId6"/>
    <p:sldLayoutId id="2147483672" r:id="rId7"/>
    <p:sldLayoutId id="2147483673" r:id="rId8"/>
    <p:sldLayoutId id="2147483689" r:id="rId9"/>
    <p:sldLayoutId id="2147483699" r:id="rId10"/>
    <p:sldLayoutId id="2147483700" r:id="rId11"/>
  </p:sldLayoutIdLst>
  <p:txStyles>
    <p:titleStyle>
      <a:lvl1pPr algn="l" defTabSz="1055061"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395648" indent="-395648" algn="l" defTabSz="1055061"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1pPr>
      <a:lvl2pPr marL="857237" indent="-329706" algn="l" defTabSz="1055061"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318826" indent="-263766" algn="l" defTabSz="1055061"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4pPr>
      <a:lvl5pPr marL="2373888"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p:bodyStyle>
    <p:otherStyle>
      <a:defPPr>
        <a:defRPr lang="pt-BR"/>
      </a:defPPr>
      <a:lvl1pPr marL="0" algn="l" defTabSz="1055061" rtl="0" eaLnBrk="1" latinLnBrk="0" hangingPunct="1">
        <a:defRPr sz="2100" kern="1200">
          <a:solidFill>
            <a:schemeClr val="tx1"/>
          </a:solidFill>
          <a:latin typeface="+mn-lt"/>
          <a:ea typeface="+mn-ea"/>
          <a:cs typeface="+mn-cs"/>
        </a:defRPr>
      </a:lvl1pPr>
      <a:lvl2pPr marL="527530" algn="l" defTabSz="1055061" rtl="0" eaLnBrk="1" latinLnBrk="0" hangingPunct="1">
        <a:defRPr sz="2100" kern="1200">
          <a:solidFill>
            <a:schemeClr val="tx1"/>
          </a:solidFill>
          <a:latin typeface="+mn-lt"/>
          <a:ea typeface="+mn-ea"/>
          <a:cs typeface="+mn-cs"/>
        </a:defRPr>
      </a:lvl2pPr>
      <a:lvl3pPr marL="1055061" algn="l" defTabSz="1055061" rtl="0" eaLnBrk="1" latinLnBrk="0" hangingPunct="1">
        <a:defRPr sz="2100" kern="1200">
          <a:solidFill>
            <a:schemeClr val="tx1"/>
          </a:solidFill>
          <a:latin typeface="+mn-lt"/>
          <a:ea typeface="+mn-ea"/>
          <a:cs typeface="+mn-cs"/>
        </a:defRPr>
      </a:lvl3pPr>
      <a:lvl4pPr marL="1582592" algn="l" defTabSz="1055061" rtl="0" eaLnBrk="1" latinLnBrk="0" hangingPunct="1">
        <a:defRPr sz="2100" kern="1200">
          <a:solidFill>
            <a:schemeClr val="tx1"/>
          </a:solidFill>
          <a:latin typeface="+mn-lt"/>
          <a:ea typeface="+mn-ea"/>
          <a:cs typeface="+mn-cs"/>
        </a:defRPr>
      </a:lvl4pPr>
      <a:lvl5pPr marL="2110122" algn="l" defTabSz="1055061" rtl="0" eaLnBrk="1" latinLnBrk="0" hangingPunct="1">
        <a:defRPr sz="2100" kern="1200">
          <a:solidFill>
            <a:schemeClr val="tx1"/>
          </a:solidFill>
          <a:latin typeface="+mn-lt"/>
          <a:ea typeface="+mn-ea"/>
          <a:cs typeface="+mn-cs"/>
        </a:defRPr>
      </a:lvl5pPr>
      <a:lvl6pPr marL="2637653" algn="l" defTabSz="1055061" rtl="0" eaLnBrk="1" latinLnBrk="0" hangingPunct="1">
        <a:defRPr sz="2100" kern="1200">
          <a:solidFill>
            <a:schemeClr val="tx1"/>
          </a:solidFill>
          <a:latin typeface="+mn-lt"/>
          <a:ea typeface="+mn-ea"/>
          <a:cs typeface="+mn-cs"/>
        </a:defRPr>
      </a:lvl6pPr>
      <a:lvl7pPr marL="3165183" algn="l" defTabSz="1055061" rtl="0" eaLnBrk="1" latinLnBrk="0" hangingPunct="1">
        <a:defRPr sz="2100" kern="1200">
          <a:solidFill>
            <a:schemeClr val="tx1"/>
          </a:solidFill>
          <a:latin typeface="+mn-lt"/>
          <a:ea typeface="+mn-ea"/>
          <a:cs typeface="+mn-cs"/>
        </a:defRPr>
      </a:lvl7pPr>
      <a:lvl8pPr marL="3692714" algn="l" defTabSz="1055061" rtl="0" eaLnBrk="1" latinLnBrk="0" hangingPunct="1">
        <a:defRPr sz="2100" kern="1200">
          <a:solidFill>
            <a:schemeClr val="tx1"/>
          </a:solidFill>
          <a:latin typeface="+mn-lt"/>
          <a:ea typeface="+mn-ea"/>
          <a:cs typeface="+mn-cs"/>
        </a:defRPr>
      </a:lvl8pPr>
      <a:lvl9pPr marL="4220244" algn="l" defTabSz="1055061"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101933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6.png"/><Relationship Id="rId1" Type="http://schemas.openxmlformats.org/officeDocument/2006/relationships/slideLayout" Target="../slideLayouts/slideLayout3.xml"/><Relationship Id="rId4" Type="http://schemas.openxmlformats.org/officeDocument/2006/relationships/hyperlink" Target="https://apps.powerapps.com/play/e/a107b232-41c1-e72a-a662-0ddef73d360d/a/8ad46ef8-c4e4-437d-bc9c-56e7414f3aa9"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3.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43.png"/><Relationship Id="rId4" Type="http://schemas.openxmlformats.org/officeDocument/2006/relationships/image" Target="../media/image4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package" Target="../embeddings/Microsoft_Excel_Worksheet.xlsx"/><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image" Target="../media/image54.png"/><Relationship Id="rId7" Type="http://schemas.openxmlformats.org/officeDocument/2006/relationships/package" Target="../embeddings/Microsoft_Excel_Worksheet1.xlsx"/><Relationship Id="rId2" Type="http://schemas.openxmlformats.org/officeDocument/2006/relationships/image" Target="../media/image53.png"/><Relationship Id="rId1" Type="http://schemas.openxmlformats.org/officeDocument/2006/relationships/slideLayout" Target="../slideLayouts/slideLayout4.xml"/><Relationship Id="rId6" Type="http://schemas.openxmlformats.org/officeDocument/2006/relationships/hyperlink" Target="https://app.powerbi.com/Redirect?action=OpenReport&amp;appId=336d1815-a18e-4b3d-ad6d-51374f3dbe60&amp;reportObjectId=406d6035-30b4-49a6-858e-bb47530489ed&amp;ctid=0642f02d-fac6-4b75-a65c-110a5c024f78&amp;reportPage=1894e9b1dad850f319be&amp;pbi_source=appShareLink&amp;portalSessionId=09bc34b1-10fe-463f-9afa-a24e064c4613" TargetMode="External"/><Relationship Id="rId5" Type="http://schemas.openxmlformats.org/officeDocument/2006/relationships/hyperlink" Target="https://forms.office.com/Pages/ResponsePage.aspx?id=LfBCBsb6dUumXBEKXAJPeElgcbWJrYFCscRKv7qxlfpUREcwR1UwQlk0VUQ4TDFMNDdKOU9USE1IVC4u" TargetMode="External"/><Relationship Id="rId4" Type="http://schemas.openxmlformats.org/officeDocument/2006/relationships/image" Target="../media/image55.png"/></Relationships>
</file>

<file path=ppt/slides/_rels/slide8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83.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package" Target="../embeddings/Microsoft_Excel_Worksheet2.xlsx"/><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
            <a:extLst>
              <a:ext uri="{FF2B5EF4-FFF2-40B4-BE49-F238E27FC236}">
                <a16:creationId xmlns:a16="http://schemas.microsoft.com/office/drawing/2014/main" id="{4B224B62-F17A-4CF9-53B2-6F23510AC8CA}"/>
              </a:ext>
            </a:extLst>
          </p:cNvPr>
          <p:cNvSpPr txBox="1">
            <a:spLocks/>
          </p:cNvSpPr>
          <p:nvPr/>
        </p:nvSpPr>
        <p:spPr>
          <a:xfrm>
            <a:off x="725574" y="1825413"/>
            <a:ext cx="9307426"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800" b="1" kern="1200">
                <a:solidFill>
                  <a:schemeClr val="bg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pt-BR" sz="4800" b="1" i="0" u="none" strike="noStrike" kern="1200" cap="none" spc="0" normalizeH="0" baseline="0" noProof="1">
                <a:ln>
                  <a:noFill/>
                </a:ln>
                <a:solidFill>
                  <a:sysClr val="window" lastClr="FFFFFF"/>
                </a:solidFill>
                <a:effectLst/>
                <a:uLnTx/>
                <a:uFillTx/>
                <a:latin typeface="Calibri" panose="020F0502020204030204"/>
                <a:ea typeface="+mj-ea"/>
                <a:cs typeface="+mj-cs"/>
              </a:rPr>
              <a:t>HUB DE OBRAS</a:t>
            </a:r>
          </a:p>
        </p:txBody>
      </p:sp>
      <p:sp>
        <p:nvSpPr>
          <p:cNvPr id="12" name="Subtítulo 2">
            <a:extLst>
              <a:ext uri="{FF2B5EF4-FFF2-40B4-BE49-F238E27FC236}">
                <a16:creationId xmlns:a16="http://schemas.microsoft.com/office/drawing/2014/main" id="{BF0BFC17-02F9-7882-DBA8-07BB93DAFF85}"/>
              </a:ext>
            </a:extLst>
          </p:cNvPr>
          <p:cNvSpPr txBox="1">
            <a:spLocks/>
          </p:cNvSpPr>
          <p:nvPr/>
        </p:nvSpPr>
        <p:spPr>
          <a:xfrm>
            <a:off x="2211185" y="4237561"/>
            <a:ext cx="9144000" cy="928167"/>
          </a:xfrm>
          <a:prstGeom prst="rect">
            <a:avLst/>
          </a:prstGeom>
        </p:spPr>
        <p:txBody>
          <a:bodyPr vert="horz" lIns="91440" tIns="45720" rIns="91440" bIns="45720" rtlCol="0" anchor="ctr">
            <a:normAutofit/>
          </a:bodyPr>
          <a:lstStyle>
            <a:lvl1pPr marL="0" indent="0" algn="r" defTabSz="914400" rtl="0" eaLnBrk="1" latinLnBrk="0" hangingPunct="1">
              <a:lnSpc>
                <a:spcPct val="90000"/>
              </a:lnSpc>
              <a:spcBef>
                <a:spcPts val="1000"/>
              </a:spcBef>
              <a:buFont typeface="Arial" panose="020B0604020202020204" pitchFamily="34" charset="0"/>
              <a:buNone/>
              <a:defRPr sz="2400" b="1"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pt-BR" sz="2800" noProof="1">
                <a:solidFill>
                  <a:sysClr val="window" lastClr="FFFFFF"/>
                </a:solidFill>
                <a:latin typeface="Calibri" panose="020F0502020204030204"/>
              </a:rPr>
              <a:t>Book de Macro Processos</a:t>
            </a:r>
          </a:p>
          <a:p>
            <a:pPr lvl="0">
              <a:defRPr/>
            </a:pPr>
            <a:r>
              <a:rPr lang="pt-BR" sz="1900" b="0" noProof="1">
                <a:solidFill>
                  <a:sysClr val="window" lastClr="FFFFFF"/>
                </a:solidFill>
              </a:rPr>
              <a:t>Última atualização em 22 de Outubro 2025</a:t>
            </a:r>
          </a:p>
        </p:txBody>
      </p:sp>
    </p:spTree>
    <p:extLst>
      <p:ext uri="{BB962C8B-B14F-4D97-AF65-F5344CB8AC3E}">
        <p14:creationId xmlns:p14="http://schemas.microsoft.com/office/powerpoint/2010/main" val="213111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BBF01-E1E3-F9B4-B2C3-BC0EDD4C5017}"/>
            </a:ext>
          </a:extLst>
        </p:cNvPr>
        <p:cNvGrpSpPr/>
        <p:nvPr/>
      </p:nvGrpSpPr>
      <p:grpSpPr>
        <a:xfrm>
          <a:off x="0" y="0"/>
          <a:ext cx="0" cy="0"/>
          <a:chOff x="0" y="0"/>
          <a:chExt cx="0" cy="0"/>
        </a:xfrm>
      </p:grpSpPr>
      <p:sp>
        <p:nvSpPr>
          <p:cNvPr id="62" name="Title 61">
            <a:extLst>
              <a:ext uri="{FF2B5EF4-FFF2-40B4-BE49-F238E27FC236}">
                <a16:creationId xmlns:a16="http://schemas.microsoft.com/office/drawing/2014/main" id="{E43CED40-0BD0-40FD-DACE-A2B7AC634F11}"/>
              </a:ext>
            </a:extLst>
          </p:cNvPr>
          <p:cNvSpPr>
            <a:spLocks noGrp="1"/>
          </p:cNvSpPr>
          <p:nvPr>
            <p:ph type="title"/>
          </p:nvPr>
        </p:nvSpPr>
        <p:spPr/>
        <p:txBody>
          <a:bodyPr/>
          <a:lstStyle/>
          <a:p>
            <a:r>
              <a:rPr lang="pt-BR" dirty="0"/>
              <a:t>HUB de Obras</a:t>
            </a:r>
            <a:br>
              <a:rPr lang="pt-BR" dirty="0"/>
            </a:br>
            <a:r>
              <a:rPr lang="pt-BR" sz="1800" b="0" dirty="0"/>
              <a:t>visão geral de escopo e funções</a:t>
            </a:r>
            <a:endParaRPr lang="en-BR" b="0" dirty="0"/>
          </a:p>
        </p:txBody>
      </p:sp>
      <p:sp>
        <p:nvSpPr>
          <p:cNvPr id="116" name="CaixaDeTexto 557">
            <a:extLst>
              <a:ext uri="{FF2B5EF4-FFF2-40B4-BE49-F238E27FC236}">
                <a16:creationId xmlns:a16="http://schemas.microsoft.com/office/drawing/2014/main" id="{6C789C41-AC04-86D4-75C4-673CAEEAB685}"/>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C95ACFF9-7887-3B8D-2EDF-4755237ADC6A}"/>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359065C7-EEE0-3124-36A9-252AB59BC0AE}"/>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1BC6D0C7-DBBE-70A2-FA58-6CBC19B1E1DD}"/>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1" name="CaixaDeTexto 21">
            <a:extLst>
              <a:ext uri="{FF2B5EF4-FFF2-40B4-BE49-F238E27FC236}">
                <a16:creationId xmlns:a16="http://schemas.microsoft.com/office/drawing/2014/main" id="{4604AA55-D9C2-D6B4-A735-F1306253824B}"/>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A7E43975-9468-FA73-A704-764AD1A72B03}"/>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901743B1-260B-2082-13B5-D9D74AD2CD56}"/>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5F8553D6-F442-F9FE-9115-EEC43C3E14BB}"/>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89B40DE6-5A8F-BD5B-841A-4C7E3E77A1F5}"/>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F3212D42-750F-D65C-42B3-F6E9EF3BE753}"/>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38E7EBFF-F8B6-6431-A2B9-3B9252AC6D3E}"/>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BD8BCBE7-9CAE-3ED1-C904-A1923DDEC046}"/>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356CA1E0-5349-D818-9C0A-1936AE10FD51}"/>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97891C2D-4FDC-C3B7-9F04-1ED3BEA139DD}"/>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942EA2B4-0524-A19D-9F0C-331D45ED8D29}"/>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D08BE28B-1D15-699A-DF72-32FAEFC4B8F7}"/>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740DC042-A619-095B-D498-6945F798D018}"/>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45D0A8CB-DBB4-857F-8C87-CBEC0EA15EEE}"/>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Etapas do Processo</a:t>
            </a:r>
            <a:endParaRPr lang="pt-BR" sz="1200" i="1" dirty="0"/>
          </a:p>
        </p:txBody>
      </p:sp>
      <p:sp>
        <p:nvSpPr>
          <p:cNvPr id="136" name="CaixaDeTexto 557">
            <a:extLst>
              <a:ext uri="{FF2B5EF4-FFF2-40B4-BE49-F238E27FC236}">
                <a16:creationId xmlns:a16="http://schemas.microsoft.com/office/drawing/2014/main" id="{A6E033F3-CA1D-C273-C316-0D6BBD2D9816}"/>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37" name="CaixaDeTexto 21">
            <a:extLst>
              <a:ext uri="{FF2B5EF4-FFF2-40B4-BE49-F238E27FC236}">
                <a16:creationId xmlns:a16="http://schemas.microsoft.com/office/drawing/2014/main" id="{933A2B40-5956-44EF-DD73-7F81AC6874D1}"/>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B619C526-0221-6BE9-4013-22FCEACD8E75}"/>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AB2E9875-F2EA-24FE-85C1-1D9E883F200E}"/>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9A6ABE17-D28E-C237-B2C2-BC08F82CA108}"/>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61B9EF3A-110D-E8DA-BF81-F7CA989EACA2}"/>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42" name="CaixaDeTexto 21">
            <a:extLst>
              <a:ext uri="{FF2B5EF4-FFF2-40B4-BE49-F238E27FC236}">
                <a16:creationId xmlns:a16="http://schemas.microsoft.com/office/drawing/2014/main" id="{7192527F-97C1-E3F6-ADC8-614069BE303F}"/>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CDE682AF-63CC-9232-726D-3643446B1D81}"/>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C4FE8DDB-55B8-5049-BFF3-3F3813AA4AD4}"/>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F47D54F7-75B2-3111-362A-ED3374A8E80D}"/>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0487CB71-80AF-BA95-5454-2E5A542D1F82}"/>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A66446BA-08B6-87E5-9673-7EBD897F9D9A}"/>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087885CA-4F40-DE8D-3A61-7DDD73A3B46B}"/>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683F80B0-6D8E-7A1A-88CE-15B834519057}"/>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a:t>
            </a:r>
            <a:br>
              <a:rPr lang="pt-BR" sz="1000" b="1" i="1" dirty="0"/>
            </a:br>
            <a:r>
              <a:rPr lang="pt-BR" sz="1000" b="1" i="1" dirty="0"/>
              <a:t>meses</a:t>
            </a:r>
          </a:p>
        </p:txBody>
      </p:sp>
      <p:sp>
        <p:nvSpPr>
          <p:cNvPr id="150" name="CaixaDeTexto 21">
            <a:extLst>
              <a:ext uri="{FF2B5EF4-FFF2-40B4-BE49-F238E27FC236}">
                <a16:creationId xmlns:a16="http://schemas.microsoft.com/office/drawing/2014/main" id="{D4794E14-B0CC-11B5-3A9B-97DA30B43531}"/>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D4CCF382-2FD3-5750-8399-B36CBFB730B9}"/>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AC0A5908-291E-B5A8-E280-143006B63FDD}"/>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0BEB6362-14B6-FD59-05E9-604B1E025D26}"/>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67" name="CaixaDeTexto 21">
            <a:extLst>
              <a:ext uri="{FF2B5EF4-FFF2-40B4-BE49-F238E27FC236}">
                <a16:creationId xmlns:a16="http://schemas.microsoft.com/office/drawing/2014/main" id="{CAE0E5AE-DDC8-DD94-E2F7-87B084299033}"/>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5FB9C6DC-8D06-4521-E518-42049F0B6964}"/>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CA9C4BCC-96DF-34C8-4A37-074B6F6A65A1}"/>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C6DE6673-97A1-C9A7-D649-2118BB5445CF}"/>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A9D83CAA-D132-6058-B920-BD63A12EFCB7}"/>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D751FB9B-9032-A386-629C-925EDD18BB1E}"/>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AEED06B7-BAC0-964E-CC40-42F8EBCE2774}"/>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A3569892-5C7C-7C1A-6180-B6A1110A4374}"/>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C08BB329-82A1-513B-B3B0-BB7F382C675E}"/>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D92FDFC7-4F37-370E-214C-6348AEA98E45}"/>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F2A9EA1E-FBE6-82C7-87E9-F6461CB1CF03}"/>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2E0C683C-C49A-DBEE-9D4C-87E54B259B24}"/>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131" name="CaixaDeTexto 21">
            <a:extLst>
              <a:ext uri="{FF2B5EF4-FFF2-40B4-BE49-F238E27FC236}">
                <a16:creationId xmlns:a16="http://schemas.microsoft.com/office/drawing/2014/main" id="{F71C9B83-BF46-4557-289F-8D43E8EFFE41}"/>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a:t>
            </a:r>
            <a:r>
              <a:rPr lang="pt-BR"/>
              <a:t>. GMUDs</a:t>
            </a:r>
            <a:endParaRPr lang="pt-BR" dirty="0"/>
          </a:p>
        </p:txBody>
      </p:sp>
      <p:sp>
        <p:nvSpPr>
          <p:cNvPr id="154" name="CaixaDeTexto 21">
            <a:extLst>
              <a:ext uri="{FF2B5EF4-FFF2-40B4-BE49-F238E27FC236}">
                <a16:creationId xmlns:a16="http://schemas.microsoft.com/office/drawing/2014/main" id="{523F2282-988D-6CD9-1189-70D77107D78B}"/>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BC57001E-806A-8DB0-C783-A894E6056F4D}"/>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364F0A4C-5AC6-E574-E9B0-7C74A99F50BC}"/>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F5C3D77F-51FC-FDF4-096E-31FC4ABC1A81}"/>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58" name="CaixaDeTexto 21">
            <a:extLst>
              <a:ext uri="{FF2B5EF4-FFF2-40B4-BE49-F238E27FC236}">
                <a16:creationId xmlns:a16="http://schemas.microsoft.com/office/drawing/2014/main" id="{50900E0F-1025-7F0A-DAAD-587CC1BC86FE}"/>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3E57AB8D-3C49-D9A3-7E2D-BD0ECFEAB552}"/>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F9353131-7470-9E4D-91A4-6650A5D526CC}"/>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39D2331D-06D6-7FDE-FA99-EB2A8EB59D51}"/>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FE7F5381-E89B-32BF-E1A0-5B03F0EAA626}"/>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3B42B413-6F6E-39B7-2E3A-6110044D52DB}"/>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5B4C2E8C-91D8-8A8F-E80A-3175326C5A6C}"/>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A3760EFD-5F16-827A-BBC3-F3A57EE7C975}"/>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3A8EC791-E39C-7A60-991D-3D313E6C60F6}"/>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2271334E-54C8-AA46-996B-C11F605DAC15}"/>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Tree>
    <p:extLst>
      <p:ext uri="{BB962C8B-B14F-4D97-AF65-F5344CB8AC3E}">
        <p14:creationId xmlns:p14="http://schemas.microsoft.com/office/powerpoint/2010/main" val="4183264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D3304C-F6DA-5E06-BB86-7FAD04744EED}"/>
            </a:ext>
          </a:extLst>
        </p:cNvPr>
        <p:cNvGrpSpPr/>
        <p:nvPr/>
      </p:nvGrpSpPr>
      <p:grpSpPr>
        <a:xfrm>
          <a:off x="0" y="0"/>
          <a:ext cx="0" cy="0"/>
          <a:chOff x="0" y="0"/>
          <a:chExt cx="0" cy="0"/>
        </a:xfrm>
      </p:grpSpPr>
      <p:sp>
        <p:nvSpPr>
          <p:cNvPr id="62" name="Title 61">
            <a:extLst>
              <a:ext uri="{FF2B5EF4-FFF2-40B4-BE49-F238E27FC236}">
                <a16:creationId xmlns:a16="http://schemas.microsoft.com/office/drawing/2014/main" id="{92B43068-0624-A3C3-5B8D-2B1A3EE6803F}"/>
              </a:ext>
            </a:extLst>
          </p:cNvPr>
          <p:cNvSpPr>
            <a:spLocks noGrp="1"/>
          </p:cNvSpPr>
          <p:nvPr>
            <p:ph type="title"/>
          </p:nvPr>
        </p:nvSpPr>
        <p:spPr/>
        <p:txBody>
          <a:bodyPr/>
          <a:lstStyle/>
          <a:p>
            <a:r>
              <a:rPr lang="pt-BR" dirty="0"/>
              <a:t>HUB de Obras</a:t>
            </a:r>
            <a:br>
              <a:rPr lang="pt-BR" dirty="0"/>
            </a:br>
            <a:r>
              <a:rPr lang="pt-BR" sz="1800" b="0" dirty="0"/>
              <a:t>status da Documentação de Processos</a:t>
            </a:r>
            <a:endParaRPr lang="en-BR" b="0" dirty="0"/>
          </a:p>
        </p:txBody>
      </p:sp>
      <p:sp>
        <p:nvSpPr>
          <p:cNvPr id="2" name="Content Placeholder 1">
            <a:extLst>
              <a:ext uri="{FF2B5EF4-FFF2-40B4-BE49-F238E27FC236}">
                <a16:creationId xmlns:a16="http://schemas.microsoft.com/office/drawing/2014/main" id="{BCF35633-C518-2E36-24F4-7C75322AE77D}"/>
              </a:ext>
            </a:extLst>
          </p:cNvPr>
          <p:cNvSpPr>
            <a:spLocks noGrp="1"/>
          </p:cNvSpPr>
          <p:nvPr>
            <p:ph idx="1"/>
          </p:nvPr>
        </p:nvSpPr>
        <p:spPr>
          <a:xfrm>
            <a:off x="234842" y="1412776"/>
            <a:ext cx="6120000" cy="5004000"/>
          </a:xfrm>
        </p:spPr>
        <p:txBody>
          <a:bodyPr lIns="54000" anchor="t">
            <a:noAutofit/>
          </a:bodyPr>
          <a:lstStyle/>
          <a:p>
            <a:pPr marL="227013" indent="-227013">
              <a:lnSpc>
                <a:spcPct val="110000"/>
              </a:lnSpc>
              <a:spcBef>
                <a:spcPts val="400"/>
              </a:spcBef>
            </a:pPr>
            <a:r>
              <a:rPr lang="en-BR" sz="1800" dirty="0"/>
              <a:t>Tema 01: Cadastro da Parada</a:t>
            </a:r>
          </a:p>
          <a:p>
            <a:pPr marL="227013" indent="-227013">
              <a:lnSpc>
                <a:spcPct val="110000"/>
              </a:lnSpc>
              <a:spcBef>
                <a:spcPts val="400"/>
              </a:spcBef>
            </a:pPr>
            <a:r>
              <a:rPr lang="en-BR" sz="1800" dirty="0"/>
              <a:t>Tema 02: Templates</a:t>
            </a:r>
          </a:p>
          <a:p>
            <a:pPr marL="227013" indent="-227013">
              <a:lnSpc>
                <a:spcPct val="110000"/>
              </a:lnSpc>
              <a:spcBef>
                <a:spcPts val="400"/>
              </a:spcBef>
            </a:pPr>
            <a:r>
              <a:rPr lang="en-BR" sz="1800" dirty="0"/>
              <a:t>Tema 03: Status e Dinâmica de FEL’s</a:t>
            </a:r>
          </a:p>
          <a:p>
            <a:pPr marL="227013" indent="-227013">
              <a:lnSpc>
                <a:spcPct val="110000"/>
              </a:lnSpc>
              <a:spcBef>
                <a:spcPts val="400"/>
              </a:spcBef>
            </a:pPr>
            <a:r>
              <a:rPr lang="en-BR" sz="1800" dirty="0"/>
              <a:t>Tema 04: Planejamento de Escopo / Demandas</a:t>
            </a:r>
          </a:p>
          <a:p>
            <a:pPr marL="227013" indent="-227013">
              <a:lnSpc>
                <a:spcPct val="110000"/>
              </a:lnSpc>
              <a:spcBef>
                <a:spcPts val="400"/>
              </a:spcBef>
            </a:pPr>
            <a:r>
              <a:rPr lang="en-BR" sz="1800" dirty="0"/>
              <a:t>Tema 05: Simulação de Cenários</a:t>
            </a:r>
          </a:p>
          <a:p>
            <a:pPr marL="227013" indent="-227013">
              <a:lnSpc>
                <a:spcPct val="110000"/>
              </a:lnSpc>
              <a:spcBef>
                <a:spcPts val="400"/>
              </a:spcBef>
            </a:pPr>
            <a:r>
              <a:rPr lang="en-BR" sz="1800" dirty="0"/>
              <a:t>Tema 06: Esteira Financeira</a:t>
            </a:r>
            <a:endParaRPr lang="en-BR" sz="1800" b="0" i="1" dirty="0">
              <a:solidFill>
                <a:srgbClr val="FF0000"/>
              </a:solidFill>
            </a:endParaRPr>
          </a:p>
          <a:p>
            <a:pPr marL="227013" indent="-227013">
              <a:lnSpc>
                <a:spcPct val="110000"/>
              </a:lnSpc>
              <a:spcBef>
                <a:spcPts val="400"/>
              </a:spcBef>
            </a:pPr>
            <a:r>
              <a:rPr lang="en-BR" sz="1800" dirty="0"/>
              <a:t>Tema 07: Outlook </a:t>
            </a:r>
            <a:r>
              <a:rPr kumimoji="0" lang="en-BR" sz="140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Tema 08: Lançamento Materiais </a:t>
            </a:r>
            <a:r>
              <a:rPr kumimoji="0" lang="en-BR" sz="140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Tema 09: Lançamento Serviços </a:t>
            </a:r>
            <a:r>
              <a:rPr kumimoji="0" lang="en-BR" sz="140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Tema 11: GMUDs</a:t>
            </a:r>
          </a:p>
          <a:p>
            <a:pPr marL="227013" indent="-227013">
              <a:lnSpc>
                <a:spcPct val="110000"/>
              </a:lnSpc>
              <a:spcBef>
                <a:spcPts val="4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4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p:txBody>
      </p:sp>
      <p:sp>
        <p:nvSpPr>
          <p:cNvPr id="3" name="Content Placeholder 1">
            <a:extLst>
              <a:ext uri="{FF2B5EF4-FFF2-40B4-BE49-F238E27FC236}">
                <a16:creationId xmlns:a16="http://schemas.microsoft.com/office/drawing/2014/main" id="{B59E39EC-27D0-157C-A858-AF5090FA2880}"/>
              </a:ext>
            </a:extLst>
          </p:cNvPr>
          <p:cNvSpPr txBox="1">
            <a:spLocks/>
          </p:cNvSpPr>
          <p:nvPr/>
        </p:nvSpPr>
        <p:spPr>
          <a:xfrm>
            <a:off x="6414263" y="1412776"/>
            <a:ext cx="765842" cy="5004000"/>
          </a:xfrm>
          <a:prstGeom prst="rect">
            <a:avLst/>
          </a:prstGeom>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nSpc>
                <a:spcPct val="110000"/>
              </a:lnSpc>
              <a:spcBef>
                <a:spcPts val="400"/>
              </a:spcBef>
              <a:buNone/>
            </a:pPr>
            <a:r>
              <a:rPr lang="en-BR" dirty="0"/>
              <a:t>100%</a:t>
            </a:r>
          </a:p>
          <a:p>
            <a:pPr marL="0" indent="0">
              <a:lnSpc>
                <a:spcPct val="110000"/>
              </a:lnSpc>
              <a:spcBef>
                <a:spcPts val="400"/>
              </a:spcBef>
              <a:buNone/>
            </a:pPr>
            <a:r>
              <a:rPr lang="en-BR" dirty="0"/>
              <a:t>90%</a:t>
            </a:r>
          </a:p>
          <a:p>
            <a:pPr marL="0" indent="0">
              <a:lnSpc>
                <a:spcPct val="110000"/>
              </a:lnSpc>
              <a:spcBef>
                <a:spcPts val="400"/>
              </a:spcBef>
              <a:buNone/>
            </a:pPr>
            <a:r>
              <a:rPr lang="en-BR" dirty="0"/>
              <a:t>85%</a:t>
            </a:r>
          </a:p>
          <a:p>
            <a:pPr marL="0" indent="0">
              <a:lnSpc>
                <a:spcPct val="110000"/>
              </a:lnSpc>
              <a:spcBef>
                <a:spcPts val="400"/>
              </a:spcBef>
              <a:buNone/>
            </a:pPr>
            <a:r>
              <a:rPr lang="en-BR" dirty="0"/>
              <a:t>100%</a:t>
            </a:r>
          </a:p>
          <a:p>
            <a:pPr marL="0" indent="0">
              <a:lnSpc>
                <a:spcPct val="110000"/>
              </a:lnSpc>
              <a:spcBef>
                <a:spcPts val="400"/>
              </a:spcBef>
              <a:buNone/>
            </a:pPr>
            <a:r>
              <a:rPr lang="en-BR" dirty="0"/>
              <a:t>100%</a:t>
            </a:r>
          </a:p>
          <a:p>
            <a:pPr marL="0" indent="0">
              <a:lnSpc>
                <a:spcPct val="110000"/>
              </a:lnSpc>
              <a:spcBef>
                <a:spcPts val="400"/>
              </a:spcBef>
              <a:buNone/>
            </a:pPr>
            <a:r>
              <a:rPr lang="en-BR" dirty="0"/>
              <a:t>70%</a:t>
            </a:r>
          </a:p>
          <a:p>
            <a:pPr marL="0" indent="0">
              <a:lnSpc>
                <a:spcPct val="110000"/>
              </a:lnSpc>
              <a:spcBef>
                <a:spcPts val="400"/>
              </a:spcBef>
              <a:buNone/>
            </a:pPr>
            <a:r>
              <a:rPr lang="en-BR" dirty="0"/>
              <a:t>50%</a:t>
            </a:r>
          </a:p>
          <a:p>
            <a:pPr marL="0" indent="0">
              <a:lnSpc>
                <a:spcPct val="110000"/>
              </a:lnSpc>
              <a:spcBef>
                <a:spcPts val="400"/>
              </a:spcBef>
              <a:buNone/>
            </a:pPr>
            <a:r>
              <a:rPr lang="en-BR" dirty="0"/>
              <a:t>30%</a:t>
            </a:r>
          </a:p>
          <a:p>
            <a:pPr marL="0" indent="0">
              <a:lnSpc>
                <a:spcPct val="110000"/>
              </a:lnSpc>
              <a:spcBef>
                <a:spcPts val="400"/>
              </a:spcBef>
              <a:buNone/>
            </a:pPr>
            <a:r>
              <a:rPr lang="en-BR" dirty="0"/>
              <a:t>30%</a:t>
            </a:r>
          </a:p>
          <a:p>
            <a:pPr marL="0" indent="0">
              <a:lnSpc>
                <a:spcPct val="110000"/>
              </a:lnSpc>
              <a:spcBef>
                <a:spcPts val="400"/>
              </a:spcBef>
              <a:buNone/>
            </a:pPr>
            <a:r>
              <a:rPr lang="en-BR" dirty="0"/>
              <a:t>50%</a:t>
            </a:r>
          </a:p>
          <a:p>
            <a:pPr marL="0" indent="0">
              <a:lnSpc>
                <a:spcPct val="110000"/>
              </a:lnSpc>
              <a:spcBef>
                <a:spcPts val="400"/>
              </a:spcBef>
              <a:buNone/>
            </a:pPr>
            <a:r>
              <a:rPr lang="en-BR" dirty="0"/>
              <a:t>100%</a:t>
            </a:r>
          </a:p>
          <a:p>
            <a:pPr marL="0" indent="0">
              <a:lnSpc>
                <a:spcPct val="110000"/>
              </a:lnSpc>
              <a:spcBef>
                <a:spcPts val="400"/>
              </a:spcBef>
              <a:buNone/>
            </a:pPr>
            <a:r>
              <a:rPr lang="en-BR" dirty="0"/>
              <a:t>30%</a:t>
            </a:r>
          </a:p>
          <a:p>
            <a:pPr marL="0" indent="0">
              <a:lnSpc>
                <a:spcPct val="110000"/>
              </a:lnSpc>
              <a:spcBef>
                <a:spcPts val="400"/>
              </a:spcBef>
              <a:buNone/>
            </a:pPr>
            <a:r>
              <a:rPr lang="en-BR" dirty="0"/>
              <a:t>50%</a:t>
            </a:r>
          </a:p>
          <a:p>
            <a:pPr marL="0" indent="0">
              <a:lnSpc>
                <a:spcPct val="110000"/>
              </a:lnSpc>
              <a:spcBef>
                <a:spcPts val="400"/>
              </a:spcBef>
              <a:buNone/>
            </a:pPr>
            <a:r>
              <a:rPr lang="en-BR" dirty="0"/>
              <a:t>50%</a:t>
            </a:r>
          </a:p>
        </p:txBody>
      </p:sp>
      <p:sp>
        <p:nvSpPr>
          <p:cNvPr id="6" name="Content Placeholder 1">
            <a:extLst>
              <a:ext uri="{FF2B5EF4-FFF2-40B4-BE49-F238E27FC236}">
                <a16:creationId xmlns:a16="http://schemas.microsoft.com/office/drawing/2014/main" id="{6883F4CD-50B1-C5C2-3FED-C202B3BB8D9B}"/>
              </a:ext>
            </a:extLst>
          </p:cNvPr>
          <p:cNvSpPr txBox="1">
            <a:spLocks/>
          </p:cNvSpPr>
          <p:nvPr/>
        </p:nvSpPr>
        <p:spPr>
          <a:xfrm>
            <a:off x="234842" y="1055736"/>
            <a:ext cx="6120000" cy="353670"/>
          </a:xfrm>
          <a:prstGeom prst="rect">
            <a:avLst/>
          </a:prstGeom>
          <a:solidFill>
            <a:srgbClr val="014A65"/>
          </a:solidFill>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a:lnSpc>
                <a:spcPct val="110000"/>
              </a:lnSpc>
              <a:spcBef>
                <a:spcPts val="400"/>
              </a:spcBef>
              <a:buNone/>
            </a:pPr>
            <a:r>
              <a:rPr lang="en-BR" sz="1600" b="1" i="1" dirty="0">
                <a:solidFill>
                  <a:schemeClr val="bg1"/>
                </a:solidFill>
              </a:rPr>
              <a:t>Capítulo</a:t>
            </a:r>
          </a:p>
        </p:txBody>
      </p:sp>
      <p:sp>
        <p:nvSpPr>
          <p:cNvPr id="7" name="Content Placeholder 1">
            <a:extLst>
              <a:ext uri="{FF2B5EF4-FFF2-40B4-BE49-F238E27FC236}">
                <a16:creationId xmlns:a16="http://schemas.microsoft.com/office/drawing/2014/main" id="{1208DE39-FCB3-47F2-CEDF-E74AAF07010D}"/>
              </a:ext>
            </a:extLst>
          </p:cNvPr>
          <p:cNvSpPr txBox="1">
            <a:spLocks/>
          </p:cNvSpPr>
          <p:nvPr/>
        </p:nvSpPr>
        <p:spPr>
          <a:xfrm>
            <a:off x="6414263" y="1055736"/>
            <a:ext cx="3111293" cy="353670"/>
          </a:xfrm>
          <a:prstGeom prst="rect">
            <a:avLst/>
          </a:prstGeom>
          <a:solidFill>
            <a:srgbClr val="014A65"/>
          </a:solidFill>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a:lnSpc>
                <a:spcPct val="110000"/>
              </a:lnSpc>
              <a:spcBef>
                <a:spcPts val="400"/>
              </a:spcBef>
              <a:buNone/>
            </a:pPr>
            <a:r>
              <a:rPr lang="en-BR" sz="1600" b="1" i="1" dirty="0">
                <a:solidFill>
                  <a:schemeClr val="bg1"/>
                </a:solidFill>
              </a:rPr>
              <a:t>% Completo</a:t>
            </a:r>
          </a:p>
        </p:txBody>
      </p:sp>
      <p:sp>
        <p:nvSpPr>
          <p:cNvPr id="8" name="Content Placeholder 1">
            <a:extLst>
              <a:ext uri="{FF2B5EF4-FFF2-40B4-BE49-F238E27FC236}">
                <a16:creationId xmlns:a16="http://schemas.microsoft.com/office/drawing/2014/main" id="{C75C4632-54B2-ACB6-C5B9-F098EA094901}"/>
              </a:ext>
            </a:extLst>
          </p:cNvPr>
          <p:cNvSpPr txBox="1">
            <a:spLocks/>
          </p:cNvSpPr>
          <p:nvPr/>
        </p:nvSpPr>
        <p:spPr>
          <a:xfrm>
            <a:off x="10831153" y="1055736"/>
            <a:ext cx="1186755" cy="353670"/>
          </a:xfrm>
          <a:prstGeom prst="rect">
            <a:avLst/>
          </a:prstGeom>
          <a:solidFill>
            <a:srgbClr val="014A65"/>
          </a:solidFill>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a:lnSpc>
                <a:spcPct val="110000"/>
              </a:lnSpc>
              <a:spcBef>
                <a:spcPts val="400"/>
              </a:spcBef>
              <a:buNone/>
            </a:pPr>
            <a:r>
              <a:rPr lang="en-BR" sz="1600" b="1" i="1" dirty="0">
                <a:solidFill>
                  <a:schemeClr val="bg1"/>
                </a:solidFill>
              </a:rPr>
              <a:t>Ordem</a:t>
            </a:r>
          </a:p>
        </p:txBody>
      </p:sp>
      <p:sp>
        <p:nvSpPr>
          <p:cNvPr id="9" name="Content Placeholder 1">
            <a:extLst>
              <a:ext uri="{FF2B5EF4-FFF2-40B4-BE49-F238E27FC236}">
                <a16:creationId xmlns:a16="http://schemas.microsoft.com/office/drawing/2014/main" id="{8C3666F8-B0C5-12D9-1208-D45643353997}"/>
              </a:ext>
            </a:extLst>
          </p:cNvPr>
          <p:cNvSpPr txBox="1">
            <a:spLocks/>
          </p:cNvSpPr>
          <p:nvPr/>
        </p:nvSpPr>
        <p:spPr>
          <a:xfrm>
            <a:off x="7235541" y="1412776"/>
            <a:ext cx="2290015" cy="5004000"/>
          </a:xfrm>
          <a:prstGeom prst="rect">
            <a:avLst/>
          </a:prstGeom>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nSpc>
                <a:spcPct val="110000"/>
              </a:lnSpc>
              <a:spcBef>
                <a:spcPts val="400"/>
              </a:spcBef>
              <a:buNone/>
            </a:pPr>
            <a:endParaRPr lang="en-BR" dirty="0"/>
          </a:p>
          <a:p>
            <a:pPr marL="0" indent="0">
              <a:lnSpc>
                <a:spcPct val="110000"/>
              </a:lnSpc>
              <a:spcBef>
                <a:spcPts val="400"/>
              </a:spcBef>
              <a:buNone/>
            </a:pPr>
            <a:r>
              <a:rPr lang="en-US" i="1" dirty="0"/>
              <a:t>t</a:t>
            </a:r>
            <a:r>
              <a:rPr lang="en-BR" i="1" dirty="0"/>
              <a:t>elas mock-up</a:t>
            </a:r>
          </a:p>
          <a:p>
            <a:pPr marL="0" indent="0">
              <a:lnSpc>
                <a:spcPct val="110000"/>
              </a:lnSpc>
              <a:spcBef>
                <a:spcPts val="400"/>
              </a:spcBef>
              <a:buNone/>
            </a:pPr>
            <a:r>
              <a:rPr lang="en-US" i="1" dirty="0"/>
              <a:t>s</a:t>
            </a:r>
            <a:r>
              <a:rPr lang="en-BR" i="1" dirty="0"/>
              <a:t>tatus ANDA e FECH</a:t>
            </a:r>
          </a:p>
          <a:p>
            <a:pPr marL="0" indent="0">
              <a:lnSpc>
                <a:spcPct val="110000"/>
              </a:lnSpc>
              <a:spcBef>
                <a:spcPts val="400"/>
              </a:spcBef>
              <a:buNone/>
            </a:pPr>
            <a:endParaRPr lang="en-BR" i="1" dirty="0"/>
          </a:p>
          <a:p>
            <a:pPr marL="0" indent="0">
              <a:lnSpc>
                <a:spcPct val="110000"/>
              </a:lnSpc>
              <a:spcBef>
                <a:spcPts val="400"/>
              </a:spcBef>
              <a:buNone/>
            </a:pPr>
            <a:endParaRPr lang="en-BR" i="1" dirty="0"/>
          </a:p>
          <a:p>
            <a:pPr marL="0" indent="0">
              <a:lnSpc>
                <a:spcPct val="110000"/>
              </a:lnSpc>
              <a:spcBef>
                <a:spcPts val="400"/>
              </a:spcBef>
              <a:buNone/>
            </a:pPr>
            <a:r>
              <a:rPr lang="en-US" i="1" dirty="0"/>
              <a:t>f</a:t>
            </a:r>
            <a:r>
              <a:rPr lang="en-BR" i="1" dirty="0"/>
              <a:t>luxos, processos</a:t>
            </a:r>
          </a:p>
        </p:txBody>
      </p:sp>
      <p:sp>
        <p:nvSpPr>
          <p:cNvPr id="10" name="Content Placeholder 1">
            <a:extLst>
              <a:ext uri="{FF2B5EF4-FFF2-40B4-BE49-F238E27FC236}">
                <a16:creationId xmlns:a16="http://schemas.microsoft.com/office/drawing/2014/main" id="{DE302E2C-F1B1-805E-DC4A-EB3493D05F2D}"/>
              </a:ext>
            </a:extLst>
          </p:cNvPr>
          <p:cNvSpPr txBox="1">
            <a:spLocks/>
          </p:cNvSpPr>
          <p:nvPr/>
        </p:nvSpPr>
        <p:spPr>
          <a:xfrm>
            <a:off x="10831153" y="1412776"/>
            <a:ext cx="1186754" cy="5004000"/>
          </a:xfrm>
          <a:prstGeom prst="rect">
            <a:avLst/>
          </a:prstGeom>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a:lnSpc>
                <a:spcPct val="110000"/>
              </a:lnSpc>
              <a:spcBef>
                <a:spcPts val="400"/>
              </a:spcBef>
              <a:buNone/>
            </a:pPr>
            <a:endParaRPr lang="en-BR" dirty="0"/>
          </a:p>
          <a:p>
            <a:pPr marL="0" indent="0" algn="ctr">
              <a:lnSpc>
                <a:spcPct val="110000"/>
              </a:lnSpc>
              <a:spcBef>
                <a:spcPts val="400"/>
              </a:spcBef>
              <a:buNone/>
            </a:pPr>
            <a:r>
              <a:rPr lang="en-BR" dirty="0"/>
              <a:t>#2</a:t>
            </a:r>
          </a:p>
          <a:p>
            <a:pPr marL="0" indent="0" algn="ctr">
              <a:lnSpc>
                <a:spcPct val="110000"/>
              </a:lnSpc>
              <a:spcBef>
                <a:spcPts val="400"/>
              </a:spcBef>
              <a:buNone/>
            </a:pPr>
            <a:r>
              <a:rPr lang="en-BR" dirty="0"/>
              <a:t>#1</a:t>
            </a:r>
          </a:p>
          <a:p>
            <a:pPr marL="0" indent="0" algn="ctr">
              <a:lnSpc>
                <a:spcPct val="110000"/>
              </a:lnSpc>
              <a:spcBef>
                <a:spcPts val="400"/>
              </a:spcBef>
              <a:buNone/>
            </a:pPr>
            <a:endParaRPr lang="en-BR" dirty="0"/>
          </a:p>
          <a:p>
            <a:pPr marL="0" indent="0" algn="ctr">
              <a:lnSpc>
                <a:spcPct val="110000"/>
              </a:lnSpc>
              <a:spcBef>
                <a:spcPts val="400"/>
              </a:spcBef>
              <a:buNone/>
            </a:pPr>
            <a:endParaRPr lang="en-BR" dirty="0"/>
          </a:p>
          <a:p>
            <a:pPr marL="0" indent="0" algn="ctr">
              <a:lnSpc>
                <a:spcPct val="110000"/>
              </a:lnSpc>
              <a:spcBef>
                <a:spcPts val="400"/>
              </a:spcBef>
              <a:buNone/>
            </a:pPr>
            <a:r>
              <a:rPr lang="en-BR" dirty="0"/>
              <a:t>#6</a:t>
            </a:r>
          </a:p>
          <a:p>
            <a:pPr marL="0" indent="0" algn="ctr">
              <a:lnSpc>
                <a:spcPct val="110000"/>
              </a:lnSpc>
              <a:spcBef>
                <a:spcPts val="400"/>
              </a:spcBef>
              <a:buNone/>
            </a:pPr>
            <a:r>
              <a:rPr lang="en-BR" dirty="0"/>
              <a:t>#7</a:t>
            </a:r>
          </a:p>
          <a:p>
            <a:pPr marL="0" indent="0" algn="ctr">
              <a:lnSpc>
                <a:spcPct val="110000"/>
              </a:lnSpc>
              <a:spcBef>
                <a:spcPts val="400"/>
              </a:spcBef>
              <a:buNone/>
            </a:pPr>
            <a:r>
              <a:rPr lang="en-BR" dirty="0"/>
              <a:t>#4</a:t>
            </a:r>
          </a:p>
          <a:p>
            <a:pPr marL="0" indent="0" algn="ctr">
              <a:lnSpc>
                <a:spcPct val="110000"/>
              </a:lnSpc>
              <a:spcBef>
                <a:spcPts val="400"/>
              </a:spcBef>
              <a:buNone/>
            </a:pPr>
            <a:r>
              <a:rPr lang="en-BR" dirty="0"/>
              <a:t>#5</a:t>
            </a:r>
          </a:p>
          <a:p>
            <a:pPr marL="0" indent="0" algn="ctr">
              <a:lnSpc>
                <a:spcPct val="110000"/>
              </a:lnSpc>
              <a:spcBef>
                <a:spcPts val="400"/>
              </a:spcBef>
              <a:buNone/>
            </a:pPr>
            <a:r>
              <a:rPr lang="en-BR" dirty="0"/>
              <a:t>#9</a:t>
            </a:r>
          </a:p>
          <a:p>
            <a:pPr marL="0" indent="0" algn="ctr">
              <a:lnSpc>
                <a:spcPct val="110000"/>
              </a:lnSpc>
              <a:spcBef>
                <a:spcPts val="400"/>
              </a:spcBef>
              <a:buNone/>
            </a:pPr>
            <a:endParaRPr lang="en-BR" dirty="0"/>
          </a:p>
          <a:p>
            <a:pPr marL="0" indent="0" algn="ctr">
              <a:lnSpc>
                <a:spcPct val="110000"/>
              </a:lnSpc>
              <a:spcBef>
                <a:spcPts val="400"/>
              </a:spcBef>
              <a:buNone/>
            </a:pPr>
            <a:r>
              <a:rPr lang="en-BR" dirty="0"/>
              <a:t>#8</a:t>
            </a:r>
          </a:p>
          <a:p>
            <a:pPr marL="0" indent="0" algn="ctr">
              <a:lnSpc>
                <a:spcPct val="110000"/>
              </a:lnSpc>
              <a:spcBef>
                <a:spcPts val="400"/>
              </a:spcBef>
              <a:buNone/>
            </a:pPr>
            <a:r>
              <a:rPr lang="en-BR" dirty="0"/>
              <a:t>#10</a:t>
            </a:r>
          </a:p>
          <a:p>
            <a:pPr marL="0" indent="0" algn="ctr">
              <a:lnSpc>
                <a:spcPct val="110000"/>
              </a:lnSpc>
              <a:spcBef>
                <a:spcPts val="400"/>
              </a:spcBef>
              <a:buNone/>
            </a:pPr>
            <a:r>
              <a:rPr lang="en-BR" dirty="0"/>
              <a:t>#11</a:t>
            </a:r>
          </a:p>
          <a:p>
            <a:pPr marL="0" indent="0" algn="ctr">
              <a:lnSpc>
                <a:spcPct val="110000"/>
              </a:lnSpc>
              <a:spcBef>
                <a:spcPts val="400"/>
              </a:spcBef>
              <a:buNone/>
            </a:pPr>
            <a:endParaRPr lang="en-BR" dirty="0"/>
          </a:p>
          <a:p>
            <a:pPr marL="0" indent="0" algn="ctr">
              <a:lnSpc>
                <a:spcPct val="110000"/>
              </a:lnSpc>
              <a:spcBef>
                <a:spcPts val="400"/>
              </a:spcBef>
              <a:buNone/>
            </a:pPr>
            <a:endParaRPr lang="en-BR" dirty="0"/>
          </a:p>
          <a:p>
            <a:pPr marL="0" indent="0" algn="ctr">
              <a:lnSpc>
                <a:spcPct val="110000"/>
              </a:lnSpc>
              <a:spcBef>
                <a:spcPts val="400"/>
              </a:spcBef>
              <a:buNone/>
            </a:pPr>
            <a:endParaRPr lang="en-BR" dirty="0"/>
          </a:p>
          <a:p>
            <a:pPr marL="0" indent="0" algn="ctr">
              <a:lnSpc>
                <a:spcPct val="110000"/>
              </a:lnSpc>
              <a:spcBef>
                <a:spcPts val="400"/>
              </a:spcBef>
              <a:buNone/>
            </a:pPr>
            <a:endParaRPr lang="en-BR" dirty="0"/>
          </a:p>
        </p:txBody>
      </p:sp>
      <p:sp>
        <p:nvSpPr>
          <p:cNvPr id="11" name="Content Placeholder 1">
            <a:extLst>
              <a:ext uri="{FF2B5EF4-FFF2-40B4-BE49-F238E27FC236}">
                <a16:creationId xmlns:a16="http://schemas.microsoft.com/office/drawing/2014/main" id="{798E69DD-11E2-91EA-3EDC-12F860E6785D}"/>
              </a:ext>
            </a:extLst>
          </p:cNvPr>
          <p:cNvSpPr txBox="1">
            <a:spLocks/>
          </p:cNvSpPr>
          <p:nvPr/>
        </p:nvSpPr>
        <p:spPr>
          <a:xfrm>
            <a:off x="9584977" y="1055736"/>
            <a:ext cx="1186755" cy="353670"/>
          </a:xfrm>
          <a:prstGeom prst="rect">
            <a:avLst/>
          </a:prstGeom>
          <a:solidFill>
            <a:srgbClr val="014A65"/>
          </a:solidFill>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ctr">
              <a:lnSpc>
                <a:spcPct val="110000"/>
              </a:lnSpc>
              <a:spcBef>
                <a:spcPts val="400"/>
              </a:spcBef>
              <a:buNone/>
            </a:pPr>
            <a:r>
              <a:rPr lang="en-BR" sz="1600" b="1" i="1" dirty="0">
                <a:solidFill>
                  <a:schemeClr val="bg1"/>
                </a:solidFill>
              </a:rPr>
              <a:t>Prazo Est.</a:t>
            </a:r>
          </a:p>
        </p:txBody>
      </p:sp>
      <p:sp>
        <p:nvSpPr>
          <p:cNvPr id="12" name="Content Placeholder 1">
            <a:extLst>
              <a:ext uri="{FF2B5EF4-FFF2-40B4-BE49-F238E27FC236}">
                <a16:creationId xmlns:a16="http://schemas.microsoft.com/office/drawing/2014/main" id="{6317352A-B9B2-D282-C963-82F1AEBD3C6E}"/>
              </a:ext>
            </a:extLst>
          </p:cNvPr>
          <p:cNvSpPr txBox="1">
            <a:spLocks/>
          </p:cNvSpPr>
          <p:nvPr/>
        </p:nvSpPr>
        <p:spPr>
          <a:xfrm>
            <a:off x="9584977" y="1412776"/>
            <a:ext cx="1186754" cy="5004000"/>
          </a:xfrm>
          <a:prstGeom prst="rect">
            <a:avLst/>
          </a:prstGeom>
        </p:spPr>
        <p:txBody>
          <a:bodyPr lIns="54000"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227013" indent="-227013" algn="ctr">
              <a:lnSpc>
                <a:spcPct val="110000"/>
              </a:lnSpc>
              <a:spcBef>
                <a:spcPts val="400"/>
              </a:spcBef>
            </a:pPr>
            <a:endParaRPr lang="en-BR" dirty="0"/>
          </a:p>
          <a:p>
            <a:pPr marL="0" indent="0" algn="ctr">
              <a:lnSpc>
                <a:spcPct val="110000"/>
              </a:lnSpc>
              <a:spcBef>
                <a:spcPts val="400"/>
              </a:spcBef>
              <a:buNone/>
            </a:pPr>
            <a:r>
              <a:rPr lang="en-BR" dirty="0"/>
              <a:t>1d</a:t>
            </a:r>
          </a:p>
          <a:p>
            <a:pPr marL="0" indent="0" algn="ctr">
              <a:lnSpc>
                <a:spcPct val="110000"/>
              </a:lnSpc>
              <a:spcBef>
                <a:spcPts val="400"/>
              </a:spcBef>
              <a:buNone/>
            </a:pPr>
            <a:r>
              <a:rPr lang="en-BR" dirty="0"/>
              <a:t>1d</a:t>
            </a:r>
          </a:p>
          <a:p>
            <a:pPr marL="0" indent="0" algn="ctr">
              <a:lnSpc>
                <a:spcPct val="110000"/>
              </a:lnSpc>
              <a:spcBef>
                <a:spcPts val="400"/>
              </a:spcBef>
              <a:buNone/>
            </a:pPr>
            <a:endParaRPr lang="en-BR" dirty="0"/>
          </a:p>
          <a:p>
            <a:pPr marL="0" indent="0" algn="ctr">
              <a:lnSpc>
                <a:spcPct val="110000"/>
              </a:lnSpc>
              <a:spcBef>
                <a:spcPts val="400"/>
              </a:spcBef>
              <a:buNone/>
            </a:pPr>
            <a:endParaRPr lang="en-BR" dirty="0"/>
          </a:p>
          <a:p>
            <a:pPr marL="0" indent="0" algn="ctr">
              <a:lnSpc>
                <a:spcPct val="110000"/>
              </a:lnSpc>
              <a:spcBef>
                <a:spcPts val="400"/>
              </a:spcBef>
              <a:buNone/>
            </a:pPr>
            <a:r>
              <a:rPr lang="en-BR" dirty="0"/>
              <a:t>3d</a:t>
            </a:r>
          </a:p>
          <a:p>
            <a:pPr marL="0" indent="0" algn="ctr">
              <a:lnSpc>
                <a:spcPct val="110000"/>
              </a:lnSpc>
              <a:spcBef>
                <a:spcPts val="400"/>
              </a:spcBef>
              <a:buNone/>
            </a:pPr>
            <a:r>
              <a:rPr lang="en-BR" dirty="0"/>
              <a:t>2d</a:t>
            </a:r>
          </a:p>
          <a:p>
            <a:pPr marL="0" indent="0" algn="ctr">
              <a:lnSpc>
                <a:spcPct val="110000"/>
              </a:lnSpc>
              <a:spcBef>
                <a:spcPts val="400"/>
              </a:spcBef>
              <a:buNone/>
            </a:pPr>
            <a:r>
              <a:rPr lang="en-BR" dirty="0"/>
              <a:t>3d</a:t>
            </a:r>
          </a:p>
          <a:p>
            <a:pPr marL="0" indent="0" algn="ctr">
              <a:lnSpc>
                <a:spcPct val="110000"/>
              </a:lnSpc>
              <a:spcBef>
                <a:spcPts val="400"/>
              </a:spcBef>
              <a:buNone/>
            </a:pPr>
            <a:r>
              <a:rPr lang="en-BR" dirty="0"/>
              <a:t>3d</a:t>
            </a:r>
          </a:p>
          <a:p>
            <a:pPr marL="0" indent="0" algn="ctr">
              <a:lnSpc>
                <a:spcPct val="110000"/>
              </a:lnSpc>
              <a:spcBef>
                <a:spcPts val="400"/>
              </a:spcBef>
              <a:buNone/>
            </a:pPr>
            <a:r>
              <a:rPr lang="en-BR" dirty="0"/>
              <a:t>2d</a:t>
            </a:r>
          </a:p>
          <a:p>
            <a:pPr marL="0" indent="0" algn="ctr">
              <a:lnSpc>
                <a:spcPct val="110000"/>
              </a:lnSpc>
              <a:spcBef>
                <a:spcPts val="400"/>
              </a:spcBef>
              <a:buNone/>
            </a:pPr>
            <a:endParaRPr lang="en-BR" dirty="0"/>
          </a:p>
          <a:p>
            <a:pPr marL="0" indent="0" algn="ctr">
              <a:lnSpc>
                <a:spcPct val="110000"/>
              </a:lnSpc>
              <a:spcBef>
                <a:spcPts val="400"/>
              </a:spcBef>
              <a:buNone/>
            </a:pPr>
            <a:r>
              <a:rPr lang="en-BR" i="1" dirty="0"/>
              <a:t>2d</a:t>
            </a:r>
          </a:p>
          <a:p>
            <a:pPr marL="0" indent="0" algn="ctr">
              <a:lnSpc>
                <a:spcPct val="110000"/>
              </a:lnSpc>
              <a:spcBef>
                <a:spcPts val="400"/>
              </a:spcBef>
              <a:buNone/>
            </a:pPr>
            <a:r>
              <a:rPr lang="en-BR" i="1" dirty="0"/>
              <a:t>2d</a:t>
            </a:r>
          </a:p>
          <a:p>
            <a:pPr marL="0" indent="0" algn="ctr">
              <a:lnSpc>
                <a:spcPct val="110000"/>
              </a:lnSpc>
              <a:spcBef>
                <a:spcPts val="400"/>
              </a:spcBef>
              <a:buNone/>
            </a:pPr>
            <a:r>
              <a:rPr lang="en-BR" i="1" dirty="0"/>
              <a:t>2d</a:t>
            </a:r>
          </a:p>
        </p:txBody>
      </p:sp>
      <p:sp>
        <p:nvSpPr>
          <p:cNvPr id="4" name="TextBox 3">
            <a:extLst>
              <a:ext uri="{FF2B5EF4-FFF2-40B4-BE49-F238E27FC236}">
                <a16:creationId xmlns:a16="http://schemas.microsoft.com/office/drawing/2014/main" id="{399E4FF8-8535-C0F8-8131-469F7DB7D827}"/>
              </a:ext>
            </a:extLst>
          </p:cNvPr>
          <p:cNvSpPr txBox="1"/>
          <p:nvPr/>
        </p:nvSpPr>
        <p:spPr>
          <a:xfrm rot="21251093">
            <a:off x="6617114" y="-1415879"/>
            <a:ext cx="2459539" cy="646331"/>
          </a:xfrm>
          <a:prstGeom prst="rect">
            <a:avLst/>
          </a:prstGeom>
          <a:solidFill>
            <a:srgbClr val="FFFF00"/>
          </a:solidFill>
        </p:spPr>
        <p:txBody>
          <a:bodyPr wrap="square" rtlCol="0">
            <a:spAutoFit/>
          </a:bodyPr>
          <a:lstStyle/>
          <a:p>
            <a:r>
              <a:rPr lang="en-BR" sz="1200" b="1" dirty="0"/>
              <a:t>Comunicações / disparos de acompanhamento via WhatsApp, onde entra? Outlook?</a:t>
            </a:r>
          </a:p>
        </p:txBody>
      </p:sp>
      <p:sp>
        <p:nvSpPr>
          <p:cNvPr id="5" name="TextBox 4">
            <a:extLst>
              <a:ext uri="{FF2B5EF4-FFF2-40B4-BE49-F238E27FC236}">
                <a16:creationId xmlns:a16="http://schemas.microsoft.com/office/drawing/2014/main" id="{A89EEC6A-D054-A9D4-36A8-7F27A5111281}"/>
              </a:ext>
            </a:extLst>
          </p:cNvPr>
          <p:cNvSpPr txBox="1"/>
          <p:nvPr/>
        </p:nvSpPr>
        <p:spPr>
          <a:xfrm rot="21251093">
            <a:off x="6833139" y="-609863"/>
            <a:ext cx="2459539" cy="461665"/>
          </a:xfrm>
          <a:prstGeom prst="rect">
            <a:avLst/>
          </a:prstGeom>
          <a:solidFill>
            <a:srgbClr val="FFFF00"/>
          </a:solidFill>
        </p:spPr>
        <p:txBody>
          <a:bodyPr wrap="square" rtlCol="0">
            <a:spAutoFit/>
          </a:bodyPr>
          <a:lstStyle/>
          <a:p>
            <a:r>
              <a:rPr lang="en-BR" sz="1200" b="1" dirty="0"/>
              <a:t>Fluxo de Aprovação do Planejamento = entra na GMUD?</a:t>
            </a:r>
          </a:p>
        </p:txBody>
      </p:sp>
    </p:spTree>
    <p:extLst>
      <p:ext uri="{BB962C8B-B14F-4D97-AF65-F5344CB8AC3E}">
        <p14:creationId xmlns:p14="http://schemas.microsoft.com/office/powerpoint/2010/main" val="1532261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C05B8A-B525-317B-01D4-21CB2F57856F}"/>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Tree>
    <p:extLst>
      <p:ext uri="{BB962C8B-B14F-4D97-AF65-F5344CB8AC3E}">
        <p14:creationId xmlns:p14="http://schemas.microsoft.com/office/powerpoint/2010/main" val="2200541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75495-1593-E65A-BD83-DE4AECA06E34}"/>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48C9E680-B6F9-527E-43F2-C5AFD671626B}"/>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C2E8AB55-06AF-0790-6B23-2A315475EF45}"/>
              </a:ext>
            </a:extLst>
          </p:cNvPr>
          <p:cNvSpPr/>
          <p:nvPr/>
        </p:nvSpPr>
        <p:spPr>
          <a:xfrm>
            <a:off x="2711624" y="836712"/>
            <a:ext cx="6552728" cy="590465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703901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FF216-0828-7B10-F539-9BDC5E14307B}"/>
            </a:ext>
          </a:extLst>
        </p:cNvPr>
        <p:cNvGrpSpPr/>
        <p:nvPr/>
      </p:nvGrpSpPr>
      <p:grpSpPr>
        <a:xfrm>
          <a:off x="0" y="0"/>
          <a:ext cx="0" cy="0"/>
          <a:chOff x="0" y="0"/>
          <a:chExt cx="0" cy="0"/>
        </a:xfrm>
      </p:grpSpPr>
      <p:sp>
        <p:nvSpPr>
          <p:cNvPr id="154" name="CaixaDeTexto 21">
            <a:extLst>
              <a:ext uri="{FF2B5EF4-FFF2-40B4-BE49-F238E27FC236}">
                <a16:creationId xmlns:a16="http://schemas.microsoft.com/office/drawing/2014/main" id="{B031534D-CB26-FE4B-6D69-12ACFE626683}"/>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32576951-4F98-576B-D233-01FDD933D8DE}"/>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C54FC424-22E0-F94C-9EF0-DA7333456225}"/>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E77672D2-6E5D-8B82-A8E5-D9FC718DFD4A}"/>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58" name="CaixaDeTexto 21">
            <a:extLst>
              <a:ext uri="{FF2B5EF4-FFF2-40B4-BE49-F238E27FC236}">
                <a16:creationId xmlns:a16="http://schemas.microsoft.com/office/drawing/2014/main" id="{82C6DE87-FFD4-19C6-12BE-447367986C5F}"/>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8A259759-4281-F133-0BAC-E52BCB3592DB}"/>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145308F4-1CB0-09EF-3289-60640AC01D9C}"/>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12AB4B6C-367F-D564-94E7-2D8ECE837CF8}"/>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5ABC7F2D-475F-F666-4795-9A342F5EB378}"/>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74117DD2-8924-AB03-BEE0-F5DBA37902B5}"/>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ADB7F467-3C94-5D6A-83C0-B85E3FC8A3E3}"/>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C7E660ED-BE7D-20E5-2DB1-602DDB678353}"/>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5C246F59-1BF0-A35F-E7EE-2F3D83CB586B}"/>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D266768B-D18D-C513-A6FE-E2467258DBC8}"/>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31" name="CaixaDeTexto 21">
            <a:extLst>
              <a:ext uri="{FF2B5EF4-FFF2-40B4-BE49-F238E27FC236}">
                <a16:creationId xmlns:a16="http://schemas.microsoft.com/office/drawing/2014/main" id="{2C673C77-66A7-4E33-E575-A2739A9CAC26}"/>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 </a:t>
            </a:r>
            <a:r>
              <a:rPr lang="pt-BR" dirty="0" err="1"/>
              <a:t>GMUDs</a:t>
            </a:r>
            <a:endParaRPr lang="pt-BR" dirty="0"/>
          </a:p>
        </p:txBody>
      </p:sp>
      <p:sp>
        <p:nvSpPr>
          <p:cNvPr id="62" name="Title 61">
            <a:extLst>
              <a:ext uri="{FF2B5EF4-FFF2-40B4-BE49-F238E27FC236}">
                <a16:creationId xmlns:a16="http://schemas.microsoft.com/office/drawing/2014/main" id="{1700BB57-FC8E-547D-FBF7-4F058EDDD683}"/>
              </a:ext>
            </a:extLst>
          </p:cNvPr>
          <p:cNvSpPr>
            <a:spLocks noGrp="1"/>
          </p:cNvSpPr>
          <p:nvPr>
            <p:ph type="title"/>
          </p:nvPr>
        </p:nvSpPr>
        <p:spPr/>
        <p:txBody>
          <a:bodyPr/>
          <a:lstStyle/>
          <a:p>
            <a:r>
              <a:rPr lang="pt-BR" dirty="0"/>
              <a:t>HUB de Obras</a:t>
            </a:r>
            <a:br>
              <a:rPr lang="pt-BR" dirty="0"/>
            </a:br>
            <a:r>
              <a:rPr lang="pt-BR" sz="1800" b="0" dirty="0"/>
              <a:t>tema 01: Cadastro da Parada</a:t>
            </a:r>
            <a:endParaRPr lang="en-BR" sz="1800" b="0" dirty="0"/>
          </a:p>
        </p:txBody>
      </p:sp>
      <p:sp>
        <p:nvSpPr>
          <p:cNvPr id="116" name="CaixaDeTexto 557">
            <a:extLst>
              <a:ext uri="{FF2B5EF4-FFF2-40B4-BE49-F238E27FC236}">
                <a16:creationId xmlns:a16="http://schemas.microsoft.com/office/drawing/2014/main" id="{DBE73F53-8145-1419-B56A-FEC0BAE8A766}"/>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FDD997A3-5F4A-1E4E-8418-447E1AAAA68E}"/>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9C4811AF-8A96-EAF2-1451-A2A61F243C77}"/>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E09F96C2-7DD6-9336-526D-F2018DCB7060}"/>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C64AC435-F800-A2E5-32A9-03D0C3CE5B71}"/>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C208B01D-2A1D-31BE-961D-DE03A03BC128}"/>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A28F8444-E382-1D0A-FE30-53C96AA23BCA}"/>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BA8B322B-88A8-885D-84D1-9ED4D1BAC24A}"/>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A4AC9104-A9E4-19E4-0DA2-0C8C1B10160F}"/>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655F62DE-92D9-18B1-1E4F-CAF7F7DAFD20}"/>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E7EE59CF-CB32-E15F-C893-0514A6216D92}"/>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2B92E44B-897F-0E10-9E54-318EB70B3371}"/>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C028CC82-3A7F-62DA-FA09-FA1C7B6B6E87}"/>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805A5652-AFC3-D83B-B206-F2C10DE49A2B}"/>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8B9B6C0D-4D2B-6796-9659-D24D9EA395BF}"/>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48E986B5-A36E-99B8-DD69-885F3141EB39}"/>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3D5775B0-CA45-341D-1D1A-76C7CC17D3C1}"/>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67A383C8-6412-11DE-C578-672550F2EF90}"/>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42" name="CaixaDeTexto 21">
            <a:extLst>
              <a:ext uri="{FF2B5EF4-FFF2-40B4-BE49-F238E27FC236}">
                <a16:creationId xmlns:a16="http://schemas.microsoft.com/office/drawing/2014/main" id="{DA03E265-7082-1825-E657-7E238E93AC5D}"/>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AB600D62-4495-374C-9B81-E892DF8C902E}"/>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91CFE89C-4F0B-F3C0-D586-B55CDF5B80D0}"/>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6E34C448-8F97-56F2-E04F-72C212C85136}"/>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E2273634-5EF3-432F-46EC-AE1C0E217A85}"/>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06329DF4-5C23-2901-38B4-A26DB1A8AB52}"/>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5FF1AC89-A02F-C64C-11AF-FE1CD5F53B58}"/>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61D387EA-F569-69B3-8A0F-564868535BDA}"/>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150" name="CaixaDeTexto 21">
            <a:extLst>
              <a:ext uri="{FF2B5EF4-FFF2-40B4-BE49-F238E27FC236}">
                <a16:creationId xmlns:a16="http://schemas.microsoft.com/office/drawing/2014/main" id="{350E836E-84F7-2B1B-33D7-6AB6ACA5B042}"/>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0127AA8C-54B0-3C18-22AB-85279FF03887}"/>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1C013FA2-F7AC-B035-702E-020C1F99B2CA}"/>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A1BA95AA-F806-C39A-E265-2AEA8823E38E}"/>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67" name="CaixaDeTexto 21">
            <a:extLst>
              <a:ext uri="{FF2B5EF4-FFF2-40B4-BE49-F238E27FC236}">
                <a16:creationId xmlns:a16="http://schemas.microsoft.com/office/drawing/2014/main" id="{01D2B8FC-5A5B-FBDF-04BE-E4FCDE20BF85}"/>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4D3B84C5-231B-E9F9-3CC2-1FDC9067274E}"/>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619417A6-6CF5-F8B0-664B-B6628703B622}"/>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DE2E26ED-A5E5-FBF6-FC5E-1989D0DDB9AB}"/>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438C7B16-685D-5229-1390-C507C28B2B0D}"/>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D24C026F-8CB4-7F1C-4452-3E942DF33268}"/>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0DAD462B-2865-5A4E-7B82-20468F5B74B1}"/>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CA0B6A92-BE6A-862C-1A65-C537B310A016}"/>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E5D7D0DF-F59B-DC93-1EF3-4A8DF5127FB3}"/>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EB73A3B6-A1EB-0783-C033-D546894D8C38}"/>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46A4220E-E4EE-940F-3AB0-3F6CD51F5158}"/>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B66407F4-08F4-5BEB-DD80-277A3361C13E}"/>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79" name="Agrupar 178">
            <a:extLst>
              <a:ext uri="{FF2B5EF4-FFF2-40B4-BE49-F238E27FC236}">
                <a16:creationId xmlns:a16="http://schemas.microsoft.com/office/drawing/2014/main" id="{90809B8C-BF7C-1369-F808-EEEA54166690}"/>
              </a:ext>
            </a:extLst>
          </p:cNvPr>
          <p:cNvGrpSpPr/>
          <p:nvPr/>
        </p:nvGrpSpPr>
        <p:grpSpPr>
          <a:xfrm>
            <a:off x="1495995" y="3371835"/>
            <a:ext cx="10696006" cy="3312367"/>
            <a:chOff x="0" y="3356992"/>
            <a:chExt cx="12192001" cy="3312367"/>
          </a:xfrm>
        </p:grpSpPr>
        <p:sp>
          <p:nvSpPr>
            <p:cNvPr id="180" name="Retângulo 179">
              <a:extLst>
                <a:ext uri="{FF2B5EF4-FFF2-40B4-BE49-F238E27FC236}">
                  <a16:creationId xmlns:a16="http://schemas.microsoft.com/office/drawing/2014/main" id="{F21B3D68-9918-746E-E295-D3AA7D377527}"/>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1" name="Retângulo 180">
              <a:extLst>
                <a:ext uri="{FF2B5EF4-FFF2-40B4-BE49-F238E27FC236}">
                  <a16:creationId xmlns:a16="http://schemas.microsoft.com/office/drawing/2014/main" id="{F4501FE8-5722-E9CE-3DE2-DF17E89CF854}"/>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83" name="Retângulo 182">
            <a:extLst>
              <a:ext uri="{FF2B5EF4-FFF2-40B4-BE49-F238E27FC236}">
                <a16:creationId xmlns:a16="http://schemas.microsoft.com/office/drawing/2014/main" id="{63D4E5A3-EBEC-C932-1479-A580550BB775}"/>
              </a:ext>
            </a:extLst>
          </p:cNvPr>
          <p:cNvSpPr/>
          <p:nvPr/>
        </p:nvSpPr>
        <p:spPr>
          <a:xfrm>
            <a:off x="1463997" y="1015993"/>
            <a:ext cx="10728003" cy="230784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7" name="CaixaDeTexto 21">
            <a:extLst>
              <a:ext uri="{FF2B5EF4-FFF2-40B4-BE49-F238E27FC236}">
                <a16:creationId xmlns:a16="http://schemas.microsoft.com/office/drawing/2014/main" id="{CD7DCA72-97F3-5E84-8F0D-B40E314BA309}"/>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C9F337C2-AE96-BCFA-68F8-F3B653F9B74E}"/>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DAF6858B-8DE6-2089-4D40-AA4D7E4AD9D6}"/>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1138C6D0-5428-CB2F-9071-61FDEEB87208}"/>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98028D24-A20D-59D2-1599-FD37C71AFC96}"/>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21" name="CaixaDeTexto 21">
            <a:extLst>
              <a:ext uri="{FF2B5EF4-FFF2-40B4-BE49-F238E27FC236}">
                <a16:creationId xmlns:a16="http://schemas.microsoft.com/office/drawing/2014/main" id="{C6FDAF6A-51E5-14AD-5BE6-5DAAA0AFE8C8}"/>
              </a:ext>
            </a:extLst>
          </p:cNvPr>
          <p:cNvSpPr txBox="1"/>
          <p:nvPr/>
        </p:nvSpPr>
        <p:spPr>
          <a:xfrm>
            <a:off x="1495996" y="3382007"/>
            <a:ext cx="1080000"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1. Cadastro da Parada</a:t>
            </a:r>
          </a:p>
        </p:txBody>
      </p:sp>
    </p:spTree>
    <p:extLst>
      <p:ext uri="{BB962C8B-B14F-4D97-AF65-F5344CB8AC3E}">
        <p14:creationId xmlns:p14="http://schemas.microsoft.com/office/powerpoint/2010/main" val="3798619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9D83A-7FC4-137D-5A3D-AA36403F027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8BD662BA-E8CB-2472-78B1-C2BE704CF6A7}"/>
              </a:ext>
            </a:extLst>
          </p:cNvPr>
          <p:cNvSpPr>
            <a:spLocks noGrp="1"/>
          </p:cNvSpPr>
          <p:nvPr>
            <p:ph type="title"/>
          </p:nvPr>
        </p:nvSpPr>
        <p:spPr/>
        <p:txBody>
          <a:bodyPr/>
          <a:lstStyle/>
          <a:p>
            <a:r>
              <a:rPr lang="pt-BR" dirty="0"/>
              <a:t>Cadastro da Parada</a:t>
            </a:r>
          </a:p>
        </p:txBody>
      </p:sp>
      <p:sp>
        <p:nvSpPr>
          <p:cNvPr id="11" name="Espaço Reservado para Conteúdo 1">
            <a:extLst>
              <a:ext uri="{FF2B5EF4-FFF2-40B4-BE49-F238E27FC236}">
                <a16:creationId xmlns:a16="http://schemas.microsoft.com/office/drawing/2014/main" id="{1FFDD75E-46DD-5C42-0D01-D2AFABFC2404}"/>
              </a:ext>
            </a:extLst>
          </p:cNvPr>
          <p:cNvSpPr txBox="1">
            <a:spLocks/>
          </p:cNvSpPr>
          <p:nvPr/>
        </p:nvSpPr>
        <p:spPr>
          <a:xfrm>
            <a:off x="1617192" y="1036346"/>
            <a:ext cx="10224000" cy="645194"/>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Uma Parada é um evento, com início e fim definidos, em que uma embarcação é retirada de operação para execução de uma ou mais Obras. Cada Obra é composta por entregas (escopos/demandas) voltadas às necessidades de manutenção, contratos ou recertificações de classe.</a:t>
            </a:r>
          </a:p>
        </p:txBody>
      </p:sp>
      <p:sp>
        <p:nvSpPr>
          <p:cNvPr id="2" name="CaixaDeTexto 557">
            <a:extLst>
              <a:ext uri="{FF2B5EF4-FFF2-40B4-BE49-F238E27FC236}">
                <a16:creationId xmlns:a16="http://schemas.microsoft.com/office/drawing/2014/main" id="{71DABC17-E0A6-CDD1-436E-525B1291726A}"/>
              </a:ext>
            </a:extLst>
          </p:cNvPr>
          <p:cNvSpPr txBox="1"/>
          <p:nvPr/>
        </p:nvSpPr>
        <p:spPr>
          <a:xfrm>
            <a:off x="263352" y="1036346"/>
            <a:ext cx="1250881" cy="645194"/>
          </a:xfrm>
          <a:prstGeom prst="roundRect">
            <a:avLst>
              <a:gd name="adj" fmla="val 0"/>
            </a:avLst>
          </a:prstGeom>
          <a:noFill/>
          <a:ln>
            <a:solidFill>
              <a:srgbClr val="014A65"/>
            </a:solidFill>
          </a:ln>
        </p:spPr>
        <p:txBody>
          <a:bodyPr wrap="square" lIns="90000" rtlCol="0" anchor="ctr">
            <a:noAutofit/>
          </a:bodyPr>
          <a:lstStyle/>
          <a:p>
            <a:pPr algn="r"/>
            <a:r>
              <a:rPr lang="pt-BR" sz="1400" b="1" i="1" dirty="0"/>
              <a:t>Definição</a:t>
            </a:r>
          </a:p>
        </p:txBody>
      </p:sp>
      <p:sp>
        <p:nvSpPr>
          <p:cNvPr id="3" name="CaixaDeTexto 557">
            <a:extLst>
              <a:ext uri="{FF2B5EF4-FFF2-40B4-BE49-F238E27FC236}">
                <a16:creationId xmlns:a16="http://schemas.microsoft.com/office/drawing/2014/main" id="{D027806C-F5CA-BC05-20A9-82AC5300772C}"/>
              </a:ext>
            </a:extLst>
          </p:cNvPr>
          <p:cNvSpPr txBox="1"/>
          <p:nvPr/>
        </p:nvSpPr>
        <p:spPr>
          <a:xfrm>
            <a:off x="263352" y="1776478"/>
            <a:ext cx="1250881" cy="1220473"/>
          </a:xfrm>
          <a:prstGeom prst="roundRect">
            <a:avLst>
              <a:gd name="adj" fmla="val 0"/>
            </a:avLst>
          </a:prstGeom>
          <a:noFill/>
          <a:ln>
            <a:solidFill>
              <a:srgbClr val="014A65"/>
            </a:solidFill>
          </a:ln>
        </p:spPr>
        <p:txBody>
          <a:bodyPr wrap="square" lIns="90000" rtlCol="0" anchor="ctr">
            <a:noAutofit/>
          </a:bodyPr>
          <a:lstStyle/>
          <a:p>
            <a:pPr algn="r"/>
            <a:r>
              <a:rPr lang="pt-BR" sz="1400" b="1" i="1" dirty="0"/>
              <a:t>Horizonte de Planejamento</a:t>
            </a:r>
          </a:p>
        </p:txBody>
      </p:sp>
      <p:sp>
        <p:nvSpPr>
          <p:cNvPr id="4" name="Espaço Reservado para Conteúdo 1">
            <a:extLst>
              <a:ext uri="{FF2B5EF4-FFF2-40B4-BE49-F238E27FC236}">
                <a16:creationId xmlns:a16="http://schemas.microsoft.com/office/drawing/2014/main" id="{3D2DEFBB-EBAC-AC60-0FA6-2A421E2A2C89}"/>
              </a:ext>
            </a:extLst>
          </p:cNvPr>
          <p:cNvSpPr txBox="1">
            <a:spLocks/>
          </p:cNvSpPr>
          <p:nvPr/>
        </p:nvSpPr>
        <p:spPr>
          <a:xfrm>
            <a:off x="1617192" y="1776479"/>
            <a:ext cx="10311456" cy="1220474"/>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O planejamento das Paradas é realizado com </a:t>
            </a:r>
            <a:r>
              <a:rPr lang="pt-BR" sz="1400" b="1" dirty="0"/>
              <a:t>horizonte de até 5 anos</a:t>
            </a:r>
            <a:r>
              <a:rPr lang="pt-BR" sz="1400" dirty="0"/>
              <a:t>, considerando:</a:t>
            </a:r>
          </a:p>
          <a:p>
            <a:pPr marL="268288" indent="-165100" defTabSz="1055035">
              <a:spcBef>
                <a:spcPts val="600"/>
              </a:spcBef>
              <a:buFont typeface="Wingdings" panose="05000000000000000000" pitchFamily="2" charset="2"/>
              <a:buChar char="§"/>
            </a:pPr>
            <a:r>
              <a:rPr lang="pt-BR" sz="1400" dirty="0"/>
              <a:t>Janelas de Classe (docagem especial e </a:t>
            </a:r>
            <a:r>
              <a:rPr lang="pt-BR" sz="1400" dirty="0">
                <a:solidFill>
                  <a:prstClr val="black"/>
                </a:solidFill>
                <a:latin typeface="Calibri"/>
              </a:rPr>
              <a:t>docagem intermediária)</a:t>
            </a:r>
          </a:p>
          <a:p>
            <a:pPr marL="268288" indent="-165100" defTabSz="1055035">
              <a:spcBef>
                <a:spcPts val="200"/>
              </a:spcBef>
              <a:buFont typeface="Wingdings" panose="05000000000000000000" pitchFamily="2" charset="2"/>
              <a:buChar char="§"/>
            </a:pPr>
            <a:r>
              <a:rPr lang="pt-BR" sz="1400" dirty="0">
                <a:solidFill>
                  <a:prstClr val="black"/>
                </a:solidFill>
                <a:latin typeface="Calibri"/>
              </a:rPr>
              <a:t>Ciclos de Contratos</a:t>
            </a:r>
          </a:p>
          <a:p>
            <a:pPr marL="268288" indent="-165100" defTabSz="1055035">
              <a:spcBef>
                <a:spcPts val="200"/>
              </a:spcBef>
              <a:buFont typeface="Wingdings" panose="05000000000000000000" pitchFamily="2" charset="2"/>
              <a:buChar char="§"/>
            </a:pPr>
            <a:r>
              <a:rPr lang="pt-BR" sz="1400" dirty="0">
                <a:solidFill>
                  <a:prstClr val="black"/>
                </a:solidFill>
                <a:latin typeface="Calibri"/>
              </a:rPr>
              <a:t>Manutenção programada de equipamentos críticos (motores, propulsão e geração)</a:t>
            </a:r>
          </a:p>
        </p:txBody>
      </p:sp>
      <p:pic>
        <p:nvPicPr>
          <p:cNvPr id="7" name="Picture 6" descr="A diagram of a project&#10;&#10;AI-generated content may be incorrect.">
            <a:extLst>
              <a:ext uri="{FF2B5EF4-FFF2-40B4-BE49-F238E27FC236}">
                <a16:creationId xmlns:a16="http://schemas.microsoft.com/office/drawing/2014/main" id="{1C90300D-959B-30DD-3941-91495E8164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7192" y="3042833"/>
            <a:ext cx="7800291" cy="3543285"/>
          </a:xfrm>
          <a:prstGeom prst="rect">
            <a:avLst/>
          </a:prstGeom>
        </p:spPr>
      </p:pic>
      <p:sp>
        <p:nvSpPr>
          <p:cNvPr id="8" name="CaixaDeTexto 557">
            <a:extLst>
              <a:ext uri="{FF2B5EF4-FFF2-40B4-BE49-F238E27FC236}">
                <a16:creationId xmlns:a16="http://schemas.microsoft.com/office/drawing/2014/main" id="{A6BBA336-7AE0-4BDF-7DCB-447B42F6243C}"/>
              </a:ext>
            </a:extLst>
          </p:cNvPr>
          <p:cNvSpPr txBox="1"/>
          <p:nvPr/>
        </p:nvSpPr>
        <p:spPr>
          <a:xfrm>
            <a:off x="263352" y="3103957"/>
            <a:ext cx="1250881" cy="3456000"/>
          </a:xfrm>
          <a:prstGeom prst="roundRect">
            <a:avLst>
              <a:gd name="adj" fmla="val 0"/>
            </a:avLst>
          </a:prstGeom>
          <a:noFill/>
          <a:ln>
            <a:solidFill>
              <a:srgbClr val="014A65"/>
            </a:solidFill>
          </a:ln>
        </p:spPr>
        <p:txBody>
          <a:bodyPr wrap="square" lIns="90000" rtlCol="0" anchor="ctr">
            <a:noAutofit/>
          </a:bodyPr>
          <a:lstStyle/>
          <a:p>
            <a:pPr algn="r"/>
            <a:r>
              <a:rPr lang="pt-BR" sz="1400" b="1" i="1" dirty="0"/>
              <a:t>Exemplo de Calendário de Planejamento de Paradas da Frota</a:t>
            </a:r>
          </a:p>
        </p:txBody>
      </p:sp>
      <p:sp>
        <p:nvSpPr>
          <p:cNvPr id="55" name="CaixaDeTexto 54">
            <a:extLst>
              <a:ext uri="{FF2B5EF4-FFF2-40B4-BE49-F238E27FC236}">
                <a16:creationId xmlns:a16="http://schemas.microsoft.com/office/drawing/2014/main" id="{F0E46DCD-B708-9068-2AC3-B57904421F59}"/>
              </a:ext>
            </a:extLst>
          </p:cNvPr>
          <p:cNvSpPr txBox="1"/>
          <p:nvPr/>
        </p:nvSpPr>
        <p:spPr>
          <a:xfrm>
            <a:off x="1653106" y="6549632"/>
            <a:ext cx="5793627" cy="230832"/>
          </a:xfrm>
          <a:prstGeom prst="rect">
            <a:avLst/>
          </a:prstGeom>
          <a:noFill/>
        </p:spPr>
        <p:txBody>
          <a:bodyPr wrap="square" rtlCol="0">
            <a:spAutoFit/>
          </a:bodyPr>
          <a:lstStyle/>
          <a:p>
            <a:r>
              <a:rPr lang="pt-BR" sz="900" i="1" dirty="0"/>
              <a:t>Fonte: mapa apresentado no </a:t>
            </a:r>
            <a:r>
              <a:rPr lang="pt-BR" sz="900" i="1" dirty="0" err="1"/>
              <a:t>OceanPact</a:t>
            </a:r>
            <a:r>
              <a:rPr lang="pt-BR" sz="900" i="1" dirty="0"/>
              <a:t> Day 2025 – Destrinchando o </a:t>
            </a:r>
            <a:r>
              <a:rPr lang="pt-BR" sz="900" i="1" dirty="0" err="1"/>
              <a:t>Capex</a:t>
            </a:r>
            <a:endParaRPr lang="pt-BR" sz="900" i="1" dirty="0"/>
          </a:p>
        </p:txBody>
      </p:sp>
    </p:spTree>
    <p:extLst>
      <p:ext uri="{BB962C8B-B14F-4D97-AF65-F5344CB8AC3E}">
        <p14:creationId xmlns:p14="http://schemas.microsoft.com/office/powerpoint/2010/main" val="389305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1BAF0-B74E-346C-976F-27A77C382E09}"/>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51DD6AAE-27CD-6C0D-E8B7-704841A6B37F}"/>
              </a:ext>
            </a:extLst>
          </p:cNvPr>
          <p:cNvSpPr/>
          <p:nvPr/>
        </p:nvSpPr>
        <p:spPr>
          <a:xfrm>
            <a:off x="101326" y="1344176"/>
            <a:ext cx="2808000" cy="1845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7B99E6D4-5D46-6851-2D66-06AD5DDDEA44}"/>
              </a:ext>
            </a:extLst>
          </p:cNvPr>
          <p:cNvSpPr/>
          <p:nvPr/>
        </p:nvSpPr>
        <p:spPr>
          <a:xfrm>
            <a:off x="101326" y="3252391"/>
            <a:ext cx="2808000" cy="2592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O time de Planejamento da Área Técnica (AT) avalia, para cada embarcação:</a:t>
            </a:r>
          </a:p>
          <a:p>
            <a:pPr marL="355600" lvl="1" indent="-173038">
              <a:spcBef>
                <a:spcPts val="600"/>
              </a:spcBef>
              <a:buFont typeface="Wingdings" pitchFamily="2" charset="2"/>
              <a:buChar char="ü"/>
            </a:pPr>
            <a:r>
              <a:rPr lang="pt-BR" sz="1000" dirty="0">
                <a:solidFill>
                  <a:prstClr val="black"/>
                </a:solidFill>
                <a:latin typeface="Calibri"/>
              </a:rPr>
              <a:t>Janelas de Classe (docagem especial e docagem intermediária)</a:t>
            </a:r>
          </a:p>
          <a:p>
            <a:pPr marL="355600" lvl="1" indent="-173038">
              <a:spcBef>
                <a:spcPts val="600"/>
              </a:spcBef>
              <a:buFont typeface="Wingdings" pitchFamily="2" charset="2"/>
              <a:buChar char="ü"/>
            </a:pPr>
            <a:r>
              <a:rPr lang="pt-BR" sz="1000" dirty="0">
                <a:solidFill>
                  <a:prstClr val="black"/>
                </a:solidFill>
                <a:latin typeface="Calibri"/>
              </a:rPr>
              <a:t>Ciclos de Contratos</a:t>
            </a:r>
          </a:p>
          <a:p>
            <a:pPr marL="355600" lvl="1" indent="-173038">
              <a:spcBef>
                <a:spcPts val="600"/>
              </a:spcBef>
              <a:buFont typeface="Wingdings" pitchFamily="2" charset="2"/>
              <a:buChar char="ü"/>
            </a:pPr>
            <a:r>
              <a:rPr lang="pt-BR" sz="1000" dirty="0">
                <a:solidFill>
                  <a:prstClr val="black"/>
                </a:solidFill>
                <a:latin typeface="Calibri"/>
              </a:rPr>
              <a:t>Cronogramas de manutenção programada de equipamentos de acordo com fabricantes (motores, propulsão </a:t>
            </a:r>
            <a:r>
              <a:rPr lang="pt-BR" sz="1000" dirty="0" err="1">
                <a:solidFill>
                  <a:prstClr val="black"/>
                </a:solidFill>
                <a:latin typeface="Calibri"/>
              </a:rPr>
              <a:t>etc</a:t>
            </a:r>
            <a:r>
              <a:rPr lang="pt-BR" sz="1000" dirty="0">
                <a:solidFill>
                  <a:prstClr val="black"/>
                </a:solidFill>
                <a:latin typeface="Calibri"/>
              </a:rPr>
              <a:t>)</a:t>
            </a:r>
          </a:p>
          <a:p>
            <a:pPr marL="171450" indent="-171450">
              <a:spcBef>
                <a:spcPts val="600"/>
              </a:spcBef>
              <a:buFont typeface="Wingdings" panose="05000000000000000000" pitchFamily="2" charset="2"/>
              <a:buChar char="§"/>
            </a:pPr>
            <a:r>
              <a:rPr lang="pt-BR" sz="1000" dirty="0">
                <a:solidFill>
                  <a:prstClr val="black"/>
                </a:solidFill>
                <a:latin typeface="Calibri"/>
              </a:rPr>
              <a:t>O objetivo dessa avaliação é otimizar as Paradas de cada embarcação buscando agrupar uma ou mais obras em um mesmo evento, minimizando a quantidade de paradas necessárias ao longo do tempo</a:t>
            </a:r>
          </a:p>
        </p:txBody>
      </p:sp>
      <p:sp>
        <p:nvSpPr>
          <p:cNvPr id="19" name="Retângulo 18">
            <a:extLst>
              <a:ext uri="{FF2B5EF4-FFF2-40B4-BE49-F238E27FC236}">
                <a16:creationId xmlns:a16="http://schemas.microsoft.com/office/drawing/2014/main" id="{89873353-CA6E-7BCC-4FF9-212C18277B5A}"/>
              </a:ext>
            </a:extLst>
          </p:cNvPr>
          <p:cNvSpPr/>
          <p:nvPr/>
        </p:nvSpPr>
        <p:spPr>
          <a:xfrm>
            <a:off x="461326" y="1052736"/>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Avaliar Planejamento de Longo Prazo das Paradas</a:t>
            </a:r>
          </a:p>
        </p:txBody>
      </p:sp>
      <p:sp>
        <p:nvSpPr>
          <p:cNvPr id="9" name="Retângulo 8">
            <a:extLst>
              <a:ext uri="{FF2B5EF4-FFF2-40B4-BE49-F238E27FC236}">
                <a16:creationId xmlns:a16="http://schemas.microsoft.com/office/drawing/2014/main" id="{87FEA73F-D891-1684-017D-F56FE51FF818}"/>
              </a:ext>
            </a:extLst>
          </p:cNvPr>
          <p:cNvSpPr/>
          <p:nvPr/>
        </p:nvSpPr>
        <p:spPr>
          <a:xfrm>
            <a:off x="3171630" y="1344176"/>
            <a:ext cx="2808000" cy="184579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8" name="Retângulo 27">
            <a:extLst>
              <a:ext uri="{FF2B5EF4-FFF2-40B4-BE49-F238E27FC236}">
                <a16:creationId xmlns:a16="http://schemas.microsoft.com/office/drawing/2014/main" id="{7E170F59-5EAB-589A-3941-D3A5C363F214}"/>
              </a:ext>
            </a:extLst>
          </p:cNvPr>
          <p:cNvSpPr/>
          <p:nvPr/>
        </p:nvSpPr>
        <p:spPr>
          <a:xfrm>
            <a:off x="3531630" y="1052736"/>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Cadastrar</a:t>
            </a:r>
            <a:br>
              <a:rPr lang="pt-BR" sz="1400" b="1" dirty="0">
                <a:solidFill>
                  <a:schemeClr val="tx1"/>
                </a:solidFill>
              </a:rPr>
            </a:br>
            <a:r>
              <a:rPr lang="pt-BR" sz="1400" b="1" dirty="0">
                <a:solidFill>
                  <a:schemeClr val="tx1"/>
                </a:solidFill>
              </a:rPr>
              <a:t>Nova Parada</a:t>
            </a:r>
          </a:p>
        </p:txBody>
      </p:sp>
      <p:sp>
        <p:nvSpPr>
          <p:cNvPr id="40" name="Retângulo 39">
            <a:extLst>
              <a:ext uri="{FF2B5EF4-FFF2-40B4-BE49-F238E27FC236}">
                <a16:creationId xmlns:a16="http://schemas.microsoft.com/office/drawing/2014/main" id="{E925B542-59E5-6522-1422-31D541A35A15}"/>
              </a:ext>
            </a:extLst>
          </p:cNvPr>
          <p:cNvSpPr/>
          <p:nvPr/>
        </p:nvSpPr>
        <p:spPr>
          <a:xfrm>
            <a:off x="3171630" y="3252391"/>
            <a:ext cx="2808000" cy="2592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Com base nessa avaliação, o time de Planejamento AT cadastra uma nova Parada no SGO, incluindo:</a:t>
            </a:r>
          </a:p>
          <a:p>
            <a:pPr marL="355600" lvl="1" indent="-173038">
              <a:spcBef>
                <a:spcPts val="600"/>
              </a:spcBef>
              <a:buFont typeface="Wingdings" pitchFamily="2" charset="2"/>
              <a:buChar char="ü"/>
            </a:pPr>
            <a:r>
              <a:rPr lang="pt-BR" sz="1000" dirty="0">
                <a:solidFill>
                  <a:prstClr val="black"/>
                </a:solidFill>
                <a:latin typeface="Calibri"/>
              </a:rPr>
              <a:t>Tipos de Obra</a:t>
            </a:r>
          </a:p>
          <a:p>
            <a:pPr marL="355600" lvl="1" indent="-173038">
              <a:spcBef>
                <a:spcPts val="600"/>
              </a:spcBef>
              <a:buFont typeface="Wingdings" pitchFamily="2" charset="2"/>
              <a:buChar char="ü"/>
            </a:pPr>
            <a:r>
              <a:rPr lang="pt-BR" sz="1000" dirty="0">
                <a:solidFill>
                  <a:prstClr val="black"/>
                </a:solidFill>
                <a:latin typeface="Calibri"/>
              </a:rPr>
              <a:t>Datas de início, término e duração</a:t>
            </a:r>
          </a:p>
          <a:p>
            <a:pPr marL="355600" lvl="1" indent="-173038">
              <a:spcBef>
                <a:spcPts val="600"/>
              </a:spcBef>
              <a:buFont typeface="Wingdings" pitchFamily="2" charset="2"/>
              <a:buChar char="ü"/>
            </a:pPr>
            <a:r>
              <a:rPr lang="pt-BR" sz="1000" dirty="0">
                <a:solidFill>
                  <a:prstClr val="black"/>
                </a:solidFill>
                <a:latin typeface="Calibri"/>
              </a:rPr>
              <a:t> e demais campos do SGO</a:t>
            </a:r>
          </a:p>
          <a:p>
            <a:pPr marL="171450" indent="-171450">
              <a:spcBef>
                <a:spcPts val="600"/>
              </a:spcBef>
              <a:buFont typeface="Wingdings" panose="05000000000000000000" pitchFamily="2" charset="2"/>
              <a:buChar char="§"/>
            </a:pPr>
            <a:r>
              <a:rPr lang="pt-BR" sz="1000" dirty="0">
                <a:solidFill>
                  <a:prstClr val="black"/>
                </a:solidFill>
                <a:latin typeface="Calibri"/>
              </a:rPr>
              <a:t>Nesse momento nasce o ID da Parada, o “</a:t>
            </a:r>
            <a:r>
              <a:rPr lang="pt-BR" sz="1000" b="1" dirty="0">
                <a:solidFill>
                  <a:prstClr val="black"/>
                </a:solidFill>
                <a:latin typeface="Calibri"/>
              </a:rPr>
              <a:t>CPF da Parada</a:t>
            </a:r>
            <a:r>
              <a:rPr lang="pt-BR" sz="1000" dirty="0">
                <a:solidFill>
                  <a:prstClr val="black"/>
                </a:solidFill>
                <a:latin typeface="Calibri"/>
              </a:rPr>
              <a:t>”, </a:t>
            </a:r>
            <a:r>
              <a:rPr lang="pt-BR" sz="1000" b="1" dirty="0">
                <a:solidFill>
                  <a:prstClr val="black"/>
                </a:solidFill>
                <a:latin typeface="Calibri"/>
              </a:rPr>
              <a:t>identificador numérico único </a:t>
            </a:r>
            <a:r>
              <a:rPr lang="pt-BR" sz="1000" dirty="0">
                <a:solidFill>
                  <a:prstClr val="black"/>
                </a:solidFill>
                <a:latin typeface="Calibri"/>
              </a:rPr>
              <a:t>que permite rastrear os dados entre os sistemas da empresa </a:t>
            </a:r>
            <a:r>
              <a:rPr lang="pt-BR" sz="1000" i="1" dirty="0">
                <a:solidFill>
                  <a:prstClr val="black"/>
                </a:solidFill>
                <a:latin typeface="Calibri"/>
              </a:rPr>
              <a:t>(projeto “ID da Parada” em andamento no momento dessa documentação)</a:t>
            </a:r>
          </a:p>
          <a:p>
            <a:pPr marL="171450" indent="-171450">
              <a:spcBef>
                <a:spcPts val="600"/>
              </a:spcBef>
              <a:buFont typeface="Wingdings" panose="05000000000000000000" pitchFamily="2" charset="2"/>
              <a:buChar char="§"/>
            </a:pPr>
            <a:r>
              <a:rPr lang="pt-BR" sz="1000" dirty="0">
                <a:solidFill>
                  <a:prstClr val="black"/>
                </a:solidFill>
                <a:latin typeface="Calibri"/>
              </a:rPr>
              <a:t>Parada cadastrada no SGO é refletida, automaticamente, no HUB de Obras com status “Backlog”</a:t>
            </a:r>
          </a:p>
        </p:txBody>
      </p:sp>
      <p:sp>
        <p:nvSpPr>
          <p:cNvPr id="29" name="Retângulo 28">
            <a:extLst>
              <a:ext uri="{FF2B5EF4-FFF2-40B4-BE49-F238E27FC236}">
                <a16:creationId xmlns:a16="http://schemas.microsoft.com/office/drawing/2014/main" id="{ED2364A8-E49F-754E-C5F4-195A5DBE2BF4}"/>
              </a:ext>
            </a:extLst>
          </p:cNvPr>
          <p:cNvSpPr/>
          <p:nvPr/>
        </p:nvSpPr>
        <p:spPr>
          <a:xfrm>
            <a:off x="6241934" y="1344176"/>
            <a:ext cx="2808000" cy="184579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Retângulo 32">
            <a:extLst>
              <a:ext uri="{FF2B5EF4-FFF2-40B4-BE49-F238E27FC236}">
                <a16:creationId xmlns:a16="http://schemas.microsoft.com/office/drawing/2014/main" id="{6DFEAF1F-8C95-D7F2-A1A6-9D3E97AB23E2}"/>
              </a:ext>
            </a:extLst>
          </p:cNvPr>
          <p:cNvSpPr/>
          <p:nvPr/>
        </p:nvSpPr>
        <p:spPr>
          <a:xfrm>
            <a:off x="6601934" y="1052736"/>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Cadastrar Escopo/ Demandas da Parada</a:t>
            </a:r>
          </a:p>
        </p:txBody>
      </p:sp>
      <p:sp>
        <p:nvSpPr>
          <p:cNvPr id="41" name="Retângulo 40">
            <a:extLst>
              <a:ext uri="{FF2B5EF4-FFF2-40B4-BE49-F238E27FC236}">
                <a16:creationId xmlns:a16="http://schemas.microsoft.com/office/drawing/2014/main" id="{B921FA91-3D0C-A549-E4BA-6B758B640296}"/>
              </a:ext>
            </a:extLst>
          </p:cNvPr>
          <p:cNvSpPr/>
          <p:nvPr/>
        </p:nvSpPr>
        <p:spPr>
          <a:xfrm>
            <a:off x="6241934" y="3252391"/>
            <a:ext cx="2808000" cy="2592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Após o cadastro da Parada no SGO, o time de Planejamento AT registra:</a:t>
            </a:r>
          </a:p>
          <a:p>
            <a:pPr marL="355600" lvl="1" indent="-173038">
              <a:spcBef>
                <a:spcPts val="600"/>
              </a:spcBef>
              <a:buFont typeface="Wingdings" pitchFamily="2" charset="2"/>
              <a:buChar char="ü"/>
            </a:pPr>
            <a:r>
              <a:rPr lang="pt-BR" sz="1000" dirty="0">
                <a:solidFill>
                  <a:prstClr val="black"/>
                </a:solidFill>
                <a:latin typeface="Calibri"/>
              </a:rPr>
              <a:t>Os escopos/demandas (principais entregas previstas de cada obra)</a:t>
            </a:r>
          </a:p>
          <a:p>
            <a:pPr marL="171450" indent="-171450">
              <a:spcBef>
                <a:spcPts val="600"/>
              </a:spcBef>
              <a:buFont typeface="Wingdings" panose="05000000000000000000" pitchFamily="2" charset="2"/>
              <a:buChar char="§"/>
            </a:pPr>
            <a:r>
              <a:rPr lang="pt-BR" sz="1000" dirty="0">
                <a:solidFill>
                  <a:prstClr val="black"/>
                </a:solidFill>
                <a:latin typeface="Calibri"/>
              </a:rPr>
              <a:t>Os escopos/demandas são registrados e atualizados continuamente, de acordo com o avanço do detalhamento do planejamento técnico da Parada</a:t>
            </a:r>
          </a:p>
          <a:p>
            <a:pPr marL="171450" indent="-171450">
              <a:spcBef>
                <a:spcPts val="600"/>
              </a:spcBef>
              <a:buFont typeface="Wingdings" panose="05000000000000000000" pitchFamily="2" charset="2"/>
              <a:buChar char="§"/>
            </a:pPr>
            <a:r>
              <a:rPr lang="pt-BR" sz="1000" dirty="0">
                <a:solidFill>
                  <a:prstClr val="black"/>
                </a:solidFill>
                <a:latin typeface="Calibri"/>
              </a:rPr>
              <a:t>Para que possam ser incluídas as primeiras estimativas financeiras da Parada, o time de </a:t>
            </a:r>
            <a:r>
              <a:rPr lang="pt-BR" sz="1000" b="1" dirty="0">
                <a:solidFill>
                  <a:prstClr val="black"/>
                </a:solidFill>
                <a:latin typeface="Calibri"/>
              </a:rPr>
              <a:t>Planejamento AT libera no SGO que a Parada passe a ser editável pelo HUB de Obras </a:t>
            </a:r>
          </a:p>
          <a:p>
            <a:pPr marL="171450" indent="-171450">
              <a:spcBef>
                <a:spcPts val="600"/>
              </a:spcBef>
              <a:buFont typeface="Wingdings" panose="05000000000000000000" pitchFamily="2" charset="2"/>
              <a:buChar char="§"/>
            </a:pPr>
            <a:endParaRPr lang="pt-BR" sz="1000" dirty="0">
              <a:solidFill>
                <a:prstClr val="black"/>
              </a:solidFill>
              <a:latin typeface="Calibri"/>
            </a:endParaRPr>
          </a:p>
        </p:txBody>
      </p:sp>
      <p:sp>
        <p:nvSpPr>
          <p:cNvPr id="36" name="Retângulo 35">
            <a:extLst>
              <a:ext uri="{FF2B5EF4-FFF2-40B4-BE49-F238E27FC236}">
                <a16:creationId xmlns:a16="http://schemas.microsoft.com/office/drawing/2014/main" id="{BCA10A06-E908-254C-F9A6-6780EDFC35EB}"/>
              </a:ext>
            </a:extLst>
          </p:cNvPr>
          <p:cNvSpPr/>
          <p:nvPr/>
        </p:nvSpPr>
        <p:spPr>
          <a:xfrm>
            <a:off x="9312239" y="1344176"/>
            <a:ext cx="2808000" cy="184579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tângulo 37">
            <a:extLst>
              <a:ext uri="{FF2B5EF4-FFF2-40B4-BE49-F238E27FC236}">
                <a16:creationId xmlns:a16="http://schemas.microsoft.com/office/drawing/2014/main" id="{C242DC5B-7EE8-4B65-975E-63ADD878F0D4}"/>
              </a:ext>
            </a:extLst>
          </p:cNvPr>
          <p:cNvSpPr/>
          <p:nvPr/>
        </p:nvSpPr>
        <p:spPr>
          <a:xfrm>
            <a:off x="9672239" y="1052736"/>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Parada Ativada no HUB de Obras</a:t>
            </a:r>
          </a:p>
        </p:txBody>
      </p:sp>
      <p:sp>
        <p:nvSpPr>
          <p:cNvPr id="42" name="Retângulo 41">
            <a:extLst>
              <a:ext uri="{FF2B5EF4-FFF2-40B4-BE49-F238E27FC236}">
                <a16:creationId xmlns:a16="http://schemas.microsoft.com/office/drawing/2014/main" id="{F05B8D9A-D6FD-D7BB-D538-22A78F61F785}"/>
              </a:ext>
            </a:extLst>
          </p:cNvPr>
          <p:cNvSpPr/>
          <p:nvPr/>
        </p:nvSpPr>
        <p:spPr>
          <a:xfrm>
            <a:off x="9301647" y="3252391"/>
            <a:ext cx="2808000" cy="2592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Uma vez cadastrada no SGO, a </a:t>
            </a:r>
            <a:r>
              <a:rPr lang="pt-BR" sz="1000" b="1" dirty="0">
                <a:solidFill>
                  <a:prstClr val="black"/>
                </a:solidFill>
                <a:latin typeface="Calibri"/>
              </a:rPr>
              <a:t>Parada é exibida no status de “Backlog” </a:t>
            </a:r>
            <a:r>
              <a:rPr lang="pt-BR" sz="1000" dirty="0">
                <a:solidFill>
                  <a:prstClr val="black"/>
                </a:solidFill>
                <a:latin typeface="Calibri"/>
              </a:rPr>
              <a:t>do HUB ...</a:t>
            </a:r>
          </a:p>
          <a:p>
            <a:pPr marL="171450" indent="-171450">
              <a:spcBef>
                <a:spcPts val="600"/>
              </a:spcBef>
              <a:buFont typeface="Wingdings" panose="05000000000000000000" pitchFamily="2" charset="2"/>
              <a:buChar char="§"/>
            </a:pPr>
            <a:r>
              <a:rPr lang="pt-BR" sz="1000" dirty="0">
                <a:solidFill>
                  <a:prstClr val="black"/>
                </a:solidFill>
                <a:latin typeface="Calibri"/>
              </a:rPr>
              <a:t>... e fica </a:t>
            </a:r>
            <a:r>
              <a:rPr lang="pt-BR" sz="1000" b="1" dirty="0">
                <a:solidFill>
                  <a:prstClr val="black"/>
                </a:solidFill>
                <a:latin typeface="Calibri"/>
              </a:rPr>
              <a:t>disponível somente para leitura, </a:t>
            </a:r>
            <a:r>
              <a:rPr lang="pt-BR" sz="1000" dirty="0">
                <a:solidFill>
                  <a:prstClr val="black"/>
                </a:solidFill>
                <a:latin typeface="Calibri"/>
              </a:rPr>
              <a:t>refletindo</a:t>
            </a:r>
            <a:r>
              <a:rPr lang="pt-BR" sz="1000" b="1" dirty="0">
                <a:solidFill>
                  <a:prstClr val="black"/>
                </a:solidFill>
                <a:latin typeface="Calibri"/>
              </a:rPr>
              <a:t> </a:t>
            </a:r>
            <a:r>
              <a:rPr lang="pt-BR" sz="1000" dirty="0">
                <a:solidFill>
                  <a:prstClr val="black"/>
                </a:solidFill>
                <a:latin typeface="Calibri"/>
              </a:rPr>
              <a:t>as edições realizadas no SGO (sistema autoritativo)</a:t>
            </a:r>
          </a:p>
          <a:p>
            <a:pPr marL="171450" indent="-171450">
              <a:spcBef>
                <a:spcPts val="600"/>
              </a:spcBef>
              <a:buFont typeface="Wingdings" panose="05000000000000000000" pitchFamily="2" charset="2"/>
              <a:buChar char="§"/>
            </a:pPr>
            <a:r>
              <a:rPr lang="pt-BR" sz="1000" b="1" dirty="0">
                <a:solidFill>
                  <a:prstClr val="black"/>
                </a:solidFill>
                <a:latin typeface="Calibri"/>
              </a:rPr>
              <a:t>Uma vez realizada a liberação para edição via SGO, o HUB passa ser o sistema autoritativo </a:t>
            </a:r>
            <a:r>
              <a:rPr lang="pt-BR" sz="1000" dirty="0">
                <a:solidFill>
                  <a:prstClr val="black"/>
                </a:solidFill>
                <a:latin typeface="Calibri"/>
              </a:rPr>
              <a:t>...</a:t>
            </a:r>
          </a:p>
          <a:p>
            <a:pPr marL="171450" indent="-171450">
              <a:spcBef>
                <a:spcPts val="600"/>
              </a:spcBef>
              <a:buFont typeface="Wingdings" panose="05000000000000000000" pitchFamily="2" charset="2"/>
              <a:buChar char="§"/>
            </a:pPr>
            <a:r>
              <a:rPr lang="pt-BR" sz="1000" dirty="0">
                <a:solidFill>
                  <a:prstClr val="black"/>
                </a:solidFill>
                <a:latin typeface="Calibri"/>
              </a:rPr>
              <a:t>... e todas as alterações passam a ser feitas no HUB e refletidas no SGO </a:t>
            </a:r>
          </a:p>
          <a:p>
            <a:pPr marL="171450" indent="-171450">
              <a:spcBef>
                <a:spcPts val="600"/>
              </a:spcBef>
              <a:buFont typeface="Wingdings" panose="05000000000000000000" pitchFamily="2" charset="2"/>
              <a:buChar char="§"/>
            </a:pPr>
            <a:r>
              <a:rPr lang="pt-BR" sz="1000" dirty="0">
                <a:solidFill>
                  <a:prstClr val="black"/>
                </a:solidFill>
                <a:latin typeface="Calibri"/>
              </a:rPr>
              <a:t>A partir desse momento, passa a ser possível inserir as </a:t>
            </a:r>
            <a:r>
              <a:rPr lang="pt-BR" sz="1000" b="1" dirty="0">
                <a:solidFill>
                  <a:prstClr val="black"/>
                </a:solidFill>
                <a:latin typeface="Calibri"/>
              </a:rPr>
              <a:t>estimativas financeiras </a:t>
            </a:r>
            <a:r>
              <a:rPr lang="pt-BR" sz="1000" dirty="0">
                <a:solidFill>
                  <a:prstClr val="black"/>
                </a:solidFill>
                <a:latin typeface="Calibri"/>
              </a:rPr>
              <a:t>das demandas das Obras no HUB, </a:t>
            </a:r>
            <a:r>
              <a:rPr lang="pt-BR" sz="1000" b="1" dirty="0">
                <a:solidFill>
                  <a:prstClr val="black"/>
                </a:solidFill>
                <a:latin typeface="Calibri"/>
              </a:rPr>
              <a:t>movendo a Parada para o status de FEL0</a:t>
            </a:r>
          </a:p>
        </p:txBody>
      </p:sp>
      <p:sp>
        <p:nvSpPr>
          <p:cNvPr id="5" name="Título 4">
            <a:extLst>
              <a:ext uri="{FF2B5EF4-FFF2-40B4-BE49-F238E27FC236}">
                <a16:creationId xmlns:a16="http://schemas.microsoft.com/office/drawing/2014/main" id="{AC1F5323-FCC0-EB1F-25AA-24513D61F8F9}"/>
              </a:ext>
            </a:extLst>
          </p:cNvPr>
          <p:cNvSpPr>
            <a:spLocks noGrp="1"/>
          </p:cNvSpPr>
          <p:nvPr>
            <p:ph type="title"/>
          </p:nvPr>
        </p:nvSpPr>
        <p:spPr/>
        <p:txBody>
          <a:bodyPr/>
          <a:lstStyle/>
          <a:p>
            <a:r>
              <a:rPr lang="pt-BR" dirty="0"/>
              <a:t>Cadastro de Parada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Macro Processo</a:t>
            </a:r>
            <a:endParaRPr lang="pt-BR" dirty="0"/>
          </a:p>
        </p:txBody>
      </p:sp>
      <p:sp>
        <p:nvSpPr>
          <p:cNvPr id="22" name="Triangle 12">
            <a:extLst>
              <a:ext uri="{FF2B5EF4-FFF2-40B4-BE49-F238E27FC236}">
                <a16:creationId xmlns:a16="http://schemas.microsoft.com/office/drawing/2014/main" id="{139303C2-5A81-5598-14AF-D630D425DF11}"/>
              </a:ext>
            </a:extLst>
          </p:cNvPr>
          <p:cNvSpPr/>
          <p:nvPr/>
        </p:nvSpPr>
        <p:spPr>
          <a:xfrm rot="5400000">
            <a:off x="2464313" y="3748922"/>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26" name="Imagem 25">
            <a:extLst>
              <a:ext uri="{FF2B5EF4-FFF2-40B4-BE49-F238E27FC236}">
                <a16:creationId xmlns:a16="http://schemas.microsoft.com/office/drawing/2014/main" id="{21C54BA2-D220-5D66-B862-56C9E051B20C}"/>
              </a:ext>
            </a:extLst>
          </p:cNvPr>
          <p:cNvPicPr>
            <a:picLocks noChangeAspect="1"/>
          </p:cNvPicPr>
          <p:nvPr/>
        </p:nvPicPr>
        <p:blipFill>
          <a:blip r:embed="rId2"/>
          <a:stretch>
            <a:fillRect/>
          </a:stretch>
        </p:blipFill>
        <p:spPr>
          <a:xfrm>
            <a:off x="223191" y="1650133"/>
            <a:ext cx="2564271" cy="1417035"/>
          </a:xfrm>
          <a:prstGeom prst="rect">
            <a:avLst/>
          </a:prstGeom>
          <a:effectLst>
            <a:outerShdw blurRad="50800" dist="38100" algn="l" rotWithShape="0">
              <a:prstClr val="black">
                <a:alpha val="40000"/>
              </a:prstClr>
            </a:outerShdw>
          </a:effectLst>
        </p:spPr>
      </p:pic>
      <p:pic>
        <p:nvPicPr>
          <p:cNvPr id="27" name="Imagem 26">
            <a:extLst>
              <a:ext uri="{FF2B5EF4-FFF2-40B4-BE49-F238E27FC236}">
                <a16:creationId xmlns:a16="http://schemas.microsoft.com/office/drawing/2014/main" id="{89818600-EA00-4A88-3172-AFBA64C62953}"/>
              </a:ext>
            </a:extLst>
          </p:cNvPr>
          <p:cNvPicPr>
            <a:picLocks noChangeAspect="1"/>
          </p:cNvPicPr>
          <p:nvPr/>
        </p:nvPicPr>
        <p:blipFill>
          <a:blip r:embed="rId3"/>
          <a:stretch>
            <a:fillRect/>
          </a:stretch>
        </p:blipFill>
        <p:spPr>
          <a:xfrm>
            <a:off x="3293495" y="1650535"/>
            <a:ext cx="2564271" cy="1425086"/>
          </a:xfrm>
          <a:prstGeom prst="rect">
            <a:avLst/>
          </a:prstGeom>
          <a:effectLst>
            <a:outerShdw blurRad="50800" dist="38100" algn="l" rotWithShape="0">
              <a:prstClr val="black">
                <a:alpha val="40000"/>
              </a:prstClr>
            </a:outerShdw>
          </a:effectLst>
        </p:spPr>
      </p:pic>
      <p:sp>
        <p:nvSpPr>
          <p:cNvPr id="31" name="Triangle 12">
            <a:extLst>
              <a:ext uri="{FF2B5EF4-FFF2-40B4-BE49-F238E27FC236}">
                <a16:creationId xmlns:a16="http://schemas.microsoft.com/office/drawing/2014/main" id="{8F9901A6-7D13-EE4F-C502-6075D18EEFA8}"/>
              </a:ext>
            </a:extLst>
          </p:cNvPr>
          <p:cNvSpPr/>
          <p:nvPr/>
        </p:nvSpPr>
        <p:spPr>
          <a:xfrm rot="5400000">
            <a:off x="5536407" y="3748922"/>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35" name="Imagem 34">
            <a:extLst>
              <a:ext uri="{FF2B5EF4-FFF2-40B4-BE49-F238E27FC236}">
                <a16:creationId xmlns:a16="http://schemas.microsoft.com/office/drawing/2014/main" id="{174C6258-46F7-6202-0179-263986CD778B}"/>
              </a:ext>
            </a:extLst>
          </p:cNvPr>
          <p:cNvPicPr>
            <a:picLocks noChangeAspect="1"/>
          </p:cNvPicPr>
          <p:nvPr/>
        </p:nvPicPr>
        <p:blipFill>
          <a:blip r:embed="rId4"/>
          <a:stretch>
            <a:fillRect/>
          </a:stretch>
        </p:blipFill>
        <p:spPr>
          <a:xfrm>
            <a:off x="6355645" y="1650517"/>
            <a:ext cx="2580579" cy="1424695"/>
          </a:xfrm>
          <a:prstGeom prst="rect">
            <a:avLst/>
          </a:prstGeom>
          <a:effectLst>
            <a:outerShdw blurRad="50800" dist="38100" algn="l" rotWithShape="0">
              <a:prstClr val="black">
                <a:alpha val="40000"/>
              </a:prstClr>
            </a:outerShdw>
          </a:effectLst>
        </p:spPr>
      </p:pic>
      <p:pic>
        <p:nvPicPr>
          <p:cNvPr id="52" name="Imagem 51">
            <a:extLst>
              <a:ext uri="{FF2B5EF4-FFF2-40B4-BE49-F238E27FC236}">
                <a16:creationId xmlns:a16="http://schemas.microsoft.com/office/drawing/2014/main" id="{3627794F-75D5-82C6-A7EF-BF156186DCCB}"/>
              </a:ext>
            </a:extLst>
          </p:cNvPr>
          <p:cNvPicPr>
            <a:picLocks noChangeAspect="1"/>
          </p:cNvPicPr>
          <p:nvPr/>
        </p:nvPicPr>
        <p:blipFill>
          <a:blip r:embed="rId5"/>
          <a:stretch>
            <a:fillRect/>
          </a:stretch>
        </p:blipFill>
        <p:spPr>
          <a:xfrm>
            <a:off x="9421975" y="1650517"/>
            <a:ext cx="2588528" cy="1233515"/>
          </a:xfrm>
          <a:prstGeom prst="rect">
            <a:avLst/>
          </a:prstGeom>
          <a:effectLst>
            <a:outerShdw blurRad="50800" dist="38100" algn="l" rotWithShape="0">
              <a:prstClr val="black">
                <a:alpha val="40000"/>
              </a:prstClr>
            </a:outerShdw>
          </a:effectLst>
        </p:spPr>
      </p:pic>
      <p:sp>
        <p:nvSpPr>
          <p:cNvPr id="53" name="Triangle 12">
            <a:extLst>
              <a:ext uri="{FF2B5EF4-FFF2-40B4-BE49-F238E27FC236}">
                <a16:creationId xmlns:a16="http://schemas.microsoft.com/office/drawing/2014/main" id="{69935B1A-CDBF-1528-5DA3-05F42BCF1F17}"/>
              </a:ext>
            </a:extLst>
          </p:cNvPr>
          <p:cNvSpPr/>
          <p:nvPr/>
        </p:nvSpPr>
        <p:spPr>
          <a:xfrm rot="5400000">
            <a:off x="8610453" y="3748922"/>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1" name="Retângulo 10">
            <a:extLst>
              <a:ext uri="{FF2B5EF4-FFF2-40B4-BE49-F238E27FC236}">
                <a16:creationId xmlns:a16="http://schemas.microsoft.com/office/drawing/2014/main" id="{680AE2C5-D761-A84B-F48E-36C0B8F8CA7B}"/>
              </a:ext>
            </a:extLst>
          </p:cNvPr>
          <p:cNvSpPr/>
          <p:nvPr/>
        </p:nvSpPr>
        <p:spPr>
          <a:xfrm>
            <a:off x="101326" y="5910899"/>
            <a:ext cx="2808000"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sp>
        <p:nvSpPr>
          <p:cNvPr id="7" name="Elipse 6">
            <a:extLst>
              <a:ext uri="{FF2B5EF4-FFF2-40B4-BE49-F238E27FC236}">
                <a16:creationId xmlns:a16="http://schemas.microsoft.com/office/drawing/2014/main" id="{C7332290-5E89-D795-4B71-03403230FBEA}"/>
              </a:ext>
            </a:extLst>
          </p:cNvPr>
          <p:cNvSpPr/>
          <p:nvPr/>
        </p:nvSpPr>
        <p:spPr>
          <a:xfrm>
            <a:off x="216278" y="6010072"/>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descr="Uma imagem contendo Ícone&#10;&#10;O conteúdo gerado por IA pode estar incorreto.">
            <a:extLst>
              <a:ext uri="{FF2B5EF4-FFF2-40B4-BE49-F238E27FC236}">
                <a16:creationId xmlns:a16="http://schemas.microsoft.com/office/drawing/2014/main" id="{0F1454CA-9C30-7014-A80E-C33BFC9F71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9094" y="6026672"/>
            <a:ext cx="261470" cy="261470"/>
          </a:xfrm>
          <a:prstGeom prst="rect">
            <a:avLst/>
          </a:prstGeom>
        </p:spPr>
      </p:pic>
      <p:sp>
        <p:nvSpPr>
          <p:cNvPr id="13" name="CaixaDeTexto 12">
            <a:extLst>
              <a:ext uri="{FF2B5EF4-FFF2-40B4-BE49-F238E27FC236}">
                <a16:creationId xmlns:a16="http://schemas.microsoft.com/office/drawing/2014/main" id="{8A64B2BE-FA60-CE5D-3E69-960F495CCCB9}"/>
              </a:ext>
            </a:extLst>
          </p:cNvPr>
          <p:cNvSpPr txBox="1"/>
          <p:nvPr/>
        </p:nvSpPr>
        <p:spPr>
          <a:xfrm>
            <a:off x="594987" y="6026602"/>
            <a:ext cx="2314339" cy="261610"/>
          </a:xfrm>
          <a:prstGeom prst="rect">
            <a:avLst/>
          </a:prstGeom>
          <a:noFill/>
        </p:spPr>
        <p:txBody>
          <a:bodyPr wrap="square">
            <a:spAutoFit/>
          </a:bodyPr>
          <a:lstStyle/>
          <a:p>
            <a:r>
              <a:rPr lang="pt-BR" sz="1100" dirty="0"/>
              <a:t>SGO – Sistema de Gestão de Obras</a:t>
            </a:r>
          </a:p>
        </p:txBody>
      </p:sp>
      <p:sp>
        <p:nvSpPr>
          <p:cNvPr id="15" name="Retângulo 14">
            <a:extLst>
              <a:ext uri="{FF2B5EF4-FFF2-40B4-BE49-F238E27FC236}">
                <a16:creationId xmlns:a16="http://schemas.microsoft.com/office/drawing/2014/main" id="{64797224-24E3-1513-6CDA-A2C74535DD5A}"/>
              </a:ext>
            </a:extLst>
          </p:cNvPr>
          <p:cNvSpPr/>
          <p:nvPr/>
        </p:nvSpPr>
        <p:spPr>
          <a:xfrm>
            <a:off x="3163913" y="5910899"/>
            <a:ext cx="2808000"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sp>
        <p:nvSpPr>
          <p:cNvPr id="16" name="Elipse 15">
            <a:extLst>
              <a:ext uri="{FF2B5EF4-FFF2-40B4-BE49-F238E27FC236}">
                <a16:creationId xmlns:a16="http://schemas.microsoft.com/office/drawing/2014/main" id="{93FD8DC2-D409-BD33-CCF8-71DB8D7DBA4D}"/>
              </a:ext>
            </a:extLst>
          </p:cNvPr>
          <p:cNvSpPr/>
          <p:nvPr/>
        </p:nvSpPr>
        <p:spPr>
          <a:xfrm>
            <a:off x="3278865" y="6010072"/>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7" name="Imagem 16" descr="Uma imagem contendo Ícone&#10;&#10;O conteúdo gerado por IA pode estar incorreto.">
            <a:extLst>
              <a:ext uri="{FF2B5EF4-FFF2-40B4-BE49-F238E27FC236}">
                <a16:creationId xmlns:a16="http://schemas.microsoft.com/office/drawing/2014/main" id="{1A93BEEB-27C7-1FEF-74CC-E2FA9D8F896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301681" y="6026672"/>
            <a:ext cx="261470" cy="261470"/>
          </a:xfrm>
          <a:prstGeom prst="rect">
            <a:avLst/>
          </a:prstGeom>
        </p:spPr>
      </p:pic>
      <p:sp>
        <p:nvSpPr>
          <p:cNvPr id="18" name="CaixaDeTexto 17">
            <a:extLst>
              <a:ext uri="{FF2B5EF4-FFF2-40B4-BE49-F238E27FC236}">
                <a16:creationId xmlns:a16="http://schemas.microsoft.com/office/drawing/2014/main" id="{2EE0BC95-45B8-B51F-25BD-A5C5D7BEB8EE}"/>
              </a:ext>
            </a:extLst>
          </p:cNvPr>
          <p:cNvSpPr txBox="1"/>
          <p:nvPr/>
        </p:nvSpPr>
        <p:spPr>
          <a:xfrm>
            <a:off x="3657574" y="6026602"/>
            <a:ext cx="2314339" cy="261610"/>
          </a:xfrm>
          <a:prstGeom prst="rect">
            <a:avLst/>
          </a:prstGeom>
          <a:noFill/>
        </p:spPr>
        <p:txBody>
          <a:bodyPr wrap="square">
            <a:spAutoFit/>
          </a:bodyPr>
          <a:lstStyle/>
          <a:p>
            <a:r>
              <a:rPr lang="pt-BR" sz="1100" dirty="0"/>
              <a:t>SGO – Sistema de Gestão de Obras</a:t>
            </a:r>
          </a:p>
        </p:txBody>
      </p:sp>
      <p:sp>
        <p:nvSpPr>
          <p:cNvPr id="20" name="Retângulo 19">
            <a:extLst>
              <a:ext uri="{FF2B5EF4-FFF2-40B4-BE49-F238E27FC236}">
                <a16:creationId xmlns:a16="http://schemas.microsoft.com/office/drawing/2014/main" id="{6A52847F-BE00-FD9A-602D-BF9C26228550}"/>
              </a:ext>
            </a:extLst>
          </p:cNvPr>
          <p:cNvSpPr/>
          <p:nvPr/>
        </p:nvSpPr>
        <p:spPr>
          <a:xfrm>
            <a:off x="6241934" y="5910899"/>
            <a:ext cx="2808000"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grpSp>
        <p:nvGrpSpPr>
          <p:cNvPr id="39" name="Agrupar 38">
            <a:extLst>
              <a:ext uri="{FF2B5EF4-FFF2-40B4-BE49-F238E27FC236}">
                <a16:creationId xmlns:a16="http://schemas.microsoft.com/office/drawing/2014/main" id="{B70D972C-56F2-2B0C-05E4-F0164F244A6B}"/>
              </a:ext>
            </a:extLst>
          </p:cNvPr>
          <p:cNvGrpSpPr/>
          <p:nvPr/>
        </p:nvGrpSpPr>
        <p:grpSpPr>
          <a:xfrm>
            <a:off x="6356886" y="6010072"/>
            <a:ext cx="2693048" cy="294670"/>
            <a:chOff x="6356886" y="5791701"/>
            <a:chExt cx="2693048" cy="294670"/>
          </a:xfrm>
        </p:grpSpPr>
        <p:sp>
          <p:nvSpPr>
            <p:cNvPr id="21" name="Elipse 20">
              <a:extLst>
                <a:ext uri="{FF2B5EF4-FFF2-40B4-BE49-F238E27FC236}">
                  <a16:creationId xmlns:a16="http://schemas.microsoft.com/office/drawing/2014/main" id="{FF8F72A9-0C4A-604C-3F5D-D1FE2490BC2E}"/>
                </a:ext>
              </a:extLst>
            </p:cNvPr>
            <p:cNvSpPr/>
            <p:nvPr/>
          </p:nvSpPr>
          <p:spPr>
            <a:xfrm>
              <a:off x="6356886" y="5791701"/>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Imagem 22" descr="Uma imagem contendo Ícone&#10;&#10;O conteúdo gerado por IA pode estar incorreto.">
              <a:extLst>
                <a:ext uri="{FF2B5EF4-FFF2-40B4-BE49-F238E27FC236}">
                  <a16:creationId xmlns:a16="http://schemas.microsoft.com/office/drawing/2014/main" id="{62FB6DF0-3848-DBDA-ED71-5D45B0A32A1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79702" y="5808301"/>
              <a:ext cx="261470" cy="261470"/>
            </a:xfrm>
            <a:prstGeom prst="rect">
              <a:avLst/>
            </a:prstGeom>
          </p:spPr>
        </p:pic>
        <p:sp>
          <p:nvSpPr>
            <p:cNvPr id="24" name="CaixaDeTexto 23">
              <a:extLst>
                <a:ext uri="{FF2B5EF4-FFF2-40B4-BE49-F238E27FC236}">
                  <a16:creationId xmlns:a16="http://schemas.microsoft.com/office/drawing/2014/main" id="{105E9794-7441-DE5E-E622-75CD22EA3D90}"/>
                </a:ext>
              </a:extLst>
            </p:cNvPr>
            <p:cNvSpPr txBox="1"/>
            <p:nvPr/>
          </p:nvSpPr>
          <p:spPr>
            <a:xfrm>
              <a:off x="6735595" y="5808231"/>
              <a:ext cx="2314339" cy="261610"/>
            </a:xfrm>
            <a:prstGeom prst="rect">
              <a:avLst/>
            </a:prstGeom>
            <a:noFill/>
          </p:spPr>
          <p:txBody>
            <a:bodyPr wrap="square">
              <a:spAutoFit/>
            </a:bodyPr>
            <a:lstStyle/>
            <a:p>
              <a:r>
                <a:rPr lang="pt-BR" sz="1100" dirty="0"/>
                <a:t>SGO – Sistema de Gestão de Obras</a:t>
              </a:r>
            </a:p>
          </p:txBody>
        </p:sp>
      </p:grpSp>
      <p:sp>
        <p:nvSpPr>
          <p:cNvPr id="25" name="Retângulo 24">
            <a:extLst>
              <a:ext uri="{FF2B5EF4-FFF2-40B4-BE49-F238E27FC236}">
                <a16:creationId xmlns:a16="http://schemas.microsoft.com/office/drawing/2014/main" id="{C1075BEE-B397-5E06-74F8-6EBFF9EA54C4}"/>
              </a:ext>
            </a:extLst>
          </p:cNvPr>
          <p:cNvSpPr/>
          <p:nvPr/>
        </p:nvSpPr>
        <p:spPr>
          <a:xfrm>
            <a:off x="9301647" y="5910899"/>
            <a:ext cx="2808000"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sp>
        <p:nvSpPr>
          <p:cNvPr id="30" name="Elipse 29">
            <a:extLst>
              <a:ext uri="{FF2B5EF4-FFF2-40B4-BE49-F238E27FC236}">
                <a16:creationId xmlns:a16="http://schemas.microsoft.com/office/drawing/2014/main" id="{91AB8147-1B91-8B61-7F30-4F4FF670F4EC}"/>
              </a:ext>
            </a:extLst>
          </p:cNvPr>
          <p:cNvSpPr/>
          <p:nvPr/>
        </p:nvSpPr>
        <p:spPr>
          <a:xfrm>
            <a:off x="10047219" y="6010072"/>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CaixaDeTexto 33">
            <a:extLst>
              <a:ext uri="{FF2B5EF4-FFF2-40B4-BE49-F238E27FC236}">
                <a16:creationId xmlns:a16="http://schemas.microsoft.com/office/drawing/2014/main" id="{3AF057E3-F16F-AFA2-CBB3-B6EC7ED6F7BF}"/>
              </a:ext>
            </a:extLst>
          </p:cNvPr>
          <p:cNvSpPr txBox="1"/>
          <p:nvPr/>
        </p:nvSpPr>
        <p:spPr>
          <a:xfrm>
            <a:off x="10375034" y="6026602"/>
            <a:ext cx="989042" cy="261610"/>
          </a:xfrm>
          <a:prstGeom prst="rect">
            <a:avLst/>
          </a:prstGeom>
          <a:noFill/>
        </p:spPr>
        <p:txBody>
          <a:bodyPr wrap="square">
            <a:spAutoFit/>
          </a:bodyPr>
          <a:lstStyle/>
          <a:p>
            <a:r>
              <a:rPr lang="pt-BR" sz="1100" dirty="0"/>
              <a:t>HUB de Obras</a:t>
            </a:r>
          </a:p>
        </p:txBody>
      </p:sp>
      <p:sp>
        <p:nvSpPr>
          <p:cNvPr id="67" name="Elipse 66">
            <a:extLst>
              <a:ext uri="{FF2B5EF4-FFF2-40B4-BE49-F238E27FC236}">
                <a16:creationId xmlns:a16="http://schemas.microsoft.com/office/drawing/2014/main" id="{13EC5B72-6ADF-5D3A-C0CC-05C3FCA3F52B}"/>
              </a:ext>
            </a:extLst>
          </p:cNvPr>
          <p:cNvSpPr/>
          <p:nvPr/>
        </p:nvSpPr>
        <p:spPr>
          <a:xfrm>
            <a:off x="5711400" y="6039431"/>
            <a:ext cx="235953" cy="23595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 name="Group 2">
            <a:extLst>
              <a:ext uri="{FF2B5EF4-FFF2-40B4-BE49-F238E27FC236}">
                <a16:creationId xmlns:a16="http://schemas.microsoft.com/office/drawing/2014/main" id="{F4983677-6A1F-64EF-C5BE-15F250F28F00}"/>
              </a:ext>
            </a:extLst>
          </p:cNvPr>
          <p:cNvGrpSpPr>
            <a:grpSpLocks noChangeAspect="1"/>
          </p:cNvGrpSpPr>
          <p:nvPr/>
        </p:nvGrpSpPr>
        <p:grpSpPr>
          <a:xfrm>
            <a:off x="10076133" y="6046482"/>
            <a:ext cx="249275" cy="221851"/>
            <a:chOff x="1343466" y="852742"/>
            <a:chExt cx="5789425" cy="5152516"/>
          </a:xfrm>
        </p:grpSpPr>
        <p:pic>
          <p:nvPicPr>
            <p:cNvPr id="4" name="Picture 2">
              <a:extLst>
                <a:ext uri="{FF2B5EF4-FFF2-40B4-BE49-F238E27FC236}">
                  <a16:creationId xmlns:a16="http://schemas.microsoft.com/office/drawing/2014/main" id="{5DB49402-AEA8-F337-25E8-88190AEC168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43466" y="852742"/>
              <a:ext cx="5789425" cy="5152516"/>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5160F914-26B2-5D0C-C2F7-DCEEC504EF38}"/>
                </a:ext>
              </a:extLst>
            </p:cNvPr>
            <p:cNvGrpSpPr>
              <a:grpSpLocks noChangeAspect="1"/>
            </p:cNvGrpSpPr>
            <p:nvPr/>
          </p:nvGrpSpPr>
          <p:grpSpPr>
            <a:xfrm>
              <a:off x="3356184" y="2547000"/>
              <a:ext cx="1764000" cy="1764000"/>
              <a:chOff x="7959484" y="1556793"/>
              <a:chExt cx="3024000" cy="3024000"/>
            </a:xfrm>
          </p:grpSpPr>
          <p:sp>
            <p:nvSpPr>
              <p:cNvPr id="12" name="Oval 11">
                <a:extLst>
                  <a:ext uri="{FF2B5EF4-FFF2-40B4-BE49-F238E27FC236}">
                    <a16:creationId xmlns:a16="http://schemas.microsoft.com/office/drawing/2014/main" id="{4DBB5767-4E4F-862C-EEFE-B3FB956D7635}"/>
                  </a:ext>
                </a:extLst>
              </p:cNvPr>
              <p:cNvSpPr>
                <a:spLocks noChangeAspect="1"/>
              </p:cNvSpPr>
              <p:nvPr/>
            </p:nvSpPr>
            <p:spPr>
              <a:xfrm>
                <a:off x="7959484" y="1556793"/>
                <a:ext cx="3024000" cy="30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32" name="Picture 4">
                <a:extLst>
                  <a:ext uri="{FF2B5EF4-FFF2-40B4-BE49-F238E27FC236}">
                    <a16:creationId xmlns:a16="http://schemas.microsoft.com/office/drawing/2014/main" id="{91FB7767-35A2-665A-72D1-D8F4FF1B6A9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17253" y="1614562"/>
                <a:ext cx="2908460" cy="2908460"/>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43" name="Picture 2">
            <a:extLst>
              <a:ext uri="{FF2B5EF4-FFF2-40B4-BE49-F238E27FC236}">
                <a16:creationId xmlns:a16="http://schemas.microsoft.com/office/drawing/2014/main" id="{5FB8E0E7-7E8D-B6D0-B911-612D3C0F24A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5" name="Elbow Connector 44">
            <a:extLst>
              <a:ext uri="{FF2B5EF4-FFF2-40B4-BE49-F238E27FC236}">
                <a16:creationId xmlns:a16="http://schemas.microsoft.com/office/drawing/2014/main" id="{66FB5D9A-FC11-C80D-18F1-BBFAFD66A113}"/>
              </a:ext>
            </a:extLst>
          </p:cNvPr>
          <p:cNvCxnSpPr>
            <a:cxnSpLocks/>
          </p:cNvCxnSpPr>
          <p:nvPr/>
        </p:nvCxnSpPr>
        <p:spPr>
          <a:xfrm rot="16200000" flipH="1">
            <a:off x="7636780" y="3335049"/>
            <a:ext cx="12700" cy="6137734"/>
          </a:xfrm>
          <a:prstGeom prst="bentConnector3">
            <a:avLst>
              <a:gd name="adj1" fmla="val 1800000"/>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CaixaDeTexto 54">
            <a:extLst>
              <a:ext uri="{FF2B5EF4-FFF2-40B4-BE49-F238E27FC236}">
                <a16:creationId xmlns:a16="http://schemas.microsoft.com/office/drawing/2014/main" id="{72D51AF4-4C99-184C-170F-952867A4731C}"/>
              </a:ext>
            </a:extLst>
          </p:cNvPr>
          <p:cNvSpPr txBox="1"/>
          <p:nvPr/>
        </p:nvSpPr>
        <p:spPr>
          <a:xfrm>
            <a:off x="5664568" y="6502273"/>
            <a:ext cx="3957125" cy="246221"/>
          </a:xfrm>
          <a:prstGeom prst="rect">
            <a:avLst/>
          </a:prstGeom>
          <a:solidFill>
            <a:schemeClr val="bg1"/>
          </a:solidFill>
        </p:spPr>
        <p:txBody>
          <a:bodyPr wrap="square" rtlCol="0" anchor="ctr">
            <a:spAutoFit/>
          </a:bodyPr>
          <a:lstStyle/>
          <a:p>
            <a:pPr algn="ctr"/>
            <a:r>
              <a:rPr lang="pt-BR" sz="1000" i="1" dirty="0"/>
              <a:t>Nova Parada refletida automaticamente no HUB com status “Backlog”  </a:t>
            </a:r>
          </a:p>
        </p:txBody>
      </p:sp>
    </p:spTree>
    <p:extLst>
      <p:ext uri="{BB962C8B-B14F-4D97-AF65-F5344CB8AC3E}">
        <p14:creationId xmlns:p14="http://schemas.microsoft.com/office/powerpoint/2010/main" val="2702214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tângulo 2">
            <a:extLst>
              <a:ext uri="{FF2B5EF4-FFF2-40B4-BE49-F238E27FC236}">
                <a16:creationId xmlns:a16="http://schemas.microsoft.com/office/drawing/2014/main" id="{C804B9B8-467F-556C-4EEA-B0D0D5F64775}"/>
              </a:ext>
            </a:extLst>
          </p:cNvPr>
          <p:cNvSpPr/>
          <p:nvPr/>
        </p:nvSpPr>
        <p:spPr>
          <a:xfrm>
            <a:off x="7002237" y="4452376"/>
            <a:ext cx="4494363" cy="1584176"/>
          </a:xfrm>
          <a:prstGeom prst="rect">
            <a:avLst/>
          </a:prstGeom>
          <a:solidFill>
            <a:srgbClr val="FFFF99"/>
          </a:solid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Título 4">
            <a:extLst>
              <a:ext uri="{FF2B5EF4-FFF2-40B4-BE49-F238E27FC236}">
                <a16:creationId xmlns:a16="http://schemas.microsoft.com/office/drawing/2014/main" id="{05CEF9B5-3D01-C571-53B6-7CD01EAD209D}"/>
              </a:ext>
            </a:extLst>
          </p:cNvPr>
          <p:cNvSpPr>
            <a:spLocks noGrp="1"/>
          </p:cNvSpPr>
          <p:nvPr>
            <p:ph type="title"/>
          </p:nvPr>
        </p:nvSpPr>
        <p:spPr/>
        <p:txBody>
          <a:bodyPr/>
          <a:lstStyle/>
          <a:p>
            <a:r>
              <a:rPr lang="pt-BR" dirty="0"/>
              <a:t>SGO – Sistema de Gestão de Obras</a:t>
            </a:r>
          </a:p>
        </p:txBody>
      </p:sp>
      <p:pic>
        <p:nvPicPr>
          <p:cNvPr id="6" name="Imagem 5">
            <a:extLst>
              <a:ext uri="{FF2B5EF4-FFF2-40B4-BE49-F238E27FC236}">
                <a16:creationId xmlns:a16="http://schemas.microsoft.com/office/drawing/2014/main" id="{C4121516-B349-523E-E362-0C97BC5D51E1}"/>
              </a:ext>
            </a:extLst>
          </p:cNvPr>
          <p:cNvPicPr>
            <a:picLocks noChangeAspect="1"/>
          </p:cNvPicPr>
          <p:nvPr/>
        </p:nvPicPr>
        <p:blipFill>
          <a:blip r:embed="rId2"/>
          <a:srcRect l="11019" t="7421" r="11019"/>
          <a:stretch>
            <a:fillRect/>
          </a:stretch>
        </p:blipFill>
        <p:spPr>
          <a:xfrm>
            <a:off x="370604" y="1124744"/>
            <a:ext cx="5365356" cy="3044072"/>
          </a:xfrm>
          <a:prstGeom prst="rect">
            <a:avLst/>
          </a:prstGeom>
          <a:effectLst>
            <a:outerShdw blurRad="50800" dist="38100" dir="8100000" algn="tr" rotWithShape="0">
              <a:prstClr val="black">
                <a:alpha val="40000"/>
              </a:prstClr>
            </a:outerShdw>
          </a:effectLst>
        </p:spPr>
      </p:pic>
      <p:pic>
        <p:nvPicPr>
          <p:cNvPr id="7" name="Imagem 6">
            <a:extLst>
              <a:ext uri="{FF2B5EF4-FFF2-40B4-BE49-F238E27FC236}">
                <a16:creationId xmlns:a16="http://schemas.microsoft.com/office/drawing/2014/main" id="{13EE24B1-F955-9261-A52D-648E3C6C11BE}"/>
              </a:ext>
            </a:extLst>
          </p:cNvPr>
          <p:cNvPicPr>
            <a:picLocks noChangeAspect="1"/>
          </p:cNvPicPr>
          <p:nvPr/>
        </p:nvPicPr>
        <p:blipFill>
          <a:blip r:embed="rId3"/>
          <a:stretch>
            <a:fillRect/>
          </a:stretch>
        </p:blipFill>
        <p:spPr>
          <a:xfrm>
            <a:off x="809945" y="3212976"/>
            <a:ext cx="5503527" cy="3058570"/>
          </a:xfrm>
          <a:prstGeom prst="rect">
            <a:avLst/>
          </a:prstGeom>
          <a:effectLst>
            <a:outerShdw blurRad="50800" dist="38100" algn="l" rotWithShape="0">
              <a:prstClr val="black">
                <a:alpha val="40000"/>
              </a:prstClr>
            </a:outerShdw>
          </a:effectLst>
        </p:spPr>
      </p:pic>
      <p:sp>
        <p:nvSpPr>
          <p:cNvPr id="8" name="CaixaDeTexto 7">
            <a:extLst>
              <a:ext uri="{FF2B5EF4-FFF2-40B4-BE49-F238E27FC236}">
                <a16:creationId xmlns:a16="http://schemas.microsoft.com/office/drawing/2014/main" id="{E7501087-920D-44EC-568B-7D4680E62622}"/>
              </a:ext>
            </a:extLst>
          </p:cNvPr>
          <p:cNvSpPr txBox="1"/>
          <p:nvPr/>
        </p:nvSpPr>
        <p:spPr>
          <a:xfrm>
            <a:off x="7002237" y="1052736"/>
            <a:ext cx="4573268" cy="5693866"/>
          </a:xfrm>
          <a:prstGeom prst="rect">
            <a:avLst/>
          </a:prstGeom>
          <a:noFill/>
        </p:spPr>
        <p:txBody>
          <a:bodyPr wrap="square" rtlCol="0">
            <a:spAutoFit/>
          </a:bodyPr>
          <a:lstStyle/>
          <a:p>
            <a:r>
              <a:rPr lang="pt-BR" sz="1400" dirty="0"/>
              <a:t>O </a:t>
            </a:r>
            <a:r>
              <a:rPr lang="pt-BR" sz="1400" b="1" dirty="0"/>
              <a:t>SGO</a:t>
            </a:r>
            <a:r>
              <a:rPr lang="pt-BR" sz="1400" dirty="0"/>
              <a:t> é um sistema corporativo da </a:t>
            </a:r>
            <a:r>
              <a:rPr lang="pt-BR" sz="1400" dirty="0" err="1"/>
              <a:t>OceanPact</a:t>
            </a:r>
            <a:r>
              <a:rPr lang="pt-BR" sz="1400" dirty="0"/>
              <a:t>, </a:t>
            </a:r>
            <a:r>
              <a:rPr lang="pt-BR" sz="1400" b="1" dirty="0"/>
              <a:t>construído em Microsoft Power Apps</a:t>
            </a:r>
            <a:r>
              <a:rPr lang="pt-BR" sz="1400" dirty="0"/>
              <a:t> com base </a:t>
            </a:r>
            <a:r>
              <a:rPr lang="pt-BR" sz="1400" b="1" dirty="0"/>
              <a:t>SQL Server</a:t>
            </a:r>
            <a:r>
              <a:rPr lang="pt-BR" sz="1400" dirty="0"/>
              <a:t>, que </a:t>
            </a:r>
            <a:r>
              <a:rPr lang="pt-BR" sz="1400" b="1" dirty="0"/>
              <a:t>centraliza o planejamento técnico de longo prazo</a:t>
            </a:r>
            <a:r>
              <a:rPr lang="pt-BR" sz="1400" dirty="0"/>
              <a:t> das paradas das embarcações da Navegação. </a:t>
            </a:r>
          </a:p>
          <a:p>
            <a:endParaRPr lang="pt-BR" sz="1400" b="1" dirty="0"/>
          </a:p>
          <a:p>
            <a:r>
              <a:rPr lang="pt-BR" sz="1400" b="1" dirty="0"/>
              <a:t>Toda parada nasce no SGO</a:t>
            </a:r>
            <a:r>
              <a:rPr lang="pt-BR" sz="1400" dirty="0"/>
              <a:t>, onde são registrados :</a:t>
            </a:r>
          </a:p>
          <a:p>
            <a:pPr marL="285750" indent="-190500">
              <a:buFont typeface="Arial" panose="020B0604020202020204" pitchFamily="34" charset="0"/>
              <a:buChar char="•"/>
            </a:pPr>
            <a:r>
              <a:rPr lang="pt-BR" sz="1400" dirty="0"/>
              <a:t>Tipos de Obra</a:t>
            </a:r>
          </a:p>
          <a:p>
            <a:pPr marL="285750" indent="-190500">
              <a:buFont typeface="Arial" panose="020B0604020202020204" pitchFamily="34" charset="0"/>
              <a:buChar char="•"/>
            </a:pPr>
            <a:r>
              <a:rPr lang="pt-BR" sz="1400" dirty="0"/>
              <a:t>Datas de início, término e duração</a:t>
            </a:r>
          </a:p>
          <a:p>
            <a:pPr marL="285750" indent="-190500">
              <a:buFont typeface="Arial" panose="020B0604020202020204" pitchFamily="34" charset="0"/>
              <a:buChar char="•"/>
            </a:pPr>
            <a:r>
              <a:rPr lang="pt-BR" sz="1400" dirty="0" err="1"/>
              <a:t>etc</a:t>
            </a:r>
            <a:r>
              <a:rPr lang="pt-BR" sz="1400" dirty="0"/>
              <a:t> </a:t>
            </a:r>
            <a:r>
              <a:rPr lang="pt-BR" sz="1100" i="1" dirty="0"/>
              <a:t>(ver imagem ao lado para referência)</a:t>
            </a:r>
            <a:endParaRPr lang="pt-BR" sz="1400" i="1" dirty="0"/>
          </a:p>
          <a:p>
            <a:endParaRPr lang="pt-BR" sz="1400" dirty="0"/>
          </a:p>
          <a:p>
            <a:r>
              <a:rPr lang="pt-BR" sz="1400" dirty="0"/>
              <a:t>Ao longo do ciclo, o sistema </a:t>
            </a:r>
            <a:r>
              <a:rPr lang="pt-BR" sz="1400" b="1" dirty="0"/>
              <a:t>consolida todas as informações técnicas</a:t>
            </a:r>
            <a:r>
              <a:rPr lang="pt-BR" sz="1400" dirty="0"/>
              <a:t> e </a:t>
            </a:r>
            <a:r>
              <a:rPr lang="pt-BR" sz="1400" b="1" dirty="0"/>
              <a:t>alimenta</a:t>
            </a:r>
            <a:r>
              <a:rPr lang="pt-BR" sz="1400" dirty="0"/>
              <a:t>, de forma integrada, os controles do </a:t>
            </a:r>
            <a:r>
              <a:rPr lang="pt-BR" sz="1400" b="1" dirty="0"/>
              <a:t>PMO</a:t>
            </a:r>
            <a:r>
              <a:rPr lang="pt-BR" sz="1400" dirty="0"/>
              <a:t>, da </a:t>
            </a:r>
            <a:r>
              <a:rPr lang="pt-BR" sz="1400" b="1" dirty="0"/>
              <a:t>Área Técnica</a:t>
            </a:r>
            <a:r>
              <a:rPr lang="pt-BR" sz="1400" dirty="0"/>
              <a:t> e de </a:t>
            </a:r>
            <a:r>
              <a:rPr lang="pt-BR" sz="1400" b="1" dirty="0"/>
              <a:t>Operações</a:t>
            </a:r>
            <a:r>
              <a:rPr lang="pt-BR" sz="1400" dirty="0"/>
              <a:t> (ex.: cronograma de obras), </a:t>
            </a:r>
            <a:r>
              <a:rPr lang="pt-BR" sz="1400" b="1" dirty="0"/>
              <a:t>dando visibilidade ao planejamento de paradas</a:t>
            </a:r>
            <a:r>
              <a:rPr lang="pt-BR" sz="1400" dirty="0"/>
              <a:t> e à </a:t>
            </a:r>
            <a:r>
              <a:rPr lang="pt-BR" sz="1400" b="1" dirty="0"/>
              <a:t>disponibilidade das embarcações</a:t>
            </a:r>
            <a:r>
              <a:rPr lang="pt-BR" sz="1400" dirty="0"/>
              <a:t> dos </a:t>
            </a:r>
            <a:r>
              <a:rPr lang="pt-BR" sz="1400" b="1" dirty="0"/>
              <a:t>próximos cinco anos</a:t>
            </a:r>
            <a:r>
              <a:rPr lang="pt-BR" sz="1400" dirty="0"/>
              <a:t>.</a:t>
            </a:r>
          </a:p>
          <a:p>
            <a:endParaRPr lang="pt-BR" sz="1400" dirty="0"/>
          </a:p>
          <a:p>
            <a:r>
              <a:rPr lang="pt-BR" sz="1400" b="1" dirty="0">
                <a:solidFill>
                  <a:srgbClr val="FF0000"/>
                </a:solidFill>
              </a:rPr>
              <a:t>IMPORTANTE: </a:t>
            </a:r>
            <a:r>
              <a:rPr lang="pt-BR" sz="1400" dirty="0">
                <a:solidFill>
                  <a:srgbClr val="FF0000"/>
                </a:solidFill>
              </a:rPr>
              <a:t>No momento em que essa documentação foi produzida o SGO está em fase final de homologação com previsão de entrada em produção em outubro/2025.</a:t>
            </a:r>
          </a:p>
          <a:p>
            <a:endParaRPr lang="pt-BR" sz="1400" dirty="0">
              <a:solidFill>
                <a:srgbClr val="FF0000"/>
              </a:solidFill>
            </a:endParaRPr>
          </a:p>
          <a:p>
            <a:r>
              <a:rPr lang="pt-BR" sz="1400" dirty="0">
                <a:solidFill>
                  <a:srgbClr val="FF0000"/>
                </a:solidFill>
              </a:rPr>
              <a:t>Caso o sistema não seja implantado ou tenha seu go-live postergado além da construção do HUB, será necessário redesenhar o processo de Cadastro de Paradas.</a:t>
            </a:r>
          </a:p>
          <a:p>
            <a:endParaRPr lang="pt-BR" sz="1400" dirty="0"/>
          </a:p>
          <a:p>
            <a:r>
              <a:rPr lang="pt-BR" sz="1400" dirty="0">
                <a:solidFill>
                  <a:srgbClr val="009DC3"/>
                </a:solidFill>
                <a:hlinkClick r:id="rId4">
                  <a:extLst>
                    <a:ext uri="{A12FA001-AC4F-418D-AE19-62706E023703}">
                      <ahyp:hlinkClr xmlns:ahyp="http://schemas.microsoft.com/office/drawing/2018/hyperlinkcolor" val="tx"/>
                    </a:ext>
                  </a:extLst>
                </a:hlinkClick>
              </a:rPr>
              <a:t>Acesse a versão de homologação aqui</a:t>
            </a:r>
            <a:endParaRPr lang="pt-BR" sz="1400" dirty="0">
              <a:solidFill>
                <a:srgbClr val="009DC3"/>
              </a:solidFill>
            </a:endParaRPr>
          </a:p>
        </p:txBody>
      </p:sp>
    </p:spTree>
    <p:extLst>
      <p:ext uri="{BB962C8B-B14F-4D97-AF65-F5344CB8AC3E}">
        <p14:creationId xmlns:p14="http://schemas.microsoft.com/office/powerpoint/2010/main" val="108110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A38E9-0242-5CE0-D0E5-489892C3C5F0}"/>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1DDE1A10-9470-3406-2ED6-100EDCCE24E9}"/>
              </a:ext>
            </a:extLst>
          </p:cNvPr>
          <p:cNvSpPr>
            <a:spLocks noGrp="1"/>
          </p:cNvSpPr>
          <p:nvPr>
            <p:ph type="title"/>
          </p:nvPr>
        </p:nvSpPr>
        <p:spPr/>
        <p:txBody>
          <a:bodyPr/>
          <a:lstStyle/>
          <a:p>
            <a:r>
              <a:rPr lang="pt-BR" dirty="0"/>
              <a:t>Cadastro da Parada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Relação autoritativa entre os sistemas SGO e HUB</a:t>
            </a:r>
            <a:endParaRPr lang="pt-BR" dirty="0"/>
          </a:p>
        </p:txBody>
      </p:sp>
      <p:sp>
        <p:nvSpPr>
          <p:cNvPr id="18" name="Título 4">
            <a:extLst>
              <a:ext uri="{FF2B5EF4-FFF2-40B4-BE49-F238E27FC236}">
                <a16:creationId xmlns:a16="http://schemas.microsoft.com/office/drawing/2014/main" id="{E71BB49C-1F6A-414F-65A4-681D92F52FC2}"/>
              </a:ext>
            </a:extLst>
          </p:cNvPr>
          <p:cNvSpPr txBox="1">
            <a:spLocks/>
          </p:cNvSpPr>
          <p:nvPr/>
        </p:nvSpPr>
        <p:spPr>
          <a:xfrm>
            <a:off x="696000" y="1129867"/>
            <a:ext cx="11088632" cy="969647"/>
          </a:xfrm>
          <a:prstGeom prst="rect">
            <a:avLst/>
          </a:prstGeom>
        </p:spPr>
        <p:txBody>
          <a:bodyPr vert="horz" lIns="91440" tIns="45720" rIns="91440" bIns="45720" rtlCol="0" anchor="t">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pPr defTabSz="1055035">
              <a:lnSpc>
                <a:spcPct val="100000"/>
              </a:lnSpc>
              <a:spcBef>
                <a:spcPts val="0"/>
              </a:spcBef>
              <a:defRPr/>
            </a:pPr>
            <a:r>
              <a:rPr lang="pt-BR" sz="1600" b="0" dirty="0">
                <a:latin typeface="+mn-lt"/>
              </a:rPr>
              <a:t>O cadastro e a edição das Paradas ocorre </a:t>
            </a:r>
            <a:r>
              <a:rPr lang="pt-BR" sz="1600" dirty="0">
                <a:latin typeface="+mn-lt"/>
              </a:rPr>
              <a:t>sempre em um único sistema por etapa e é espelhada automaticamente via integração:</a:t>
            </a:r>
          </a:p>
          <a:p>
            <a:pPr marL="266700" indent="-163513" defTabSz="1055035">
              <a:lnSpc>
                <a:spcPct val="100000"/>
              </a:lnSpc>
              <a:spcBef>
                <a:spcPts val="600"/>
              </a:spcBef>
              <a:buFont typeface="Wingdings" panose="05000000000000000000" pitchFamily="2" charset="2"/>
              <a:buChar char="§"/>
              <a:defRPr/>
            </a:pPr>
            <a:r>
              <a:rPr lang="pt-BR" sz="1400" dirty="0">
                <a:solidFill>
                  <a:prstClr val="black"/>
                </a:solidFill>
                <a:latin typeface="Calibri"/>
                <a:ea typeface="+mn-ea"/>
                <a:cs typeface="+mn-cs"/>
              </a:rPr>
              <a:t>SGO </a:t>
            </a:r>
            <a:r>
              <a:rPr lang="pt-BR" sz="1400" b="0" dirty="0">
                <a:solidFill>
                  <a:prstClr val="black"/>
                </a:solidFill>
                <a:latin typeface="Calibri"/>
                <a:ea typeface="+mn-ea"/>
                <a:cs typeface="+mn-cs"/>
              </a:rPr>
              <a:t>na criação da Parada</a:t>
            </a:r>
          </a:p>
          <a:p>
            <a:pPr marL="266700" indent="-163513" defTabSz="1055035">
              <a:lnSpc>
                <a:spcPct val="100000"/>
              </a:lnSpc>
              <a:spcBef>
                <a:spcPts val="600"/>
              </a:spcBef>
              <a:buFont typeface="Wingdings" panose="05000000000000000000" pitchFamily="2" charset="2"/>
              <a:buChar char="§"/>
              <a:defRPr/>
            </a:pPr>
            <a:r>
              <a:rPr lang="pt-BR" sz="1400" dirty="0">
                <a:solidFill>
                  <a:prstClr val="black"/>
                </a:solidFill>
                <a:latin typeface="Calibri"/>
                <a:ea typeface="+mn-ea"/>
                <a:cs typeface="+mn-cs"/>
              </a:rPr>
              <a:t>HUB </a:t>
            </a:r>
            <a:r>
              <a:rPr lang="pt-BR" sz="1400" b="0" dirty="0">
                <a:solidFill>
                  <a:prstClr val="black"/>
                </a:solidFill>
                <a:latin typeface="Calibri"/>
                <a:ea typeface="+mn-ea"/>
                <a:cs typeface="+mn-cs"/>
              </a:rPr>
              <a:t>após a liberação</a:t>
            </a:r>
            <a:endParaRPr lang="pt-BR" sz="1600" b="0" dirty="0">
              <a:solidFill>
                <a:prstClr val="black"/>
              </a:solidFill>
              <a:latin typeface="Calibri"/>
              <a:ea typeface="+mn-ea"/>
              <a:cs typeface="+mn-cs"/>
            </a:endParaRPr>
          </a:p>
        </p:txBody>
      </p:sp>
      <p:sp>
        <p:nvSpPr>
          <p:cNvPr id="30" name="Retângulo 10">
            <a:extLst>
              <a:ext uri="{FF2B5EF4-FFF2-40B4-BE49-F238E27FC236}">
                <a16:creationId xmlns:a16="http://schemas.microsoft.com/office/drawing/2014/main" id="{A35E4C77-5AF7-040A-C356-64718049B7E5}"/>
              </a:ext>
            </a:extLst>
          </p:cNvPr>
          <p:cNvSpPr/>
          <p:nvPr/>
        </p:nvSpPr>
        <p:spPr>
          <a:xfrm>
            <a:off x="2719129" y="2060848"/>
            <a:ext cx="3547051"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grpSp>
        <p:nvGrpSpPr>
          <p:cNvPr id="35" name="Group 34">
            <a:extLst>
              <a:ext uri="{FF2B5EF4-FFF2-40B4-BE49-F238E27FC236}">
                <a16:creationId xmlns:a16="http://schemas.microsoft.com/office/drawing/2014/main" id="{58A12D53-B006-BFD8-E229-8C577366D6E5}"/>
              </a:ext>
            </a:extLst>
          </p:cNvPr>
          <p:cNvGrpSpPr/>
          <p:nvPr/>
        </p:nvGrpSpPr>
        <p:grpSpPr>
          <a:xfrm>
            <a:off x="2995311" y="2160021"/>
            <a:ext cx="307102" cy="294670"/>
            <a:chOff x="1474193" y="2612660"/>
            <a:chExt cx="307102" cy="294670"/>
          </a:xfrm>
        </p:grpSpPr>
        <p:sp>
          <p:nvSpPr>
            <p:cNvPr id="32" name="Elipse 6">
              <a:extLst>
                <a:ext uri="{FF2B5EF4-FFF2-40B4-BE49-F238E27FC236}">
                  <a16:creationId xmlns:a16="http://schemas.microsoft.com/office/drawing/2014/main" id="{52A3F117-6004-FAB9-EB57-7125440E56EF}"/>
                </a:ext>
              </a:extLst>
            </p:cNvPr>
            <p:cNvSpPr/>
            <p:nvPr/>
          </p:nvSpPr>
          <p:spPr>
            <a:xfrm>
              <a:off x="1474193" y="2612660"/>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33" name="Imagem 7" descr="Uma imagem contendo Ícone&#10;&#10;O conteúdo gerado por IA pode estar incorreto.">
              <a:extLst>
                <a:ext uri="{FF2B5EF4-FFF2-40B4-BE49-F238E27FC236}">
                  <a16:creationId xmlns:a16="http://schemas.microsoft.com/office/drawing/2014/main" id="{1AB0690D-C239-0E03-23A8-24EE03369A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97009" y="2629260"/>
              <a:ext cx="261470" cy="261470"/>
            </a:xfrm>
            <a:prstGeom prst="rect">
              <a:avLst/>
            </a:prstGeom>
          </p:spPr>
        </p:pic>
      </p:grpSp>
      <p:sp>
        <p:nvSpPr>
          <p:cNvPr id="34" name="CaixaDeTexto 12">
            <a:extLst>
              <a:ext uri="{FF2B5EF4-FFF2-40B4-BE49-F238E27FC236}">
                <a16:creationId xmlns:a16="http://schemas.microsoft.com/office/drawing/2014/main" id="{7C6B9F0F-BC87-67CE-8F57-72C7932B213B}"/>
              </a:ext>
            </a:extLst>
          </p:cNvPr>
          <p:cNvSpPr txBox="1"/>
          <p:nvPr/>
        </p:nvSpPr>
        <p:spPr>
          <a:xfrm>
            <a:off x="3305106" y="2153468"/>
            <a:ext cx="2730930" cy="307777"/>
          </a:xfrm>
          <a:prstGeom prst="rect">
            <a:avLst/>
          </a:prstGeom>
          <a:noFill/>
        </p:spPr>
        <p:txBody>
          <a:bodyPr wrap="square">
            <a:spAutoFit/>
          </a:bodyPr>
          <a:lstStyle/>
          <a:p>
            <a:pPr algn="ctr"/>
            <a:r>
              <a:rPr lang="pt-BR" sz="1400" b="1" dirty="0"/>
              <a:t>SGO – Sistema de Gestão de Obras</a:t>
            </a:r>
          </a:p>
        </p:txBody>
      </p:sp>
      <p:sp>
        <p:nvSpPr>
          <p:cNvPr id="36" name="CaixaDeTexto 557">
            <a:extLst>
              <a:ext uri="{FF2B5EF4-FFF2-40B4-BE49-F238E27FC236}">
                <a16:creationId xmlns:a16="http://schemas.microsoft.com/office/drawing/2014/main" id="{03A93670-11F9-7E8B-1391-BC9A162DA0BD}"/>
              </a:ext>
            </a:extLst>
          </p:cNvPr>
          <p:cNvSpPr txBox="1"/>
          <p:nvPr/>
        </p:nvSpPr>
        <p:spPr>
          <a:xfrm>
            <a:off x="1597862" y="2641614"/>
            <a:ext cx="969746" cy="1188000"/>
          </a:xfrm>
          <a:prstGeom prst="rect">
            <a:avLst/>
          </a:prstGeom>
          <a:noFill/>
          <a:ln>
            <a:solidFill>
              <a:srgbClr val="014A65"/>
            </a:solidFill>
          </a:ln>
        </p:spPr>
        <p:txBody>
          <a:bodyPr wrap="square" lIns="90000" rtlCol="0" anchor="ctr">
            <a:noAutofit/>
          </a:bodyPr>
          <a:lstStyle/>
          <a:p>
            <a:pPr algn="r"/>
            <a:r>
              <a:rPr lang="pt-BR" sz="1200" b="1" i="1" dirty="0"/>
              <a:t>Papel no Cadastro da Parada</a:t>
            </a:r>
          </a:p>
        </p:txBody>
      </p:sp>
      <p:sp>
        <p:nvSpPr>
          <p:cNvPr id="38" name="CaixaDeTexto 21">
            <a:extLst>
              <a:ext uri="{FF2B5EF4-FFF2-40B4-BE49-F238E27FC236}">
                <a16:creationId xmlns:a16="http://schemas.microsoft.com/office/drawing/2014/main" id="{3D0F65DF-FB96-A0E3-B08A-C199601B73F5}"/>
              </a:ext>
            </a:extLst>
          </p:cNvPr>
          <p:cNvSpPr txBox="1"/>
          <p:nvPr/>
        </p:nvSpPr>
        <p:spPr>
          <a:xfrm>
            <a:off x="2716145" y="2641614"/>
            <a:ext cx="3550176" cy="118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b="1" dirty="0"/>
              <a:t>Criação da Parada</a:t>
            </a:r>
            <a:r>
              <a:rPr lang="pt-BR" sz="1000" dirty="0"/>
              <a:t>, informando dados técnicos como tipos de obra a serem executadas, entregas previstas e estimativas de início, término e duração da Parada</a:t>
            </a:r>
          </a:p>
          <a:p>
            <a:pPr marL="171450" indent="-171450">
              <a:spcBef>
                <a:spcPts val="600"/>
              </a:spcBef>
              <a:buFont typeface="Wingdings" panose="05000000000000000000" pitchFamily="2" charset="2"/>
              <a:buChar char="§"/>
            </a:pPr>
            <a:r>
              <a:rPr lang="pt-BR" sz="1000" b="1" dirty="0"/>
              <a:t>Nesse momento nasce o ID da Parada</a:t>
            </a:r>
            <a:r>
              <a:rPr lang="pt-BR" sz="1000" dirty="0"/>
              <a:t>, o “CPF da Parada”, identificador numérico que nos permite rastrear os dados entre os sistemas da empresa</a:t>
            </a:r>
          </a:p>
        </p:txBody>
      </p:sp>
      <p:sp>
        <p:nvSpPr>
          <p:cNvPr id="40" name="CaixaDeTexto 557">
            <a:extLst>
              <a:ext uri="{FF2B5EF4-FFF2-40B4-BE49-F238E27FC236}">
                <a16:creationId xmlns:a16="http://schemas.microsoft.com/office/drawing/2014/main" id="{8BA2CE1F-C232-5DEA-510B-9AAFD67563E5}"/>
              </a:ext>
            </a:extLst>
          </p:cNvPr>
          <p:cNvSpPr txBox="1"/>
          <p:nvPr/>
        </p:nvSpPr>
        <p:spPr>
          <a:xfrm>
            <a:off x="1597862" y="3918758"/>
            <a:ext cx="969746" cy="1188000"/>
          </a:xfrm>
          <a:prstGeom prst="rect">
            <a:avLst/>
          </a:prstGeom>
          <a:noFill/>
          <a:ln>
            <a:solidFill>
              <a:srgbClr val="014A65"/>
            </a:solidFill>
          </a:ln>
        </p:spPr>
        <p:txBody>
          <a:bodyPr wrap="square" lIns="90000" rtlCol="0" anchor="ctr">
            <a:noAutofit/>
          </a:bodyPr>
          <a:lstStyle/>
          <a:p>
            <a:pPr algn="r"/>
            <a:r>
              <a:rPr lang="pt-BR" sz="1200" b="1" i="1" dirty="0"/>
              <a:t>Interação </a:t>
            </a:r>
            <a:r>
              <a:rPr lang="pt-BR" sz="1200" b="1" i="1" u="sng" dirty="0"/>
              <a:t>antes</a:t>
            </a:r>
            <a:r>
              <a:rPr lang="pt-BR" sz="1200" b="1" i="1" dirty="0"/>
              <a:t> da liberação para edição  </a:t>
            </a:r>
          </a:p>
        </p:txBody>
      </p:sp>
      <p:sp>
        <p:nvSpPr>
          <p:cNvPr id="42" name="CaixaDeTexto 557">
            <a:extLst>
              <a:ext uri="{FF2B5EF4-FFF2-40B4-BE49-F238E27FC236}">
                <a16:creationId xmlns:a16="http://schemas.microsoft.com/office/drawing/2014/main" id="{C6C5B9AE-5AC4-24E5-3814-41473C2C51FE}"/>
              </a:ext>
            </a:extLst>
          </p:cNvPr>
          <p:cNvSpPr txBox="1"/>
          <p:nvPr/>
        </p:nvSpPr>
        <p:spPr>
          <a:xfrm>
            <a:off x="1597862" y="5201045"/>
            <a:ext cx="969746" cy="1512000"/>
          </a:xfrm>
          <a:prstGeom prst="rect">
            <a:avLst/>
          </a:prstGeom>
          <a:noFill/>
          <a:ln>
            <a:solidFill>
              <a:srgbClr val="014A65"/>
            </a:solidFill>
          </a:ln>
        </p:spPr>
        <p:txBody>
          <a:bodyPr wrap="square" lIns="90000" rtlCol="0" anchor="ctr">
            <a:noAutofit/>
          </a:bodyPr>
          <a:lstStyle/>
          <a:p>
            <a:pPr algn="r"/>
            <a:r>
              <a:rPr lang="pt-BR" sz="1200" b="1" i="1" dirty="0"/>
              <a:t>Interação </a:t>
            </a:r>
            <a:r>
              <a:rPr lang="pt-BR" sz="1200" b="1" i="1" u="sng" dirty="0"/>
              <a:t>após</a:t>
            </a:r>
            <a:r>
              <a:rPr lang="pt-BR" sz="1200" b="1" i="1" dirty="0"/>
              <a:t> da liberação para edição  </a:t>
            </a:r>
          </a:p>
        </p:txBody>
      </p:sp>
      <p:sp>
        <p:nvSpPr>
          <p:cNvPr id="44" name="CaixaDeTexto 21">
            <a:extLst>
              <a:ext uri="{FF2B5EF4-FFF2-40B4-BE49-F238E27FC236}">
                <a16:creationId xmlns:a16="http://schemas.microsoft.com/office/drawing/2014/main" id="{1835C7AC-53E7-3367-6F32-1C05A5E45FE5}"/>
              </a:ext>
            </a:extLst>
          </p:cNvPr>
          <p:cNvSpPr txBox="1"/>
          <p:nvPr/>
        </p:nvSpPr>
        <p:spPr>
          <a:xfrm>
            <a:off x="2716145" y="3918758"/>
            <a:ext cx="3550176" cy="118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b="1" dirty="0"/>
              <a:t>Sistema </a:t>
            </a:r>
            <a:r>
              <a:rPr lang="pt-BR" sz="1000" b="1" u="sng" dirty="0"/>
              <a:t>autoritativo</a:t>
            </a:r>
          </a:p>
          <a:p>
            <a:pPr marL="171450" indent="-171450">
              <a:spcBef>
                <a:spcPts val="600"/>
              </a:spcBef>
              <a:buFont typeface="Wingdings" panose="05000000000000000000" pitchFamily="2" charset="2"/>
              <a:buChar char="§"/>
            </a:pPr>
            <a:r>
              <a:rPr lang="pt-BR" sz="1000" dirty="0"/>
              <a:t>Paradas são criadas e atualizadas no SGO ...</a:t>
            </a:r>
          </a:p>
          <a:p>
            <a:pPr marL="171450" indent="-171450">
              <a:spcBef>
                <a:spcPts val="600"/>
              </a:spcBef>
              <a:buFont typeface="Wingdings" panose="05000000000000000000" pitchFamily="2" charset="2"/>
              <a:buChar char="§"/>
            </a:pPr>
            <a:r>
              <a:rPr lang="pt-BR" sz="1000" dirty="0"/>
              <a:t>... e refletidas automaticamente no Hub de Obras</a:t>
            </a:r>
          </a:p>
        </p:txBody>
      </p:sp>
      <p:sp>
        <p:nvSpPr>
          <p:cNvPr id="45" name="Retângulo 10">
            <a:extLst>
              <a:ext uri="{FF2B5EF4-FFF2-40B4-BE49-F238E27FC236}">
                <a16:creationId xmlns:a16="http://schemas.microsoft.com/office/drawing/2014/main" id="{C350A517-7978-B1B2-B392-1E5DFE0810A4}"/>
              </a:ext>
            </a:extLst>
          </p:cNvPr>
          <p:cNvSpPr/>
          <p:nvPr/>
        </p:nvSpPr>
        <p:spPr>
          <a:xfrm>
            <a:off x="6742627" y="2060848"/>
            <a:ext cx="3547051" cy="4930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Bef>
                <a:spcPts val="600"/>
              </a:spcBef>
            </a:pPr>
            <a:endParaRPr lang="pt-BR" sz="1100" dirty="0">
              <a:solidFill>
                <a:prstClr val="black"/>
              </a:solidFill>
              <a:latin typeface="Calibri"/>
            </a:endParaRPr>
          </a:p>
        </p:txBody>
      </p:sp>
      <p:sp>
        <p:nvSpPr>
          <p:cNvPr id="51" name="CaixaDeTexto 21">
            <a:extLst>
              <a:ext uri="{FF2B5EF4-FFF2-40B4-BE49-F238E27FC236}">
                <a16:creationId xmlns:a16="http://schemas.microsoft.com/office/drawing/2014/main" id="{56EE2C7A-9BA7-F12A-0F9C-B961734DC98E}"/>
              </a:ext>
            </a:extLst>
          </p:cNvPr>
          <p:cNvSpPr txBox="1"/>
          <p:nvPr/>
        </p:nvSpPr>
        <p:spPr>
          <a:xfrm>
            <a:off x="6739643" y="2641614"/>
            <a:ext cx="3550176" cy="118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b="1" dirty="0"/>
              <a:t>Alocação das estimativas financeiras </a:t>
            </a:r>
            <a:r>
              <a:rPr lang="pt-BR" sz="1000" dirty="0"/>
              <a:t>para entregas previstas (escopo/demanda) ...</a:t>
            </a:r>
          </a:p>
          <a:p>
            <a:pPr marL="171450" indent="-171450">
              <a:spcBef>
                <a:spcPts val="600"/>
              </a:spcBef>
              <a:buFont typeface="Wingdings" panose="05000000000000000000" pitchFamily="2" charset="2"/>
              <a:buChar char="§"/>
            </a:pPr>
            <a:r>
              <a:rPr lang="pt-BR" sz="1000" dirty="0"/>
              <a:t>... após a criação da Parada no SGO e liberação manual para edição</a:t>
            </a:r>
          </a:p>
        </p:txBody>
      </p:sp>
      <p:sp>
        <p:nvSpPr>
          <p:cNvPr id="52" name="CaixaDeTexto 21">
            <a:extLst>
              <a:ext uri="{FF2B5EF4-FFF2-40B4-BE49-F238E27FC236}">
                <a16:creationId xmlns:a16="http://schemas.microsoft.com/office/drawing/2014/main" id="{8F163490-49E5-5472-8F4B-8F4EEE3D67DF}"/>
              </a:ext>
            </a:extLst>
          </p:cNvPr>
          <p:cNvSpPr txBox="1"/>
          <p:nvPr/>
        </p:nvSpPr>
        <p:spPr>
          <a:xfrm>
            <a:off x="6739643" y="3918758"/>
            <a:ext cx="3550176" cy="118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dirty="0"/>
              <a:t>Sistema “espelhado”</a:t>
            </a:r>
          </a:p>
          <a:p>
            <a:pPr marL="171450" indent="-171450">
              <a:spcBef>
                <a:spcPts val="600"/>
              </a:spcBef>
              <a:buFont typeface="Wingdings" panose="05000000000000000000" pitchFamily="2" charset="2"/>
              <a:buChar char="§"/>
            </a:pPr>
            <a:r>
              <a:rPr lang="pt-BR" sz="1000" dirty="0"/>
              <a:t>Paradas e atualizações criadas a partir do SGO são atualizadas automaticamente no HUB ...</a:t>
            </a:r>
          </a:p>
          <a:p>
            <a:pPr marL="171450" indent="-171450">
              <a:spcBef>
                <a:spcPts val="600"/>
              </a:spcBef>
              <a:buFont typeface="Wingdings" panose="05000000000000000000" pitchFamily="2" charset="2"/>
              <a:buChar char="§"/>
            </a:pPr>
            <a:r>
              <a:rPr lang="pt-BR" sz="1000" dirty="0"/>
              <a:t>... e mantidas no status de “Backlog”</a:t>
            </a:r>
          </a:p>
        </p:txBody>
      </p:sp>
      <p:sp>
        <p:nvSpPr>
          <p:cNvPr id="57" name="Elipse 29">
            <a:extLst>
              <a:ext uri="{FF2B5EF4-FFF2-40B4-BE49-F238E27FC236}">
                <a16:creationId xmlns:a16="http://schemas.microsoft.com/office/drawing/2014/main" id="{17C3A266-AC44-B94C-8C54-4A6F2D3608E0}"/>
              </a:ext>
            </a:extLst>
          </p:cNvPr>
          <p:cNvSpPr/>
          <p:nvPr/>
        </p:nvSpPr>
        <p:spPr>
          <a:xfrm>
            <a:off x="7080097" y="2158366"/>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CaixaDeTexto 33">
            <a:extLst>
              <a:ext uri="{FF2B5EF4-FFF2-40B4-BE49-F238E27FC236}">
                <a16:creationId xmlns:a16="http://schemas.microsoft.com/office/drawing/2014/main" id="{ACD84AF1-BD7F-E0E6-D180-E92A4F4F0E32}"/>
              </a:ext>
            </a:extLst>
          </p:cNvPr>
          <p:cNvSpPr txBox="1"/>
          <p:nvPr/>
        </p:nvSpPr>
        <p:spPr>
          <a:xfrm>
            <a:off x="7688060" y="2174896"/>
            <a:ext cx="1656184" cy="307777"/>
          </a:xfrm>
          <a:prstGeom prst="rect">
            <a:avLst/>
          </a:prstGeom>
          <a:noFill/>
        </p:spPr>
        <p:txBody>
          <a:bodyPr wrap="square">
            <a:spAutoFit/>
          </a:bodyPr>
          <a:lstStyle/>
          <a:p>
            <a:pPr algn="ctr"/>
            <a:r>
              <a:rPr lang="pt-BR" sz="1400" b="1" dirty="0"/>
              <a:t>HUB de Obras</a:t>
            </a:r>
          </a:p>
        </p:txBody>
      </p:sp>
      <p:grpSp>
        <p:nvGrpSpPr>
          <p:cNvPr id="59" name="Group 58">
            <a:extLst>
              <a:ext uri="{FF2B5EF4-FFF2-40B4-BE49-F238E27FC236}">
                <a16:creationId xmlns:a16="http://schemas.microsoft.com/office/drawing/2014/main" id="{6533BE89-2639-83E9-FE12-CB353CE44738}"/>
              </a:ext>
            </a:extLst>
          </p:cNvPr>
          <p:cNvGrpSpPr>
            <a:grpSpLocks noChangeAspect="1"/>
          </p:cNvGrpSpPr>
          <p:nvPr/>
        </p:nvGrpSpPr>
        <p:grpSpPr>
          <a:xfrm>
            <a:off x="7109011" y="2194776"/>
            <a:ext cx="249275" cy="221851"/>
            <a:chOff x="1343466" y="852742"/>
            <a:chExt cx="5789425" cy="5152516"/>
          </a:xfrm>
        </p:grpSpPr>
        <p:pic>
          <p:nvPicPr>
            <p:cNvPr id="60" name="Picture 2">
              <a:extLst>
                <a:ext uri="{FF2B5EF4-FFF2-40B4-BE49-F238E27FC236}">
                  <a16:creationId xmlns:a16="http://schemas.microsoft.com/office/drawing/2014/main" id="{B53EC135-BD2E-4BD3-A704-01CAE4E4520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43466" y="852742"/>
              <a:ext cx="5789425" cy="5152516"/>
            </a:xfrm>
            <a:prstGeom prst="rect">
              <a:avLst/>
            </a:prstGeom>
            <a:noFill/>
            <a:extLst>
              <a:ext uri="{909E8E84-426E-40DD-AFC4-6F175D3DCCD1}">
                <a14:hiddenFill xmlns:a14="http://schemas.microsoft.com/office/drawing/2010/main">
                  <a:solidFill>
                    <a:srgbClr val="FFFFFF"/>
                  </a:solidFill>
                </a14:hiddenFill>
              </a:ext>
            </a:extLst>
          </p:spPr>
        </p:pic>
        <p:grpSp>
          <p:nvGrpSpPr>
            <p:cNvPr id="61" name="Group 60">
              <a:extLst>
                <a:ext uri="{FF2B5EF4-FFF2-40B4-BE49-F238E27FC236}">
                  <a16:creationId xmlns:a16="http://schemas.microsoft.com/office/drawing/2014/main" id="{E8E5BF4B-A9D9-1F07-6194-C683688D98B7}"/>
                </a:ext>
              </a:extLst>
            </p:cNvPr>
            <p:cNvGrpSpPr>
              <a:grpSpLocks noChangeAspect="1"/>
            </p:cNvGrpSpPr>
            <p:nvPr/>
          </p:nvGrpSpPr>
          <p:grpSpPr>
            <a:xfrm>
              <a:off x="3356184" y="2547000"/>
              <a:ext cx="1764000" cy="1764000"/>
              <a:chOff x="7959484" y="1556793"/>
              <a:chExt cx="3024000" cy="3024000"/>
            </a:xfrm>
          </p:grpSpPr>
          <p:sp>
            <p:nvSpPr>
              <p:cNvPr id="62" name="Oval 61">
                <a:extLst>
                  <a:ext uri="{FF2B5EF4-FFF2-40B4-BE49-F238E27FC236}">
                    <a16:creationId xmlns:a16="http://schemas.microsoft.com/office/drawing/2014/main" id="{76F0A446-7531-CDB1-E33C-33BB02429A5C}"/>
                  </a:ext>
                </a:extLst>
              </p:cNvPr>
              <p:cNvSpPr>
                <a:spLocks noChangeAspect="1"/>
              </p:cNvSpPr>
              <p:nvPr/>
            </p:nvSpPr>
            <p:spPr>
              <a:xfrm>
                <a:off x="7959484" y="1556793"/>
                <a:ext cx="3024000" cy="30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63" name="Picture 4">
                <a:extLst>
                  <a:ext uri="{FF2B5EF4-FFF2-40B4-BE49-F238E27FC236}">
                    <a16:creationId xmlns:a16="http://schemas.microsoft.com/office/drawing/2014/main" id="{99D0D407-72A7-D600-0087-6AD41EAE133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7253" y="1614562"/>
                <a:ext cx="2908460" cy="29084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64" name="Triangle 12">
            <a:extLst>
              <a:ext uri="{FF2B5EF4-FFF2-40B4-BE49-F238E27FC236}">
                <a16:creationId xmlns:a16="http://schemas.microsoft.com/office/drawing/2014/main" id="{A353F7C5-FC1A-C4C6-7E8B-209C95EBB664}"/>
              </a:ext>
            </a:extLst>
          </p:cNvPr>
          <p:cNvSpPr/>
          <p:nvPr/>
        </p:nvSpPr>
        <p:spPr>
          <a:xfrm rot="5400000">
            <a:off x="6104520" y="4423649"/>
            <a:ext cx="796923" cy="178219"/>
          </a:xfrm>
          <a:prstGeom prst="triangle">
            <a:avLst/>
          </a:prstGeom>
          <a:solidFill>
            <a:schemeClr val="tx1">
              <a:lumMod val="50000"/>
              <a:lumOff val="50000"/>
            </a:schemeClr>
          </a:solidFill>
          <a:ln w="190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65" name="CaixaDeTexto 21">
            <a:extLst>
              <a:ext uri="{FF2B5EF4-FFF2-40B4-BE49-F238E27FC236}">
                <a16:creationId xmlns:a16="http://schemas.microsoft.com/office/drawing/2014/main" id="{87B2929C-2CD8-F04D-940A-7E1F0661B63F}"/>
              </a:ext>
            </a:extLst>
          </p:cNvPr>
          <p:cNvSpPr txBox="1"/>
          <p:nvPr/>
        </p:nvSpPr>
        <p:spPr>
          <a:xfrm>
            <a:off x="2716145" y="5201045"/>
            <a:ext cx="3550176" cy="1512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dirty="0"/>
              <a:t>Sistema “espelhado”</a:t>
            </a:r>
          </a:p>
          <a:p>
            <a:pPr marL="171450" indent="-171450">
              <a:spcBef>
                <a:spcPts val="600"/>
              </a:spcBef>
              <a:buFont typeface="Wingdings" panose="05000000000000000000" pitchFamily="2" charset="2"/>
              <a:buChar char="§"/>
            </a:pPr>
            <a:r>
              <a:rPr lang="pt-BR" sz="1000" dirty="0"/>
              <a:t>Todas as edições dos campos SGO que sejam realizadas no HUB de Obras, são refletidas automaticamente no SGO</a:t>
            </a:r>
          </a:p>
        </p:txBody>
      </p:sp>
      <p:sp>
        <p:nvSpPr>
          <p:cNvPr id="66" name="CaixaDeTexto 21">
            <a:extLst>
              <a:ext uri="{FF2B5EF4-FFF2-40B4-BE49-F238E27FC236}">
                <a16:creationId xmlns:a16="http://schemas.microsoft.com/office/drawing/2014/main" id="{8E377396-3250-B3B6-5ACE-5156CA5BFDC0}"/>
              </a:ext>
            </a:extLst>
          </p:cNvPr>
          <p:cNvSpPr txBox="1"/>
          <p:nvPr/>
        </p:nvSpPr>
        <p:spPr>
          <a:xfrm>
            <a:off x="6739643" y="5201045"/>
            <a:ext cx="3550176" cy="1512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marL="171450" indent="-171450">
              <a:spcBef>
                <a:spcPts val="600"/>
              </a:spcBef>
              <a:buFont typeface="Wingdings" panose="05000000000000000000" pitchFamily="2" charset="2"/>
              <a:buChar char="§"/>
            </a:pPr>
            <a:r>
              <a:rPr lang="pt-BR" sz="1000" b="1" dirty="0"/>
              <a:t>Sistema </a:t>
            </a:r>
            <a:r>
              <a:rPr lang="pt-BR" sz="1000" b="1" u="sng" dirty="0"/>
              <a:t>autoritativo</a:t>
            </a:r>
          </a:p>
          <a:p>
            <a:pPr marL="171450" indent="-171450">
              <a:spcBef>
                <a:spcPts val="600"/>
              </a:spcBef>
              <a:buFont typeface="Wingdings" panose="05000000000000000000" pitchFamily="2" charset="2"/>
              <a:buChar char="§"/>
            </a:pPr>
            <a:r>
              <a:rPr lang="pt-BR" sz="1000" dirty="0"/>
              <a:t>Todas as edições na Parada e Obras são realizadas unicamente no Hub, inclusive as financeiras ...</a:t>
            </a:r>
          </a:p>
          <a:p>
            <a:pPr marL="171450" indent="-171450">
              <a:spcBef>
                <a:spcPts val="600"/>
              </a:spcBef>
              <a:buFont typeface="Wingdings" panose="05000000000000000000" pitchFamily="2" charset="2"/>
              <a:buChar char="§"/>
            </a:pPr>
            <a:r>
              <a:rPr lang="pt-BR" sz="1000" dirty="0"/>
              <a:t>... e, para os campos aplicáveis, as alterações são refletidas automaticamente no SGO</a:t>
            </a:r>
          </a:p>
          <a:p>
            <a:pPr marL="171450" indent="-171450">
              <a:spcBef>
                <a:spcPts val="600"/>
              </a:spcBef>
              <a:buFont typeface="Wingdings" panose="05000000000000000000" pitchFamily="2" charset="2"/>
              <a:buChar char="§"/>
            </a:pPr>
            <a:r>
              <a:rPr lang="pt-BR" sz="1000" dirty="0"/>
              <a:t>Com a inclusão das estimativas financeiras, a Parada é movida do status “Backlog” para FEL0</a:t>
            </a:r>
          </a:p>
        </p:txBody>
      </p:sp>
      <p:sp>
        <p:nvSpPr>
          <p:cNvPr id="68" name="Triangle 12">
            <a:extLst>
              <a:ext uri="{FF2B5EF4-FFF2-40B4-BE49-F238E27FC236}">
                <a16:creationId xmlns:a16="http://schemas.microsoft.com/office/drawing/2014/main" id="{480634D5-71E3-F13A-68B1-E8D7C0F21225}"/>
              </a:ext>
            </a:extLst>
          </p:cNvPr>
          <p:cNvSpPr/>
          <p:nvPr/>
        </p:nvSpPr>
        <p:spPr>
          <a:xfrm rot="16200000" flipH="1">
            <a:off x="6104520" y="5705936"/>
            <a:ext cx="796923" cy="178219"/>
          </a:xfrm>
          <a:prstGeom prst="triangle">
            <a:avLst/>
          </a:prstGeom>
          <a:solidFill>
            <a:schemeClr val="tx1">
              <a:lumMod val="50000"/>
              <a:lumOff val="50000"/>
            </a:schemeClr>
          </a:solidFill>
          <a:ln w="190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462603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E7EC5-0F6D-D6B0-BBD4-75E2FFDA157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9149ACF8-D480-BF99-CCBD-EBA147A4DC96}"/>
              </a:ext>
            </a:extLst>
          </p:cNvPr>
          <p:cNvSpPr>
            <a:spLocks noGrp="1"/>
          </p:cNvSpPr>
          <p:nvPr>
            <p:ph type="title"/>
          </p:nvPr>
        </p:nvSpPr>
        <p:spPr/>
        <p:txBody>
          <a:bodyPr/>
          <a:lstStyle/>
          <a:p>
            <a:r>
              <a:rPr lang="pt-BR" dirty="0"/>
              <a:t>Cadastro e edição da parada e relação entre SGO e HUB</a:t>
            </a:r>
            <a:br>
              <a:rPr lang="pt-BR" dirty="0"/>
            </a:br>
            <a:r>
              <a:rPr lang="pt-BR" sz="1800" b="0" dirty="0"/>
              <a:t>Fluxo detalhado</a:t>
            </a:r>
            <a:endParaRPr lang="pt-BR" b="0" dirty="0"/>
          </a:p>
        </p:txBody>
      </p:sp>
      <p:sp>
        <p:nvSpPr>
          <p:cNvPr id="175" name="Retângulo 174">
            <a:extLst>
              <a:ext uri="{FF2B5EF4-FFF2-40B4-BE49-F238E27FC236}">
                <a16:creationId xmlns:a16="http://schemas.microsoft.com/office/drawing/2014/main" id="{675F31B8-9805-6777-1294-E0A16A47D42E}"/>
              </a:ext>
            </a:extLst>
          </p:cNvPr>
          <p:cNvSpPr/>
          <p:nvPr/>
        </p:nvSpPr>
        <p:spPr>
          <a:xfrm>
            <a:off x="7480738" y="1628800"/>
            <a:ext cx="4536000" cy="4096563"/>
          </a:xfrm>
          <a:prstGeom prst="rect">
            <a:avLst/>
          </a:prstGeom>
          <a:noFill/>
          <a:ln w="1270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4" name="Retângulo 173">
            <a:extLst>
              <a:ext uri="{FF2B5EF4-FFF2-40B4-BE49-F238E27FC236}">
                <a16:creationId xmlns:a16="http://schemas.microsoft.com/office/drawing/2014/main" id="{42CE29E7-1193-C67A-C209-EE4E8038D3B3}"/>
              </a:ext>
            </a:extLst>
          </p:cNvPr>
          <p:cNvSpPr/>
          <p:nvPr/>
        </p:nvSpPr>
        <p:spPr>
          <a:xfrm>
            <a:off x="119336" y="1628800"/>
            <a:ext cx="7234728" cy="4096563"/>
          </a:xfrm>
          <a:prstGeom prst="rect">
            <a:avLst/>
          </a:prstGeom>
          <a:noFill/>
          <a:ln w="1270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Cantos Arredondados 13">
            <a:extLst>
              <a:ext uri="{FF2B5EF4-FFF2-40B4-BE49-F238E27FC236}">
                <a16:creationId xmlns:a16="http://schemas.microsoft.com/office/drawing/2014/main" id="{C1F2C134-B436-47AA-A3BB-C14F2E6A43D9}"/>
              </a:ext>
            </a:extLst>
          </p:cNvPr>
          <p:cNvSpPr/>
          <p:nvPr/>
        </p:nvSpPr>
        <p:spPr>
          <a:xfrm>
            <a:off x="1006371" y="3154678"/>
            <a:ext cx="961186" cy="536535"/>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Criar parada no SGO</a:t>
            </a:r>
          </a:p>
        </p:txBody>
      </p:sp>
      <p:sp>
        <p:nvSpPr>
          <p:cNvPr id="15" name="Retângulo: Cantos Arredondados 14">
            <a:extLst>
              <a:ext uri="{FF2B5EF4-FFF2-40B4-BE49-F238E27FC236}">
                <a16:creationId xmlns:a16="http://schemas.microsoft.com/office/drawing/2014/main" id="{C182ED7D-C437-3859-5452-D7F755E79063}"/>
              </a:ext>
            </a:extLst>
          </p:cNvPr>
          <p:cNvSpPr/>
          <p:nvPr/>
        </p:nvSpPr>
        <p:spPr>
          <a:xfrm>
            <a:off x="2146418" y="3154678"/>
            <a:ext cx="961186" cy="536535"/>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Criar escopos</a:t>
            </a:r>
          </a:p>
        </p:txBody>
      </p:sp>
      <p:cxnSp>
        <p:nvCxnSpPr>
          <p:cNvPr id="17" name="Conector de Seta Reta 16">
            <a:extLst>
              <a:ext uri="{FF2B5EF4-FFF2-40B4-BE49-F238E27FC236}">
                <a16:creationId xmlns:a16="http://schemas.microsoft.com/office/drawing/2014/main" id="{27DFE964-01EF-2071-0BC8-57AA3C98CD02}"/>
              </a:ext>
            </a:extLst>
          </p:cNvPr>
          <p:cNvCxnSpPr>
            <a:cxnSpLocks/>
            <a:stCxn id="32" idx="2"/>
            <a:endCxn id="33" idx="0"/>
          </p:cNvCxnSpPr>
          <p:nvPr/>
        </p:nvCxnSpPr>
        <p:spPr>
          <a:xfrm flipH="1">
            <a:off x="4948990" y="3630694"/>
            <a:ext cx="1" cy="39851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A1A4D970-8721-9815-1962-F9D04D800721}"/>
              </a:ext>
            </a:extLst>
          </p:cNvPr>
          <p:cNvCxnSpPr>
            <a:cxnSpLocks/>
            <a:stCxn id="46" idx="6"/>
            <a:endCxn id="14" idx="1"/>
          </p:cNvCxnSpPr>
          <p:nvPr/>
        </p:nvCxnSpPr>
        <p:spPr>
          <a:xfrm>
            <a:off x="827510" y="3422945"/>
            <a:ext cx="17886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E0BBA16A-BC39-86A5-AC98-3F5F9EE04DC6}"/>
              </a:ext>
            </a:extLst>
          </p:cNvPr>
          <p:cNvSpPr/>
          <p:nvPr/>
        </p:nvSpPr>
        <p:spPr>
          <a:xfrm>
            <a:off x="5683364" y="3242945"/>
            <a:ext cx="360000" cy="360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Losango 31">
            <a:extLst>
              <a:ext uri="{FF2B5EF4-FFF2-40B4-BE49-F238E27FC236}">
                <a16:creationId xmlns:a16="http://schemas.microsoft.com/office/drawing/2014/main" id="{E58DA107-5C3E-F8C4-074C-B58F4096A8F1}"/>
              </a:ext>
            </a:extLst>
          </p:cNvPr>
          <p:cNvSpPr/>
          <p:nvPr/>
        </p:nvSpPr>
        <p:spPr>
          <a:xfrm>
            <a:off x="4741242" y="3215197"/>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3" name="Retângulo: Cantos Arredondados 32">
            <a:extLst>
              <a:ext uri="{FF2B5EF4-FFF2-40B4-BE49-F238E27FC236}">
                <a16:creationId xmlns:a16="http://schemas.microsoft.com/office/drawing/2014/main" id="{E05C21E7-6BBE-9E41-8E33-ECD42355C062}"/>
              </a:ext>
            </a:extLst>
          </p:cNvPr>
          <p:cNvSpPr/>
          <p:nvPr/>
        </p:nvSpPr>
        <p:spPr>
          <a:xfrm>
            <a:off x="4246016" y="4029209"/>
            <a:ext cx="1405947" cy="540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Editar parada </a:t>
            </a:r>
          </a:p>
          <a:p>
            <a:pPr algn="ctr"/>
            <a:r>
              <a:rPr lang="pt-BR" sz="1100" dirty="0">
                <a:solidFill>
                  <a:schemeClr val="tx1"/>
                </a:solidFill>
              </a:rPr>
              <a:t>no SGO</a:t>
            </a:r>
          </a:p>
        </p:txBody>
      </p:sp>
      <p:cxnSp>
        <p:nvCxnSpPr>
          <p:cNvPr id="36" name="Conector: Angulado 35">
            <a:extLst>
              <a:ext uri="{FF2B5EF4-FFF2-40B4-BE49-F238E27FC236}">
                <a16:creationId xmlns:a16="http://schemas.microsoft.com/office/drawing/2014/main" id="{732C3705-D5E1-FD33-7FB6-CE9B8191F380}"/>
              </a:ext>
            </a:extLst>
          </p:cNvPr>
          <p:cNvCxnSpPr>
            <a:cxnSpLocks/>
            <a:stCxn id="35" idx="3"/>
            <a:endCxn id="26" idx="4"/>
          </p:cNvCxnSpPr>
          <p:nvPr/>
        </p:nvCxnSpPr>
        <p:spPr>
          <a:xfrm flipV="1">
            <a:off x="5651964" y="3602945"/>
            <a:ext cx="211400" cy="140403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6" name="Agrupar 175">
            <a:extLst>
              <a:ext uri="{FF2B5EF4-FFF2-40B4-BE49-F238E27FC236}">
                <a16:creationId xmlns:a16="http://schemas.microsoft.com/office/drawing/2014/main" id="{B9D21BB6-6E13-7D9C-7492-841CFE9FE46A}"/>
              </a:ext>
            </a:extLst>
          </p:cNvPr>
          <p:cNvGrpSpPr/>
          <p:nvPr/>
        </p:nvGrpSpPr>
        <p:grpSpPr>
          <a:xfrm>
            <a:off x="3286464" y="3152945"/>
            <a:ext cx="1278601" cy="540000"/>
            <a:chOff x="3508060" y="2606817"/>
            <a:chExt cx="1278601" cy="540000"/>
          </a:xfrm>
        </p:grpSpPr>
        <p:sp>
          <p:nvSpPr>
            <p:cNvPr id="18" name="Retângulo: Cantos Arredondados 17">
              <a:extLst>
                <a:ext uri="{FF2B5EF4-FFF2-40B4-BE49-F238E27FC236}">
                  <a16:creationId xmlns:a16="http://schemas.microsoft.com/office/drawing/2014/main" id="{0E4EB482-72C5-E80D-81B1-AFA355FAA4D6}"/>
                </a:ext>
              </a:extLst>
            </p:cNvPr>
            <p:cNvSpPr/>
            <p:nvPr/>
          </p:nvSpPr>
          <p:spPr>
            <a:xfrm>
              <a:off x="3508060" y="2606817"/>
              <a:ext cx="1278601" cy="540000"/>
            </a:xfrm>
            <a:prstGeom prst="roundRect">
              <a:avLst/>
            </a:prstGeom>
            <a:solidFill>
              <a:schemeClr val="bg1"/>
            </a:solidFill>
            <a:ln w="9525">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Carregar parada no HUB com status “Backlog”</a:t>
              </a:r>
            </a:p>
          </p:txBody>
        </p:sp>
        <p:pic>
          <p:nvPicPr>
            <p:cNvPr id="37" name="Imagem 36" descr="Forma&#10;&#10;O conteúdo gerado por IA pode estar incorreto.">
              <a:extLst>
                <a:ext uri="{FF2B5EF4-FFF2-40B4-BE49-F238E27FC236}">
                  <a16:creationId xmlns:a16="http://schemas.microsoft.com/office/drawing/2014/main" id="{8B1664A3-53A0-B5F5-9519-722B4F4EED81}"/>
                </a:ext>
              </a:extLst>
            </p:cNvPr>
            <p:cNvPicPr>
              <a:picLocks noChangeAspect="1"/>
            </p:cNvPicPr>
            <p:nvPr/>
          </p:nvPicPr>
          <p:blipFill>
            <a:blip r:embed="rId2" cstate="print">
              <a:extLst>
                <a:ext uri="{28A0092B-C50C-407E-A947-70E740481C1C}">
                  <a14:useLocalDpi xmlns:a14="http://schemas.microsoft.com/office/drawing/2010/main" val="0"/>
                </a:ext>
              </a:extLst>
            </a:blip>
            <a:srcRect l="17516" t="7881" r="16521" b="21920"/>
            <a:stretch>
              <a:fillRect/>
            </a:stretch>
          </p:blipFill>
          <p:spPr>
            <a:xfrm>
              <a:off x="4642979" y="2664306"/>
              <a:ext cx="129343" cy="137647"/>
            </a:xfrm>
            <a:prstGeom prst="rect">
              <a:avLst/>
            </a:prstGeom>
          </p:spPr>
        </p:pic>
      </p:grpSp>
      <p:sp>
        <p:nvSpPr>
          <p:cNvPr id="39" name="CaixaDeTexto 38">
            <a:extLst>
              <a:ext uri="{FF2B5EF4-FFF2-40B4-BE49-F238E27FC236}">
                <a16:creationId xmlns:a16="http://schemas.microsoft.com/office/drawing/2014/main" id="{A6E04FF9-0655-7FF3-0C22-226CB378F25B}"/>
              </a:ext>
            </a:extLst>
          </p:cNvPr>
          <p:cNvSpPr txBox="1"/>
          <p:nvPr/>
        </p:nvSpPr>
        <p:spPr>
          <a:xfrm>
            <a:off x="4420836" y="2661395"/>
            <a:ext cx="1056309" cy="400110"/>
          </a:xfrm>
          <a:prstGeom prst="rect">
            <a:avLst/>
          </a:prstGeom>
          <a:noFill/>
        </p:spPr>
        <p:txBody>
          <a:bodyPr wrap="square" rtlCol="0">
            <a:spAutoFit/>
          </a:bodyPr>
          <a:lstStyle/>
          <a:p>
            <a:pPr algn="ctr"/>
            <a:r>
              <a:rPr lang="pt-BR" sz="1000" dirty="0"/>
              <a:t>Necessário alterar parada?</a:t>
            </a:r>
          </a:p>
        </p:txBody>
      </p:sp>
      <p:sp>
        <p:nvSpPr>
          <p:cNvPr id="40" name="CaixaDeTexto 39">
            <a:extLst>
              <a:ext uri="{FF2B5EF4-FFF2-40B4-BE49-F238E27FC236}">
                <a16:creationId xmlns:a16="http://schemas.microsoft.com/office/drawing/2014/main" id="{29349FF4-F0FE-BCE9-0043-631E8A191DB4}"/>
              </a:ext>
            </a:extLst>
          </p:cNvPr>
          <p:cNvSpPr txBox="1"/>
          <p:nvPr/>
        </p:nvSpPr>
        <p:spPr>
          <a:xfrm>
            <a:off x="4880203" y="3710491"/>
            <a:ext cx="492776" cy="253916"/>
          </a:xfrm>
          <a:prstGeom prst="rect">
            <a:avLst/>
          </a:prstGeom>
          <a:noFill/>
        </p:spPr>
        <p:txBody>
          <a:bodyPr wrap="square" rtlCol="0">
            <a:spAutoFit/>
          </a:bodyPr>
          <a:lstStyle/>
          <a:p>
            <a:pPr algn="ctr"/>
            <a:r>
              <a:rPr lang="pt-BR" sz="1050" dirty="0"/>
              <a:t>Sim</a:t>
            </a:r>
          </a:p>
        </p:txBody>
      </p:sp>
      <p:sp>
        <p:nvSpPr>
          <p:cNvPr id="41" name="CaixaDeTexto 40">
            <a:extLst>
              <a:ext uri="{FF2B5EF4-FFF2-40B4-BE49-F238E27FC236}">
                <a16:creationId xmlns:a16="http://schemas.microsoft.com/office/drawing/2014/main" id="{637A4F03-8FC1-D20F-339F-A26D418D4EFF}"/>
              </a:ext>
            </a:extLst>
          </p:cNvPr>
          <p:cNvSpPr txBox="1"/>
          <p:nvPr/>
        </p:nvSpPr>
        <p:spPr>
          <a:xfrm>
            <a:off x="5159896" y="3415401"/>
            <a:ext cx="492776" cy="253916"/>
          </a:xfrm>
          <a:prstGeom prst="rect">
            <a:avLst/>
          </a:prstGeom>
          <a:noFill/>
        </p:spPr>
        <p:txBody>
          <a:bodyPr wrap="square" rtlCol="0">
            <a:spAutoFit/>
          </a:bodyPr>
          <a:lstStyle/>
          <a:p>
            <a:pPr algn="ctr"/>
            <a:r>
              <a:rPr lang="pt-BR" sz="1050" dirty="0"/>
              <a:t>Não</a:t>
            </a:r>
          </a:p>
        </p:txBody>
      </p:sp>
      <p:sp>
        <p:nvSpPr>
          <p:cNvPr id="42" name="CaixaDeTexto 41">
            <a:extLst>
              <a:ext uri="{FF2B5EF4-FFF2-40B4-BE49-F238E27FC236}">
                <a16:creationId xmlns:a16="http://schemas.microsoft.com/office/drawing/2014/main" id="{5B1DDA39-EA0A-D2DD-816F-41A41259ECE4}"/>
              </a:ext>
            </a:extLst>
          </p:cNvPr>
          <p:cNvSpPr txBox="1"/>
          <p:nvPr/>
        </p:nvSpPr>
        <p:spPr>
          <a:xfrm>
            <a:off x="5282394" y="2584451"/>
            <a:ext cx="1161940" cy="553998"/>
          </a:xfrm>
          <a:prstGeom prst="rect">
            <a:avLst/>
          </a:prstGeom>
          <a:noFill/>
        </p:spPr>
        <p:txBody>
          <a:bodyPr wrap="square" rtlCol="0">
            <a:spAutoFit/>
          </a:bodyPr>
          <a:lstStyle/>
          <a:p>
            <a:pPr algn="ctr"/>
            <a:r>
              <a:rPr lang="pt-BR" sz="1000" dirty="0"/>
              <a:t>Parada atualizada no HUB com status “Backlog”</a:t>
            </a:r>
          </a:p>
        </p:txBody>
      </p:sp>
      <p:sp>
        <p:nvSpPr>
          <p:cNvPr id="43" name="CaixaDeTexto 42">
            <a:extLst>
              <a:ext uri="{FF2B5EF4-FFF2-40B4-BE49-F238E27FC236}">
                <a16:creationId xmlns:a16="http://schemas.microsoft.com/office/drawing/2014/main" id="{CBA1DD54-C19E-46BF-EE32-EE8D72CC6019}"/>
              </a:ext>
            </a:extLst>
          </p:cNvPr>
          <p:cNvSpPr txBox="1"/>
          <p:nvPr/>
        </p:nvSpPr>
        <p:spPr>
          <a:xfrm>
            <a:off x="119336" y="3643238"/>
            <a:ext cx="1056309" cy="553998"/>
          </a:xfrm>
          <a:prstGeom prst="rect">
            <a:avLst/>
          </a:prstGeom>
          <a:noFill/>
        </p:spPr>
        <p:txBody>
          <a:bodyPr wrap="square" rtlCol="0">
            <a:spAutoFit/>
          </a:bodyPr>
          <a:lstStyle/>
          <a:p>
            <a:pPr algn="ctr"/>
            <a:r>
              <a:rPr lang="pt-BR" sz="1000" dirty="0"/>
              <a:t>Necessidade de nova parada identificada</a:t>
            </a:r>
          </a:p>
        </p:txBody>
      </p:sp>
      <p:sp>
        <p:nvSpPr>
          <p:cNvPr id="46" name="Elipse 45">
            <a:extLst>
              <a:ext uri="{FF2B5EF4-FFF2-40B4-BE49-F238E27FC236}">
                <a16:creationId xmlns:a16="http://schemas.microsoft.com/office/drawing/2014/main" id="{2B4BA235-C048-AA43-68B6-F426B83618BA}"/>
              </a:ext>
            </a:extLst>
          </p:cNvPr>
          <p:cNvSpPr/>
          <p:nvPr/>
        </p:nvSpPr>
        <p:spPr>
          <a:xfrm>
            <a:off x="467470" y="3242925"/>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Elipse 46">
            <a:extLst>
              <a:ext uri="{FF2B5EF4-FFF2-40B4-BE49-F238E27FC236}">
                <a16:creationId xmlns:a16="http://schemas.microsoft.com/office/drawing/2014/main" id="{E165A5C1-FDCC-59F5-42D6-A55389C1980C}"/>
              </a:ext>
            </a:extLst>
          </p:cNvPr>
          <p:cNvSpPr/>
          <p:nvPr/>
        </p:nvSpPr>
        <p:spPr>
          <a:xfrm>
            <a:off x="11160052" y="3247077"/>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1" name="Conector de Seta Reta 50">
            <a:extLst>
              <a:ext uri="{FF2B5EF4-FFF2-40B4-BE49-F238E27FC236}">
                <a16:creationId xmlns:a16="http://schemas.microsoft.com/office/drawing/2014/main" id="{3EC4A752-D304-DC78-BBF4-5EEEBB665EAA}"/>
              </a:ext>
            </a:extLst>
          </p:cNvPr>
          <p:cNvCxnSpPr>
            <a:cxnSpLocks/>
            <a:stCxn id="14" idx="3"/>
            <a:endCxn id="15" idx="1"/>
          </p:cNvCxnSpPr>
          <p:nvPr/>
        </p:nvCxnSpPr>
        <p:spPr>
          <a:xfrm>
            <a:off x="1967557" y="3422946"/>
            <a:ext cx="1788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12AF1484-197C-F6A4-A7E5-2A54B0D9C1C9}"/>
              </a:ext>
            </a:extLst>
          </p:cNvPr>
          <p:cNvCxnSpPr>
            <a:cxnSpLocks/>
            <a:stCxn id="15" idx="3"/>
            <a:endCxn id="18" idx="1"/>
          </p:cNvCxnSpPr>
          <p:nvPr/>
        </p:nvCxnSpPr>
        <p:spPr>
          <a:xfrm flipV="1">
            <a:off x="3107604" y="3422945"/>
            <a:ext cx="17886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Conector de Seta Reta 74">
            <a:extLst>
              <a:ext uri="{FF2B5EF4-FFF2-40B4-BE49-F238E27FC236}">
                <a16:creationId xmlns:a16="http://schemas.microsoft.com/office/drawing/2014/main" id="{59F72E56-8523-CFD8-9089-6ACFAB1E28CC}"/>
              </a:ext>
            </a:extLst>
          </p:cNvPr>
          <p:cNvCxnSpPr>
            <a:cxnSpLocks/>
            <a:stCxn id="18" idx="3"/>
            <a:endCxn id="32" idx="1"/>
          </p:cNvCxnSpPr>
          <p:nvPr/>
        </p:nvCxnSpPr>
        <p:spPr>
          <a:xfrm>
            <a:off x="4565065" y="3422945"/>
            <a:ext cx="17617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Conector de Seta Reta 81">
            <a:extLst>
              <a:ext uri="{FF2B5EF4-FFF2-40B4-BE49-F238E27FC236}">
                <a16:creationId xmlns:a16="http://schemas.microsoft.com/office/drawing/2014/main" id="{157D5DC3-042F-FC40-1BEE-9370777263DE}"/>
              </a:ext>
            </a:extLst>
          </p:cNvPr>
          <p:cNvCxnSpPr>
            <a:cxnSpLocks/>
            <a:stCxn id="32" idx="3"/>
            <a:endCxn id="26" idx="2"/>
          </p:cNvCxnSpPr>
          <p:nvPr/>
        </p:nvCxnSpPr>
        <p:spPr>
          <a:xfrm flipV="1">
            <a:off x="5156739" y="3422945"/>
            <a:ext cx="52662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CaixaDeTexto 113">
            <a:extLst>
              <a:ext uri="{FF2B5EF4-FFF2-40B4-BE49-F238E27FC236}">
                <a16:creationId xmlns:a16="http://schemas.microsoft.com/office/drawing/2014/main" id="{83556A26-DF05-4EA4-1D9C-FF254D8EC45F}"/>
              </a:ext>
            </a:extLst>
          </p:cNvPr>
          <p:cNvSpPr txBox="1"/>
          <p:nvPr/>
        </p:nvSpPr>
        <p:spPr>
          <a:xfrm>
            <a:off x="10701005" y="2584451"/>
            <a:ext cx="1278134" cy="553998"/>
          </a:xfrm>
          <a:prstGeom prst="rect">
            <a:avLst/>
          </a:prstGeom>
          <a:noFill/>
        </p:spPr>
        <p:txBody>
          <a:bodyPr wrap="square" rtlCol="0">
            <a:spAutoFit/>
          </a:bodyPr>
          <a:lstStyle/>
          <a:p>
            <a:pPr algn="ctr"/>
            <a:r>
              <a:rPr lang="pt-BR" sz="1000" dirty="0"/>
              <a:t>Alterações na Parada registradas no HUB e refletidas no SGO</a:t>
            </a:r>
          </a:p>
        </p:txBody>
      </p:sp>
      <p:sp>
        <p:nvSpPr>
          <p:cNvPr id="117" name="CaixaDeTexto 116">
            <a:extLst>
              <a:ext uri="{FF2B5EF4-FFF2-40B4-BE49-F238E27FC236}">
                <a16:creationId xmlns:a16="http://schemas.microsoft.com/office/drawing/2014/main" id="{04C4C0AD-C19B-6203-6420-F84EB7203E16}"/>
              </a:ext>
            </a:extLst>
          </p:cNvPr>
          <p:cNvSpPr txBox="1"/>
          <p:nvPr/>
        </p:nvSpPr>
        <p:spPr>
          <a:xfrm>
            <a:off x="7813343" y="4197236"/>
            <a:ext cx="1544535" cy="923330"/>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b="0" dirty="0"/>
              <a:t>Alterações podem incluir alterações de datas, duração, tipos de obra, criação, exclusão, edição e transferência de escopo (demandas)</a:t>
            </a:r>
          </a:p>
        </p:txBody>
      </p:sp>
      <p:cxnSp>
        <p:nvCxnSpPr>
          <p:cNvPr id="118" name="Conector: Angulado 117">
            <a:extLst>
              <a:ext uri="{FF2B5EF4-FFF2-40B4-BE49-F238E27FC236}">
                <a16:creationId xmlns:a16="http://schemas.microsoft.com/office/drawing/2014/main" id="{3045F454-694F-2BD2-30E9-A06BEEBD4E9D}"/>
              </a:ext>
            </a:extLst>
          </p:cNvPr>
          <p:cNvCxnSpPr>
            <a:cxnSpLocks/>
            <a:stCxn id="141" idx="1"/>
            <a:endCxn id="117" idx="0"/>
          </p:cNvCxnSpPr>
          <p:nvPr/>
        </p:nvCxnSpPr>
        <p:spPr>
          <a:xfrm rot="10800000" flipV="1">
            <a:off x="8585611" y="4107448"/>
            <a:ext cx="989426" cy="89787"/>
          </a:xfrm>
          <a:prstGeom prst="bentConnector2">
            <a:avLst/>
          </a:prstGeom>
          <a:noFill/>
          <a:ln>
            <a:solidFill>
              <a:srgbClr val="03738E"/>
            </a:solidFill>
            <a:prstDash val="dash"/>
          </a:ln>
        </p:spPr>
      </p:cxnSp>
      <p:sp>
        <p:nvSpPr>
          <p:cNvPr id="123" name="Retângulo: Cantos Arredondados 122">
            <a:extLst>
              <a:ext uri="{FF2B5EF4-FFF2-40B4-BE49-F238E27FC236}">
                <a16:creationId xmlns:a16="http://schemas.microsoft.com/office/drawing/2014/main" id="{3D0A0B94-E8BC-228B-6CCD-F3D96969B2D7}"/>
              </a:ext>
            </a:extLst>
          </p:cNvPr>
          <p:cNvSpPr/>
          <p:nvPr/>
        </p:nvSpPr>
        <p:spPr>
          <a:xfrm>
            <a:off x="7634610" y="3151213"/>
            <a:ext cx="1396175" cy="540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Cadastrar estimativas financeiras no HUB</a:t>
            </a:r>
          </a:p>
        </p:txBody>
      </p:sp>
      <p:cxnSp>
        <p:nvCxnSpPr>
          <p:cNvPr id="127" name="Conector de Seta Reta 126">
            <a:extLst>
              <a:ext uri="{FF2B5EF4-FFF2-40B4-BE49-F238E27FC236}">
                <a16:creationId xmlns:a16="http://schemas.microsoft.com/office/drawing/2014/main" id="{C16A6BA8-F1A7-B988-FA47-C749EDDBEF40}"/>
              </a:ext>
            </a:extLst>
          </p:cNvPr>
          <p:cNvCxnSpPr>
            <a:cxnSpLocks/>
            <a:stCxn id="26" idx="6"/>
            <a:endCxn id="13" idx="1"/>
          </p:cNvCxnSpPr>
          <p:nvPr/>
        </p:nvCxnSpPr>
        <p:spPr>
          <a:xfrm flipV="1">
            <a:off x="6043364" y="3422079"/>
            <a:ext cx="268660" cy="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Elipse 129">
            <a:extLst>
              <a:ext uri="{FF2B5EF4-FFF2-40B4-BE49-F238E27FC236}">
                <a16:creationId xmlns:a16="http://schemas.microsoft.com/office/drawing/2014/main" id="{EB3B5456-E782-0ED4-B9EF-1139168F4AA4}"/>
              </a:ext>
            </a:extLst>
          </p:cNvPr>
          <p:cNvSpPr/>
          <p:nvPr/>
        </p:nvSpPr>
        <p:spPr>
          <a:xfrm>
            <a:off x="9254329" y="3235401"/>
            <a:ext cx="360000" cy="36000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1" name="Conector de Seta Reta 130">
            <a:extLst>
              <a:ext uri="{FF2B5EF4-FFF2-40B4-BE49-F238E27FC236}">
                <a16:creationId xmlns:a16="http://schemas.microsoft.com/office/drawing/2014/main" id="{7323F6BE-26CD-494C-89C3-EF76F574D37D}"/>
              </a:ext>
            </a:extLst>
          </p:cNvPr>
          <p:cNvCxnSpPr>
            <a:cxnSpLocks/>
            <a:stCxn id="123" idx="3"/>
            <a:endCxn id="130" idx="2"/>
          </p:cNvCxnSpPr>
          <p:nvPr/>
        </p:nvCxnSpPr>
        <p:spPr>
          <a:xfrm flipV="1">
            <a:off x="9030785" y="3415401"/>
            <a:ext cx="223544" cy="58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5" name="CaixaDeTexto 134">
            <a:extLst>
              <a:ext uri="{FF2B5EF4-FFF2-40B4-BE49-F238E27FC236}">
                <a16:creationId xmlns:a16="http://schemas.microsoft.com/office/drawing/2014/main" id="{7AD5BCA4-6018-1327-A1A8-8FD607CDEC39}"/>
              </a:ext>
            </a:extLst>
          </p:cNvPr>
          <p:cNvSpPr txBox="1"/>
          <p:nvPr/>
        </p:nvSpPr>
        <p:spPr>
          <a:xfrm>
            <a:off x="8997838" y="2584451"/>
            <a:ext cx="872983" cy="553998"/>
          </a:xfrm>
          <a:prstGeom prst="rect">
            <a:avLst/>
          </a:prstGeom>
          <a:noFill/>
        </p:spPr>
        <p:txBody>
          <a:bodyPr wrap="square" rtlCol="0">
            <a:spAutoFit/>
          </a:bodyPr>
          <a:lstStyle/>
          <a:p>
            <a:pPr algn="ctr"/>
            <a:r>
              <a:rPr lang="pt-BR" sz="1000" dirty="0"/>
              <a:t>Parada entra em status FEL-0</a:t>
            </a:r>
          </a:p>
        </p:txBody>
      </p:sp>
      <p:sp>
        <p:nvSpPr>
          <p:cNvPr id="136" name="Losango 135">
            <a:extLst>
              <a:ext uri="{FF2B5EF4-FFF2-40B4-BE49-F238E27FC236}">
                <a16:creationId xmlns:a16="http://schemas.microsoft.com/office/drawing/2014/main" id="{2FFC5C0E-C5D1-A1A3-F6A8-3C72015941D8}"/>
              </a:ext>
            </a:extLst>
          </p:cNvPr>
          <p:cNvSpPr/>
          <p:nvPr/>
        </p:nvSpPr>
        <p:spPr>
          <a:xfrm>
            <a:off x="9999002" y="3215197"/>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7" name="CaixaDeTexto 136">
            <a:extLst>
              <a:ext uri="{FF2B5EF4-FFF2-40B4-BE49-F238E27FC236}">
                <a16:creationId xmlns:a16="http://schemas.microsoft.com/office/drawing/2014/main" id="{B2DB3B01-8242-6077-63C4-E8E4F808B735}"/>
              </a:ext>
            </a:extLst>
          </p:cNvPr>
          <p:cNvSpPr txBox="1"/>
          <p:nvPr/>
        </p:nvSpPr>
        <p:spPr>
          <a:xfrm>
            <a:off x="9726610" y="2584451"/>
            <a:ext cx="960281" cy="553998"/>
          </a:xfrm>
          <a:prstGeom prst="rect">
            <a:avLst/>
          </a:prstGeom>
          <a:noFill/>
        </p:spPr>
        <p:txBody>
          <a:bodyPr wrap="square" rtlCol="0">
            <a:spAutoFit/>
          </a:bodyPr>
          <a:lstStyle/>
          <a:p>
            <a:pPr algn="ctr"/>
            <a:r>
              <a:rPr lang="pt-BR" sz="1000" dirty="0"/>
              <a:t>Necessário alterar parada?</a:t>
            </a:r>
          </a:p>
        </p:txBody>
      </p:sp>
      <p:cxnSp>
        <p:nvCxnSpPr>
          <p:cNvPr id="138" name="Conector de Seta Reta 137">
            <a:extLst>
              <a:ext uri="{FF2B5EF4-FFF2-40B4-BE49-F238E27FC236}">
                <a16:creationId xmlns:a16="http://schemas.microsoft.com/office/drawing/2014/main" id="{533857E2-9702-5245-63DE-847A837FD755}"/>
              </a:ext>
            </a:extLst>
          </p:cNvPr>
          <p:cNvCxnSpPr>
            <a:cxnSpLocks/>
            <a:stCxn id="130" idx="6"/>
            <a:endCxn id="136" idx="1"/>
          </p:cNvCxnSpPr>
          <p:nvPr/>
        </p:nvCxnSpPr>
        <p:spPr>
          <a:xfrm>
            <a:off x="9614329" y="3415401"/>
            <a:ext cx="384673" cy="754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tângulo: Cantos Arredondados 140">
            <a:extLst>
              <a:ext uri="{FF2B5EF4-FFF2-40B4-BE49-F238E27FC236}">
                <a16:creationId xmlns:a16="http://schemas.microsoft.com/office/drawing/2014/main" id="{DB394015-FC12-63CC-BCB5-22451F6A0AA3}"/>
              </a:ext>
            </a:extLst>
          </p:cNvPr>
          <p:cNvSpPr/>
          <p:nvPr/>
        </p:nvSpPr>
        <p:spPr>
          <a:xfrm>
            <a:off x="9575037" y="3837449"/>
            <a:ext cx="1263426" cy="540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Editar parada </a:t>
            </a:r>
          </a:p>
          <a:p>
            <a:pPr algn="ctr"/>
            <a:r>
              <a:rPr lang="pt-BR" sz="1100" dirty="0">
                <a:solidFill>
                  <a:schemeClr val="tx1"/>
                </a:solidFill>
              </a:rPr>
              <a:t>no HUB</a:t>
            </a:r>
          </a:p>
        </p:txBody>
      </p:sp>
      <p:cxnSp>
        <p:nvCxnSpPr>
          <p:cNvPr id="142" name="Conector de Seta Reta 141">
            <a:extLst>
              <a:ext uri="{FF2B5EF4-FFF2-40B4-BE49-F238E27FC236}">
                <a16:creationId xmlns:a16="http://schemas.microsoft.com/office/drawing/2014/main" id="{3FFD951C-E60D-E7CA-D041-A1218A9FD37B}"/>
              </a:ext>
            </a:extLst>
          </p:cNvPr>
          <p:cNvCxnSpPr>
            <a:cxnSpLocks/>
            <a:stCxn id="136" idx="2"/>
            <a:endCxn id="141" idx="0"/>
          </p:cNvCxnSpPr>
          <p:nvPr/>
        </p:nvCxnSpPr>
        <p:spPr>
          <a:xfrm flipH="1">
            <a:off x="10206750" y="3630694"/>
            <a:ext cx="1" cy="2067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Retângulo: Cantos Arredondados 147">
            <a:extLst>
              <a:ext uri="{FF2B5EF4-FFF2-40B4-BE49-F238E27FC236}">
                <a16:creationId xmlns:a16="http://schemas.microsoft.com/office/drawing/2014/main" id="{26F5F04D-C5D6-D65D-BF82-5A0E495CF6BD}"/>
              </a:ext>
            </a:extLst>
          </p:cNvPr>
          <p:cNvSpPr/>
          <p:nvPr/>
        </p:nvSpPr>
        <p:spPr>
          <a:xfrm>
            <a:off x="9567683" y="4587256"/>
            <a:ext cx="1278134" cy="540000"/>
          </a:xfrm>
          <a:prstGeom prst="roundRect">
            <a:avLst/>
          </a:prstGeom>
          <a:solidFill>
            <a:schemeClr val="bg1"/>
          </a:solidFill>
          <a:ln w="9525">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Carregar alterações no SGO</a:t>
            </a:r>
          </a:p>
        </p:txBody>
      </p:sp>
      <p:pic>
        <p:nvPicPr>
          <p:cNvPr id="149" name="Imagem 148" descr="Forma&#10;&#10;O conteúdo gerado por IA pode estar incorreto.">
            <a:extLst>
              <a:ext uri="{FF2B5EF4-FFF2-40B4-BE49-F238E27FC236}">
                <a16:creationId xmlns:a16="http://schemas.microsoft.com/office/drawing/2014/main" id="{D9E22737-0E7D-34C8-4B3E-74CD00F0E665}"/>
              </a:ext>
            </a:extLst>
          </p:cNvPr>
          <p:cNvPicPr>
            <a:picLocks noChangeAspect="1"/>
          </p:cNvPicPr>
          <p:nvPr/>
        </p:nvPicPr>
        <p:blipFill>
          <a:blip r:embed="rId2" cstate="print">
            <a:extLst>
              <a:ext uri="{28A0092B-C50C-407E-A947-70E740481C1C}">
                <a14:useLocalDpi xmlns:a14="http://schemas.microsoft.com/office/drawing/2010/main" val="0"/>
              </a:ext>
            </a:extLst>
          </a:blip>
          <a:srcRect l="17516" t="7881" r="16521" b="21920"/>
          <a:stretch>
            <a:fillRect/>
          </a:stretch>
        </p:blipFill>
        <p:spPr>
          <a:xfrm>
            <a:off x="10686461" y="4651576"/>
            <a:ext cx="129343" cy="137647"/>
          </a:xfrm>
          <a:prstGeom prst="rect">
            <a:avLst/>
          </a:prstGeom>
        </p:spPr>
      </p:pic>
      <p:cxnSp>
        <p:nvCxnSpPr>
          <p:cNvPr id="152" name="Conector de Seta Reta 151">
            <a:extLst>
              <a:ext uri="{FF2B5EF4-FFF2-40B4-BE49-F238E27FC236}">
                <a16:creationId xmlns:a16="http://schemas.microsoft.com/office/drawing/2014/main" id="{CFAA668F-761A-36EA-9BBA-5083302FF589}"/>
              </a:ext>
            </a:extLst>
          </p:cNvPr>
          <p:cNvCxnSpPr>
            <a:cxnSpLocks/>
            <a:stCxn id="141" idx="2"/>
            <a:endCxn id="148" idx="0"/>
          </p:cNvCxnSpPr>
          <p:nvPr/>
        </p:nvCxnSpPr>
        <p:spPr>
          <a:xfrm>
            <a:off x="10206750" y="4377449"/>
            <a:ext cx="0" cy="2098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Conector: Angulado 154">
            <a:extLst>
              <a:ext uri="{FF2B5EF4-FFF2-40B4-BE49-F238E27FC236}">
                <a16:creationId xmlns:a16="http://schemas.microsoft.com/office/drawing/2014/main" id="{4721A31B-5D9A-044C-FDCA-00382C6BA1AE}"/>
              </a:ext>
            </a:extLst>
          </p:cNvPr>
          <p:cNvCxnSpPr>
            <a:cxnSpLocks/>
            <a:stCxn id="148" idx="3"/>
            <a:endCxn id="47" idx="4"/>
          </p:cNvCxnSpPr>
          <p:nvPr/>
        </p:nvCxnSpPr>
        <p:spPr>
          <a:xfrm flipV="1">
            <a:off x="10845817" y="3607117"/>
            <a:ext cx="494255" cy="125013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Conector de Seta Reta 158">
            <a:extLst>
              <a:ext uri="{FF2B5EF4-FFF2-40B4-BE49-F238E27FC236}">
                <a16:creationId xmlns:a16="http://schemas.microsoft.com/office/drawing/2014/main" id="{D01C6604-E374-9B09-F8A2-72600AB246D4}"/>
              </a:ext>
            </a:extLst>
          </p:cNvPr>
          <p:cNvCxnSpPr>
            <a:cxnSpLocks/>
            <a:stCxn id="136" idx="3"/>
            <a:endCxn id="47" idx="2"/>
          </p:cNvCxnSpPr>
          <p:nvPr/>
        </p:nvCxnSpPr>
        <p:spPr>
          <a:xfrm>
            <a:off x="10414499" y="3422946"/>
            <a:ext cx="745553" cy="415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0" name="CaixaDeTexto 179">
            <a:extLst>
              <a:ext uri="{FF2B5EF4-FFF2-40B4-BE49-F238E27FC236}">
                <a16:creationId xmlns:a16="http://schemas.microsoft.com/office/drawing/2014/main" id="{5B21EC6A-D1E5-4B2E-63FE-EB6D8C173E74}"/>
              </a:ext>
            </a:extLst>
          </p:cNvPr>
          <p:cNvSpPr txBox="1"/>
          <p:nvPr/>
        </p:nvSpPr>
        <p:spPr>
          <a:xfrm>
            <a:off x="573892" y="1467922"/>
            <a:ext cx="6325616" cy="372409"/>
          </a:xfrm>
          <a:prstGeom prst="rect">
            <a:avLst/>
          </a:prstGeom>
          <a:solidFill>
            <a:srgbClr val="03738E"/>
          </a:solidFill>
        </p:spPr>
        <p:txBody>
          <a:bodyPr wrap="square" lIns="90000" rtlCol="0" anchor="ctr" anchorCtr="0">
            <a:noAutofit/>
          </a:bodyPr>
          <a:lstStyle/>
          <a:p>
            <a:pPr algn="ctr"/>
            <a:r>
              <a:rPr lang="pt-BR" sz="1600" b="1" dirty="0">
                <a:solidFill>
                  <a:schemeClr val="bg1"/>
                </a:solidFill>
              </a:rPr>
              <a:t>Executado no SGO</a:t>
            </a:r>
          </a:p>
        </p:txBody>
      </p:sp>
      <p:pic>
        <p:nvPicPr>
          <p:cNvPr id="7" name="Imagem 6" descr="Forma&#10;&#10;O conteúdo gerado por IA pode estar incorreto.">
            <a:extLst>
              <a:ext uri="{FF2B5EF4-FFF2-40B4-BE49-F238E27FC236}">
                <a16:creationId xmlns:a16="http://schemas.microsoft.com/office/drawing/2014/main" id="{E942439D-72C5-AC37-139A-263846EF1F7B}"/>
              </a:ext>
            </a:extLst>
          </p:cNvPr>
          <p:cNvPicPr>
            <a:picLocks noChangeAspect="1"/>
          </p:cNvPicPr>
          <p:nvPr/>
        </p:nvPicPr>
        <p:blipFill>
          <a:blip r:embed="rId3" cstate="print">
            <a:extLst>
              <a:ext uri="{28A0092B-C50C-407E-A947-70E740481C1C}">
                <a14:useLocalDpi xmlns:a14="http://schemas.microsoft.com/office/drawing/2010/main" val="0"/>
              </a:ext>
            </a:extLst>
          </a:blip>
          <a:srcRect l="17183" t="9127" r="17996" b="24273"/>
          <a:stretch>
            <a:fillRect/>
          </a:stretch>
        </p:blipFill>
        <p:spPr>
          <a:xfrm>
            <a:off x="8854933" y="3176550"/>
            <a:ext cx="118850" cy="122107"/>
          </a:xfrm>
          <a:prstGeom prst="rect">
            <a:avLst/>
          </a:prstGeom>
        </p:spPr>
      </p:pic>
      <p:sp>
        <p:nvSpPr>
          <p:cNvPr id="9" name="CaixaDeTexto 8">
            <a:extLst>
              <a:ext uri="{FF2B5EF4-FFF2-40B4-BE49-F238E27FC236}">
                <a16:creationId xmlns:a16="http://schemas.microsoft.com/office/drawing/2014/main" id="{CE7B0473-F385-8120-173E-5DC862FBA464}"/>
              </a:ext>
            </a:extLst>
          </p:cNvPr>
          <p:cNvSpPr txBox="1"/>
          <p:nvPr/>
        </p:nvSpPr>
        <p:spPr>
          <a:xfrm>
            <a:off x="7701122" y="2492896"/>
            <a:ext cx="996745" cy="491581"/>
          </a:xfrm>
          <a:prstGeom prst="rect">
            <a:avLst/>
          </a:prstGeom>
          <a:noFill/>
          <a:ln>
            <a:solidFill>
              <a:srgbClr val="03738E"/>
            </a:solidFill>
            <a:prstDash val="dash"/>
          </a:ln>
        </p:spPr>
        <p:txBody>
          <a:bodyPr wrap="square" rtlCol="0">
            <a:spAutoFit/>
          </a:bodyPr>
          <a:lstStyle>
            <a:defPPr>
              <a:defRPr lang="pt-BR"/>
            </a:defPPr>
            <a:lvl1pPr>
              <a:defRPr sz="900" b="0" i="1"/>
            </a:lvl1pPr>
          </a:lstStyle>
          <a:p>
            <a:r>
              <a:rPr lang="pt-BR" dirty="0"/>
              <a:t>Por tipo de obra, escopo e tipo de gasto</a:t>
            </a:r>
          </a:p>
        </p:txBody>
      </p:sp>
      <p:cxnSp>
        <p:nvCxnSpPr>
          <p:cNvPr id="10" name="Conector: Angulado 9">
            <a:extLst>
              <a:ext uri="{FF2B5EF4-FFF2-40B4-BE49-F238E27FC236}">
                <a16:creationId xmlns:a16="http://schemas.microsoft.com/office/drawing/2014/main" id="{D5675383-4DA4-A811-8991-F8374972E17B}"/>
              </a:ext>
            </a:extLst>
          </p:cNvPr>
          <p:cNvCxnSpPr>
            <a:cxnSpLocks/>
            <a:stCxn id="123" idx="0"/>
            <a:endCxn id="9" idx="2"/>
          </p:cNvCxnSpPr>
          <p:nvPr/>
        </p:nvCxnSpPr>
        <p:spPr>
          <a:xfrm rot="16200000" flipV="1">
            <a:off x="8182729" y="3001243"/>
            <a:ext cx="166736" cy="133203"/>
          </a:xfrm>
          <a:prstGeom prst="bentConnector3">
            <a:avLst>
              <a:gd name="adj1" fmla="val 50000"/>
            </a:avLst>
          </a:prstGeom>
          <a:noFill/>
          <a:ln>
            <a:solidFill>
              <a:srgbClr val="03738E"/>
            </a:solidFill>
            <a:prstDash val="dash"/>
          </a:ln>
        </p:spPr>
      </p:cxnSp>
      <p:sp>
        <p:nvSpPr>
          <p:cNvPr id="13" name="Retângulo: Cantos Arredondados 12">
            <a:extLst>
              <a:ext uri="{FF2B5EF4-FFF2-40B4-BE49-F238E27FC236}">
                <a16:creationId xmlns:a16="http://schemas.microsoft.com/office/drawing/2014/main" id="{1C540556-805C-0B27-0C2D-461E6EDA4B2E}"/>
              </a:ext>
            </a:extLst>
          </p:cNvPr>
          <p:cNvSpPr/>
          <p:nvPr/>
        </p:nvSpPr>
        <p:spPr>
          <a:xfrm>
            <a:off x="6312024" y="3152079"/>
            <a:ext cx="960632" cy="540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Liberar edição no HUB</a:t>
            </a:r>
          </a:p>
        </p:txBody>
      </p:sp>
      <p:cxnSp>
        <p:nvCxnSpPr>
          <p:cNvPr id="24" name="Conector de Seta Reta 23">
            <a:extLst>
              <a:ext uri="{FF2B5EF4-FFF2-40B4-BE49-F238E27FC236}">
                <a16:creationId xmlns:a16="http://schemas.microsoft.com/office/drawing/2014/main" id="{B5EAEF24-CC61-F483-5888-BFAB5366E700}"/>
              </a:ext>
            </a:extLst>
          </p:cNvPr>
          <p:cNvCxnSpPr>
            <a:cxnSpLocks/>
            <a:stCxn id="13" idx="3"/>
            <a:endCxn id="123" idx="1"/>
          </p:cNvCxnSpPr>
          <p:nvPr/>
        </p:nvCxnSpPr>
        <p:spPr>
          <a:xfrm flipV="1">
            <a:off x="7272656" y="3421213"/>
            <a:ext cx="361954" cy="8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tângulo: Cantos Arredondados 34">
            <a:extLst>
              <a:ext uri="{FF2B5EF4-FFF2-40B4-BE49-F238E27FC236}">
                <a16:creationId xmlns:a16="http://schemas.microsoft.com/office/drawing/2014/main" id="{E90CB347-82E8-90EF-9075-B671CB9290E3}"/>
              </a:ext>
            </a:extLst>
          </p:cNvPr>
          <p:cNvSpPr/>
          <p:nvPr/>
        </p:nvSpPr>
        <p:spPr>
          <a:xfrm>
            <a:off x="4246017" y="4736978"/>
            <a:ext cx="1405947" cy="540000"/>
          </a:xfrm>
          <a:prstGeom prst="roundRect">
            <a:avLst/>
          </a:prstGeom>
          <a:solidFill>
            <a:schemeClr val="bg1"/>
          </a:solidFill>
          <a:ln w="9525">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Carregar alterações no HUB</a:t>
            </a:r>
          </a:p>
        </p:txBody>
      </p:sp>
      <p:pic>
        <p:nvPicPr>
          <p:cNvPr id="38" name="Imagem 37" descr="Forma&#10;&#10;O conteúdo gerado por IA pode estar incorreto.">
            <a:extLst>
              <a:ext uri="{FF2B5EF4-FFF2-40B4-BE49-F238E27FC236}">
                <a16:creationId xmlns:a16="http://schemas.microsoft.com/office/drawing/2014/main" id="{C1B3E8CE-8FF4-158B-BF5E-78C45C912608}"/>
              </a:ext>
            </a:extLst>
          </p:cNvPr>
          <p:cNvPicPr>
            <a:picLocks noChangeAspect="1"/>
          </p:cNvPicPr>
          <p:nvPr/>
        </p:nvPicPr>
        <p:blipFill>
          <a:blip r:embed="rId2" cstate="print">
            <a:extLst>
              <a:ext uri="{28A0092B-C50C-407E-A947-70E740481C1C}">
                <a14:useLocalDpi xmlns:a14="http://schemas.microsoft.com/office/drawing/2010/main" val="0"/>
              </a:ext>
            </a:extLst>
          </a:blip>
          <a:srcRect l="17516" t="7881" r="16521" b="21920"/>
          <a:stretch>
            <a:fillRect/>
          </a:stretch>
        </p:blipFill>
        <p:spPr>
          <a:xfrm>
            <a:off x="5504978" y="4767216"/>
            <a:ext cx="129343" cy="137647"/>
          </a:xfrm>
          <a:prstGeom prst="rect">
            <a:avLst/>
          </a:prstGeom>
        </p:spPr>
      </p:pic>
      <p:cxnSp>
        <p:nvCxnSpPr>
          <p:cNvPr id="52" name="Conector de Seta Reta 51">
            <a:extLst>
              <a:ext uri="{FF2B5EF4-FFF2-40B4-BE49-F238E27FC236}">
                <a16:creationId xmlns:a16="http://schemas.microsoft.com/office/drawing/2014/main" id="{9F9BE667-8B5C-EE2E-E02F-FF4C8BC79F0E}"/>
              </a:ext>
            </a:extLst>
          </p:cNvPr>
          <p:cNvCxnSpPr>
            <a:cxnSpLocks/>
            <a:stCxn id="33" idx="2"/>
            <a:endCxn id="35" idx="0"/>
          </p:cNvCxnSpPr>
          <p:nvPr/>
        </p:nvCxnSpPr>
        <p:spPr>
          <a:xfrm>
            <a:off x="4948990" y="4569209"/>
            <a:ext cx="1" cy="1677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CaixaDeTexto 57">
            <a:extLst>
              <a:ext uri="{FF2B5EF4-FFF2-40B4-BE49-F238E27FC236}">
                <a16:creationId xmlns:a16="http://schemas.microsoft.com/office/drawing/2014/main" id="{443E2843-76B1-FA06-2307-B03365EE0F92}"/>
              </a:ext>
            </a:extLst>
          </p:cNvPr>
          <p:cNvSpPr txBox="1"/>
          <p:nvPr/>
        </p:nvSpPr>
        <p:spPr>
          <a:xfrm>
            <a:off x="7784883" y="1467922"/>
            <a:ext cx="3927710" cy="372409"/>
          </a:xfrm>
          <a:prstGeom prst="rect">
            <a:avLst/>
          </a:prstGeom>
          <a:solidFill>
            <a:srgbClr val="03738E"/>
          </a:solidFill>
        </p:spPr>
        <p:txBody>
          <a:bodyPr wrap="square" lIns="90000" rtlCol="0" anchor="ctr" anchorCtr="0">
            <a:noAutofit/>
          </a:bodyPr>
          <a:lstStyle/>
          <a:p>
            <a:pPr algn="ctr"/>
            <a:r>
              <a:rPr lang="pt-BR" sz="1600" b="1" dirty="0">
                <a:solidFill>
                  <a:schemeClr val="bg1"/>
                </a:solidFill>
              </a:rPr>
              <a:t>Executado no HUB</a:t>
            </a:r>
          </a:p>
        </p:txBody>
      </p:sp>
      <p:sp>
        <p:nvSpPr>
          <p:cNvPr id="61" name="CaixaDeTexto 60">
            <a:extLst>
              <a:ext uri="{FF2B5EF4-FFF2-40B4-BE49-F238E27FC236}">
                <a16:creationId xmlns:a16="http://schemas.microsoft.com/office/drawing/2014/main" id="{B43E40A4-1E86-7068-4FB1-1E1C0969E33C}"/>
              </a:ext>
            </a:extLst>
          </p:cNvPr>
          <p:cNvSpPr txBox="1"/>
          <p:nvPr/>
        </p:nvSpPr>
        <p:spPr>
          <a:xfrm>
            <a:off x="689665" y="1873845"/>
            <a:ext cx="6094070" cy="461665"/>
          </a:xfrm>
          <a:prstGeom prst="rect">
            <a:avLst/>
          </a:prstGeom>
          <a:noFill/>
        </p:spPr>
        <p:txBody>
          <a:bodyPr wrap="square" rtlCol="0">
            <a:spAutoFit/>
          </a:bodyPr>
          <a:lstStyle>
            <a:defPPr>
              <a:defRPr lang="pt-BR"/>
            </a:defPPr>
            <a:lvl1pPr algn="ctr">
              <a:defRPr sz="1400" b="1"/>
            </a:lvl1pPr>
          </a:lstStyle>
          <a:p>
            <a:r>
              <a:rPr lang="pt-BR" sz="1200" dirty="0"/>
              <a:t>Fluxo de dados</a:t>
            </a:r>
            <a:r>
              <a:rPr lang="pt-BR" sz="1200" b="0" dirty="0"/>
              <a:t>: Executado no SGO </a:t>
            </a:r>
            <a:r>
              <a:rPr lang="pt-BR" sz="1200" b="0" dirty="0">
                <a:sym typeface="Wingdings" panose="05000000000000000000" pitchFamily="2" charset="2"/>
              </a:rPr>
              <a:t> Refletido no HUB</a:t>
            </a:r>
          </a:p>
          <a:p>
            <a:r>
              <a:rPr lang="pt-BR" sz="1200" b="0" dirty="0">
                <a:sym typeface="Wingdings" panose="05000000000000000000" pitchFamily="2" charset="2"/>
              </a:rPr>
              <a:t>HUB bloqueado para edição até a liberação</a:t>
            </a:r>
            <a:endParaRPr lang="pt-BR" sz="1200" b="0" dirty="0"/>
          </a:p>
        </p:txBody>
      </p:sp>
      <p:sp>
        <p:nvSpPr>
          <p:cNvPr id="64" name="CaixaDeTexto 63">
            <a:extLst>
              <a:ext uri="{FF2B5EF4-FFF2-40B4-BE49-F238E27FC236}">
                <a16:creationId xmlns:a16="http://schemas.microsoft.com/office/drawing/2014/main" id="{111F806C-3C34-7282-1BF3-3E70FE3B19DF}"/>
              </a:ext>
            </a:extLst>
          </p:cNvPr>
          <p:cNvSpPr txBox="1"/>
          <p:nvPr/>
        </p:nvSpPr>
        <p:spPr>
          <a:xfrm>
            <a:off x="7424296" y="1873845"/>
            <a:ext cx="4661598" cy="461665"/>
          </a:xfrm>
          <a:prstGeom prst="rect">
            <a:avLst/>
          </a:prstGeom>
          <a:noFill/>
        </p:spPr>
        <p:txBody>
          <a:bodyPr wrap="square" rtlCol="0">
            <a:spAutoFit/>
          </a:bodyPr>
          <a:lstStyle>
            <a:defPPr>
              <a:defRPr lang="pt-BR"/>
            </a:defPPr>
            <a:lvl1pPr algn="ctr">
              <a:defRPr sz="1400" b="1"/>
            </a:lvl1pPr>
          </a:lstStyle>
          <a:p>
            <a:r>
              <a:rPr lang="pt-BR" sz="1200" dirty="0"/>
              <a:t>Fluxo de dados</a:t>
            </a:r>
            <a:r>
              <a:rPr lang="pt-BR" sz="1200" b="0" dirty="0"/>
              <a:t>: Executado no HUB </a:t>
            </a:r>
            <a:r>
              <a:rPr lang="pt-BR" sz="1200" b="0" dirty="0">
                <a:sym typeface="Wingdings" panose="05000000000000000000" pitchFamily="2" charset="2"/>
              </a:rPr>
              <a:t> Refletido no SGO</a:t>
            </a:r>
          </a:p>
          <a:p>
            <a:r>
              <a:rPr lang="pt-BR" sz="1200" b="0" dirty="0">
                <a:sym typeface="Wingdings" panose="05000000000000000000" pitchFamily="2" charset="2"/>
              </a:rPr>
              <a:t>SGO bloqueado para edição</a:t>
            </a:r>
            <a:endParaRPr lang="pt-BR" sz="1200" b="0" dirty="0"/>
          </a:p>
        </p:txBody>
      </p:sp>
      <p:sp>
        <p:nvSpPr>
          <p:cNvPr id="65" name="Retângulo: Cantos Arredondados 64">
            <a:extLst>
              <a:ext uri="{FF2B5EF4-FFF2-40B4-BE49-F238E27FC236}">
                <a16:creationId xmlns:a16="http://schemas.microsoft.com/office/drawing/2014/main" id="{6626F219-82C7-E55B-3055-825E617D0795}"/>
              </a:ext>
            </a:extLst>
          </p:cNvPr>
          <p:cNvSpPr/>
          <p:nvPr/>
        </p:nvSpPr>
        <p:spPr>
          <a:xfrm>
            <a:off x="839416" y="6516394"/>
            <a:ext cx="336573" cy="189267"/>
          </a:xfrm>
          <a:prstGeom prst="roundRect">
            <a:avLst/>
          </a:prstGeom>
          <a:solidFill>
            <a:schemeClr val="bg1"/>
          </a:solidFill>
          <a:ln w="9525">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6" name="Retângulo: Cantos Arredondados 65">
            <a:extLst>
              <a:ext uri="{FF2B5EF4-FFF2-40B4-BE49-F238E27FC236}">
                <a16:creationId xmlns:a16="http://schemas.microsoft.com/office/drawing/2014/main" id="{00857C55-16BD-E322-B1C1-3F5F1729C0E2}"/>
              </a:ext>
            </a:extLst>
          </p:cNvPr>
          <p:cNvSpPr/>
          <p:nvPr/>
        </p:nvSpPr>
        <p:spPr>
          <a:xfrm>
            <a:off x="2754788" y="6516394"/>
            <a:ext cx="336573" cy="189267"/>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7" name="CaixaDeTexto 66">
            <a:extLst>
              <a:ext uri="{FF2B5EF4-FFF2-40B4-BE49-F238E27FC236}">
                <a16:creationId xmlns:a16="http://schemas.microsoft.com/office/drawing/2014/main" id="{D6D667D2-83A0-40F2-97E5-D455AE490279}"/>
              </a:ext>
            </a:extLst>
          </p:cNvPr>
          <p:cNvSpPr txBox="1"/>
          <p:nvPr/>
        </p:nvSpPr>
        <p:spPr>
          <a:xfrm>
            <a:off x="1154077" y="6495611"/>
            <a:ext cx="1622623" cy="230832"/>
          </a:xfrm>
          <a:prstGeom prst="rect">
            <a:avLst/>
          </a:prstGeom>
          <a:noFill/>
        </p:spPr>
        <p:txBody>
          <a:bodyPr wrap="square" rtlCol="0">
            <a:spAutoFit/>
          </a:bodyPr>
          <a:lstStyle/>
          <a:p>
            <a:r>
              <a:rPr lang="pt-BR" sz="900" dirty="0"/>
              <a:t>Integração com outro sistema</a:t>
            </a:r>
          </a:p>
        </p:txBody>
      </p:sp>
      <p:sp>
        <p:nvSpPr>
          <p:cNvPr id="68" name="CaixaDeTexto 67">
            <a:extLst>
              <a:ext uri="{FF2B5EF4-FFF2-40B4-BE49-F238E27FC236}">
                <a16:creationId xmlns:a16="http://schemas.microsoft.com/office/drawing/2014/main" id="{47B56D7A-082A-1006-FE18-51DA901F2054}"/>
              </a:ext>
            </a:extLst>
          </p:cNvPr>
          <p:cNvSpPr txBox="1"/>
          <p:nvPr/>
        </p:nvSpPr>
        <p:spPr>
          <a:xfrm>
            <a:off x="3121280" y="6495611"/>
            <a:ext cx="1868687" cy="230832"/>
          </a:xfrm>
          <a:prstGeom prst="rect">
            <a:avLst/>
          </a:prstGeom>
          <a:noFill/>
        </p:spPr>
        <p:txBody>
          <a:bodyPr wrap="square" rtlCol="0">
            <a:spAutoFit/>
          </a:bodyPr>
          <a:lstStyle/>
          <a:p>
            <a:r>
              <a:rPr lang="pt-BR" sz="900" dirty="0"/>
              <a:t>Atividade executada sem integração</a:t>
            </a:r>
          </a:p>
        </p:txBody>
      </p:sp>
      <p:sp>
        <p:nvSpPr>
          <p:cNvPr id="69" name="CaixaDeTexto 68">
            <a:extLst>
              <a:ext uri="{FF2B5EF4-FFF2-40B4-BE49-F238E27FC236}">
                <a16:creationId xmlns:a16="http://schemas.microsoft.com/office/drawing/2014/main" id="{365E24A6-7F64-4F7B-CDC3-7B3691106C56}"/>
              </a:ext>
            </a:extLst>
          </p:cNvPr>
          <p:cNvSpPr txBox="1"/>
          <p:nvPr/>
        </p:nvSpPr>
        <p:spPr>
          <a:xfrm>
            <a:off x="191345" y="6495611"/>
            <a:ext cx="636166" cy="230832"/>
          </a:xfrm>
          <a:prstGeom prst="rect">
            <a:avLst/>
          </a:prstGeom>
          <a:noFill/>
        </p:spPr>
        <p:txBody>
          <a:bodyPr wrap="square" rtlCol="0">
            <a:spAutoFit/>
          </a:bodyPr>
          <a:lstStyle/>
          <a:p>
            <a:r>
              <a:rPr lang="pt-BR" sz="900" b="1" dirty="0"/>
              <a:t>Legenda:</a:t>
            </a:r>
          </a:p>
        </p:txBody>
      </p:sp>
      <p:grpSp>
        <p:nvGrpSpPr>
          <p:cNvPr id="2" name="Group 1">
            <a:extLst>
              <a:ext uri="{FF2B5EF4-FFF2-40B4-BE49-F238E27FC236}">
                <a16:creationId xmlns:a16="http://schemas.microsoft.com/office/drawing/2014/main" id="{8FA8130E-9479-175E-0CC7-7D1C03D8E438}"/>
              </a:ext>
            </a:extLst>
          </p:cNvPr>
          <p:cNvGrpSpPr/>
          <p:nvPr/>
        </p:nvGrpSpPr>
        <p:grpSpPr>
          <a:xfrm>
            <a:off x="767408" y="1498750"/>
            <a:ext cx="307102" cy="294670"/>
            <a:chOff x="1474193" y="2612660"/>
            <a:chExt cx="307102" cy="294670"/>
          </a:xfrm>
        </p:grpSpPr>
        <p:sp>
          <p:nvSpPr>
            <p:cNvPr id="3" name="Elipse 6">
              <a:extLst>
                <a:ext uri="{FF2B5EF4-FFF2-40B4-BE49-F238E27FC236}">
                  <a16:creationId xmlns:a16="http://schemas.microsoft.com/office/drawing/2014/main" id="{5D6D02D6-420E-93EB-B1F3-A28E444F3917}"/>
                </a:ext>
              </a:extLst>
            </p:cNvPr>
            <p:cNvSpPr/>
            <p:nvPr/>
          </p:nvSpPr>
          <p:spPr>
            <a:xfrm>
              <a:off x="1474193" y="2612660"/>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4" name="Imagem 7" descr="Uma imagem contendo Ícone&#10;&#10;O conteúdo gerado por IA pode estar incorreto.">
              <a:extLst>
                <a:ext uri="{FF2B5EF4-FFF2-40B4-BE49-F238E27FC236}">
                  <a16:creationId xmlns:a16="http://schemas.microsoft.com/office/drawing/2014/main" id="{FBCAF581-8E4A-0A81-F7B7-B10E84F51FD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97009" y="2629260"/>
              <a:ext cx="261470" cy="261470"/>
            </a:xfrm>
            <a:prstGeom prst="rect">
              <a:avLst/>
            </a:prstGeom>
          </p:spPr>
        </p:pic>
      </p:grpSp>
      <p:grpSp>
        <p:nvGrpSpPr>
          <p:cNvPr id="19" name="Group 18">
            <a:extLst>
              <a:ext uri="{FF2B5EF4-FFF2-40B4-BE49-F238E27FC236}">
                <a16:creationId xmlns:a16="http://schemas.microsoft.com/office/drawing/2014/main" id="{756D248F-F2AE-C7D4-7C0C-9CD664041C6A}"/>
              </a:ext>
            </a:extLst>
          </p:cNvPr>
          <p:cNvGrpSpPr/>
          <p:nvPr/>
        </p:nvGrpSpPr>
        <p:grpSpPr>
          <a:xfrm>
            <a:off x="7976917" y="1498750"/>
            <a:ext cx="307102" cy="294670"/>
            <a:chOff x="7232497" y="2310766"/>
            <a:chExt cx="307102" cy="294670"/>
          </a:xfrm>
        </p:grpSpPr>
        <p:sp>
          <p:nvSpPr>
            <p:cNvPr id="20" name="Elipse 29">
              <a:extLst>
                <a:ext uri="{FF2B5EF4-FFF2-40B4-BE49-F238E27FC236}">
                  <a16:creationId xmlns:a16="http://schemas.microsoft.com/office/drawing/2014/main" id="{83166F15-7C20-9C3A-FFFF-1E238EFBBA75}"/>
                </a:ext>
              </a:extLst>
            </p:cNvPr>
            <p:cNvSpPr/>
            <p:nvPr/>
          </p:nvSpPr>
          <p:spPr>
            <a:xfrm>
              <a:off x="7232497" y="2310766"/>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1" name="Group 20">
              <a:extLst>
                <a:ext uri="{FF2B5EF4-FFF2-40B4-BE49-F238E27FC236}">
                  <a16:creationId xmlns:a16="http://schemas.microsoft.com/office/drawing/2014/main" id="{FB01D91F-D9CA-0F93-C16D-CC3F9A57EABB}"/>
                </a:ext>
              </a:extLst>
            </p:cNvPr>
            <p:cNvGrpSpPr>
              <a:grpSpLocks noChangeAspect="1"/>
            </p:cNvGrpSpPr>
            <p:nvPr/>
          </p:nvGrpSpPr>
          <p:grpSpPr>
            <a:xfrm>
              <a:off x="7261411" y="2347176"/>
              <a:ext cx="249275" cy="221851"/>
              <a:chOff x="1343466" y="852742"/>
              <a:chExt cx="5789425" cy="5152516"/>
            </a:xfrm>
          </p:grpSpPr>
          <p:pic>
            <p:nvPicPr>
              <p:cNvPr id="22" name="Picture 2">
                <a:extLst>
                  <a:ext uri="{FF2B5EF4-FFF2-40B4-BE49-F238E27FC236}">
                    <a16:creationId xmlns:a16="http://schemas.microsoft.com/office/drawing/2014/main" id="{40A1A344-3CDD-8325-BC52-4BCE7296B58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43466" y="852742"/>
                <a:ext cx="5789425" cy="5152516"/>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3BEDA27A-BF05-067A-E5A0-CD8257E42717}"/>
                  </a:ext>
                </a:extLst>
              </p:cNvPr>
              <p:cNvGrpSpPr>
                <a:grpSpLocks noChangeAspect="1"/>
              </p:cNvGrpSpPr>
              <p:nvPr/>
            </p:nvGrpSpPr>
            <p:grpSpPr>
              <a:xfrm>
                <a:off x="3356184" y="2547000"/>
                <a:ext cx="1764000" cy="1764000"/>
                <a:chOff x="7959484" y="1556793"/>
                <a:chExt cx="3024000" cy="3024000"/>
              </a:xfrm>
            </p:grpSpPr>
            <p:sp>
              <p:nvSpPr>
                <p:cNvPr id="27" name="Oval 26">
                  <a:extLst>
                    <a:ext uri="{FF2B5EF4-FFF2-40B4-BE49-F238E27FC236}">
                      <a16:creationId xmlns:a16="http://schemas.microsoft.com/office/drawing/2014/main" id="{6F3D5701-FEDE-EEA8-D0CA-5992EC360040}"/>
                    </a:ext>
                  </a:extLst>
                </p:cNvPr>
                <p:cNvSpPr>
                  <a:spLocks noChangeAspect="1"/>
                </p:cNvSpPr>
                <p:nvPr/>
              </p:nvSpPr>
              <p:spPr>
                <a:xfrm>
                  <a:off x="7959484" y="1556793"/>
                  <a:ext cx="3024000" cy="3024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28" name="Picture 4">
                  <a:extLst>
                    <a:ext uri="{FF2B5EF4-FFF2-40B4-BE49-F238E27FC236}">
                      <a16:creationId xmlns:a16="http://schemas.microsoft.com/office/drawing/2014/main" id="{1DD09DD7-EA46-4CB6-17F2-E6187B35FF0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17253" y="1614562"/>
                  <a:ext cx="2908460" cy="2908460"/>
                </a:xfrm>
                <a:prstGeom prst="rect">
                  <a:avLst/>
                </a:prstGeom>
                <a:noFill/>
                <a:extLst>
                  <a:ext uri="{909E8E84-426E-40DD-AFC4-6F175D3DCCD1}">
                    <a14:hiddenFill xmlns:a14="http://schemas.microsoft.com/office/drawing/2010/main">
                      <a:solidFill>
                        <a:srgbClr val="FFFFFF"/>
                      </a:solidFill>
                    </a14:hiddenFill>
                  </a:ext>
                </a:extLst>
              </p:spPr>
            </p:pic>
          </p:grpSp>
        </p:grpSp>
      </p:grpSp>
    </p:spTree>
    <p:extLst>
      <p:ext uri="{BB962C8B-B14F-4D97-AF65-F5344CB8AC3E}">
        <p14:creationId xmlns:p14="http://schemas.microsoft.com/office/powerpoint/2010/main" val="297484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8E21E-7741-752B-47D1-6A93FD04F542}"/>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5EAEA287-84A2-2490-1D43-84CD9565E427}"/>
              </a:ext>
            </a:extLst>
          </p:cNvPr>
          <p:cNvSpPr>
            <a:spLocks noGrp="1"/>
          </p:cNvSpPr>
          <p:nvPr>
            <p:ph type="title"/>
          </p:nvPr>
        </p:nvSpPr>
        <p:spPr/>
        <p:txBody>
          <a:bodyPr/>
          <a:lstStyle/>
          <a:p>
            <a:r>
              <a:rPr lang="pt-BR" dirty="0"/>
              <a:t>Cadastro e edição da parada e relação entre SGO e HUB</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Lista de Campos</a:t>
            </a:r>
            <a:endParaRPr lang="pt-BR" dirty="0"/>
          </a:p>
        </p:txBody>
      </p:sp>
      <p:sp>
        <p:nvSpPr>
          <p:cNvPr id="7" name="Retângulo 6">
            <a:extLst>
              <a:ext uri="{FF2B5EF4-FFF2-40B4-BE49-F238E27FC236}">
                <a16:creationId xmlns:a16="http://schemas.microsoft.com/office/drawing/2014/main" id="{E21FB13A-5FAA-F361-8A28-39C8C2F7218F}"/>
              </a:ext>
            </a:extLst>
          </p:cNvPr>
          <p:cNvSpPr/>
          <p:nvPr/>
        </p:nvSpPr>
        <p:spPr>
          <a:xfrm>
            <a:off x="1343472" y="1135424"/>
            <a:ext cx="9505056" cy="525264"/>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b="1" dirty="0">
                <a:solidFill>
                  <a:schemeClr val="bg1"/>
                </a:solidFill>
              </a:rPr>
              <a:t>SGO</a:t>
            </a:r>
          </a:p>
        </p:txBody>
      </p:sp>
      <p:graphicFrame>
        <p:nvGraphicFramePr>
          <p:cNvPr id="8" name="Tabela 7">
            <a:extLst>
              <a:ext uri="{FF2B5EF4-FFF2-40B4-BE49-F238E27FC236}">
                <a16:creationId xmlns:a16="http://schemas.microsoft.com/office/drawing/2014/main" id="{BEB395EC-B101-8108-38C9-0E3CD2F41C68}"/>
              </a:ext>
            </a:extLst>
          </p:cNvPr>
          <p:cNvGraphicFramePr>
            <a:graphicFrameLocks noGrp="1"/>
          </p:cNvGraphicFramePr>
          <p:nvPr>
            <p:extLst>
              <p:ext uri="{D42A27DB-BD31-4B8C-83A1-F6EECF244321}">
                <p14:modId xmlns:p14="http://schemas.microsoft.com/office/powerpoint/2010/main" val="703377016"/>
              </p:ext>
            </p:extLst>
          </p:nvPr>
        </p:nvGraphicFramePr>
        <p:xfrm>
          <a:off x="1686523" y="1556792"/>
          <a:ext cx="8818954" cy="4680000"/>
        </p:xfrm>
        <a:graphic>
          <a:graphicData uri="http://schemas.openxmlformats.org/drawingml/2006/table">
            <a:tbl>
              <a:tblPr>
                <a:tableStyleId>{2D5ABB26-0587-4C30-8999-92F81FD0307C}</a:tableStyleId>
              </a:tblPr>
              <a:tblGrid>
                <a:gridCol w="1978194">
                  <a:extLst>
                    <a:ext uri="{9D8B030D-6E8A-4147-A177-3AD203B41FA5}">
                      <a16:colId xmlns:a16="http://schemas.microsoft.com/office/drawing/2014/main" val="977956249"/>
                    </a:ext>
                  </a:extLst>
                </a:gridCol>
                <a:gridCol w="6840760">
                  <a:extLst>
                    <a:ext uri="{9D8B030D-6E8A-4147-A177-3AD203B41FA5}">
                      <a16:colId xmlns:a16="http://schemas.microsoft.com/office/drawing/2014/main" val="3106532832"/>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do Sistema</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Descrição dos Campos</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marL="0" indent="0">
                        <a:buFont typeface="Wingdings" panose="05000000000000000000" pitchFamily="2" charset="2"/>
                        <a:buNone/>
                      </a:pPr>
                      <a:r>
                        <a:rPr lang="pt-BR" sz="1200" dirty="0"/>
                        <a:t>ID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indent="0">
                        <a:buFont typeface="Wingdings" panose="05000000000000000000" pitchFamily="2" charset="2"/>
                        <a:buNone/>
                      </a:pPr>
                      <a:r>
                        <a:rPr lang="pt-BR" sz="1200" dirty="0"/>
                        <a:t>“CPF da Parada” – Sequência numérica que identifica 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Status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Marco que representa sua posição da Parada em seu ciclo de vida — desde o cadastro até a conclusão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 Parada tem Orçamento?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 Parada foi orçada no ano vigente? (Sim / Não)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513795516"/>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Adequação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É uma adequação contratual? (Sim / Não)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Coletores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Tipos de Obra previstas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Inspeção de Casco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Será feita inspeção de casco? Se sim, será em dique seco ou com a embarcação na água?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Condição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 Parada será executada no seco ou na água?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Embarcação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Nome da embarcação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Local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Local previsto para execução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Nome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Nome dado pelo time de Planejamento da Área Técnica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04559525"/>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Início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prevista para início da execução do escopo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563318421"/>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da Obra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1055061" rtl="0" eaLnBrk="1" fontAlgn="b" latinLnBrk="0" hangingPunct="1">
                        <a:lnSpc>
                          <a:spcPct val="100000"/>
                        </a:lnSpc>
                        <a:spcBef>
                          <a:spcPts val="0"/>
                        </a:spcBef>
                        <a:spcAft>
                          <a:spcPts val="0"/>
                        </a:spcAft>
                        <a:buClrTx/>
                        <a:buSzTx/>
                        <a:buFontTx/>
                        <a:buNone/>
                        <a:tabLst/>
                        <a:defRPr/>
                      </a:pPr>
                      <a:r>
                        <a:rPr lang="pt-BR" sz="1200" u="none" strike="noStrike" kern="1200" dirty="0">
                          <a:solidFill>
                            <a:schemeClr val="tx1"/>
                          </a:solidFill>
                          <a:effectLst/>
                          <a:latin typeface="+mn-lt"/>
                          <a:ea typeface="+mn-ea"/>
                          <a:cs typeface="+mn-cs"/>
                        </a:rPr>
                        <a:t>Duração prevista em dias execução do escopo da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7801691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dos Testes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prevista em dias dos testes operacionais da embarcações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492801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da Aceitação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1055061" rtl="0" eaLnBrk="1" fontAlgn="b" latinLnBrk="0" hangingPunct="1">
                        <a:lnSpc>
                          <a:spcPct val="100000"/>
                        </a:lnSpc>
                        <a:spcBef>
                          <a:spcPts val="0"/>
                        </a:spcBef>
                        <a:spcAft>
                          <a:spcPts val="0"/>
                        </a:spcAft>
                        <a:buClrTx/>
                        <a:buSzTx/>
                        <a:buFontTx/>
                        <a:buNone/>
                        <a:tabLst/>
                        <a:defRPr/>
                      </a:pPr>
                      <a:r>
                        <a:rPr lang="pt-BR" sz="1200" u="none" strike="noStrike" kern="1200" dirty="0">
                          <a:solidFill>
                            <a:schemeClr val="tx1"/>
                          </a:solidFill>
                          <a:effectLst/>
                          <a:latin typeface="+mn-lt"/>
                          <a:ea typeface="+mn-ea"/>
                          <a:cs typeface="+mn-cs"/>
                        </a:rPr>
                        <a:t>Duração prevista em dias dos testes para avaliação e aceitação das adequações feitas na embarcação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6933758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Total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Duração prevista em dias desde o início da Parada até o fim do período de Aceitação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85340682"/>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de Término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início + Duração Total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617108569"/>
                  </a:ext>
                </a:extLst>
              </a:tr>
              <a:tr h="216000">
                <a:tc>
                  <a:txBody>
                    <a:bodyPr/>
                    <a:lstStyle/>
                    <a:p>
                      <a:pPr marL="0" algn="l" defTabSz="1055061" rtl="0" eaLnBrk="1" fontAlgn="b" latinLnBrk="0" hangingPunct="1">
                        <a:buNone/>
                      </a:pPr>
                      <a:r>
                        <a:rPr lang="pt-BR" sz="1200" u="none" strike="noStrike" kern="1200" dirty="0" err="1">
                          <a:solidFill>
                            <a:schemeClr val="tx1"/>
                          </a:solidFill>
                          <a:effectLst/>
                          <a:latin typeface="+mn-lt"/>
                          <a:ea typeface="+mn-ea"/>
                          <a:cs typeface="+mn-cs"/>
                        </a:rPr>
                        <a:t>Coord</a:t>
                      </a:r>
                      <a:r>
                        <a:rPr lang="pt-BR" sz="1200" u="none" strike="noStrike" kern="1200" dirty="0">
                          <a:solidFill>
                            <a:schemeClr val="tx1"/>
                          </a:solidFill>
                          <a:effectLst/>
                          <a:latin typeface="+mn-lt"/>
                          <a:ea typeface="+mn-ea"/>
                          <a:cs typeface="+mn-cs"/>
                        </a:rPr>
                        <a:t> de Frota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Coordenador responsável pela embarcação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9480291"/>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Gerente de Frota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marR="0" lvl="0" indent="0" algn="l" defTabSz="1055061" rtl="0" eaLnBrk="1" fontAlgn="b" latinLnBrk="0" hangingPunct="1">
                        <a:lnSpc>
                          <a:spcPct val="100000"/>
                        </a:lnSpc>
                        <a:spcBef>
                          <a:spcPts val="0"/>
                        </a:spcBef>
                        <a:spcAft>
                          <a:spcPts val="0"/>
                        </a:spcAft>
                        <a:buClrTx/>
                        <a:buSzTx/>
                        <a:buFontTx/>
                        <a:buNone/>
                        <a:tabLst/>
                        <a:defRPr/>
                      </a:pPr>
                      <a:r>
                        <a:rPr lang="pt-BR" sz="1200" u="none" strike="noStrike" kern="1200" dirty="0">
                          <a:solidFill>
                            <a:schemeClr val="tx1"/>
                          </a:solidFill>
                          <a:effectLst/>
                          <a:latin typeface="+mn-lt"/>
                          <a:ea typeface="+mn-ea"/>
                          <a:cs typeface="+mn-cs"/>
                        </a:rPr>
                        <a:t>Gerente responsável pela embarcação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60277184"/>
                  </a:ext>
                </a:extLst>
              </a:tr>
              <a:tr h="216000">
                <a:tc>
                  <a:txBody>
                    <a:bodyPr/>
                    <a:lstStyle/>
                    <a:p>
                      <a:pPr marL="0" algn="l" defTabSz="1055061" rtl="0" eaLnBrk="1" fontAlgn="b" latinLnBrk="0" hangingPunct="1">
                        <a:buNone/>
                      </a:pPr>
                      <a:r>
                        <a:rPr lang="pt-BR" sz="1200" u="none" strike="noStrike" kern="1200" dirty="0" err="1">
                          <a:solidFill>
                            <a:schemeClr val="tx1"/>
                          </a:solidFill>
                          <a:effectLst/>
                          <a:latin typeface="+mn-lt"/>
                          <a:ea typeface="+mn-ea"/>
                          <a:cs typeface="+mn-cs"/>
                        </a:rPr>
                        <a:t>Coord</a:t>
                      </a:r>
                      <a:r>
                        <a:rPr lang="pt-BR" sz="1200" u="none" strike="noStrike" kern="1200" dirty="0">
                          <a:solidFill>
                            <a:schemeClr val="tx1"/>
                          </a:solidFill>
                          <a:effectLst/>
                          <a:latin typeface="+mn-lt"/>
                          <a:ea typeface="+mn-ea"/>
                          <a:cs typeface="+mn-cs"/>
                        </a:rPr>
                        <a:t> de Obra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Coordenador responsável por supervisionar a Parada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5042602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Término do Contrato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de fim do contrato vigente</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bl>
          </a:graphicData>
        </a:graphic>
      </p:graphicFrame>
    </p:spTree>
    <p:extLst>
      <p:ext uri="{BB962C8B-B14F-4D97-AF65-F5344CB8AC3E}">
        <p14:creationId xmlns:p14="http://schemas.microsoft.com/office/powerpoint/2010/main" val="262719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9D9D1-54B2-DA1C-1855-0E64F52D9C1B}"/>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34D8E25-8504-D7E2-F37F-F64BDC7B17FC}"/>
              </a:ext>
            </a:extLst>
          </p:cNvPr>
          <p:cNvSpPr/>
          <p:nvPr/>
        </p:nvSpPr>
        <p:spPr>
          <a:xfrm>
            <a:off x="10632504" y="6165304"/>
            <a:ext cx="1559496" cy="6926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Cantos Arredondados 25">
            <a:extLst>
              <a:ext uri="{FF2B5EF4-FFF2-40B4-BE49-F238E27FC236}">
                <a16:creationId xmlns:a16="http://schemas.microsoft.com/office/drawing/2014/main" id="{BEE565A9-B18B-8EB8-E256-E9ECEBB2B326}"/>
              </a:ext>
            </a:extLst>
          </p:cNvPr>
          <p:cNvSpPr/>
          <p:nvPr/>
        </p:nvSpPr>
        <p:spPr>
          <a:xfrm>
            <a:off x="0" y="0"/>
            <a:ext cx="12192000" cy="6858000"/>
          </a:xfrm>
          <a:prstGeom prst="roundRect">
            <a:avLst>
              <a:gd name="adj" fmla="val 339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tângulo: Cantos Arredondados 45">
            <a:extLst>
              <a:ext uri="{FF2B5EF4-FFF2-40B4-BE49-F238E27FC236}">
                <a16:creationId xmlns:a16="http://schemas.microsoft.com/office/drawing/2014/main" id="{95DEFF3E-A035-07C9-B196-EE5A503C2D52}"/>
              </a:ext>
            </a:extLst>
          </p:cNvPr>
          <p:cNvSpPr/>
          <p:nvPr/>
        </p:nvSpPr>
        <p:spPr>
          <a:xfrm>
            <a:off x="2255594"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FEL-0</a:t>
            </a:r>
          </a:p>
        </p:txBody>
      </p:sp>
      <p:sp>
        <p:nvSpPr>
          <p:cNvPr id="47" name="Retângulo: Cantos Arredondados 46">
            <a:extLst>
              <a:ext uri="{FF2B5EF4-FFF2-40B4-BE49-F238E27FC236}">
                <a16:creationId xmlns:a16="http://schemas.microsoft.com/office/drawing/2014/main" id="{8B81FF0A-2B52-B341-1C6F-DC899CCDB71D}"/>
              </a:ext>
            </a:extLst>
          </p:cNvPr>
          <p:cNvSpPr/>
          <p:nvPr/>
        </p:nvSpPr>
        <p:spPr>
          <a:xfrm>
            <a:off x="4175828"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FEL-1</a:t>
            </a:r>
          </a:p>
        </p:txBody>
      </p:sp>
      <p:sp>
        <p:nvSpPr>
          <p:cNvPr id="48" name="Retângulo: Cantos Arredondados 47">
            <a:extLst>
              <a:ext uri="{FF2B5EF4-FFF2-40B4-BE49-F238E27FC236}">
                <a16:creationId xmlns:a16="http://schemas.microsoft.com/office/drawing/2014/main" id="{E0A283E9-F70C-7CF0-405E-974AF9431F19}"/>
              </a:ext>
            </a:extLst>
          </p:cNvPr>
          <p:cNvSpPr/>
          <p:nvPr/>
        </p:nvSpPr>
        <p:spPr>
          <a:xfrm>
            <a:off x="6096062"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FEL-2</a:t>
            </a:r>
          </a:p>
        </p:txBody>
      </p:sp>
      <p:sp>
        <p:nvSpPr>
          <p:cNvPr id="49" name="Retângulo: Cantos Arredondados 48">
            <a:extLst>
              <a:ext uri="{FF2B5EF4-FFF2-40B4-BE49-F238E27FC236}">
                <a16:creationId xmlns:a16="http://schemas.microsoft.com/office/drawing/2014/main" id="{944DC970-065B-71E2-F01A-187F1DEC3C59}"/>
              </a:ext>
            </a:extLst>
          </p:cNvPr>
          <p:cNvSpPr/>
          <p:nvPr/>
        </p:nvSpPr>
        <p:spPr>
          <a:xfrm>
            <a:off x="8016296"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FEL-3</a:t>
            </a:r>
          </a:p>
        </p:txBody>
      </p:sp>
      <p:sp>
        <p:nvSpPr>
          <p:cNvPr id="50" name="Retângulo: Cantos Arredondados 49">
            <a:extLst>
              <a:ext uri="{FF2B5EF4-FFF2-40B4-BE49-F238E27FC236}">
                <a16:creationId xmlns:a16="http://schemas.microsoft.com/office/drawing/2014/main" id="{0CB5F6C1-A4EA-C023-AB2C-5C06E659F4FC}"/>
              </a:ext>
            </a:extLst>
          </p:cNvPr>
          <p:cNvSpPr/>
          <p:nvPr/>
        </p:nvSpPr>
        <p:spPr>
          <a:xfrm>
            <a:off x="9936532"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FEL-4</a:t>
            </a:r>
          </a:p>
        </p:txBody>
      </p:sp>
      <p:sp>
        <p:nvSpPr>
          <p:cNvPr id="52" name="Retângulo: Cantos Arredondados 51">
            <a:extLst>
              <a:ext uri="{FF2B5EF4-FFF2-40B4-BE49-F238E27FC236}">
                <a16:creationId xmlns:a16="http://schemas.microsoft.com/office/drawing/2014/main" id="{3473283B-7A70-47B6-F4BA-FA667EA10111}"/>
              </a:ext>
            </a:extLst>
          </p:cNvPr>
          <p:cNvSpPr/>
          <p:nvPr/>
        </p:nvSpPr>
        <p:spPr>
          <a:xfrm>
            <a:off x="335360" y="375728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3" name="Agrupar 52">
            <a:extLst>
              <a:ext uri="{FF2B5EF4-FFF2-40B4-BE49-F238E27FC236}">
                <a16:creationId xmlns:a16="http://schemas.microsoft.com/office/drawing/2014/main" id="{D9C0DAE6-E5B5-1249-8D6B-12F88555F2EC}"/>
              </a:ext>
            </a:extLst>
          </p:cNvPr>
          <p:cNvGrpSpPr/>
          <p:nvPr/>
        </p:nvGrpSpPr>
        <p:grpSpPr>
          <a:xfrm>
            <a:off x="393680" y="3781265"/>
            <a:ext cx="1728192" cy="175957"/>
            <a:chOff x="807560" y="1796801"/>
            <a:chExt cx="1728192" cy="175957"/>
          </a:xfrm>
        </p:grpSpPr>
        <p:sp>
          <p:nvSpPr>
            <p:cNvPr id="74" name="Retângulo: Cantos Arredondados 73">
              <a:extLst>
                <a:ext uri="{FF2B5EF4-FFF2-40B4-BE49-F238E27FC236}">
                  <a16:creationId xmlns:a16="http://schemas.microsoft.com/office/drawing/2014/main" id="{B2DB4C8A-C1CE-879A-3EB9-24C804675A7E}"/>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75" name="Retângulo: Cantos Arredondados 74">
              <a:extLst>
                <a:ext uri="{FF2B5EF4-FFF2-40B4-BE49-F238E27FC236}">
                  <a16:creationId xmlns:a16="http://schemas.microsoft.com/office/drawing/2014/main" id="{AC8C6AAE-11A8-D1B6-36BA-0B912C4E7C8B}"/>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76" name="Retângulo: Cantos Arredondados 75">
              <a:extLst>
                <a:ext uri="{FF2B5EF4-FFF2-40B4-BE49-F238E27FC236}">
                  <a16:creationId xmlns:a16="http://schemas.microsoft.com/office/drawing/2014/main" id="{0E4BDD8C-77F0-7E5C-A423-A6DE4C0A5FEE}"/>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54" name="Agrupar 53">
            <a:extLst>
              <a:ext uri="{FF2B5EF4-FFF2-40B4-BE49-F238E27FC236}">
                <a16:creationId xmlns:a16="http://schemas.microsoft.com/office/drawing/2014/main" id="{C5FF06E7-D031-FB4D-A06A-7BB4D738837F}"/>
              </a:ext>
            </a:extLst>
          </p:cNvPr>
          <p:cNvGrpSpPr/>
          <p:nvPr/>
        </p:nvGrpSpPr>
        <p:grpSpPr>
          <a:xfrm>
            <a:off x="472119" y="4461592"/>
            <a:ext cx="1571314" cy="108000"/>
            <a:chOff x="885999" y="2544755"/>
            <a:chExt cx="1571314" cy="108000"/>
          </a:xfrm>
        </p:grpSpPr>
        <p:sp>
          <p:nvSpPr>
            <p:cNvPr id="64" name="Retângulo 63">
              <a:extLst>
                <a:ext uri="{FF2B5EF4-FFF2-40B4-BE49-F238E27FC236}">
                  <a16:creationId xmlns:a16="http://schemas.microsoft.com/office/drawing/2014/main" id="{E2C31299-3120-B951-B8FE-5AFEF8E1CA1E}"/>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65" name="CaixaDeTexto 64">
              <a:extLst>
                <a:ext uri="{FF2B5EF4-FFF2-40B4-BE49-F238E27FC236}">
                  <a16:creationId xmlns:a16="http://schemas.microsoft.com/office/drawing/2014/main" id="{ACAFF42D-4408-5B88-C1C7-FF79E8878AA1}"/>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66" name="Retângulo 65">
              <a:extLst>
                <a:ext uri="{FF2B5EF4-FFF2-40B4-BE49-F238E27FC236}">
                  <a16:creationId xmlns:a16="http://schemas.microsoft.com/office/drawing/2014/main" id="{97203EE2-ED4D-46CC-0A52-4D09460D175F}"/>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67" name="CaixaDeTexto 66">
              <a:extLst>
                <a:ext uri="{FF2B5EF4-FFF2-40B4-BE49-F238E27FC236}">
                  <a16:creationId xmlns:a16="http://schemas.microsoft.com/office/drawing/2014/main" id="{F5417567-35CF-2541-0836-76C028319587}"/>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68" name="Retângulo 67">
              <a:extLst>
                <a:ext uri="{FF2B5EF4-FFF2-40B4-BE49-F238E27FC236}">
                  <a16:creationId xmlns:a16="http://schemas.microsoft.com/office/drawing/2014/main" id="{4FA0A4A3-5281-B4D1-113D-D8E0A2A6D4EA}"/>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69" name="CaixaDeTexto 68">
              <a:extLst>
                <a:ext uri="{FF2B5EF4-FFF2-40B4-BE49-F238E27FC236}">
                  <a16:creationId xmlns:a16="http://schemas.microsoft.com/office/drawing/2014/main" id="{6FE88FED-74EC-B183-D88A-37255814DFEA}"/>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70" name="Retângulo 69">
              <a:extLst>
                <a:ext uri="{FF2B5EF4-FFF2-40B4-BE49-F238E27FC236}">
                  <a16:creationId xmlns:a16="http://schemas.microsoft.com/office/drawing/2014/main" id="{D18F7107-56D3-1BEC-DF98-D955C33F7FB0}"/>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71" name="CaixaDeTexto 70">
              <a:extLst>
                <a:ext uri="{FF2B5EF4-FFF2-40B4-BE49-F238E27FC236}">
                  <a16:creationId xmlns:a16="http://schemas.microsoft.com/office/drawing/2014/main" id="{6C3FA7AB-EBFF-C6F6-EF70-B5F2B9B4EAC4}"/>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72" name="Retângulo 71">
              <a:extLst>
                <a:ext uri="{FF2B5EF4-FFF2-40B4-BE49-F238E27FC236}">
                  <a16:creationId xmlns:a16="http://schemas.microsoft.com/office/drawing/2014/main" id="{2C277170-E687-D805-D8D6-0C28B1B77DD8}"/>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73" name="CaixaDeTexto 72">
              <a:extLst>
                <a:ext uri="{FF2B5EF4-FFF2-40B4-BE49-F238E27FC236}">
                  <a16:creationId xmlns:a16="http://schemas.microsoft.com/office/drawing/2014/main" id="{B4DC7801-839C-6015-F869-3B94708B18FD}"/>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55" name="Agrupar 54">
            <a:extLst>
              <a:ext uri="{FF2B5EF4-FFF2-40B4-BE49-F238E27FC236}">
                <a16:creationId xmlns:a16="http://schemas.microsoft.com/office/drawing/2014/main" id="{0D2B90EE-6432-A72D-BEF0-289BB83E19E7}"/>
              </a:ext>
            </a:extLst>
          </p:cNvPr>
          <p:cNvGrpSpPr/>
          <p:nvPr/>
        </p:nvGrpSpPr>
        <p:grpSpPr>
          <a:xfrm>
            <a:off x="393680" y="4008041"/>
            <a:ext cx="1730548" cy="175957"/>
            <a:chOff x="807560" y="2045707"/>
            <a:chExt cx="1730548" cy="175957"/>
          </a:xfrm>
        </p:grpSpPr>
        <p:sp>
          <p:nvSpPr>
            <p:cNvPr id="60" name="Retângulo: Cantos Arredondados 59">
              <a:extLst>
                <a:ext uri="{FF2B5EF4-FFF2-40B4-BE49-F238E27FC236}">
                  <a16:creationId xmlns:a16="http://schemas.microsoft.com/office/drawing/2014/main" id="{01E26CAF-9B53-F45C-ABF9-6DC873060921}"/>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61" name="Retângulo: Cantos Arredondados 60">
              <a:extLst>
                <a:ext uri="{FF2B5EF4-FFF2-40B4-BE49-F238E27FC236}">
                  <a16:creationId xmlns:a16="http://schemas.microsoft.com/office/drawing/2014/main" id="{FF4ECF14-398A-8544-3612-78274045730C}"/>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2" name="Retângulo: Cantos Arredondados 61">
              <a:extLst>
                <a:ext uri="{FF2B5EF4-FFF2-40B4-BE49-F238E27FC236}">
                  <a16:creationId xmlns:a16="http://schemas.microsoft.com/office/drawing/2014/main" id="{65BF46FD-FA8B-7D25-F566-794C0E2F7803}"/>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63" name="Retângulo: Cantos Arredondados 62">
              <a:extLst>
                <a:ext uri="{FF2B5EF4-FFF2-40B4-BE49-F238E27FC236}">
                  <a16:creationId xmlns:a16="http://schemas.microsoft.com/office/drawing/2014/main" id="{17851446-2237-137B-AC6A-EB3D099AE771}"/>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56" name="Agrupar 55">
            <a:extLst>
              <a:ext uri="{FF2B5EF4-FFF2-40B4-BE49-F238E27FC236}">
                <a16:creationId xmlns:a16="http://schemas.microsoft.com/office/drawing/2014/main" id="{4B05DD72-898D-B249-AA27-8F5913688F46}"/>
              </a:ext>
            </a:extLst>
          </p:cNvPr>
          <p:cNvGrpSpPr/>
          <p:nvPr/>
        </p:nvGrpSpPr>
        <p:grpSpPr>
          <a:xfrm>
            <a:off x="388419" y="4234817"/>
            <a:ext cx="1735809" cy="175957"/>
            <a:chOff x="802299" y="2294613"/>
            <a:chExt cx="1735809" cy="175957"/>
          </a:xfrm>
        </p:grpSpPr>
        <p:sp>
          <p:nvSpPr>
            <p:cNvPr id="57" name="Retângulo: Cantos Arredondados 56">
              <a:extLst>
                <a:ext uri="{FF2B5EF4-FFF2-40B4-BE49-F238E27FC236}">
                  <a16:creationId xmlns:a16="http://schemas.microsoft.com/office/drawing/2014/main" id="{41A85190-1BE3-6576-3B1A-55E4678C35F8}"/>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58" name="Retângulo: Cantos Arredondados 57">
              <a:extLst>
                <a:ext uri="{FF2B5EF4-FFF2-40B4-BE49-F238E27FC236}">
                  <a16:creationId xmlns:a16="http://schemas.microsoft.com/office/drawing/2014/main" id="{5A4B5040-21B8-60CB-B812-3EF2130AECB8}"/>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59" name="Retângulo: Cantos Arredondados 58">
              <a:extLst>
                <a:ext uri="{FF2B5EF4-FFF2-40B4-BE49-F238E27FC236}">
                  <a16:creationId xmlns:a16="http://schemas.microsoft.com/office/drawing/2014/main" id="{CF6C1516-9896-BBD5-7642-83C6503134D8}"/>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32" name="Retângulo: Cantos Arredondados 131">
            <a:extLst>
              <a:ext uri="{FF2B5EF4-FFF2-40B4-BE49-F238E27FC236}">
                <a16:creationId xmlns:a16="http://schemas.microsoft.com/office/drawing/2014/main" id="{73E28C79-AD62-9041-6F6A-3A98613E4E9A}"/>
              </a:ext>
            </a:extLst>
          </p:cNvPr>
          <p:cNvSpPr/>
          <p:nvPr/>
        </p:nvSpPr>
        <p:spPr>
          <a:xfrm>
            <a:off x="2255594" y="2826922"/>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33" name="Agrupar 132">
            <a:extLst>
              <a:ext uri="{FF2B5EF4-FFF2-40B4-BE49-F238E27FC236}">
                <a16:creationId xmlns:a16="http://schemas.microsoft.com/office/drawing/2014/main" id="{7D7819B9-073E-765B-20D9-7D222A88C538}"/>
              </a:ext>
            </a:extLst>
          </p:cNvPr>
          <p:cNvGrpSpPr/>
          <p:nvPr/>
        </p:nvGrpSpPr>
        <p:grpSpPr>
          <a:xfrm>
            <a:off x="2313914" y="2850907"/>
            <a:ext cx="1728192" cy="175957"/>
            <a:chOff x="807560" y="1796801"/>
            <a:chExt cx="1728192" cy="175957"/>
          </a:xfrm>
        </p:grpSpPr>
        <p:sp>
          <p:nvSpPr>
            <p:cNvPr id="154" name="Retângulo: Cantos Arredondados 153">
              <a:extLst>
                <a:ext uri="{FF2B5EF4-FFF2-40B4-BE49-F238E27FC236}">
                  <a16:creationId xmlns:a16="http://schemas.microsoft.com/office/drawing/2014/main" id="{6DE0051E-7051-FA6A-3627-4D985DB68565}"/>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155" name="Retângulo: Cantos Arredondados 154">
              <a:extLst>
                <a:ext uri="{FF2B5EF4-FFF2-40B4-BE49-F238E27FC236}">
                  <a16:creationId xmlns:a16="http://schemas.microsoft.com/office/drawing/2014/main" id="{9C8D9770-F594-ABF0-4269-A53D22C3290D}"/>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156" name="Retângulo: Cantos Arredondados 155">
              <a:extLst>
                <a:ext uri="{FF2B5EF4-FFF2-40B4-BE49-F238E27FC236}">
                  <a16:creationId xmlns:a16="http://schemas.microsoft.com/office/drawing/2014/main" id="{825498BC-76B8-2105-070B-0DA75E58900C}"/>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34" name="Agrupar 133">
            <a:extLst>
              <a:ext uri="{FF2B5EF4-FFF2-40B4-BE49-F238E27FC236}">
                <a16:creationId xmlns:a16="http://schemas.microsoft.com/office/drawing/2014/main" id="{B6A7622F-26E7-DCAC-A083-E985A7549648}"/>
              </a:ext>
            </a:extLst>
          </p:cNvPr>
          <p:cNvGrpSpPr/>
          <p:nvPr/>
        </p:nvGrpSpPr>
        <p:grpSpPr>
          <a:xfrm>
            <a:off x="2392353" y="3531234"/>
            <a:ext cx="1571314" cy="108000"/>
            <a:chOff x="885999" y="2544755"/>
            <a:chExt cx="1571314" cy="108000"/>
          </a:xfrm>
        </p:grpSpPr>
        <p:sp>
          <p:nvSpPr>
            <p:cNvPr id="144" name="Retângulo 143">
              <a:extLst>
                <a:ext uri="{FF2B5EF4-FFF2-40B4-BE49-F238E27FC236}">
                  <a16:creationId xmlns:a16="http://schemas.microsoft.com/office/drawing/2014/main" id="{84E7E521-86B6-B9EE-BFE0-8909A6A78B0C}"/>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5" name="CaixaDeTexto 144">
              <a:extLst>
                <a:ext uri="{FF2B5EF4-FFF2-40B4-BE49-F238E27FC236}">
                  <a16:creationId xmlns:a16="http://schemas.microsoft.com/office/drawing/2014/main" id="{6A3C772F-0006-7903-2AD1-B8E297BCFC95}"/>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46" name="Retângulo 145">
              <a:extLst>
                <a:ext uri="{FF2B5EF4-FFF2-40B4-BE49-F238E27FC236}">
                  <a16:creationId xmlns:a16="http://schemas.microsoft.com/office/drawing/2014/main" id="{ADD6AFCE-A0F3-35F7-4290-C21AD4D187F5}"/>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7" name="CaixaDeTexto 146">
              <a:extLst>
                <a:ext uri="{FF2B5EF4-FFF2-40B4-BE49-F238E27FC236}">
                  <a16:creationId xmlns:a16="http://schemas.microsoft.com/office/drawing/2014/main" id="{56872B13-24D8-541A-DB66-4B37E8D9D445}"/>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48" name="Retângulo 147">
              <a:extLst>
                <a:ext uri="{FF2B5EF4-FFF2-40B4-BE49-F238E27FC236}">
                  <a16:creationId xmlns:a16="http://schemas.microsoft.com/office/drawing/2014/main" id="{60269E3C-ECBB-9EA1-90C9-A1D5BE9DC438}"/>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49" name="CaixaDeTexto 148">
              <a:extLst>
                <a:ext uri="{FF2B5EF4-FFF2-40B4-BE49-F238E27FC236}">
                  <a16:creationId xmlns:a16="http://schemas.microsoft.com/office/drawing/2014/main" id="{2DD5D596-7C63-F53E-CD61-DD8882E127FE}"/>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50" name="Retângulo 149">
              <a:extLst>
                <a:ext uri="{FF2B5EF4-FFF2-40B4-BE49-F238E27FC236}">
                  <a16:creationId xmlns:a16="http://schemas.microsoft.com/office/drawing/2014/main" id="{E67BEFE3-6399-0EE1-9380-24FE32D0039A}"/>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51" name="CaixaDeTexto 150">
              <a:extLst>
                <a:ext uri="{FF2B5EF4-FFF2-40B4-BE49-F238E27FC236}">
                  <a16:creationId xmlns:a16="http://schemas.microsoft.com/office/drawing/2014/main" id="{AF200440-E22D-848E-6AB9-24E90A03F7D4}"/>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52" name="Retângulo 151">
              <a:extLst>
                <a:ext uri="{FF2B5EF4-FFF2-40B4-BE49-F238E27FC236}">
                  <a16:creationId xmlns:a16="http://schemas.microsoft.com/office/drawing/2014/main" id="{CE8DBDDF-BB0F-5BE6-F6DF-DC9FD2CB5192}"/>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53" name="CaixaDeTexto 152">
              <a:extLst>
                <a:ext uri="{FF2B5EF4-FFF2-40B4-BE49-F238E27FC236}">
                  <a16:creationId xmlns:a16="http://schemas.microsoft.com/office/drawing/2014/main" id="{65B2EEE7-E204-1966-8629-79ECD4BF518B}"/>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35" name="Agrupar 134">
            <a:extLst>
              <a:ext uri="{FF2B5EF4-FFF2-40B4-BE49-F238E27FC236}">
                <a16:creationId xmlns:a16="http://schemas.microsoft.com/office/drawing/2014/main" id="{7B7E95B6-2B94-08D2-A431-2FCB7883C92D}"/>
              </a:ext>
            </a:extLst>
          </p:cNvPr>
          <p:cNvGrpSpPr/>
          <p:nvPr/>
        </p:nvGrpSpPr>
        <p:grpSpPr>
          <a:xfrm>
            <a:off x="2313914" y="3077683"/>
            <a:ext cx="1730548" cy="175957"/>
            <a:chOff x="807560" y="2045707"/>
            <a:chExt cx="1730548" cy="175957"/>
          </a:xfrm>
        </p:grpSpPr>
        <p:sp>
          <p:nvSpPr>
            <p:cNvPr id="140" name="Retângulo: Cantos Arredondados 139">
              <a:extLst>
                <a:ext uri="{FF2B5EF4-FFF2-40B4-BE49-F238E27FC236}">
                  <a16:creationId xmlns:a16="http://schemas.microsoft.com/office/drawing/2014/main" id="{051B1B57-8885-F205-A5AB-22101BCB2AAC}"/>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41" name="Retângulo: Cantos Arredondados 140">
              <a:extLst>
                <a:ext uri="{FF2B5EF4-FFF2-40B4-BE49-F238E27FC236}">
                  <a16:creationId xmlns:a16="http://schemas.microsoft.com/office/drawing/2014/main" id="{C43CDC6A-17A8-87B8-6233-97706B2FD759}"/>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42" name="Retângulo: Cantos Arredondados 141">
              <a:extLst>
                <a:ext uri="{FF2B5EF4-FFF2-40B4-BE49-F238E27FC236}">
                  <a16:creationId xmlns:a16="http://schemas.microsoft.com/office/drawing/2014/main" id="{7FBCB9E0-2F95-83A1-C0A7-4D8EDA7A95AD}"/>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43" name="Retângulo: Cantos Arredondados 142">
              <a:extLst>
                <a:ext uri="{FF2B5EF4-FFF2-40B4-BE49-F238E27FC236}">
                  <a16:creationId xmlns:a16="http://schemas.microsoft.com/office/drawing/2014/main" id="{7419268B-B1DE-58B2-8159-7CC89BCEEE70}"/>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36" name="Agrupar 135">
            <a:extLst>
              <a:ext uri="{FF2B5EF4-FFF2-40B4-BE49-F238E27FC236}">
                <a16:creationId xmlns:a16="http://schemas.microsoft.com/office/drawing/2014/main" id="{5E71841A-0205-1186-5328-F66FE4FCED0E}"/>
              </a:ext>
            </a:extLst>
          </p:cNvPr>
          <p:cNvGrpSpPr/>
          <p:nvPr/>
        </p:nvGrpSpPr>
        <p:grpSpPr>
          <a:xfrm>
            <a:off x="2308653" y="3304459"/>
            <a:ext cx="1735809" cy="175957"/>
            <a:chOff x="802299" y="2294613"/>
            <a:chExt cx="1735809" cy="175957"/>
          </a:xfrm>
        </p:grpSpPr>
        <p:sp>
          <p:nvSpPr>
            <p:cNvPr id="137" name="Retângulo: Cantos Arredondados 136">
              <a:extLst>
                <a:ext uri="{FF2B5EF4-FFF2-40B4-BE49-F238E27FC236}">
                  <a16:creationId xmlns:a16="http://schemas.microsoft.com/office/drawing/2014/main" id="{5F5570EA-7E44-FF7A-70DF-678E82A26DE6}"/>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38" name="Retângulo: Cantos Arredondados 137">
              <a:extLst>
                <a:ext uri="{FF2B5EF4-FFF2-40B4-BE49-F238E27FC236}">
                  <a16:creationId xmlns:a16="http://schemas.microsoft.com/office/drawing/2014/main" id="{34D1009D-0D00-F176-2ADB-2C8BED158E41}"/>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39" name="Retângulo: Cantos Arredondados 138">
              <a:extLst>
                <a:ext uri="{FF2B5EF4-FFF2-40B4-BE49-F238E27FC236}">
                  <a16:creationId xmlns:a16="http://schemas.microsoft.com/office/drawing/2014/main" id="{D1E75A01-38FF-DAF4-F0BE-6BD600E4329D}"/>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58" name="Retângulo: Cantos Arredondados 157">
            <a:extLst>
              <a:ext uri="{FF2B5EF4-FFF2-40B4-BE49-F238E27FC236}">
                <a16:creationId xmlns:a16="http://schemas.microsoft.com/office/drawing/2014/main" id="{FB4277A2-50F1-52D3-C820-44DB804449BC}"/>
              </a:ext>
            </a:extLst>
          </p:cNvPr>
          <p:cNvSpPr/>
          <p:nvPr/>
        </p:nvSpPr>
        <p:spPr>
          <a:xfrm>
            <a:off x="2255594"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59" name="Agrupar 158">
            <a:extLst>
              <a:ext uri="{FF2B5EF4-FFF2-40B4-BE49-F238E27FC236}">
                <a16:creationId xmlns:a16="http://schemas.microsoft.com/office/drawing/2014/main" id="{23688A0F-5D69-3DD7-E618-F960DB7D4E6C}"/>
              </a:ext>
            </a:extLst>
          </p:cNvPr>
          <p:cNvGrpSpPr/>
          <p:nvPr/>
        </p:nvGrpSpPr>
        <p:grpSpPr>
          <a:xfrm>
            <a:off x="2313914" y="3767821"/>
            <a:ext cx="1728192" cy="175957"/>
            <a:chOff x="807560" y="1796801"/>
            <a:chExt cx="1728192" cy="175957"/>
          </a:xfrm>
        </p:grpSpPr>
        <p:sp>
          <p:nvSpPr>
            <p:cNvPr id="180" name="Retângulo: Cantos Arredondados 179">
              <a:extLst>
                <a:ext uri="{FF2B5EF4-FFF2-40B4-BE49-F238E27FC236}">
                  <a16:creationId xmlns:a16="http://schemas.microsoft.com/office/drawing/2014/main" id="{836B38D0-184C-C9FA-1C1B-59EDF372103C}"/>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181" name="Retângulo: Cantos Arredondados 180">
              <a:extLst>
                <a:ext uri="{FF2B5EF4-FFF2-40B4-BE49-F238E27FC236}">
                  <a16:creationId xmlns:a16="http://schemas.microsoft.com/office/drawing/2014/main" id="{2D975938-CB02-D9B4-8E4F-9506209DF3B3}"/>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182" name="Retângulo: Cantos Arredondados 181">
              <a:extLst>
                <a:ext uri="{FF2B5EF4-FFF2-40B4-BE49-F238E27FC236}">
                  <a16:creationId xmlns:a16="http://schemas.microsoft.com/office/drawing/2014/main" id="{06328D0C-2BAF-24EC-EB09-A01E3464CC9C}"/>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60" name="Agrupar 159">
            <a:extLst>
              <a:ext uri="{FF2B5EF4-FFF2-40B4-BE49-F238E27FC236}">
                <a16:creationId xmlns:a16="http://schemas.microsoft.com/office/drawing/2014/main" id="{7AF5F4AC-2F96-9D7A-54B5-E02D05D28E1B}"/>
              </a:ext>
            </a:extLst>
          </p:cNvPr>
          <p:cNvGrpSpPr/>
          <p:nvPr/>
        </p:nvGrpSpPr>
        <p:grpSpPr>
          <a:xfrm>
            <a:off x="2392353" y="4448148"/>
            <a:ext cx="1571314" cy="108000"/>
            <a:chOff x="885999" y="2544755"/>
            <a:chExt cx="1571314" cy="108000"/>
          </a:xfrm>
        </p:grpSpPr>
        <p:sp>
          <p:nvSpPr>
            <p:cNvPr id="170" name="Retângulo 169">
              <a:extLst>
                <a:ext uri="{FF2B5EF4-FFF2-40B4-BE49-F238E27FC236}">
                  <a16:creationId xmlns:a16="http://schemas.microsoft.com/office/drawing/2014/main" id="{D431ECED-7B3A-9389-1411-E1537234768E}"/>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1" name="CaixaDeTexto 170">
              <a:extLst>
                <a:ext uri="{FF2B5EF4-FFF2-40B4-BE49-F238E27FC236}">
                  <a16:creationId xmlns:a16="http://schemas.microsoft.com/office/drawing/2014/main" id="{2C762015-C3B8-D16D-6863-4202A83F354E}"/>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72" name="Retângulo 171">
              <a:extLst>
                <a:ext uri="{FF2B5EF4-FFF2-40B4-BE49-F238E27FC236}">
                  <a16:creationId xmlns:a16="http://schemas.microsoft.com/office/drawing/2014/main" id="{0FF62096-079C-A3F3-3653-64C7074D4DB8}"/>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3" name="CaixaDeTexto 172">
              <a:extLst>
                <a:ext uri="{FF2B5EF4-FFF2-40B4-BE49-F238E27FC236}">
                  <a16:creationId xmlns:a16="http://schemas.microsoft.com/office/drawing/2014/main" id="{E5D15405-A4A2-E116-05A1-019C02FEFB9A}"/>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74" name="Retângulo 173">
              <a:extLst>
                <a:ext uri="{FF2B5EF4-FFF2-40B4-BE49-F238E27FC236}">
                  <a16:creationId xmlns:a16="http://schemas.microsoft.com/office/drawing/2014/main" id="{548A625B-D816-705E-6358-9B4A76C7F855}"/>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75" name="CaixaDeTexto 174">
              <a:extLst>
                <a:ext uri="{FF2B5EF4-FFF2-40B4-BE49-F238E27FC236}">
                  <a16:creationId xmlns:a16="http://schemas.microsoft.com/office/drawing/2014/main" id="{58D1376D-6C76-FB39-2866-51825A634DE0}"/>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76" name="Retângulo 175">
              <a:extLst>
                <a:ext uri="{FF2B5EF4-FFF2-40B4-BE49-F238E27FC236}">
                  <a16:creationId xmlns:a16="http://schemas.microsoft.com/office/drawing/2014/main" id="{1A8D6EDF-C472-20D2-7369-A133CD6AD08F}"/>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7" name="CaixaDeTexto 176">
              <a:extLst>
                <a:ext uri="{FF2B5EF4-FFF2-40B4-BE49-F238E27FC236}">
                  <a16:creationId xmlns:a16="http://schemas.microsoft.com/office/drawing/2014/main" id="{E3E98159-0FAD-A374-922A-0FA1039D6382}"/>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78" name="Retângulo 177">
              <a:extLst>
                <a:ext uri="{FF2B5EF4-FFF2-40B4-BE49-F238E27FC236}">
                  <a16:creationId xmlns:a16="http://schemas.microsoft.com/office/drawing/2014/main" id="{10366F0D-C567-4A5B-78F2-52B747A6727A}"/>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79" name="CaixaDeTexto 178">
              <a:extLst>
                <a:ext uri="{FF2B5EF4-FFF2-40B4-BE49-F238E27FC236}">
                  <a16:creationId xmlns:a16="http://schemas.microsoft.com/office/drawing/2014/main" id="{C57C885F-06D2-7091-2DCC-7D792733338F}"/>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61" name="Agrupar 160">
            <a:extLst>
              <a:ext uri="{FF2B5EF4-FFF2-40B4-BE49-F238E27FC236}">
                <a16:creationId xmlns:a16="http://schemas.microsoft.com/office/drawing/2014/main" id="{8D263F6A-1EEA-5FCD-8485-EDD2FCF8B7A2}"/>
              </a:ext>
            </a:extLst>
          </p:cNvPr>
          <p:cNvGrpSpPr/>
          <p:nvPr/>
        </p:nvGrpSpPr>
        <p:grpSpPr>
          <a:xfrm>
            <a:off x="2313914" y="3994597"/>
            <a:ext cx="1730548" cy="175957"/>
            <a:chOff x="807560" y="2045707"/>
            <a:chExt cx="1730548" cy="175957"/>
          </a:xfrm>
        </p:grpSpPr>
        <p:sp>
          <p:nvSpPr>
            <p:cNvPr id="166" name="Retângulo: Cantos Arredondados 165">
              <a:extLst>
                <a:ext uri="{FF2B5EF4-FFF2-40B4-BE49-F238E27FC236}">
                  <a16:creationId xmlns:a16="http://schemas.microsoft.com/office/drawing/2014/main" id="{E338DE12-9600-642D-FCF6-5EE33B8D6C81}"/>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67" name="Retângulo: Cantos Arredondados 166">
              <a:extLst>
                <a:ext uri="{FF2B5EF4-FFF2-40B4-BE49-F238E27FC236}">
                  <a16:creationId xmlns:a16="http://schemas.microsoft.com/office/drawing/2014/main" id="{FEAC9A67-30E6-1E4E-61E4-FA9CBFAC8730}"/>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68" name="Retângulo: Cantos Arredondados 167">
              <a:extLst>
                <a:ext uri="{FF2B5EF4-FFF2-40B4-BE49-F238E27FC236}">
                  <a16:creationId xmlns:a16="http://schemas.microsoft.com/office/drawing/2014/main" id="{58368364-6CEB-8622-82B0-2B51808CF2A1}"/>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69" name="Retângulo: Cantos Arredondados 168">
              <a:extLst>
                <a:ext uri="{FF2B5EF4-FFF2-40B4-BE49-F238E27FC236}">
                  <a16:creationId xmlns:a16="http://schemas.microsoft.com/office/drawing/2014/main" id="{7FDB756F-C9EE-32D1-A05C-F711E1A87CAC}"/>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62" name="Agrupar 161">
            <a:extLst>
              <a:ext uri="{FF2B5EF4-FFF2-40B4-BE49-F238E27FC236}">
                <a16:creationId xmlns:a16="http://schemas.microsoft.com/office/drawing/2014/main" id="{F4CB61E0-AD2B-120C-0A51-E8F114A6070B}"/>
              </a:ext>
            </a:extLst>
          </p:cNvPr>
          <p:cNvGrpSpPr/>
          <p:nvPr/>
        </p:nvGrpSpPr>
        <p:grpSpPr>
          <a:xfrm>
            <a:off x="2308653" y="4221373"/>
            <a:ext cx="1735809" cy="175957"/>
            <a:chOff x="802299" y="2294613"/>
            <a:chExt cx="1735809" cy="175957"/>
          </a:xfrm>
        </p:grpSpPr>
        <p:sp>
          <p:nvSpPr>
            <p:cNvPr id="163" name="Retângulo: Cantos Arredondados 162">
              <a:extLst>
                <a:ext uri="{FF2B5EF4-FFF2-40B4-BE49-F238E27FC236}">
                  <a16:creationId xmlns:a16="http://schemas.microsoft.com/office/drawing/2014/main" id="{26C27899-8EAD-E65D-1E22-EB614E9484A1}"/>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64" name="Retângulo: Cantos Arredondados 163">
              <a:extLst>
                <a:ext uri="{FF2B5EF4-FFF2-40B4-BE49-F238E27FC236}">
                  <a16:creationId xmlns:a16="http://schemas.microsoft.com/office/drawing/2014/main" id="{09AA93B6-EEA6-DDC5-184F-62B3D5A517B6}"/>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65" name="Retângulo: Cantos Arredondados 164">
              <a:extLst>
                <a:ext uri="{FF2B5EF4-FFF2-40B4-BE49-F238E27FC236}">
                  <a16:creationId xmlns:a16="http://schemas.microsoft.com/office/drawing/2014/main" id="{9D77FDFD-9F67-362B-1A48-3AF66E2566F0}"/>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84" name="Retângulo: Cantos Arredondados 183">
            <a:extLst>
              <a:ext uri="{FF2B5EF4-FFF2-40B4-BE49-F238E27FC236}">
                <a16:creationId xmlns:a16="http://schemas.microsoft.com/office/drawing/2014/main" id="{F03DC978-4366-4129-0D94-6589960E7141}"/>
              </a:ext>
            </a:extLst>
          </p:cNvPr>
          <p:cNvSpPr/>
          <p:nvPr/>
        </p:nvSpPr>
        <p:spPr>
          <a:xfrm>
            <a:off x="2255594" y="466075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85" name="Agrupar 184">
            <a:extLst>
              <a:ext uri="{FF2B5EF4-FFF2-40B4-BE49-F238E27FC236}">
                <a16:creationId xmlns:a16="http://schemas.microsoft.com/office/drawing/2014/main" id="{3DE4939B-93FF-20DF-92E9-6A2E328F34D8}"/>
              </a:ext>
            </a:extLst>
          </p:cNvPr>
          <p:cNvGrpSpPr/>
          <p:nvPr/>
        </p:nvGrpSpPr>
        <p:grpSpPr>
          <a:xfrm>
            <a:off x="2313914" y="4684735"/>
            <a:ext cx="1728192" cy="175957"/>
            <a:chOff x="807560" y="1796801"/>
            <a:chExt cx="1728192" cy="175957"/>
          </a:xfrm>
        </p:grpSpPr>
        <p:sp>
          <p:nvSpPr>
            <p:cNvPr id="206" name="Retângulo: Cantos Arredondados 205">
              <a:extLst>
                <a:ext uri="{FF2B5EF4-FFF2-40B4-BE49-F238E27FC236}">
                  <a16:creationId xmlns:a16="http://schemas.microsoft.com/office/drawing/2014/main" id="{7001CF6B-48E2-D23C-2C35-9A76D0267249}"/>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207" name="Retângulo: Cantos Arredondados 206">
              <a:extLst>
                <a:ext uri="{FF2B5EF4-FFF2-40B4-BE49-F238E27FC236}">
                  <a16:creationId xmlns:a16="http://schemas.microsoft.com/office/drawing/2014/main" id="{E2A14048-B5FA-DF53-C781-FC41955DAEB4}"/>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208" name="Retângulo: Cantos Arredondados 207">
              <a:extLst>
                <a:ext uri="{FF2B5EF4-FFF2-40B4-BE49-F238E27FC236}">
                  <a16:creationId xmlns:a16="http://schemas.microsoft.com/office/drawing/2014/main" id="{68693696-2CB4-31C4-6BB3-E5B9DF892673}"/>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86" name="Agrupar 185">
            <a:extLst>
              <a:ext uri="{FF2B5EF4-FFF2-40B4-BE49-F238E27FC236}">
                <a16:creationId xmlns:a16="http://schemas.microsoft.com/office/drawing/2014/main" id="{4A0F51D3-F5B5-3135-6E8F-4D72BDB74767}"/>
              </a:ext>
            </a:extLst>
          </p:cNvPr>
          <p:cNvGrpSpPr/>
          <p:nvPr/>
        </p:nvGrpSpPr>
        <p:grpSpPr>
          <a:xfrm>
            <a:off x="2392353" y="5365062"/>
            <a:ext cx="1571314" cy="108000"/>
            <a:chOff x="885999" y="2544755"/>
            <a:chExt cx="1571314" cy="108000"/>
          </a:xfrm>
        </p:grpSpPr>
        <p:sp>
          <p:nvSpPr>
            <p:cNvPr id="196" name="Retângulo 195">
              <a:extLst>
                <a:ext uri="{FF2B5EF4-FFF2-40B4-BE49-F238E27FC236}">
                  <a16:creationId xmlns:a16="http://schemas.microsoft.com/office/drawing/2014/main" id="{D325F72C-6B29-905E-C07F-66694432A435}"/>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97" name="CaixaDeTexto 196">
              <a:extLst>
                <a:ext uri="{FF2B5EF4-FFF2-40B4-BE49-F238E27FC236}">
                  <a16:creationId xmlns:a16="http://schemas.microsoft.com/office/drawing/2014/main" id="{1E3108C4-B651-02BC-4C29-64A6AB4FEDCB}"/>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98" name="Retângulo 197">
              <a:extLst>
                <a:ext uri="{FF2B5EF4-FFF2-40B4-BE49-F238E27FC236}">
                  <a16:creationId xmlns:a16="http://schemas.microsoft.com/office/drawing/2014/main" id="{DE1EE558-499E-C0CD-A259-94C6AB5C543A}"/>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99" name="CaixaDeTexto 198">
              <a:extLst>
                <a:ext uri="{FF2B5EF4-FFF2-40B4-BE49-F238E27FC236}">
                  <a16:creationId xmlns:a16="http://schemas.microsoft.com/office/drawing/2014/main" id="{C5450897-C02A-21BE-CCAF-2F3A57BF201A}"/>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200" name="Retângulo 199">
              <a:extLst>
                <a:ext uri="{FF2B5EF4-FFF2-40B4-BE49-F238E27FC236}">
                  <a16:creationId xmlns:a16="http://schemas.microsoft.com/office/drawing/2014/main" id="{42D2ADA4-6422-8B6C-0ABD-DC63319B7E3D}"/>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201" name="CaixaDeTexto 200">
              <a:extLst>
                <a:ext uri="{FF2B5EF4-FFF2-40B4-BE49-F238E27FC236}">
                  <a16:creationId xmlns:a16="http://schemas.microsoft.com/office/drawing/2014/main" id="{EA8AB4F2-C9CA-F0F6-9B51-D0531A20A80F}"/>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202" name="Retângulo 201">
              <a:extLst>
                <a:ext uri="{FF2B5EF4-FFF2-40B4-BE49-F238E27FC236}">
                  <a16:creationId xmlns:a16="http://schemas.microsoft.com/office/drawing/2014/main" id="{C43FB7B3-197B-E61A-6A05-7D9408C74054}"/>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203" name="CaixaDeTexto 202">
              <a:extLst>
                <a:ext uri="{FF2B5EF4-FFF2-40B4-BE49-F238E27FC236}">
                  <a16:creationId xmlns:a16="http://schemas.microsoft.com/office/drawing/2014/main" id="{ED62961A-4405-2E60-BA7D-385B8366144D}"/>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204" name="Retângulo 203">
              <a:extLst>
                <a:ext uri="{FF2B5EF4-FFF2-40B4-BE49-F238E27FC236}">
                  <a16:creationId xmlns:a16="http://schemas.microsoft.com/office/drawing/2014/main" id="{64207555-5106-8091-6125-7A9233A529E9}"/>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205" name="CaixaDeTexto 204">
              <a:extLst>
                <a:ext uri="{FF2B5EF4-FFF2-40B4-BE49-F238E27FC236}">
                  <a16:creationId xmlns:a16="http://schemas.microsoft.com/office/drawing/2014/main" id="{50327FB9-7701-B67D-DDDC-685B17CAEF68}"/>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87" name="Agrupar 186">
            <a:extLst>
              <a:ext uri="{FF2B5EF4-FFF2-40B4-BE49-F238E27FC236}">
                <a16:creationId xmlns:a16="http://schemas.microsoft.com/office/drawing/2014/main" id="{13DACF6C-F9ED-3CF4-A6D0-D71301D404B4}"/>
              </a:ext>
            </a:extLst>
          </p:cNvPr>
          <p:cNvGrpSpPr/>
          <p:nvPr/>
        </p:nvGrpSpPr>
        <p:grpSpPr>
          <a:xfrm>
            <a:off x="2313914" y="4911511"/>
            <a:ext cx="1730548" cy="175957"/>
            <a:chOff x="807560" y="2045707"/>
            <a:chExt cx="1730548" cy="175957"/>
          </a:xfrm>
        </p:grpSpPr>
        <p:sp>
          <p:nvSpPr>
            <p:cNvPr id="192" name="Retângulo: Cantos Arredondados 191">
              <a:extLst>
                <a:ext uri="{FF2B5EF4-FFF2-40B4-BE49-F238E27FC236}">
                  <a16:creationId xmlns:a16="http://schemas.microsoft.com/office/drawing/2014/main" id="{A3A55611-C055-573A-6482-BAAA88E9F496}"/>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93" name="Retângulo: Cantos Arredondados 192">
              <a:extLst>
                <a:ext uri="{FF2B5EF4-FFF2-40B4-BE49-F238E27FC236}">
                  <a16:creationId xmlns:a16="http://schemas.microsoft.com/office/drawing/2014/main" id="{9A439FA3-1E19-1AC2-F95F-8D2F164115DA}"/>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94" name="Retângulo: Cantos Arredondados 193">
              <a:extLst>
                <a:ext uri="{FF2B5EF4-FFF2-40B4-BE49-F238E27FC236}">
                  <a16:creationId xmlns:a16="http://schemas.microsoft.com/office/drawing/2014/main" id="{A89685AC-C9C6-AB1E-093E-9F9C0DEEA994}"/>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95" name="Retângulo: Cantos Arredondados 194">
              <a:extLst>
                <a:ext uri="{FF2B5EF4-FFF2-40B4-BE49-F238E27FC236}">
                  <a16:creationId xmlns:a16="http://schemas.microsoft.com/office/drawing/2014/main" id="{15FE8AD3-1A64-4B5B-9311-1F423FF9041F}"/>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88" name="Agrupar 187">
            <a:extLst>
              <a:ext uri="{FF2B5EF4-FFF2-40B4-BE49-F238E27FC236}">
                <a16:creationId xmlns:a16="http://schemas.microsoft.com/office/drawing/2014/main" id="{953DC73E-C5D6-595C-ADF5-0BF570CDAE3B}"/>
              </a:ext>
            </a:extLst>
          </p:cNvPr>
          <p:cNvGrpSpPr/>
          <p:nvPr/>
        </p:nvGrpSpPr>
        <p:grpSpPr>
          <a:xfrm>
            <a:off x="2308653" y="5138287"/>
            <a:ext cx="1735809" cy="175957"/>
            <a:chOff x="802299" y="2294613"/>
            <a:chExt cx="1735809" cy="175957"/>
          </a:xfrm>
        </p:grpSpPr>
        <p:sp>
          <p:nvSpPr>
            <p:cNvPr id="189" name="Retângulo: Cantos Arredondados 188">
              <a:extLst>
                <a:ext uri="{FF2B5EF4-FFF2-40B4-BE49-F238E27FC236}">
                  <a16:creationId xmlns:a16="http://schemas.microsoft.com/office/drawing/2014/main" id="{83D82541-CD55-A553-7D98-8ED8A3C289DD}"/>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90" name="Retângulo: Cantos Arredondados 189">
              <a:extLst>
                <a:ext uri="{FF2B5EF4-FFF2-40B4-BE49-F238E27FC236}">
                  <a16:creationId xmlns:a16="http://schemas.microsoft.com/office/drawing/2014/main" id="{C6308FB2-5BFF-B604-C1B4-8416EA8D8EEE}"/>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91" name="Retângulo: Cantos Arredondados 190">
              <a:extLst>
                <a:ext uri="{FF2B5EF4-FFF2-40B4-BE49-F238E27FC236}">
                  <a16:creationId xmlns:a16="http://schemas.microsoft.com/office/drawing/2014/main" id="{A8ED7138-82BB-66E6-994D-B5A6B6644A24}"/>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289" name="Retângulo: Cantos Arredondados 288">
            <a:extLst>
              <a:ext uri="{FF2B5EF4-FFF2-40B4-BE49-F238E27FC236}">
                <a16:creationId xmlns:a16="http://schemas.microsoft.com/office/drawing/2014/main" id="{9E56A6E0-6EC0-66B0-82B3-0AE5A5DAEBB1}"/>
              </a:ext>
            </a:extLst>
          </p:cNvPr>
          <p:cNvSpPr/>
          <p:nvPr/>
        </p:nvSpPr>
        <p:spPr>
          <a:xfrm>
            <a:off x="4175828" y="2826922"/>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290" name="Agrupar 289">
            <a:extLst>
              <a:ext uri="{FF2B5EF4-FFF2-40B4-BE49-F238E27FC236}">
                <a16:creationId xmlns:a16="http://schemas.microsoft.com/office/drawing/2014/main" id="{7542BE8F-666A-9C58-0B57-3498741104DF}"/>
              </a:ext>
            </a:extLst>
          </p:cNvPr>
          <p:cNvGrpSpPr/>
          <p:nvPr/>
        </p:nvGrpSpPr>
        <p:grpSpPr>
          <a:xfrm>
            <a:off x="4234148" y="2850907"/>
            <a:ext cx="1728192" cy="175957"/>
            <a:chOff x="807560" y="1796801"/>
            <a:chExt cx="1728192" cy="175957"/>
          </a:xfrm>
        </p:grpSpPr>
        <p:sp>
          <p:nvSpPr>
            <p:cNvPr id="311" name="Retângulo: Cantos Arredondados 310">
              <a:extLst>
                <a:ext uri="{FF2B5EF4-FFF2-40B4-BE49-F238E27FC236}">
                  <a16:creationId xmlns:a16="http://schemas.microsoft.com/office/drawing/2014/main" id="{72521E1A-EC11-0848-6B8A-ADDC845AEA89}"/>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12" name="Retângulo: Cantos Arredondados 311">
              <a:extLst>
                <a:ext uri="{FF2B5EF4-FFF2-40B4-BE49-F238E27FC236}">
                  <a16:creationId xmlns:a16="http://schemas.microsoft.com/office/drawing/2014/main" id="{FE556C2D-FEB8-D4C4-4F83-8D6A39FD851E}"/>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13" name="Retângulo: Cantos Arredondados 312">
              <a:extLst>
                <a:ext uri="{FF2B5EF4-FFF2-40B4-BE49-F238E27FC236}">
                  <a16:creationId xmlns:a16="http://schemas.microsoft.com/office/drawing/2014/main" id="{482BC167-6B64-6DC6-458E-A2183D21B284}"/>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291" name="Agrupar 290">
            <a:extLst>
              <a:ext uri="{FF2B5EF4-FFF2-40B4-BE49-F238E27FC236}">
                <a16:creationId xmlns:a16="http://schemas.microsoft.com/office/drawing/2014/main" id="{E65C2BB2-476E-7A2C-9356-9C650658A67B}"/>
              </a:ext>
            </a:extLst>
          </p:cNvPr>
          <p:cNvGrpSpPr/>
          <p:nvPr/>
        </p:nvGrpSpPr>
        <p:grpSpPr>
          <a:xfrm>
            <a:off x="4312587" y="3531234"/>
            <a:ext cx="1571314" cy="108000"/>
            <a:chOff x="885999" y="2544755"/>
            <a:chExt cx="1571314" cy="108000"/>
          </a:xfrm>
        </p:grpSpPr>
        <p:sp>
          <p:nvSpPr>
            <p:cNvPr id="301" name="Retângulo 300">
              <a:extLst>
                <a:ext uri="{FF2B5EF4-FFF2-40B4-BE49-F238E27FC236}">
                  <a16:creationId xmlns:a16="http://schemas.microsoft.com/office/drawing/2014/main" id="{74959840-6E88-8D90-A7BD-BBB84F94F883}"/>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2" name="CaixaDeTexto 301">
              <a:extLst>
                <a:ext uri="{FF2B5EF4-FFF2-40B4-BE49-F238E27FC236}">
                  <a16:creationId xmlns:a16="http://schemas.microsoft.com/office/drawing/2014/main" id="{316F9BB8-5559-08C3-EA0A-77AD2ABCB479}"/>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03" name="Retângulo 302">
              <a:extLst>
                <a:ext uri="{FF2B5EF4-FFF2-40B4-BE49-F238E27FC236}">
                  <a16:creationId xmlns:a16="http://schemas.microsoft.com/office/drawing/2014/main" id="{624BA7B7-35B9-7D2B-27C4-93F8785BC506}"/>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4" name="CaixaDeTexto 303">
              <a:extLst>
                <a:ext uri="{FF2B5EF4-FFF2-40B4-BE49-F238E27FC236}">
                  <a16:creationId xmlns:a16="http://schemas.microsoft.com/office/drawing/2014/main" id="{6E55305D-18A8-E6CD-6653-7D698F2298A0}"/>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05" name="Retângulo 304">
              <a:extLst>
                <a:ext uri="{FF2B5EF4-FFF2-40B4-BE49-F238E27FC236}">
                  <a16:creationId xmlns:a16="http://schemas.microsoft.com/office/drawing/2014/main" id="{BFCF169E-DAF9-58C8-6991-FDCF8DABA8C7}"/>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06" name="CaixaDeTexto 305">
              <a:extLst>
                <a:ext uri="{FF2B5EF4-FFF2-40B4-BE49-F238E27FC236}">
                  <a16:creationId xmlns:a16="http://schemas.microsoft.com/office/drawing/2014/main" id="{DE752E04-194D-9212-7DD9-46DFF1FA41E2}"/>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07" name="Retângulo 306">
              <a:extLst>
                <a:ext uri="{FF2B5EF4-FFF2-40B4-BE49-F238E27FC236}">
                  <a16:creationId xmlns:a16="http://schemas.microsoft.com/office/drawing/2014/main" id="{5CB58FC2-1789-000C-F608-78D54BF0BC02}"/>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8" name="CaixaDeTexto 307">
              <a:extLst>
                <a:ext uri="{FF2B5EF4-FFF2-40B4-BE49-F238E27FC236}">
                  <a16:creationId xmlns:a16="http://schemas.microsoft.com/office/drawing/2014/main" id="{EBF7F178-3566-85F4-0A23-6242B79E0491}"/>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09" name="Retângulo 308">
              <a:extLst>
                <a:ext uri="{FF2B5EF4-FFF2-40B4-BE49-F238E27FC236}">
                  <a16:creationId xmlns:a16="http://schemas.microsoft.com/office/drawing/2014/main" id="{4D4F3C32-9399-9DF0-3698-EAC69B02ABB4}"/>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10" name="CaixaDeTexto 309">
              <a:extLst>
                <a:ext uri="{FF2B5EF4-FFF2-40B4-BE49-F238E27FC236}">
                  <a16:creationId xmlns:a16="http://schemas.microsoft.com/office/drawing/2014/main" id="{1A2A8CB8-C4B4-52B9-907F-B9E965F41CAF}"/>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292" name="Agrupar 291">
            <a:extLst>
              <a:ext uri="{FF2B5EF4-FFF2-40B4-BE49-F238E27FC236}">
                <a16:creationId xmlns:a16="http://schemas.microsoft.com/office/drawing/2014/main" id="{D8E69D9E-3577-01D8-B3CB-D6E012025888}"/>
              </a:ext>
            </a:extLst>
          </p:cNvPr>
          <p:cNvGrpSpPr/>
          <p:nvPr/>
        </p:nvGrpSpPr>
        <p:grpSpPr>
          <a:xfrm>
            <a:off x="4234148" y="3077683"/>
            <a:ext cx="1730548" cy="175957"/>
            <a:chOff x="807560" y="2045707"/>
            <a:chExt cx="1730548" cy="175957"/>
          </a:xfrm>
        </p:grpSpPr>
        <p:sp>
          <p:nvSpPr>
            <p:cNvPr id="297" name="Retângulo: Cantos Arredondados 296">
              <a:extLst>
                <a:ext uri="{FF2B5EF4-FFF2-40B4-BE49-F238E27FC236}">
                  <a16:creationId xmlns:a16="http://schemas.microsoft.com/office/drawing/2014/main" id="{93F1239B-E01F-9D8B-4252-3F70D9C2FAC2}"/>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298" name="Retângulo: Cantos Arredondados 297">
              <a:extLst>
                <a:ext uri="{FF2B5EF4-FFF2-40B4-BE49-F238E27FC236}">
                  <a16:creationId xmlns:a16="http://schemas.microsoft.com/office/drawing/2014/main" id="{3F6689C0-BD29-A1CF-903B-95AEDD8CABAB}"/>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99" name="Retângulo: Cantos Arredondados 298">
              <a:extLst>
                <a:ext uri="{FF2B5EF4-FFF2-40B4-BE49-F238E27FC236}">
                  <a16:creationId xmlns:a16="http://schemas.microsoft.com/office/drawing/2014/main" id="{BEBDE3E9-F6AF-EBB3-2DCE-D96CA6D1EA87}"/>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00" name="Retângulo: Cantos Arredondados 299">
              <a:extLst>
                <a:ext uri="{FF2B5EF4-FFF2-40B4-BE49-F238E27FC236}">
                  <a16:creationId xmlns:a16="http://schemas.microsoft.com/office/drawing/2014/main" id="{61A38C53-44EE-ECF0-382E-EBCA27BDDEFA}"/>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293" name="Agrupar 292">
            <a:extLst>
              <a:ext uri="{FF2B5EF4-FFF2-40B4-BE49-F238E27FC236}">
                <a16:creationId xmlns:a16="http://schemas.microsoft.com/office/drawing/2014/main" id="{29C3D10C-9791-54AC-68C8-1876426FB30B}"/>
              </a:ext>
            </a:extLst>
          </p:cNvPr>
          <p:cNvGrpSpPr/>
          <p:nvPr/>
        </p:nvGrpSpPr>
        <p:grpSpPr>
          <a:xfrm>
            <a:off x="4228887" y="3304459"/>
            <a:ext cx="1735809" cy="175957"/>
            <a:chOff x="802299" y="2294613"/>
            <a:chExt cx="1735809" cy="175957"/>
          </a:xfrm>
        </p:grpSpPr>
        <p:sp>
          <p:nvSpPr>
            <p:cNvPr id="294" name="Retângulo: Cantos Arredondados 293">
              <a:extLst>
                <a:ext uri="{FF2B5EF4-FFF2-40B4-BE49-F238E27FC236}">
                  <a16:creationId xmlns:a16="http://schemas.microsoft.com/office/drawing/2014/main" id="{255F74D0-6B66-C411-E719-1D487DA63922}"/>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295" name="Retângulo: Cantos Arredondados 294">
              <a:extLst>
                <a:ext uri="{FF2B5EF4-FFF2-40B4-BE49-F238E27FC236}">
                  <a16:creationId xmlns:a16="http://schemas.microsoft.com/office/drawing/2014/main" id="{2F86EB7F-D6A4-5367-85BE-37876E331E95}"/>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296" name="Retângulo: Cantos Arredondados 295">
              <a:extLst>
                <a:ext uri="{FF2B5EF4-FFF2-40B4-BE49-F238E27FC236}">
                  <a16:creationId xmlns:a16="http://schemas.microsoft.com/office/drawing/2014/main" id="{88A44B8B-2063-4255-EED3-5095F3D28917}"/>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15" name="Retângulo: Cantos Arredondados 314">
            <a:extLst>
              <a:ext uri="{FF2B5EF4-FFF2-40B4-BE49-F238E27FC236}">
                <a16:creationId xmlns:a16="http://schemas.microsoft.com/office/drawing/2014/main" id="{9C64B5B1-00D3-5ECB-0E5F-A295795012DB}"/>
              </a:ext>
            </a:extLst>
          </p:cNvPr>
          <p:cNvSpPr/>
          <p:nvPr/>
        </p:nvSpPr>
        <p:spPr>
          <a:xfrm>
            <a:off x="4175828"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16" name="Agrupar 315">
            <a:extLst>
              <a:ext uri="{FF2B5EF4-FFF2-40B4-BE49-F238E27FC236}">
                <a16:creationId xmlns:a16="http://schemas.microsoft.com/office/drawing/2014/main" id="{3B0AA2C9-FA17-0603-C2D4-3681B828565F}"/>
              </a:ext>
            </a:extLst>
          </p:cNvPr>
          <p:cNvGrpSpPr/>
          <p:nvPr/>
        </p:nvGrpSpPr>
        <p:grpSpPr>
          <a:xfrm>
            <a:off x="4234148" y="3767821"/>
            <a:ext cx="1728192" cy="175957"/>
            <a:chOff x="807560" y="1796801"/>
            <a:chExt cx="1728192" cy="175957"/>
          </a:xfrm>
        </p:grpSpPr>
        <p:sp>
          <p:nvSpPr>
            <p:cNvPr id="337" name="Retângulo: Cantos Arredondados 336">
              <a:extLst>
                <a:ext uri="{FF2B5EF4-FFF2-40B4-BE49-F238E27FC236}">
                  <a16:creationId xmlns:a16="http://schemas.microsoft.com/office/drawing/2014/main" id="{47FB6B2C-5596-CB28-65D5-2C3D6C45EE30}"/>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38" name="Retângulo: Cantos Arredondados 337">
              <a:extLst>
                <a:ext uri="{FF2B5EF4-FFF2-40B4-BE49-F238E27FC236}">
                  <a16:creationId xmlns:a16="http://schemas.microsoft.com/office/drawing/2014/main" id="{F192043B-A346-A10F-825D-1FC590C18E4B}"/>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39" name="Retângulo: Cantos Arredondados 338">
              <a:extLst>
                <a:ext uri="{FF2B5EF4-FFF2-40B4-BE49-F238E27FC236}">
                  <a16:creationId xmlns:a16="http://schemas.microsoft.com/office/drawing/2014/main" id="{371B1756-F72A-368D-9CBA-34920C6494F0}"/>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17" name="Agrupar 316">
            <a:extLst>
              <a:ext uri="{FF2B5EF4-FFF2-40B4-BE49-F238E27FC236}">
                <a16:creationId xmlns:a16="http://schemas.microsoft.com/office/drawing/2014/main" id="{B4D0BA2D-6E28-6E0B-AF32-D9D565D45D68}"/>
              </a:ext>
            </a:extLst>
          </p:cNvPr>
          <p:cNvGrpSpPr/>
          <p:nvPr/>
        </p:nvGrpSpPr>
        <p:grpSpPr>
          <a:xfrm>
            <a:off x="4312587" y="4448148"/>
            <a:ext cx="1571314" cy="108000"/>
            <a:chOff x="885999" y="2544755"/>
            <a:chExt cx="1571314" cy="108000"/>
          </a:xfrm>
        </p:grpSpPr>
        <p:sp>
          <p:nvSpPr>
            <p:cNvPr id="327" name="Retângulo 326">
              <a:extLst>
                <a:ext uri="{FF2B5EF4-FFF2-40B4-BE49-F238E27FC236}">
                  <a16:creationId xmlns:a16="http://schemas.microsoft.com/office/drawing/2014/main" id="{9619A80A-1A1A-D6DF-2CEE-F2D9305AFD8B}"/>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28" name="CaixaDeTexto 327">
              <a:extLst>
                <a:ext uri="{FF2B5EF4-FFF2-40B4-BE49-F238E27FC236}">
                  <a16:creationId xmlns:a16="http://schemas.microsoft.com/office/drawing/2014/main" id="{2CF8DC28-4CB3-9056-CFDB-4F31985665F8}"/>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29" name="Retângulo 328">
              <a:extLst>
                <a:ext uri="{FF2B5EF4-FFF2-40B4-BE49-F238E27FC236}">
                  <a16:creationId xmlns:a16="http://schemas.microsoft.com/office/drawing/2014/main" id="{BDE9E5A8-8B27-578E-07A8-7D7ABE3C5739}"/>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30" name="CaixaDeTexto 329">
              <a:extLst>
                <a:ext uri="{FF2B5EF4-FFF2-40B4-BE49-F238E27FC236}">
                  <a16:creationId xmlns:a16="http://schemas.microsoft.com/office/drawing/2014/main" id="{3828DFDE-B176-1594-A362-70181425FFED}"/>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31" name="Retângulo 330">
              <a:extLst>
                <a:ext uri="{FF2B5EF4-FFF2-40B4-BE49-F238E27FC236}">
                  <a16:creationId xmlns:a16="http://schemas.microsoft.com/office/drawing/2014/main" id="{706E05DB-B15D-FD4E-1A8F-C6240EC2AEFA}"/>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32" name="CaixaDeTexto 331">
              <a:extLst>
                <a:ext uri="{FF2B5EF4-FFF2-40B4-BE49-F238E27FC236}">
                  <a16:creationId xmlns:a16="http://schemas.microsoft.com/office/drawing/2014/main" id="{28DC8D33-4649-2847-92B8-20158FCAF437}"/>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33" name="Retângulo 332">
              <a:extLst>
                <a:ext uri="{FF2B5EF4-FFF2-40B4-BE49-F238E27FC236}">
                  <a16:creationId xmlns:a16="http://schemas.microsoft.com/office/drawing/2014/main" id="{44D9E7C8-3280-2319-E118-26E64EA9731A}"/>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34" name="CaixaDeTexto 333">
              <a:extLst>
                <a:ext uri="{FF2B5EF4-FFF2-40B4-BE49-F238E27FC236}">
                  <a16:creationId xmlns:a16="http://schemas.microsoft.com/office/drawing/2014/main" id="{CF127376-15D5-CDA3-B97F-B55F0613D53E}"/>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35" name="Retângulo 334">
              <a:extLst>
                <a:ext uri="{FF2B5EF4-FFF2-40B4-BE49-F238E27FC236}">
                  <a16:creationId xmlns:a16="http://schemas.microsoft.com/office/drawing/2014/main" id="{D35ACC7E-B97F-C98D-B962-A934019CD023}"/>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36" name="CaixaDeTexto 335">
              <a:extLst>
                <a:ext uri="{FF2B5EF4-FFF2-40B4-BE49-F238E27FC236}">
                  <a16:creationId xmlns:a16="http://schemas.microsoft.com/office/drawing/2014/main" id="{EBB5CFDB-CEC1-6446-86B6-79E65C718102}"/>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18" name="Agrupar 317">
            <a:extLst>
              <a:ext uri="{FF2B5EF4-FFF2-40B4-BE49-F238E27FC236}">
                <a16:creationId xmlns:a16="http://schemas.microsoft.com/office/drawing/2014/main" id="{14D2C4D0-7D53-0033-5693-A2EF615F5ABA}"/>
              </a:ext>
            </a:extLst>
          </p:cNvPr>
          <p:cNvGrpSpPr/>
          <p:nvPr/>
        </p:nvGrpSpPr>
        <p:grpSpPr>
          <a:xfrm>
            <a:off x="4234148" y="3994597"/>
            <a:ext cx="1730548" cy="175957"/>
            <a:chOff x="807560" y="2045707"/>
            <a:chExt cx="1730548" cy="175957"/>
          </a:xfrm>
        </p:grpSpPr>
        <p:sp>
          <p:nvSpPr>
            <p:cNvPr id="323" name="Retângulo: Cantos Arredondados 322">
              <a:extLst>
                <a:ext uri="{FF2B5EF4-FFF2-40B4-BE49-F238E27FC236}">
                  <a16:creationId xmlns:a16="http://schemas.microsoft.com/office/drawing/2014/main" id="{E8049F6A-73E0-080F-2E80-077F818BBA11}"/>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324" name="Retângulo: Cantos Arredondados 323">
              <a:extLst>
                <a:ext uri="{FF2B5EF4-FFF2-40B4-BE49-F238E27FC236}">
                  <a16:creationId xmlns:a16="http://schemas.microsoft.com/office/drawing/2014/main" id="{DB6A0458-CF40-A8AF-7E54-5E3100B0466C}"/>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25" name="Retângulo: Cantos Arredondados 324">
              <a:extLst>
                <a:ext uri="{FF2B5EF4-FFF2-40B4-BE49-F238E27FC236}">
                  <a16:creationId xmlns:a16="http://schemas.microsoft.com/office/drawing/2014/main" id="{0984D274-DE24-9D38-9167-692849715E88}"/>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26" name="Retângulo: Cantos Arredondados 325">
              <a:extLst>
                <a:ext uri="{FF2B5EF4-FFF2-40B4-BE49-F238E27FC236}">
                  <a16:creationId xmlns:a16="http://schemas.microsoft.com/office/drawing/2014/main" id="{1D0F6E41-382A-D75D-5F39-24983C6AF007}"/>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19" name="Agrupar 318">
            <a:extLst>
              <a:ext uri="{FF2B5EF4-FFF2-40B4-BE49-F238E27FC236}">
                <a16:creationId xmlns:a16="http://schemas.microsoft.com/office/drawing/2014/main" id="{32D0FAA8-78F8-21D7-2E5D-D985743F5AC3}"/>
              </a:ext>
            </a:extLst>
          </p:cNvPr>
          <p:cNvGrpSpPr/>
          <p:nvPr/>
        </p:nvGrpSpPr>
        <p:grpSpPr>
          <a:xfrm>
            <a:off x="4228887" y="4221373"/>
            <a:ext cx="1735809" cy="175957"/>
            <a:chOff x="802299" y="2294613"/>
            <a:chExt cx="1735809" cy="175957"/>
          </a:xfrm>
        </p:grpSpPr>
        <p:sp>
          <p:nvSpPr>
            <p:cNvPr id="320" name="Retângulo: Cantos Arredondados 319">
              <a:extLst>
                <a:ext uri="{FF2B5EF4-FFF2-40B4-BE49-F238E27FC236}">
                  <a16:creationId xmlns:a16="http://schemas.microsoft.com/office/drawing/2014/main" id="{44F26074-7467-DEBD-EB60-C3CFADF85C3F}"/>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21" name="Retângulo: Cantos Arredondados 320">
              <a:extLst>
                <a:ext uri="{FF2B5EF4-FFF2-40B4-BE49-F238E27FC236}">
                  <a16:creationId xmlns:a16="http://schemas.microsoft.com/office/drawing/2014/main" id="{0FE29C9E-A777-DCAF-734C-8394A0962D04}"/>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22" name="Retângulo: Cantos Arredondados 321">
              <a:extLst>
                <a:ext uri="{FF2B5EF4-FFF2-40B4-BE49-F238E27FC236}">
                  <a16:creationId xmlns:a16="http://schemas.microsoft.com/office/drawing/2014/main" id="{E280D548-902D-4CA7-493D-814CE39B1F06}"/>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67" name="Retângulo: Cantos Arredondados 366">
            <a:extLst>
              <a:ext uri="{FF2B5EF4-FFF2-40B4-BE49-F238E27FC236}">
                <a16:creationId xmlns:a16="http://schemas.microsoft.com/office/drawing/2014/main" id="{529EF0B9-E182-E1F6-5812-8F509D5A2977}"/>
              </a:ext>
            </a:extLst>
          </p:cNvPr>
          <p:cNvSpPr/>
          <p:nvPr/>
        </p:nvSpPr>
        <p:spPr>
          <a:xfrm>
            <a:off x="6113863" y="2826922"/>
            <a:ext cx="1844833" cy="864096"/>
          </a:xfrm>
          <a:prstGeom prst="roundRect">
            <a:avLst>
              <a:gd name="adj" fmla="val 5694"/>
            </a:avLst>
          </a:prstGeom>
          <a:solidFill>
            <a:srgbClr val="FFFF99"/>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8" name="Agrupar 367">
            <a:extLst>
              <a:ext uri="{FF2B5EF4-FFF2-40B4-BE49-F238E27FC236}">
                <a16:creationId xmlns:a16="http://schemas.microsoft.com/office/drawing/2014/main" id="{102B3D13-E7C8-E80A-2CE1-F43DB6939250}"/>
              </a:ext>
            </a:extLst>
          </p:cNvPr>
          <p:cNvGrpSpPr/>
          <p:nvPr/>
        </p:nvGrpSpPr>
        <p:grpSpPr>
          <a:xfrm>
            <a:off x="6154320" y="2850907"/>
            <a:ext cx="1728192" cy="175957"/>
            <a:chOff x="807560" y="1796801"/>
            <a:chExt cx="1728192" cy="175957"/>
          </a:xfrm>
        </p:grpSpPr>
        <p:sp>
          <p:nvSpPr>
            <p:cNvPr id="389" name="Retângulo: Cantos Arredondados 388">
              <a:extLst>
                <a:ext uri="{FF2B5EF4-FFF2-40B4-BE49-F238E27FC236}">
                  <a16:creationId xmlns:a16="http://schemas.microsoft.com/office/drawing/2014/main" id="{E3B21F99-C4DE-9BBA-1743-1456F1522217}"/>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90" name="Retângulo: Cantos Arredondados 389">
              <a:extLst>
                <a:ext uri="{FF2B5EF4-FFF2-40B4-BE49-F238E27FC236}">
                  <a16:creationId xmlns:a16="http://schemas.microsoft.com/office/drawing/2014/main" id="{4DC5ACB5-A563-BC8F-08A0-E3131F769C4D}"/>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91" name="Retângulo: Cantos Arredondados 390">
              <a:extLst>
                <a:ext uri="{FF2B5EF4-FFF2-40B4-BE49-F238E27FC236}">
                  <a16:creationId xmlns:a16="http://schemas.microsoft.com/office/drawing/2014/main" id="{58829550-36CB-2919-F330-1BE8C24BC25C}"/>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69" name="Agrupar 368">
            <a:extLst>
              <a:ext uri="{FF2B5EF4-FFF2-40B4-BE49-F238E27FC236}">
                <a16:creationId xmlns:a16="http://schemas.microsoft.com/office/drawing/2014/main" id="{A2A9C8EC-5FF2-1E20-0132-5B83E98E9EE9}"/>
              </a:ext>
            </a:extLst>
          </p:cNvPr>
          <p:cNvGrpSpPr/>
          <p:nvPr/>
        </p:nvGrpSpPr>
        <p:grpSpPr>
          <a:xfrm>
            <a:off x="6232759" y="3531234"/>
            <a:ext cx="1571314" cy="108000"/>
            <a:chOff x="885999" y="2544755"/>
            <a:chExt cx="1571314" cy="108000"/>
          </a:xfrm>
        </p:grpSpPr>
        <p:sp>
          <p:nvSpPr>
            <p:cNvPr id="379" name="Retângulo 378">
              <a:extLst>
                <a:ext uri="{FF2B5EF4-FFF2-40B4-BE49-F238E27FC236}">
                  <a16:creationId xmlns:a16="http://schemas.microsoft.com/office/drawing/2014/main" id="{704B304B-E0ED-7246-B505-61FD53F7E421}"/>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0" name="CaixaDeTexto 379">
              <a:extLst>
                <a:ext uri="{FF2B5EF4-FFF2-40B4-BE49-F238E27FC236}">
                  <a16:creationId xmlns:a16="http://schemas.microsoft.com/office/drawing/2014/main" id="{24B2D3D1-DDA5-6212-8B78-8379CD0996F2}"/>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81" name="Retângulo 380">
              <a:extLst>
                <a:ext uri="{FF2B5EF4-FFF2-40B4-BE49-F238E27FC236}">
                  <a16:creationId xmlns:a16="http://schemas.microsoft.com/office/drawing/2014/main" id="{BC1CF801-6F07-9215-F485-AE65AB5970F3}"/>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2" name="CaixaDeTexto 381">
              <a:extLst>
                <a:ext uri="{FF2B5EF4-FFF2-40B4-BE49-F238E27FC236}">
                  <a16:creationId xmlns:a16="http://schemas.microsoft.com/office/drawing/2014/main" id="{B1657230-A0E3-D135-0CAD-CFFCE4DCFEEF}"/>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83" name="Retângulo 382">
              <a:extLst>
                <a:ext uri="{FF2B5EF4-FFF2-40B4-BE49-F238E27FC236}">
                  <a16:creationId xmlns:a16="http://schemas.microsoft.com/office/drawing/2014/main" id="{098E63DF-D3D2-77D0-7FCD-914C4DA6C989}"/>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84" name="CaixaDeTexto 383">
              <a:extLst>
                <a:ext uri="{FF2B5EF4-FFF2-40B4-BE49-F238E27FC236}">
                  <a16:creationId xmlns:a16="http://schemas.microsoft.com/office/drawing/2014/main" id="{CDE71FD0-DD56-AB7A-52DF-73FE0B95B707}"/>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85" name="Retângulo 384">
              <a:extLst>
                <a:ext uri="{FF2B5EF4-FFF2-40B4-BE49-F238E27FC236}">
                  <a16:creationId xmlns:a16="http://schemas.microsoft.com/office/drawing/2014/main" id="{52678DCA-D769-DE61-E980-C908F43C422D}"/>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6" name="CaixaDeTexto 385">
              <a:extLst>
                <a:ext uri="{FF2B5EF4-FFF2-40B4-BE49-F238E27FC236}">
                  <a16:creationId xmlns:a16="http://schemas.microsoft.com/office/drawing/2014/main" id="{B41A627E-6208-34B7-6727-7300DFEC5FD6}"/>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87" name="Retângulo 386">
              <a:extLst>
                <a:ext uri="{FF2B5EF4-FFF2-40B4-BE49-F238E27FC236}">
                  <a16:creationId xmlns:a16="http://schemas.microsoft.com/office/drawing/2014/main" id="{0C7C556F-CEEC-5468-9FB3-20B84DBB7A5F}"/>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88" name="CaixaDeTexto 387">
              <a:extLst>
                <a:ext uri="{FF2B5EF4-FFF2-40B4-BE49-F238E27FC236}">
                  <a16:creationId xmlns:a16="http://schemas.microsoft.com/office/drawing/2014/main" id="{DA8F020D-E1CA-3CB6-E75F-A89B7E4D82F4}"/>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70" name="Agrupar 369">
            <a:extLst>
              <a:ext uri="{FF2B5EF4-FFF2-40B4-BE49-F238E27FC236}">
                <a16:creationId xmlns:a16="http://schemas.microsoft.com/office/drawing/2014/main" id="{E5428C7F-4E44-8FF5-D248-467BB034DCF2}"/>
              </a:ext>
            </a:extLst>
          </p:cNvPr>
          <p:cNvGrpSpPr/>
          <p:nvPr/>
        </p:nvGrpSpPr>
        <p:grpSpPr>
          <a:xfrm>
            <a:off x="6154320" y="3077683"/>
            <a:ext cx="1730548" cy="175957"/>
            <a:chOff x="807560" y="2045707"/>
            <a:chExt cx="1730548" cy="175957"/>
          </a:xfrm>
        </p:grpSpPr>
        <p:sp>
          <p:nvSpPr>
            <p:cNvPr id="375" name="Retângulo: Cantos Arredondados 374">
              <a:extLst>
                <a:ext uri="{FF2B5EF4-FFF2-40B4-BE49-F238E27FC236}">
                  <a16:creationId xmlns:a16="http://schemas.microsoft.com/office/drawing/2014/main" id="{22743B57-4B8E-2D8B-290B-E3444FA4FCE2}"/>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376" name="Retângulo: Cantos Arredondados 375">
              <a:extLst>
                <a:ext uri="{FF2B5EF4-FFF2-40B4-BE49-F238E27FC236}">
                  <a16:creationId xmlns:a16="http://schemas.microsoft.com/office/drawing/2014/main" id="{260ECC0D-AD02-B9D0-5DAC-9D32F25BBA18}"/>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77" name="Retângulo: Cantos Arredondados 376">
              <a:extLst>
                <a:ext uri="{FF2B5EF4-FFF2-40B4-BE49-F238E27FC236}">
                  <a16:creationId xmlns:a16="http://schemas.microsoft.com/office/drawing/2014/main" id="{E66C9A85-7D80-ED0F-FB88-27CE15781668}"/>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78" name="Retângulo: Cantos Arredondados 377">
              <a:extLst>
                <a:ext uri="{FF2B5EF4-FFF2-40B4-BE49-F238E27FC236}">
                  <a16:creationId xmlns:a16="http://schemas.microsoft.com/office/drawing/2014/main" id="{475D04BF-FA2D-1C35-A333-19A8CE5812DC}"/>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71" name="Agrupar 370">
            <a:extLst>
              <a:ext uri="{FF2B5EF4-FFF2-40B4-BE49-F238E27FC236}">
                <a16:creationId xmlns:a16="http://schemas.microsoft.com/office/drawing/2014/main" id="{6DFCADEB-D243-48E1-6FD0-8CEE9534E546}"/>
              </a:ext>
            </a:extLst>
          </p:cNvPr>
          <p:cNvGrpSpPr/>
          <p:nvPr/>
        </p:nvGrpSpPr>
        <p:grpSpPr>
          <a:xfrm>
            <a:off x="6149059" y="3304459"/>
            <a:ext cx="1735809" cy="175957"/>
            <a:chOff x="802299" y="2294613"/>
            <a:chExt cx="1735809" cy="175957"/>
          </a:xfrm>
        </p:grpSpPr>
        <p:sp>
          <p:nvSpPr>
            <p:cNvPr id="372" name="Retângulo: Cantos Arredondados 371">
              <a:extLst>
                <a:ext uri="{FF2B5EF4-FFF2-40B4-BE49-F238E27FC236}">
                  <a16:creationId xmlns:a16="http://schemas.microsoft.com/office/drawing/2014/main" id="{25638D96-E566-B295-F745-A7460367ADA2}"/>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73" name="Retângulo: Cantos Arredondados 372">
              <a:extLst>
                <a:ext uri="{FF2B5EF4-FFF2-40B4-BE49-F238E27FC236}">
                  <a16:creationId xmlns:a16="http://schemas.microsoft.com/office/drawing/2014/main" id="{AD3F6108-B958-8EB2-7B4B-1B3F870C11A0}"/>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74" name="Retângulo: Cantos Arredondados 373">
              <a:extLst>
                <a:ext uri="{FF2B5EF4-FFF2-40B4-BE49-F238E27FC236}">
                  <a16:creationId xmlns:a16="http://schemas.microsoft.com/office/drawing/2014/main" id="{DFD19673-A15C-B66C-09F3-F7A561677A77}"/>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93" name="Retângulo: Cantos Arredondados 392">
            <a:extLst>
              <a:ext uri="{FF2B5EF4-FFF2-40B4-BE49-F238E27FC236}">
                <a16:creationId xmlns:a16="http://schemas.microsoft.com/office/drawing/2014/main" id="{5641CF53-BB10-C0F2-D882-CB8B5E834942}"/>
              </a:ext>
            </a:extLst>
          </p:cNvPr>
          <p:cNvSpPr/>
          <p:nvPr/>
        </p:nvSpPr>
        <p:spPr>
          <a:xfrm>
            <a:off x="6096000" y="3743836"/>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94" name="Agrupar 393">
            <a:extLst>
              <a:ext uri="{FF2B5EF4-FFF2-40B4-BE49-F238E27FC236}">
                <a16:creationId xmlns:a16="http://schemas.microsoft.com/office/drawing/2014/main" id="{E8B15DF7-3A2A-1D6C-421A-E0939A80FC8E}"/>
              </a:ext>
            </a:extLst>
          </p:cNvPr>
          <p:cNvGrpSpPr/>
          <p:nvPr/>
        </p:nvGrpSpPr>
        <p:grpSpPr>
          <a:xfrm>
            <a:off x="6154320" y="3767821"/>
            <a:ext cx="1728192" cy="175957"/>
            <a:chOff x="807560" y="1796801"/>
            <a:chExt cx="1728192" cy="175957"/>
          </a:xfrm>
        </p:grpSpPr>
        <p:sp>
          <p:nvSpPr>
            <p:cNvPr id="415" name="Retângulo: Cantos Arredondados 414">
              <a:extLst>
                <a:ext uri="{FF2B5EF4-FFF2-40B4-BE49-F238E27FC236}">
                  <a16:creationId xmlns:a16="http://schemas.microsoft.com/office/drawing/2014/main" id="{8B875B10-2626-AA4C-678E-607271F148E6}"/>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16" name="Retângulo: Cantos Arredondados 415">
              <a:extLst>
                <a:ext uri="{FF2B5EF4-FFF2-40B4-BE49-F238E27FC236}">
                  <a16:creationId xmlns:a16="http://schemas.microsoft.com/office/drawing/2014/main" id="{B937AB83-BF79-0030-8643-BD17DF442891}"/>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17" name="Retângulo: Cantos Arredondados 416">
              <a:extLst>
                <a:ext uri="{FF2B5EF4-FFF2-40B4-BE49-F238E27FC236}">
                  <a16:creationId xmlns:a16="http://schemas.microsoft.com/office/drawing/2014/main" id="{30C5CBEE-FBC7-8241-0EB0-714690B2B83B}"/>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95" name="Agrupar 394">
            <a:extLst>
              <a:ext uri="{FF2B5EF4-FFF2-40B4-BE49-F238E27FC236}">
                <a16:creationId xmlns:a16="http://schemas.microsoft.com/office/drawing/2014/main" id="{2D1312BD-96A1-E9FD-E74D-9A8686CCA4A9}"/>
              </a:ext>
            </a:extLst>
          </p:cNvPr>
          <p:cNvGrpSpPr/>
          <p:nvPr/>
        </p:nvGrpSpPr>
        <p:grpSpPr>
          <a:xfrm>
            <a:off x="6232759" y="4448148"/>
            <a:ext cx="1571314" cy="108000"/>
            <a:chOff x="885999" y="2544755"/>
            <a:chExt cx="1571314" cy="108000"/>
          </a:xfrm>
        </p:grpSpPr>
        <p:sp>
          <p:nvSpPr>
            <p:cNvPr id="405" name="Retângulo 404">
              <a:extLst>
                <a:ext uri="{FF2B5EF4-FFF2-40B4-BE49-F238E27FC236}">
                  <a16:creationId xmlns:a16="http://schemas.microsoft.com/office/drawing/2014/main" id="{3A54FCFA-1EE6-2F44-A6CD-3EFDFCEE11B1}"/>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06" name="CaixaDeTexto 405">
              <a:extLst>
                <a:ext uri="{FF2B5EF4-FFF2-40B4-BE49-F238E27FC236}">
                  <a16:creationId xmlns:a16="http://schemas.microsoft.com/office/drawing/2014/main" id="{A27E9E86-BCC0-F4CB-6249-EE9961D8714F}"/>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07" name="Retângulo 406">
              <a:extLst>
                <a:ext uri="{FF2B5EF4-FFF2-40B4-BE49-F238E27FC236}">
                  <a16:creationId xmlns:a16="http://schemas.microsoft.com/office/drawing/2014/main" id="{C7718C7F-75EF-DA70-3550-A016B6B9EF13}"/>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08" name="CaixaDeTexto 407">
              <a:extLst>
                <a:ext uri="{FF2B5EF4-FFF2-40B4-BE49-F238E27FC236}">
                  <a16:creationId xmlns:a16="http://schemas.microsoft.com/office/drawing/2014/main" id="{C74E857B-EE5B-A66D-236A-B902B9EA3314}"/>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09" name="Retângulo 408">
              <a:extLst>
                <a:ext uri="{FF2B5EF4-FFF2-40B4-BE49-F238E27FC236}">
                  <a16:creationId xmlns:a16="http://schemas.microsoft.com/office/drawing/2014/main" id="{862ACB2C-A5E1-9A0F-98AD-7A950EE4DFD2}"/>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10" name="CaixaDeTexto 409">
              <a:extLst>
                <a:ext uri="{FF2B5EF4-FFF2-40B4-BE49-F238E27FC236}">
                  <a16:creationId xmlns:a16="http://schemas.microsoft.com/office/drawing/2014/main" id="{189FB0D1-ADD4-E025-11D6-2677158A6865}"/>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11" name="Retângulo 410">
              <a:extLst>
                <a:ext uri="{FF2B5EF4-FFF2-40B4-BE49-F238E27FC236}">
                  <a16:creationId xmlns:a16="http://schemas.microsoft.com/office/drawing/2014/main" id="{FC30B6E3-20EE-E4E3-7F79-E4F952553BBB}"/>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12" name="CaixaDeTexto 411">
              <a:extLst>
                <a:ext uri="{FF2B5EF4-FFF2-40B4-BE49-F238E27FC236}">
                  <a16:creationId xmlns:a16="http://schemas.microsoft.com/office/drawing/2014/main" id="{10A41D31-1676-EADD-9E53-B4E4E5CD4A58}"/>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13" name="Retângulo 412">
              <a:extLst>
                <a:ext uri="{FF2B5EF4-FFF2-40B4-BE49-F238E27FC236}">
                  <a16:creationId xmlns:a16="http://schemas.microsoft.com/office/drawing/2014/main" id="{F509ADA5-9D50-6E41-FC1D-E112A0619E0F}"/>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14" name="CaixaDeTexto 413">
              <a:extLst>
                <a:ext uri="{FF2B5EF4-FFF2-40B4-BE49-F238E27FC236}">
                  <a16:creationId xmlns:a16="http://schemas.microsoft.com/office/drawing/2014/main" id="{25952E31-9CF1-3D2C-8644-044B4CC32D6A}"/>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96" name="Agrupar 395">
            <a:extLst>
              <a:ext uri="{FF2B5EF4-FFF2-40B4-BE49-F238E27FC236}">
                <a16:creationId xmlns:a16="http://schemas.microsoft.com/office/drawing/2014/main" id="{DD25D105-91D8-1E36-4126-A2234ACA010A}"/>
              </a:ext>
            </a:extLst>
          </p:cNvPr>
          <p:cNvGrpSpPr/>
          <p:nvPr/>
        </p:nvGrpSpPr>
        <p:grpSpPr>
          <a:xfrm>
            <a:off x="6154320" y="3994597"/>
            <a:ext cx="1730548" cy="175957"/>
            <a:chOff x="807560" y="2045707"/>
            <a:chExt cx="1730548" cy="175957"/>
          </a:xfrm>
        </p:grpSpPr>
        <p:sp>
          <p:nvSpPr>
            <p:cNvPr id="401" name="Retângulo: Cantos Arredondados 400">
              <a:extLst>
                <a:ext uri="{FF2B5EF4-FFF2-40B4-BE49-F238E27FC236}">
                  <a16:creationId xmlns:a16="http://schemas.microsoft.com/office/drawing/2014/main" id="{70EC582E-BBD5-84B3-0F77-51CA2ADC94B1}"/>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02" name="Retângulo: Cantos Arredondados 401">
              <a:extLst>
                <a:ext uri="{FF2B5EF4-FFF2-40B4-BE49-F238E27FC236}">
                  <a16:creationId xmlns:a16="http://schemas.microsoft.com/office/drawing/2014/main" id="{BBF6F040-ADCD-484F-DC9F-DD2C799F08EC}"/>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03" name="Retângulo: Cantos Arredondados 402">
              <a:extLst>
                <a:ext uri="{FF2B5EF4-FFF2-40B4-BE49-F238E27FC236}">
                  <a16:creationId xmlns:a16="http://schemas.microsoft.com/office/drawing/2014/main" id="{F823CB4A-5630-44FD-75DE-C28F11B92169}"/>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04" name="Retângulo: Cantos Arredondados 403">
              <a:extLst>
                <a:ext uri="{FF2B5EF4-FFF2-40B4-BE49-F238E27FC236}">
                  <a16:creationId xmlns:a16="http://schemas.microsoft.com/office/drawing/2014/main" id="{4F7ED00A-154C-3127-3157-5461D06843C0}"/>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97" name="Agrupar 396">
            <a:extLst>
              <a:ext uri="{FF2B5EF4-FFF2-40B4-BE49-F238E27FC236}">
                <a16:creationId xmlns:a16="http://schemas.microsoft.com/office/drawing/2014/main" id="{0B65B670-D637-EDFC-1928-A4E1FD01A24B}"/>
              </a:ext>
            </a:extLst>
          </p:cNvPr>
          <p:cNvGrpSpPr/>
          <p:nvPr/>
        </p:nvGrpSpPr>
        <p:grpSpPr>
          <a:xfrm>
            <a:off x="6149059" y="4221373"/>
            <a:ext cx="1735809" cy="175957"/>
            <a:chOff x="802299" y="2294613"/>
            <a:chExt cx="1735809" cy="175957"/>
          </a:xfrm>
        </p:grpSpPr>
        <p:sp>
          <p:nvSpPr>
            <p:cNvPr id="398" name="Retângulo: Cantos Arredondados 397">
              <a:extLst>
                <a:ext uri="{FF2B5EF4-FFF2-40B4-BE49-F238E27FC236}">
                  <a16:creationId xmlns:a16="http://schemas.microsoft.com/office/drawing/2014/main" id="{A13E2C46-EDC7-74F7-73FA-3E8A4AB34D3B}"/>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99" name="Retângulo: Cantos Arredondados 398">
              <a:extLst>
                <a:ext uri="{FF2B5EF4-FFF2-40B4-BE49-F238E27FC236}">
                  <a16:creationId xmlns:a16="http://schemas.microsoft.com/office/drawing/2014/main" id="{AEE22B06-3A36-2469-525F-83AD61B1836D}"/>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00" name="Retângulo: Cantos Arredondados 399">
              <a:extLst>
                <a:ext uri="{FF2B5EF4-FFF2-40B4-BE49-F238E27FC236}">
                  <a16:creationId xmlns:a16="http://schemas.microsoft.com/office/drawing/2014/main" id="{C01B453C-2344-CD25-138E-FE9E66D8FF63}"/>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19" name="Retângulo: Cantos Arredondados 418">
            <a:extLst>
              <a:ext uri="{FF2B5EF4-FFF2-40B4-BE49-F238E27FC236}">
                <a16:creationId xmlns:a16="http://schemas.microsoft.com/office/drawing/2014/main" id="{66301CA8-EAC1-4B6C-21EE-AFBC65070D1B}"/>
              </a:ext>
            </a:extLst>
          </p:cNvPr>
          <p:cNvSpPr/>
          <p:nvPr/>
        </p:nvSpPr>
        <p:spPr>
          <a:xfrm>
            <a:off x="8016296"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20" name="Agrupar 419">
            <a:extLst>
              <a:ext uri="{FF2B5EF4-FFF2-40B4-BE49-F238E27FC236}">
                <a16:creationId xmlns:a16="http://schemas.microsoft.com/office/drawing/2014/main" id="{31FA4AAE-EA65-7A64-90C1-6FA9BF7190D6}"/>
              </a:ext>
            </a:extLst>
          </p:cNvPr>
          <p:cNvGrpSpPr/>
          <p:nvPr/>
        </p:nvGrpSpPr>
        <p:grpSpPr>
          <a:xfrm>
            <a:off x="8074616" y="2850907"/>
            <a:ext cx="1728192" cy="175957"/>
            <a:chOff x="807560" y="1796801"/>
            <a:chExt cx="1728192" cy="175957"/>
          </a:xfrm>
        </p:grpSpPr>
        <p:sp>
          <p:nvSpPr>
            <p:cNvPr id="441" name="Retângulo: Cantos Arredondados 440">
              <a:extLst>
                <a:ext uri="{FF2B5EF4-FFF2-40B4-BE49-F238E27FC236}">
                  <a16:creationId xmlns:a16="http://schemas.microsoft.com/office/drawing/2014/main" id="{EEE06570-2842-8727-1A8E-7C28A3C5BED6}"/>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42" name="Retângulo: Cantos Arredondados 441">
              <a:extLst>
                <a:ext uri="{FF2B5EF4-FFF2-40B4-BE49-F238E27FC236}">
                  <a16:creationId xmlns:a16="http://schemas.microsoft.com/office/drawing/2014/main" id="{8BF5B374-F57C-DEC9-C3D1-25A3F3D0B39D}"/>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43" name="Retângulo: Cantos Arredondados 442">
              <a:extLst>
                <a:ext uri="{FF2B5EF4-FFF2-40B4-BE49-F238E27FC236}">
                  <a16:creationId xmlns:a16="http://schemas.microsoft.com/office/drawing/2014/main" id="{D0E4EC94-80D3-E78E-4889-CA9E89EF1DCD}"/>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21" name="Agrupar 420">
            <a:extLst>
              <a:ext uri="{FF2B5EF4-FFF2-40B4-BE49-F238E27FC236}">
                <a16:creationId xmlns:a16="http://schemas.microsoft.com/office/drawing/2014/main" id="{86BCAF6B-2529-BEC0-3C23-3ED5F0147C0A}"/>
              </a:ext>
            </a:extLst>
          </p:cNvPr>
          <p:cNvGrpSpPr/>
          <p:nvPr/>
        </p:nvGrpSpPr>
        <p:grpSpPr>
          <a:xfrm>
            <a:off x="8153055" y="3531234"/>
            <a:ext cx="1571314" cy="108000"/>
            <a:chOff x="885999" y="2544755"/>
            <a:chExt cx="1571314" cy="108000"/>
          </a:xfrm>
        </p:grpSpPr>
        <p:sp>
          <p:nvSpPr>
            <p:cNvPr id="431" name="Retângulo 430">
              <a:extLst>
                <a:ext uri="{FF2B5EF4-FFF2-40B4-BE49-F238E27FC236}">
                  <a16:creationId xmlns:a16="http://schemas.microsoft.com/office/drawing/2014/main" id="{DD8671EA-A7D9-9424-9B38-6E0D9A01D54A}"/>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2" name="CaixaDeTexto 431">
              <a:extLst>
                <a:ext uri="{FF2B5EF4-FFF2-40B4-BE49-F238E27FC236}">
                  <a16:creationId xmlns:a16="http://schemas.microsoft.com/office/drawing/2014/main" id="{7886EEF8-9F6F-BD85-0F3D-D4F212229E63}"/>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33" name="Retângulo 432">
              <a:extLst>
                <a:ext uri="{FF2B5EF4-FFF2-40B4-BE49-F238E27FC236}">
                  <a16:creationId xmlns:a16="http://schemas.microsoft.com/office/drawing/2014/main" id="{AF734C26-F6C0-3B44-781A-E3CA0AF87475}"/>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4" name="CaixaDeTexto 433">
              <a:extLst>
                <a:ext uri="{FF2B5EF4-FFF2-40B4-BE49-F238E27FC236}">
                  <a16:creationId xmlns:a16="http://schemas.microsoft.com/office/drawing/2014/main" id="{86410BEC-5010-8789-2976-95ABDA081230}"/>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35" name="Retângulo 434">
              <a:extLst>
                <a:ext uri="{FF2B5EF4-FFF2-40B4-BE49-F238E27FC236}">
                  <a16:creationId xmlns:a16="http://schemas.microsoft.com/office/drawing/2014/main" id="{EBAE4AAB-91FD-4778-E431-E89F15A598DD}"/>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36" name="CaixaDeTexto 435">
              <a:extLst>
                <a:ext uri="{FF2B5EF4-FFF2-40B4-BE49-F238E27FC236}">
                  <a16:creationId xmlns:a16="http://schemas.microsoft.com/office/drawing/2014/main" id="{60D961BC-0DF2-4989-3F4C-81276CCD42F4}"/>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37" name="Retângulo 436">
              <a:extLst>
                <a:ext uri="{FF2B5EF4-FFF2-40B4-BE49-F238E27FC236}">
                  <a16:creationId xmlns:a16="http://schemas.microsoft.com/office/drawing/2014/main" id="{05F67715-D03A-BAEB-480E-E19F810E800B}"/>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8" name="CaixaDeTexto 437">
              <a:extLst>
                <a:ext uri="{FF2B5EF4-FFF2-40B4-BE49-F238E27FC236}">
                  <a16:creationId xmlns:a16="http://schemas.microsoft.com/office/drawing/2014/main" id="{CEFDDA2C-00DD-1081-D1A4-4D224ECD0607}"/>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39" name="Retângulo 438">
              <a:extLst>
                <a:ext uri="{FF2B5EF4-FFF2-40B4-BE49-F238E27FC236}">
                  <a16:creationId xmlns:a16="http://schemas.microsoft.com/office/drawing/2014/main" id="{F553E06D-DF49-CDE9-6770-4401655FCE2E}"/>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40" name="CaixaDeTexto 439">
              <a:extLst>
                <a:ext uri="{FF2B5EF4-FFF2-40B4-BE49-F238E27FC236}">
                  <a16:creationId xmlns:a16="http://schemas.microsoft.com/office/drawing/2014/main" id="{FF1EE943-9E63-503F-F5C5-CDC63346B572}"/>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22" name="Agrupar 421">
            <a:extLst>
              <a:ext uri="{FF2B5EF4-FFF2-40B4-BE49-F238E27FC236}">
                <a16:creationId xmlns:a16="http://schemas.microsoft.com/office/drawing/2014/main" id="{3D0ACBDC-0E03-70D1-79E7-C903934478D9}"/>
              </a:ext>
            </a:extLst>
          </p:cNvPr>
          <p:cNvGrpSpPr/>
          <p:nvPr/>
        </p:nvGrpSpPr>
        <p:grpSpPr>
          <a:xfrm>
            <a:off x="8074616" y="3077683"/>
            <a:ext cx="1730548" cy="175957"/>
            <a:chOff x="807560" y="2045707"/>
            <a:chExt cx="1730548" cy="175957"/>
          </a:xfrm>
        </p:grpSpPr>
        <p:sp>
          <p:nvSpPr>
            <p:cNvPr id="427" name="Retângulo: Cantos Arredondados 426">
              <a:extLst>
                <a:ext uri="{FF2B5EF4-FFF2-40B4-BE49-F238E27FC236}">
                  <a16:creationId xmlns:a16="http://schemas.microsoft.com/office/drawing/2014/main" id="{B470D8F5-D854-189D-5B99-02A8BCB44EF2}"/>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28" name="Retângulo: Cantos Arredondados 427">
              <a:extLst>
                <a:ext uri="{FF2B5EF4-FFF2-40B4-BE49-F238E27FC236}">
                  <a16:creationId xmlns:a16="http://schemas.microsoft.com/office/drawing/2014/main" id="{9961ECD2-5180-2270-23E6-D9CF7A64B17A}"/>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29" name="Retângulo: Cantos Arredondados 428">
              <a:extLst>
                <a:ext uri="{FF2B5EF4-FFF2-40B4-BE49-F238E27FC236}">
                  <a16:creationId xmlns:a16="http://schemas.microsoft.com/office/drawing/2014/main" id="{C5845622-B75C-B1AD-C2A9-CC8802BFEE38}"/>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30" name="Retângulo: Cantos Arredondados 429">
              <a:extLst>
                <a:ext uri="{FF2B5EF4-FFF2-40B4-BE49-F238E27FC236}">
                  <a16:creationId xmlns:a16="http://schemas.microsoft.com/office/drawing/2014/main" id="{3B89232A-50EE-1CCE-5A79-2D7F1B6D5AC4}"/>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23" name="Agrupar 422">
            <a:extLst>
              <a:ext uri="{FF2B5EF4-FFF2-40B4-BE49-F238E27FC236}">
                <a16:creationId xmlns:a16="http://schemas.microsoft.com/office/drawing/2014/main" id="{A44E6B89-B7A3-F7AA-898E-3BF73F6329D6}"/>
              </a:ext>
            </a:extLst>
          </p:cNvPr>
          <p:cNvGrpSpPr/>
          <p:nvPr/>
        </p:nvGrpSpPr>
        <p:grpSpPr>
          <a:xfrm>
            <a:off x="8069355" y="3304459"/>
            <a:ext cx="1735809" cy="175957"/>
            <a:chOff x="802299" y="2294613"/>
            <a:chExt cx="1735809" cy="175957"/>
          </a:xfrm>
        </p:grpSpPr>
        <p:sp>
          <p:nvSpPr>
            <p:cNvPr id="424" name="Retângulo: Cantos Arredondados 423">
              <a:extLst>
                <a:ext uri="{FF2B5EF4-FFF2-40B4-BE49-F238E27FC236}">
                  <a16:creationId xmlns:a16="http://schemas.microsoft.com/office/drawing/2014/main" id="{2342D8F6-B209-D664-4C22-F292027F92FC}"/>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25" name="Retângulo: Cantos Arredondados 424">
              <a:extLst>
                <a:ext uri="{FF2B5EF4-FFF2-40B4-BE49-F238E27FC236}">
                  <a16:creationId xmlns:a16="http://schemas.microsoft.com/office/drawing/2014/main" id="{A8654B8A-692E-2887-E0C6-BEAE9159E667}"/>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26" name="Retângulo: Cantos Arredondados 425">
              <a:extLst>
                <a:ext uri="{FF2B5EF4-FFF2-40B4-BE49-F238E27FC236}">
                  <a16:creationId xmlns:a16="http://schemas.microsoft.com/office/drawing/2014/main" id="{EA0DF67D-D0D5-D252-92B1-DB773B394BFA}"/>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45" name="Retângulo: Cantos Arredondados 444">
            <a:extLst>
              <a:ext uri="{FF2B5EF4-FFF2-40B4-BE49-F238E27FC236}">
                <a16:creationId xmlns:a16="http://schemas.microsoft.com/office/drawing/2014/main" id="{19C638D0-B1D5-BDE9-AE4D-1789E514F949}"/>
              </a:ext>
            </a:extLst>
          </p:cNvPr>
          <p:cNvSpPr/>
          <p:nvPr/>
        </p:nvSpPr>
        <p:spPr>
          <a:xfrm>
            <a:off x="9936532"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46" name="Agrupar 445">
            <a:extLst>
              <a:ext uri="{FF2B5EF4-FFF2-40B4-BE49-F238E27FC236}">
                <a16:creationId xmlns:a16="http://schemas.microsoft.com/office/drawing/2014/main" id="{E4631B5B-5503-BCA7-1E39-6624283846BF}"/>
              </a:ext>
            </a:extLst>
          </p:cNvPr>
          <p:cNvGrpSpPr/>
          <p:nvPr/>
        </p:nvGrpSpPr>
        <p:grpSpPr>
          <a:xfrm>
            <a:off x="9994852" y="2850907"/>
            <a:ext cx="1728192" cy="175957"/>
            <a:chOff x="807560" y="1796801"/>
            <a:chExt cx="1728192" cy="175957"/>
          </a:xfrm>
        </p:grpSpPr>
        <p:sp>
          <p:nvSpPr>
            <p:cNvPr id="467" name="Retângulo: Cantos Arredondados 466">
              <a:extLst>
                <a:ext uri="{FF2B5EF4-FFF2-40B4-BE49-F238E27FC236}">
                  <a16:creationId xmlns:a16="http://schemas.microsoft.com/office/drawing/2014/main" id="{D017D5CC-60A2-306E-D7BF-5C341CA56DB6}"/>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68" name="Retângulo: Cantos Arredondados 467">
              <a:extLst>
                <a:ext uri="{FF2B5EF4-FFF2-40B4-BE49-F238E27FC236}">
                  <a16:creationId xmlns:a16="http://schemas.microsoft.com/office/drawing/2014/main" id="{D56ADEBA-594E-4EDE-0101-BA05FE91E533}"/>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69" name="Retângulo: Cantos Arredondados 468">
              <a:extLst>
                <a:ext uri="{FF2B5EF4-FFF2-40B4-BE49-F238E27FC236}">
                  <a16:creationId xmlns:a16="http://schemas.microsoft.com/office/drawing/2014/main" id="{67C471D1-4E9E-3971-09E5-F919EBE65FEC}"/>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47" name="Agrupar 446">
            <a:extLst>
              <a:ext uri="{FF2B5EF4-FFF2-40B4-BE49-F238E27FC236}">
                <a16:creationId xmlns:a16="http://schemas.microsoft.com/office/drawing/2014/main" id="{AAEC66A2-409D-3270-7761-58DB096FF376}"/>
              </a:ext>
            </a:extLst>
          </p:cNvPr>
          <p:cNvGrpSpPr/>
          <p:nvPr/>
        </p:nvGrpSpPr>
        <p:grpSpPr>
          <a:xfrm>
            <a:off x="10073291" y="3531234"/>
            <a:ext cx="1571314" cy="108000"/>
            <a:chOff x="885999" y="2544755"/>
            <a:chExt cx="1571314" cy="108000"/>
          </a:xfrm>
        </p:grpSpPr>
        <p:sp>
          <p:nvSpPr>
            <p:cNvPr id="457" name="Retângulo 456">
              <a:extLst>
                <a:ext uri="{FF2B5EF4-FFF2-40B4-BE49-F238E27FC236}">
                  <a16:creationId xmlns:a16="http://schemas.microsoft.com/office/drawing/2014/main" id="{4785344A-00DB-32C0-C122-65BC2FECE31C}"/>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58" name="CaixaDeTexto 457">
              <a:extLst>
                <a:ext uri="{FF2B5EF4-FFF2-40B4-BE49-F238E27FC236}">
                  <a16:creationId xmlns:a16="http://schemas.microsoft.com/office/drawing/2014/main" id="{51E7C37E-5A00-BFEE-5D66-B0934937F23D}"/>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59" name="Retângulo 458">
              <a:extLst>
                <a:ext uri="{FF2B5EF4-FFF2-40B4-BE49-F238E27FC236}">
                  <a16:creationId xmlns:a16="http://schemas.microsoft.com/office/drawing/2014/main" id="{E7574BF4-743A-3D8B-25BB-9A62B83A1226}"/>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60" name="CaixaDeTexto 459">
              <a:extLst>
                <a:ext uri="{FF2B5EF4-FFF2-40B4-BE49-F238E27FC236}">
                  <a16:creationId xmlns:a16="http://schemas.microsoft.com/office/drawing/2014/main" id="{59E22E99-C75B-E738-6DEB-A0FCBFD570BF}"/>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61" name="Retângulo 460">
              <a:extLst>
                <a:ext uri="{FF2B5EF4-FFF2-40B4-BE49-F238E27FC236}">
                  <a16:creationId xmlns:a16="http://schemas.microsoft.com/office/drawing/2014/main" id="{8BE2A073-A3D4-BEBA-8631-0EE8B26FF6F8}"/>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62" name="CaixaDeTexto 461">
              <a:extLst>
                <a:ext uri="{FF2B5EF4-FFF2-40B4-BE49-F238E27FC236}">
                  <a16:creationId xmlns:a16="http://schemas.microsoft.com/office/drawing/2014/main" id="{141316F7-45D6-A034-B6DC-0B01AE79F15B}"/>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63" name="Retângulo 462">
              <a:extLst>
                <a:ext uri="{FF2B5EF4-FFF2-40B4-BE49-F238E27FC236}">
                  <a16:creationId xmlns:a16="http://schemas.microsoft.com/office/drawing/2014/main" id="{567449FD-CB42-8669-E47B-E682E99DD642}"/>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64" name="CaixaDeTexto 463">
              <a:extLst>
                <a:ext uri="{FF2B5EF4-FFF2-40B4-BE49-F238E27FC236}">
                  <a16:creationId xmlns:a16="http://schemas.microsoft.com/office/drawing/2014/main" id="{AD1D1E46-3C85-E18E-497F-3C8AAC593FD5}"/>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65" name="Retângulo 464">
              <a:extLst>
                <a:ext uri="{FF2B5EF4-FFF2-40B4-BE49-F238E27FC236}">
                  <a16:creationId xmlns:a16="http://schemas.microsoft.com/office/drawing/2014/main" id="{1994B50C-04E8-EB1E-A289-E1375AA7A42C}"/>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66" name="CaixaDeTexto 465">
              <a:extLst>
                <a:ext uri="{FF2B5EF4-FFF2-40B4-BE49-F238E27FC236}">
                  <a16:creationId xmlns:a16="http://schemas.microsoft.com/office/drawing/2014/main" id="{313F01B4-CEE3-2B86-C990-0CF59C0BB1B9}"/>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48" name="Agrupar 447">
            <a:extLst>
              <a:ext uri="{FF2B5EF4-FFF2-40B4-BE49-F238E27FC236}">
                <a16:creationId xmlns:a16="http://schemas.microsoft.com/office/drawing/2014/main" id="{3BB47CF6-F533-2573-6F63-6B6A3B371D2A}"/>
              </a:ext>
            </a:extLst>
          </p:cNvPr>
          <p:cNvGrpSpPr/>
          <p:nvPr/>
        </p:nvGrpSpPr>
        <p:grpSpPr>
          <a:xfrm>
            <a:off x="9994852" y="3077683"/>
            <a:ext cx="1730548" cy="175957"/>
            <a:chOff x="807560" y="2045707"/>
            <a:chExt cx="1730548" cy="175957"/>
          </a:xfrm>
        </p:grpSpPr>
        <p:sp>
          <p:nvSpPr>
            <p:cNvPr id="453" name="Retângulo: Cantos Arredondados 452">
              <a:extLst>
                <a:ext uri="{FF2B5EF4-FFF2-40B4-BE49-F238E27FC236}">
                  <a16:creationId xmlns:a16="http://schemas.microsoft.com/office/drawing/2014/main" id="{E21FC9E8-8357-1F6F-6125-8C21DC2ACDDC}"/>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54" name="Retângulo: Cantos Arredondados 453">
              <a:extLst>
                <a:ext uri="{FF2B5EF4-FFF2-40B4-BE49-F238E27FC236}">
                  <a16:creationId xmlns:a16="http://schemas.microsoft.com/office/drawing/2014/main" id="{5EC62D97-ACC0-2F2C-8E3C-D191ECAC848A}"/>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55" name="Retângulo: Cantos Arredondados 454">
              <a:extLst>
                <a:ext uri="{FF2B5EF4-FFF2-40B4-BE49-F238E27FC236}">
                  <a16:creationId xmlns:a16="http://schemas.microsoft.com/office/drawing/2014/main" id="{7021C577-8259-435B-43E6-79365615DD2E}"/>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56" name="Retângulo: Cantos Arredondados 455">
              <a:extLst>
                <a:ext uri="{FF2B5EF4-FFF2-40B4-BE49-F238E27FC236}">
                  <a16:creationId xmlns:a16="http://schemas.microsoft.com/office/drawing/2014/main" id="{E9D843A6-6EBF-9DDB-1D0B-BEB028E2E370}"/>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49" name="Agrupar 448">
            <a:extLst>
              <a:ext uri="{FF2B5EF4-FFF2-40B4-BE49-F238E27FC236}">
                <a16:creationId xmlns:a16="http://schemas.microsoft.com/office/drawing/2014/main" id="{AA6FC81D-EA95-DEC1-3930-76FE0ED7B51E}"/>
              </a:ext>
            </a:extLst>
          </p:cNvPr>
          <p:cNvGrpSpPr/>
          <p:nvPr/>
        </p:nvGrpSpPr>
        <p:grpSpPr>
          <a:xfrm>
            <a:off x="9989591" y="3304459"/>
            <a:ext cx="1735809" cy="175957"/>
            <a:chOff x="802299" y="2294613"/>
            <a:chExt cx="1735809" cy="175957"/>
          </a:xfrm>
        </p:grpSpPr>
        <p:sp>
          <p:nvSpPr>
            <p:cNvPr id="450" name="Retângulo: Cantos Arredondados 449">
              <a:extLst>
                <a:ext uri="{FF2B5EF4-FFF2-40B4-BE49-F238E27FC236}">
                  <a16:creationId xmlns:a16="http://schemas.microsoft.com/office/drawing/2014/main" id="{770850BE-0828-2431-D493-210C413007DA}"/>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51" name="Retângulo: Cantos Arredondados 450">
              <a:extLst>
                <a:ext uri="{FF2B5EF4-FFF2-40B4-BE49-F238E27FC236}">
                  <a16:creationId xmlns:a16="http://schemas.microsoft.com/office/drawing/2014/main" id="{31933294-AB0F-A5B2-BA6A-805223DA8E98}"/>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52" name="Retângulo: Cantos Arredondados 451">
              <a:extLst>
                <a:ext uri="{FF2B5EF4-FFF2-40B4-BE49-F238E27FC236}">
                  <a16:creationId xmlns:a16="http://schemas.microsoft.com/office/drawing/2014/main" id="{F922D12E-598F-204A-515E-2400E694822A}"/>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71" name="Retângulo: Cantos Arredondados 470">
            <a:extLst>
              <a:ext uri="{FF2B5EF4-FFF2-40B4-BE49-F238E27FC236}">
                <a16:creationId xmlns:a16="http://schemas.microsoft.com/office/drawing/2014/main" id="{3EF030D7-4FF8-1B46-FE5C-E5373797C525}"/>
              </a:ext>
            </a:extLst>
          </p:cNvPr>
          <p:cNvSpPr/>
          <p:nvPr/>
        </p:nvSpPr>
        <p:spPr>
          <a:xfrm>
            <a:off x="9936532"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72" name="Agrupar 471">
            <a:extLst>
              <a:ext uri="{FF2B5EF4-FFF2-40B4-BE49-F238E27FC236}">
                <a16:creationId xmlns:a16="http://schemas.microsoft.com/office/drawing/2014/main" id="{C5290E85-A6F5-B129-4E1F-2BFA96C752DE}"/>
              </a:ext>
            </a:extLst>
          </p:cNvPr>
          <p:cNvGrpSpPr/>
          <p:nvPr/>
        </p:nvGrpSpPr>
        <p:grpSpPr>
          <a:xfrm>
            <a:off x="9994852" y="3767821"/>
            <a:ext cx="1728192" cy="175957"/>
            <a:chOff x="807560" y="1796801"/>
            <a:chExt cx="1728192" cy="175957"/>
          </a:xfrm>
        </p:grpSpPr>
        <p:sp>
          <p:nvSpPr>
            <p:cNvPr id="493" name="Retângulo: Cantos Arredondados 492">
              <a:extLst>
                <a:ext uri="{FF2B5EF4-FFF2-40B4-BE49-F238E27FC236}">
                  <a16:creationId xmlns:a16="http://schemas.microsoft.com/office/drawing/2014/main" id="{2F5DE5D4-5499-6FB6-5FA6-1091CDA7A8EA}"/>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94" name="Retângulo: Cantos Arredondados 493">
              <a:extLst>
                <a:ext uri="{FF2B5EF4-FFF2-40B4-BE49-F238E27FC236}">
                  <a16:creationId xmlns:a16="http://schemas.microsoft.com/office/drawing/2014/main" id="{766E203E-E68C-9212-6688-91198AFA54ED}"/>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95" name="Retângulo: Cantos Arredondados 494">
              <a:extLst>
                <a:ext uri="{FF2B5EF4-FFF2-40B4-BE49-F238E27FC236}">
                  <a16:creationId xmlns:a16="http://schemas.microsoft.com/office/drawing/2014/main" id="{D9B85CA6-18F8-501A-D777-EE01EC34AF57}"/>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73" name="Agrupar 472">
            <a:extLst>
              <a:ext uri="{FF2B5EF4-FFF2-40B4-BE49-F238E27FC236}">
                <a16:creationId xmlns:a16="http://schemas.microsoft.com/office/drawing/2014/main" id="{22642CD4-2B84-5C27-DE93-3EEF7B52F0C3}"/>
              </a:ext>
            </a:extLst>
          </p:cNvPr>
          <p:cNvGrpSpPr/>
          <p:nvPr/>
        </p:nvGrpSpPr>
        <p:grpSpPr>
          <a:xfrm>
            <a:off x="10073291" y="4448148"/>
            <a:ext cx="1571314" cy="108000"/>
            <a:chOff x="885999" y="2544755"/>
            <a:chExt cx="1571314" cy="108000"/>
          </a:xfrm>
        </p:grpSpPr>
        <p:sp>
          <p:nvSpPr>
            <p:cNvPr id="483" name="Retângulo 482">
              <a:extLst>
                <a:ext uri="{FF2B5EF4-FFF2-40B4-BE49-F238E27FC236}">
                  <a16:creationId xmlns:a16="http://schemas.microsoft.com/office/drawing/2014/main" id="{E1465C7F-C718-8BA5-B8F1-CDECF05C5945}"/>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84" name="CaixaDeTexto 483">
              <a:extLst>
                <a:ext uri="{FF2B5EF4-FFF2-40B4-BE49-F238E27FC236}">
                  <a16:creationId xmlns:a16="http://schemas.microsoft.com/office/drawing/2014/main" id="{E0669FA7-CA64-F03B-AE35-9F3F0F0DE3CA}"/>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85" name="Retângulo 484">
              <a:extLst>
                <a:ext uri="{FF2B5EF4-FFF2-40B4-BE49-F238E27FC236}">
                  <a16:creationId xmlns:a16="http://schemas.microsoft.com/office/drawing/2014/main" id="{D16B26C8-B562-6051-247A-F821EE3BC655}"/>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86" name="CaixaDeTexto 485">
              <a:extLst>
                <a:ext uri="{FF2B5EF4-FFF2-40B4-BE49-F238E27FC236}">
                  <a16:creationId xmlns:a16="http://schemas.microsoft.com/office/drawing/2014/main" id="{9BDC03E6-A17A-07E8-964A-6210BDF291E3}"/>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87" name="Retângulo 486">
              <a:extLst>
                <a:ext uri="{FF2B5EF4-FFF2-40B4-BE49-F238E27FC236}">
                  <a16:creationId xmlns:a16="http://schemas.microsoft.com/office/drawing/2014/main" id="{57735183-8043-AEC5-D561-EEB816BCEC48}"/>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88" name="CaixaDeTexto 487">
              <a:extLst>
                <a:ext uri="{FF2B5EF4-FFF2-40B4-BE49-F238E27FC236}">
                  <a16:creationId xmlns:a16="http://schemas.microsoft.com/office/drawing/2014/main" id="{108BFE0C-A5A3-032A-E481-8BC91533C26E}"/>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89" name="Retângulo 488">
              <a:extLst>
                <a:ext uri="{FF2B5EF4-FFF2-40B4-BE49-F238E27FC236}">
                  <a16:creationId xmlns:a16="http://schemas.microsoft.com/office/drawing/2014/main" id="{7CE96305-2E44-9E80-57D1-6259B21D7EFE}"/>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90" name="CaixaDeTexto 489">
              <a:extLst>
                <a:ext uri="{FF2B5EF4-FFF2-40B4-BE49-F238E27FC236}">
                  <a16:creationId xmlns:a16="http://schemas.microsoft.com/office/drawing/2014/main" id="{4FE710CA-FCA6-0F14-E385-2B3C5512CA5C}"/>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91" name="Retângulo 490">
              <a:extLst>
                <a:ext uri="{FF2B5EF4-FFF2-40B4-BE49-F238E27FC236}">
                  <a16:creationId xmlns:a16="http://schemas.microsoft.com/office/drawing/2014/main" id="{D02DA24F-07F1-B7FF-AEC6-77A701537C82}"/>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92" name="CaixaDeTexto 491">
              <a:extLst>
                <a:ext uri="{FF2B5EF4-FFF2-40B4-BE49-F238E27FC236}">
                  <a16:creationId xmlns:a16="http://schemas.microsoft.com/office/drawing/2014/main" id="{63E997B5-CCC1-6630-4719-8CF10E9DE318}"/>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74" name="Agrupar 473">
            <a:extLst>
              <a:ext uri="{FF2B5EF4-FFF2-40B4-BE49-F238E27FC236}">
                <a16:creationId xmlns:a16="http://schemas.microsoft.com/office/drawing/2014/main" id="{0BBAEE4E-7C33-B513-AC10-6C5C68200E40}"/>
              </a:ext>
            </a:extLst>
          </p:cNvPr>
          <p:cNvGrpSpPr/>
          <p:nvPr/>
        </p:nvGrpSpPr>
        <p:grpSpPr>
          <a:xfrm>
            <a:off x="9994852" y="3994597"/>
            <a:ext cx="1730548" cy="175957"/>
            <a:chOff x="807560" y="2045707"/>
            <a:chExt cx="1730548" cy="175957"/>
          </a:xfrm>
        </p:grpSpPr>
        <p:sp>
          <p:nvSpPr>
            <p:cNvPr id="479" name="Retângulo: Cantos Arredondados 478">
              <a:extLst>
                <a:ext uri="{FF2B5EF4-FFF2-40B4-BE49-F238E27FC236}">
                  <a16:creationId xmlns:a16="http://schemas.microsoft.com/office/drawing/2014/main" id="{D560ADDB-2118-5B1E-4505-6855E944EEFF}"/>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80" name="Retângulo: Cantos Arredondados 479">
              <a:extLst>
                <a:ext uri="{FF2B5EF4-FFF2-40B4-BE49-F238E27FC236}">
                  <a16:creationId xmlns:a16="http://schemas.microsoft.com/office/drawing/2014/main" id="{8AAA0358-38B7-0616-6661-3F83E470295B}"/>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81" name="Retângulo: Cantos Arredondados 480">
              <a:extLst>
                <a:ext uri="{FF2B5EF4-FFF2-40B4-BE49-F238E27FC236}">
                  <a16:creationId xmlns:a16="http://schemas.microsoft.com/office/drawing/2014/main" id="{ADC4AF17-426E-3868-AFFF-718635AAF246}"/>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82" name="Retângulo: Cantos Arredondados 481">
              <a:extLst>
                <a:ext uri="{FF2B5EF4-FFF2-40B4-BE49-F238E27FC236}">
                  <a16:creationId xmlns:a16="http://schemas.microsoft.com/office/drawing/2014/main" id="{F962491F-4A0B-13B4-D794-52833F8CF0B0}"/>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75" name="Agrupar 474">
            <a:extLst>
              <a:ext uri="{FF2B5EF4-FFF2-40B4-BE49-F238E27FC236}">
                <a16:creationId xmlns:a16="http://schemas.microsoft.com/office/drawing/2014/main" id="{2B66843E-9355-156E-048E-F858CDC952C0}"/>
              </a:ext>
            </a:extLst>
          </p:cNvPr>
          <p:cNvGrpSpPr/>
          <p:nvPr/>
        </p:nvGrpSpPr>
        <p:grpSpPr>
          <a:xfrm>
            <a:off x="9989591" y="4221373"/>
            <a:ext cx="1735809" cy="175957"/>
            <a:chOff x="802299" y="2294613"/>
            <a:chExt cx="1735809" cy="175957"/>
          </a:xfrm>
        </p:grpSpPr>
        <p:sp>
          <p:nvSpPr>
            <p:cNvPr id="476" name="Retângulo: Cantos Arredondados 475">
              <a:extLst>
                <a:ext uri="{FF2B5EF4-FFF2-40B4-BE49-F238E27FC236}">
                  <a16:creationId xmlns:a16="http://schemas.microsoft.com/office/drawing/2014/main" id="{33895350-F77C-A6B1-7A8F-CE0FECDA3B41}"/>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77" name="Retângulo: Cantos Arredondados 476">
              <a:extLst>
                <a:ext uri="{FF2B5EF4-FFF2-40B4-BE49-F238E27FC236}">
                  <a16:creationId xmlns:a16="http://schemas.microsoft.com/office/drawing/2014/main" id="{352815A6-B1FD-F198-8C26-622BA6030F53}"/>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78" name="Retângulo: Cantos Arredondados 477">
              <a:extLst>
                <a:ext uri="{FF2B5EF4-FFF2-40B4-BE49-F238E27FC236}">
                  <a16:creationId xmlns:a16="http://schemas.microsoft.com/office/drawing/2014/main" id="{3A7926B2-5292-34C3-B45C-9F47D800A02A}"/>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97" name="Retângulo: Cantos Arredondados 496">
            <a:extLst>
              <a:ext uri="{FF2B5EF4-FFF2-40B4-BE49-F238E27FC236}">
                <a16:creationId xmlns:a16="http://schemas.microsoft.com/office/drawing/2014/main" id="{9902B8D6-8894-2FE7-E7B2-7E23B9245A9C}"/>
              </a:ext>
            </a:extLst>
          </p:cNvPr>
          <p:cNvSpPr/>
          <p:nvPr/>
        </p:nvSpPr>
        <p:spPr>
          <a:xfrm>
            <a:off x="9936532" y="466075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98" name="Agrupar 497">
            <a:extLst>
              <a:ext uri="{FF2B5EF4-FFF2-40B4-BE49-F238E27FC236}">
                <a16:creationId xmlns:a16="http://schemas.microsoft.com/office/drawing/2014/main" id="{39BC23BD-ADCC-C2C8-0E59-8197657BDDFB}"/>
              </a:ext>
            </a:extLst>
          </p:cNvPr>
          <p:cNvGrpSpPr/>
          <p:nvPr/>
        </p:nvGrpSpPr>
        <p:grpSpPr>
          <a:xfrm>
            <a:off x="9994852" y="4684735"/>
            <a:ext cx="1728192" cy="175957"/>
            <a:chOff x="807560" y="1796801"/>
            <a:chExt cx="1728192" cy="175957"/>
          </a:xfrm>
        </p:grpSpPr>
        <p:sp>
          <p:nvSpPr>
            <p:cNvPr id="519" name="Retângulo: Cantos Arredondados 518">
              <a:extLst>
                <a:ext uri="{FF2B5EF4-FFF2-40B4-BE49-F238E27FC236}">
                  <a16:creationId xmlns:a16="http://schemas.microsoft.com/office/drawing/2014/main" id="{AAA337E2-8842-CC9B-D25D-DEB7482F5A42}"/>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520" name="Retângulo: Cantos Arredondados 519">
              <a:extLst>
                <a:ext uri="{FF2B5EF4-FFF2-40B4-BE49-F238E27FC236}">
                  <a16:creationId xmlns:a16="http://schemas.microsoft.com/office/drawing/2014/main" id="{F8C63612-D616-3C3B-1ADB-B9D9E0AF5F5B}"/>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521" name="Retângulo: Cantos Arredondados 520">
              <a:extLst>
                <a:ext uri="{FF2B5EF4-FFF2-40B4-BE49-F238E27FC236}">
                  <a16:creationId xmlns:a16="http://schemas.microsoft.com/office/drawing/2014/main" id="{73080D2B-4C89-7E24-10E8-3A6D5E824752}"/>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99" name="Agrupar 498">
            <a:extLst>
              <a:ext uri="{FF2B5EF4-FFF2-40B4-BE49-F238E27FC236}">
                <a16:creationId xmlns:a16="http://schemas.microsoft.com/office/drawing/2014/main" id="{CAC93E17-95DD-9FB1-B534-36FF30FBBD38}"/>
              </a:ext>
            </a:extLst>
          </p:cNvPr>
          <p:cNvGrpSpPr/>
          <p:nvPr/>
        </p:nvGrpSpPr>
        <p:grpSpPr>
          <a:xfrm>
            <a:off x="10073291" y="5365062"/>
            <a:ext cx="1571314" cy="108000"/>
            <a:chOff x="885999" y="2544755"/>
            <a:chExt cx="1571314" cy="108000"/>
          </a:xfrm>
        </p:grpSpPr>
        <p:sp>
          <p:nvSpPr>
            <p:cNvPr id="509" name="Retângulo 508">
              <a:extLst>
                <a:ext uri="{FF2B5EF4-FFF2-40B4-BE49-F238E27FC236}">
                  <a16:creationId xmlns:a16="http://schemas.microsoft.com/office/drawing/2014/main" id="{FE149BD3-D734-F245-25A9-2B325FCE5F5B}"/>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0" name="CaixaDeTexto 509">
              <a:extLst>
                <a:ext uri="{FF2B5EF4-FFF2-40B4-BE49-F238E27FC236}">
                  <a16:creationId xmlns:a16="http://schemas.microsoft.com/office/drawing/2014/main" id="{F4CA70EA-EB58-3F6F-9A0C-915AEEBA8FDB}"/>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511" name="Retângulo 510">
              <a:extLst>
                <a:ext uri="{FF2B5EF4-FFF2-40B4-BE49-F238E27FC236}">
                  <a16:creationId xmlns:a16="http://schemas.microsoft.com/office/drawing/2014/main" id="{E7C24FA7-14CE-14E6-FC50-72A8257EA730}"/>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2" name="CaixaDeTexto 511">
              <a:extLst>
                <a:ext uri="{FF2B5EF4-FFF2-40B4-BE49-F238E27FC236}">
                  <a16:creationId xmlns:a16="http://schemas.microsoft.com/office/drawing/2014/main" id="{1C09C7F3-DD57-F9C1-FAC3-68F7D039817E}"/>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513" name="Retângulo 512">
              <a:extLst>
                <a:ext uri="{FF2B5EF4-FFF2-40B4-BE49-F238E27FC236}">
                  <a16:creationId xmlns:a16="http://schemas.microsoft.com/office/drawing/2014/main" id="{9DEEAD58-EC78-95C3-BD0A-652224DBAA9D}"/>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514" name="CaixaDeTexto 513">
              <a:extLst>
                <a:ext uri="{FF2B5EF4-FFF2-40B4-BE49-F238E27FC236}">
                  <a16:creationId xmlns:a16="http://schemas.microsoft.com/office/drawing/2014/main" id="{952B74C8-7CEF-C0A1-139F-FB3F92AB16D5}"/>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515" name="Retângulo 514">
              <a:extLst>
                <a:ext uri="{FF2B5EF4-FFF2-40B4-BE49-F238E27FC236}">
                  <a16:creationId xmlns:a16="http://schemas.microsoft.com/office/drawing/2014/main" id="{C049C852-3733-567E-3171-5D34CEBBCBB8}"/>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6" name="CaixaDeTexto 515">
              <a:extLst>
                <a:ext uri="{FF2B5EF4-FFF2-40B4-BE49-F238E27FC236}">
                  <a16:creationId xmlns:a16="http://schemas.microsoft.com/office/drawing/2014/main" id="{5C2A4996-7BDA-14E5-0C17-E93E07FF871A}"/>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517" name="Retângulo 516">
              <a:extLst>
                <a:ext uri="{FF2B5EF4-FFF2-40B4-BE49-F238E27FC236}">
                  <a16:creationId xmlns:a16="http://schemas.microsoft.com/office/drawing/2014/main" id="{31E7F3AA-3B59-F3A4-30A1-F04DC81DCF1F}"/>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518" name="CaixaDeTexto 517">
              <a:extLst>
                <a:ext uri="{FF2B5EF4-FFF2-40B4-BE49-F238E27FC236}">
                  <a16:creationId xmlns:a16="http://schemas.microsoft.com/office/drawing/2014/main" id="{AEA00D36-6E7F-9BEC-53F0-D7D7CEAE6A9D}"/>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500" name="Agrupar 499">
            <a:extLst>
              <a:ext uri="{FF2B5EF4-FFF2-40B4-BE49-F238E27FC236}">
                <a16:creationId xmlns:a16="http://schemas.microsoft.com/office/drawing/2014/main" id="{36264F9F-4D6A-3167-DBA6-53D434B04C5B}"/>
              </a:ext>
            </a:extLst>
          </p:cNvPr>
          <p:cNvGrpSpPr/>
          <p:nvPr/>
        </p:nvGrpSpPr>
        <p:grpSpPr>
          <a:xfrm>
            <a:off x="9994852" y="4911511"/>
            <a:ext cx="1730548" cy="175957"/>
            <a:chOff x="807560" y="2045707"/>
            <a:chExt cx="1730548" cy="175957"/>
          </a:xfrm>
        </p:grpSpPr>
        <p:sp>
          <p:nvSpPr>
            <p:cNvPr id="505" name="Retângulo: Cantos Arredondados 504">
              <a:extLst>
                <a:ext uri="{FF2B5EF4-FFF2-40B4-BE49-F238E27FC236}">
                  <a16:creationId xmlns:a16="http://schemas.microsoft.com/office/drawing/2014/main" id="{397376E8-CF45-ACF3-15B0-C15E58447643}"/>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506" name="Retângulo: Cantos Arredondados 505">
              <a:extLst>
                <a:ext uri="{FF2B5EF4-FFF2-40B4-BE49-F238E27FC236}">
                  <a16:creationId xmlns:a16="http://schemas.microsoft.com/office/drawing/2014/main" id="{CA160B6E-B6F4-30FF-4311-6D1F80529A57}"/>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07" name="Retângulo: Cantos Arredondados 506">
              <a:extLst>
                <a:ext uri="{FF2B5EF4-FFF2-40B4-BE49-F238E27FC236}">
                  <a16:creationId xmlns:a16="http://schemas.microsoft.com/office/drawing/2014/main" id="{9FC0CC47-B53D-B21B-9D21-ED0F4AD54667}"/>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508" name="Retângulo: Cantos Arredondados 507">
              <a:extLst>
                <a:ext uri="{FF2B5EF4-FFF2-40B4-BE49-F238E27FC236}">
                  <a16:creationId xmlns:a16="http://schemas.microsoft.com/office/drawing/2014/main" id="{82075B28-8A86-C80B-6728-302C8D70E084}"/>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501" name="Agrupar 500">
            <a:extLst>
              <a:ext uri="{FF2B5EF4-FFF2-40B4-BE49-F238E27FC236}">
                <a16:creationId xmlns:a16="http://schemas.microsoft.com/office/drawing/2014/main" id="{BE1E1BE8-19EC-1B07-E57D-F08381469AC9}"/>
              </a:ext>
            </a:extLst>
          </p:cNvPr>
          <p:cNvGrpSpPr/>
          <p:nvPr/>
        </p:nvGrpSpPr>
        <p:grpSpPr>
          <a:xfrm>
            <a:off x="9989591" y="5138287"/>
            <a:ext cx="1735809" cy="175957"/>
            <a:chOff x="802299" y="2294613"/>
            <a:chExt cx="1735809" cy="175957"/>
          </a:xfrm>
        </p:grpSpPr>
        <p:sp>
          <p:nvSpPr>
            <p:cNvPr id="502" name="Retângulo: Cantos Arredondados 501">
              <a:extLst>
                <a:ext uri="{FF2B5EF4-FFF2-40B4-BE49-F238E27FC236}">
                  <a16:creationId xmlns:a16="http://schemas.microsoft.com/office/drawing/2014/main" id="{A7BAFA99-AD0F-FBBE-FBB9-8E7F0CC66694}"/>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503" name="Retângulo: Cantos Arredondados 502">
              <a:extLst>
                <a:ext uri="{FF2B5EF4-FFF2-40B4-BE49-F238E27FC236}">
                  <a16:creationId xmlns:a16="http://schemas.microsoft.com/office/drawing/2014/main" id="{176A55CD-75CF-3B37-4208-6F0B6E209C97}"/>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504" name="Retângulo: Cantos Arredondados 503">
              <a:extLst>
                <a:ext uri="{FF2B5EF4-FFF2-40B4-BE49-F238E27FC236}">
                  <a16:creationId xmlns:a16="http://schemas.microsoft.com/office/drawing/2014/main" id="{E8C8DD4C-9F90-97DF-5D12-52C6A3CD72F5}"/>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524" name="Título 4">
            <a:extLst>
              <a:ext uri="{FF2B5EF4-FFF2-40B4-BE49-F238E27FC236}">
                <a16:creationId xmlns:a16="http://schemas.microsoft.com/office/drawing/2014/main" id="{ACDB1ED8-6C05-E6B8-C43B-C067DD1F9124}"/>
              </a:ext>
            </a:extLst>
          </p:cNvPr>
          <p:cNvSpPr>
            <a:spLocks noGrp="1"/>
          </p:cNvSpPr>
          <p:nvPr>
            <p:ph type="title"/>
          </p:nvPr>
        </p:nvSpPr>
        <p:spPr>
          <a:xfrm>
            <a:off x="1089653" y="303578"/>
            <a:ext cx="10485852" cy="645195"/>
          </a:xfrm>
        </p:spPr>
        <p:txBody>
          <a:bodyPr vert="horz" lIns="91440" tIns="45720" rIns="91440" bIns="45720" rtlCol="0" anchor="ctr">
            <a:noAutofit/>
          </a:bodyPr>
          <a:lstStyle/>
          <a:p>
            <a:pPr defTabSz="1055035">
              <a:lnSpc>
                <a:spcPct val="100000"/>
              </a:lnSpc>
              <a:spcBef>
                <a:spcPts val="0"/>
              </a:spcBef>
            </a:pPr>
            <a:r>
              <a:rPr lang="pt-BR" dirty="0"/>
              <a:t>Cadastro de Paradas</a:t>
            </a:r>
            <a:br>
              <a:rPr lang="pt-BR" dirty="0"/>
            </a:br>
            <a:r>
              <a:rPr lang="pt-BR" sz="1600" b="0" dirty="0" err="1">
                <a:solidFill>
                  <a:prstClr val="black"/>
                </a:solidFill>
                <a:latin typeface="Calibri"/>
              </a:rPr>
              <a:t>Mock-up</a:t>
            </a:r>
            <a:r>
              <a:rPr lang="pt-BR" sz="1600" b="0" dirty="0">
                <a:solidFill>
                  <a:prstClr val="black"/>
                </a:solidFill>
                <a:latin typeface="Calibri"/>
              </a:rPr>
              <a:t> tela inicial</a:t>
            </a:r>
          </a:p>
        </p:txBody>
      </p:sp>
      <p:sp>
        <p:nvSpPr>
          <p:cNvPr id="525" name="Retângulo 524">
            <a:extLst>
              <a:ext uri="{FF2B5EF4-FFF2-40B4-BE49-F238E27FC236}">
                <a16:creationId xmlns:a16="http://schemas.microsoft.com/office/drawing/2014/main" id="{4F6EB776-4294-1A82-3D44-3A39AB5E84F4}"/>
              </a:ext>
            </a:extLst>
          </p:cNvPr>
          <p:cNvSpPr/>
          <p:nvPr/>
        </p:nvSpPr>
        <p:spPr>
          <a:xfrm>
            <a:off x="335360" y="1037696"/>
            <a:ext cx="11446005" cy="360040"/>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6" name="CaixaDeTexto 525">
            <a:extLst>
              <a:ext uri="{FF2B5EF4-FFF2-40B4-BE49-F238E27FC236}">
                <a16:creationId xmlns:a16="http://schemas.microsoft.com/office/drawing/2014/main" id="{502C8115-7611-21F9-5734-316CDA1DCD05}"/>
              </a:ext>
            </a:extLst>
          </p:cNvPr>
          <p:cNvSpPr txBox="1"/>
          <p:nvPr/>
        </p:nvSpPr>
        <p:spPr>
          <a:xfrm>
            <a:off x="335360" y="1086911"/>
            <a:ext cx="1584176" cy="261610"/>
          </a:xfrm>
          <a:prstGeom prst="rect">
            <a:avLst/>
          </a:prstGeom>
          <a:noFill/>
        </p:spPr>
        <p:txBody>
          <a:bodyPr wrap="square" rtlCol="0">
            <a:spAutoFit/>
          </a:bodyPr>
          <a:lstStyle/>
          <a:p>
            <a:pPr algn="ctr"/>
            <a:r>
              <a:rPr lang="pt-BR" sz="1100" dirty="0">
                <a:solidFill>
                  <a:schemeClr val="bg1"/>
                </a:solidFill>
              </a:rPr>
              <a:t>Painel Geral de Paradas</a:t>
            </a:r>
          </a:p>
        </p:txBody>
      </p:sp>
      <p:sp>
        <p:nvSpPr>
          <p:cNvPr id="529" name="CaixaDeTexto 528">
            <a:extLst>
              <a:ext uri="{FF2B5EF4-FFF2-40B4-BE49-F238E27FC236}">
                <a16:creationId xmlns:a16="http://schemas.microsoft.com/office/drawing/2014/main" id="{F762D437-D14F-C012-6C31-1FF628BA3877}"/>
              </a:ext>
            </a:extLst>
          </p:cNvPr>
          <p:cNvSpPr txBox="1"/>
          <p:nvPr/>
        </p:nvSpPr>
        <p:spPr>
          <a:xfrm>
            <a:off x="2107287" y="1086911"/>
            <a:ext cx="720080" cy="261610"/>
          </a:xfrm>
          <a:prstGeom prst="rect">
            <a:avLst/>
          </a:prstGeom>
          <a:noFill/>
        </p:spPr>
        <p:txBody>
          <a:bodyPr wrap="square" rtlCol="0">
            <a:spAutoFit/>
          </a:bodyPr>
          <a:lstStyle/>
          <a:p>
            <a:pPr algn="ctr"/>
            <a:r>
              <a:rPr lang="pt-BR" sz="1100" dirty="0">
                <a:solidFill>
                  <a:schemeClr val="bg1"/>
                </a:solidFill>
              </a:rPr>
              <a:t>Outlook</a:t>
            </a:r>
          </a:p>
        </p:txBody>
      </p:sp>
      <p:pic>
        <p:nvPicPr>
          <p:cNvPr id="531" name="Imagem 530" descr="Forma&#10;&#10;O conteúdo gerado por IA pode estar incorreto.">
            <a:extLst>
              <a:ext uri="{FF2B5EF4-FFF2-40B4-BE49-F238E27FC236}">
                <a16:creationId xmlns:a16="http://schemas.microsoft.com/office/drawing/2014/main" id="{259B2678-5ABC-0967-578C-BF6B6539F5F8}"/>
              </a:ext>
            </a:extLst>
          </p:cNvPr>
          <p:cNvPicPr>
            <a:picLocks noChangeAspect="1"/>
          </p:cNvPicPr>
          <p:nvPr/>
        </p:nvPicPr>
        <p:blipFill>
          <a:blip r:embed="rId2" cstate="print">
            <a:duotone>
              <a:prstClr val="black"/>
              <a:schemeClr val="bg1">
                <a:tint val="45000"/>
                <a:satMod val="400000"/>
              </a:schemeClr>
            </a:duotone>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18329" t="10750" r="17592" b="25755"/>
          <a:stretch>
            <a:fillRect/>
          </a:stretch>
        </p:blipFill>
        <p:spPr>
          <a:xfrm>
            <a:off x="11447964" y="1110070"/>
            <a:ext cx="222590" cy="220560"/>
          </a:xfrm>
          <a:prstGeom prst="rect">
            <a:avLst/>
          </a:prstGeom>
        </p:spPr>
      </p:pic>
      <p:sp>
        <p:nvSpPr>
          <p:cNvPr id="532" name="Retângulo 531">
            <a:extLst>
              <a:ext uri="{FF2B5EF4-FFF2-40B4-BE49-F238E27FC236}">
                <a16:creationId xmlns:a16="http://schemas.microsoft.com/office/drawing/2014/main" id="{4347185F-0C48-9320-8AFB-78415815ABFF}"/>
              </a:ext>
            </a:extLst>
          </p:cNvPr>
          <p:cNvSpPr/>
          <p:nvPr/>
        </p:nvSpPr>
        <p:spPr>
          <a:xfrm>
            <a:off x="335360" y="1438177"/>
            <a:ext cx="11446005" cy="900000"/>
          </a:xfrm>
          <a:prstGeom prst="rect">
            <a:avLst/>
          </a:prstGeom>
          <a:solidFill>
            <a:srgbClr val="FFFF99"/>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rgbClr val="FF0000"/>
                </a:solidFill>
              </a:rPr>
              <a:t>Indicadores Financeiros</a:t>
            </a:r>
          </a:p>
        </p:txBody>
      </p:sp>
      <p:sp>
        <p:nvSpPr>
          <p:cNvPr id="533" name="CaixaDeTexto 532">
            <a:extLst>
              <a:ext uri="{FF2B5EF4-FFF2-40B4-BE49-F238E27FC236}">
                <a16:creationId xmlns:a16="http://schemas.microsoft.com/office/drawing/2014/main" id="{E35460CE-D5A4-F547-4093-803B74F81348}"/>
              </a:ext>
            </a:extLst>
          </p:cNvPr>
          <p:cNvSpPr txBox="1"/>
          <p:nvPr/>
        </p:nvSpPr>
        <p:spPr>
          <a:xfrm>
            <a:off x="3015118" y="1086911"/>
            <a:ext cx="960784" cy="261610"/>
          </a:xfrm>
          <a:prstGeom prst="rect">
            <a:avLst/>
          </a:prstGeom>
          <a:noFill/>
        </p:spPr>
        <p:txBody>
          <a:bodyPr wrap="square" rtlCol="0">
            <a:spAutoFit/>
          </a:bodyPr>
          <a:lstStyle/>
          <a:p>
            <a:pPr algn="ctr"/>
            <a:r>
              <a:rPr lang="pt-BR" sz="1100" dirty="0">
                <a:solidFill>
                  <a:schemeClr val="bg1"/>
                </a:solidFill>
              </a:rPr>
              <a:t>nav_btn_3</a:t>
            </a:r>
          </a:p>
        </p:txBody>
      </p:sp>
      <p:sp>
        <p:nvSpPr>
          <p:cNvPr id="534" name="CaixaDeTexto 533">
            <a:extLst>
              <a:ext uri="{FF2B5EF4-FFF2-40B4-BE49-F238E27FC236}">
                <a16:creationId xmlns:a16="http://schemas.microsoft.com/office/drawing/2014/main" id="{1857999B-EFC7-15A6-3013-37863246B1D1}"/>
              </a:ext>
            </a:extLst>
          </p:cNvPr>
          <p:cNvSpPr txBox="1"/>
          <p:nvPr/>
        </p:nvSpPr>
        <p:spPr>
          <a:xfrm>
            <a:off x="4163654" y="1086911"/>
            <a:ext cx="960784" cy="261610"/>
          </a:xfrm>
          <a:prstGeom prst="rect">
            <a:avLst/>
          </a:prstGeom>
          <a:noFill/>
        </p:spPr>
        <p:txBody>
          <a:bodyPr wrap="square" rtlCol="0">
            <a:spAutoFit/>
          </a:bodyPr>
          <a:lstStyle/>
          <a:p>
            <a:pPr algn="ctr"/>
            <a:r>
              <a:rPr lang="pt-BR" sz="1100" dirty="0">
                <a:solidFill>
                  <a:schemeClr val="bg1"/>
                </a:solidFill>
              </a:rPr>
              <a:t>nav_btn_4</a:t>
            </a:r>
          </a:p>
        </p:txBody>
      </p:sp>
      <p:sp>
        <p:nvSpPr>
          <p:cNvPr id="2" name="Retângulo: Cantos Arredondados 1">
            <a:hlinkClick r:id="" action="ppaction://noaction"/>
            <a:extLst>
              <a:ext uri="{FF2B5EF4-FFF2-40B4-BE49-F238E27FC236}">
                <a16:creationId xmlns:a16="http://schemas.microsoft.com/office/drawing/2014/main" id="{E053A1C5-93FC-9BD5-C2ED-E3F8D2D3C499}"/>
              </a:ext>
            </a:extLst>
          </p:cNvPr>
          <p:cNvSpPr/>
          <p:nvPr/>
        </p:nvSpPr>
        <p:spPr>
          <a:xfrm>
            <a:off x="335360"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3" name="Agrupar 42">
            <a:extLst>
              <a:ext uri="{FF2B5EF4-FFF2-40B4-BE49-F238E27FC236}">
                <a16:creationId xmlns:a16="http://schemas.microsoft.com/office/drawing/2014/main" id="{4D26A17B-FEA3-FBCC-1D27-66ADD57C4910}"/>
              </a:ext>
            </a:extLst>
          </p:cNvPr>
          <p:cNvGrpSpPr/>
          <p:nvPr/>
        </p:nvGrpSpPr>
        <p:grpSpPr>
          <a:xfrm>
            <a:off x="393680" y="2850907"/>
            <a:ext cx="1728192" cy="175957"/>
            <a:chOff x="807560" y="1796801"/>
            <a:chExt cx="1728192" cy="175957"/>
          </a:xfrm>
        </p:grpSpPr>
        <p:sp>
          <p:nvSpPr>
            <p:cNvPr id="7" name="Retângulo: Cantos Arredondados 6">
              <a:extLst>
                <a:ext uri="{FF2B5EF4-FFF2-40B4-BE49-F238E27FC236}">
                  <a16:creationId xmlns:a16="http://schemas.microsoft.com/office/drawing/2014/main" id="{0ABEF7E0-132B-16C7-4532-108C8F468E10}"/>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8" name="Retângulo: Cantos Arredondados 7">
              <a:extLst>
                <a:ext uri="{FF2B5EF4-FFF2-40B4-BE49-F238E27FC236}">
                  <a16:creationId xmlns:a16="http://schemas.microsoft.com/office/drawing/2014/main" id="{18396637-086B-4070-571C-2CC43FF064E6}"/>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9" name="Retângulo: Cantos Arredondados 8">
              <a:extLst>
                <a:ext uri="{FF2B5EF4-FFF2-40B4-BE49-F238E27FC236}">
                  <a16:creationId xmlns:a16="http://schemas.microsoft.com/office/drawing/2014/main" id="{26F9EE9F-8DC4-3418-5BFD-C63097A56178}"/>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4" name="Agrupar 43">
            <a:extLst>
              <a:ext uri="{FF2B5EF4-FFF2-40B4-BE49-F238E27FC236}">
                <a16:creationId xmlns:a16="http://schemas.microsoft.com/office/drawing/2014/main" id="{4D03812E-B9C2-0AD1-0BCF-AF95648C0D64}"/>
              </a:ext>
            </a:extLst>
          </p:cNvPr>
          <p:cNvGrpSpPr/>
          <p:nvPr/>
        </p:nvGrpSpPr>
        <p:grpSpPr>
          <a:xfrm>
            <a:off x="472119" y="3531234"/>
            <a:ext cx="1571314" cy="108000"/>
            <a:chOff x="885999" y="2544755"/>
            <a:chExt cx="1571314" cy="108000"/>
          </a:xfrm>
        </p:grpSpPr>
        <p:sp>
          <p:nvSpPr>
            <p:cNvPr id="3" name="Retângulo 2">
              <a:extLst>
                <a:ext uri="{FF2B5EF4-FFF2-40B4-BE49-F238E27FC236}">
                  <a16:creationId xmlns:a16="http://schemas.microsoft.com/office/drawing/2014/main" id="{8715D476-EE70-E40F-7B5A-FFB83001AE12}"/>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 name="CaixaDeTexto 3">
              <a:extLst>
                <a:ext uri="{FF2B5EF4-FFF2-40B4-BE49-F238E27FC236}">
                  <a16:creationId xmlns:a16="http://schemas.microsoft.com/office/drawing/2014/main" id="{6EFEE145-A6A0-F6BF-1861-2FE083484B34}"/>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6" name="Retângulo 5">
              <a:extLst>
                <a:ext uri="{FF2B5EF4-FFF2-40B4-BE49-F238E27FC236}">
                  <a16:creationId xmlns:a16="http://schemas.microsoft.com/office/drawing/2014/main" id="{9431880F-B193-27AC-9A7C-7154773CD03A}"/>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0" name="CaixaDeTexto 9">
              <a:extLst>
                <a:ext uri="{FF2B5EF4-FFF2-40B4-BE49-F238E27FC236}">
                  <a16:creationId xmlns:a16="http://schemas.microsoft.com/office/drawing/2014/main" id="{46536613-3256-44BD-4C8B-6FEF12AA8752}"/>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1" name="Retângulo 10">
              <a:extLst>
                <a:ext uri="{FF2B5EF4-FFF2-40B4-BE49-F238E27FC236}">
                  <a16:creationId xmlns:a16="http://schemas.microsoft.com/office/drawing/2014/main" id="{588D2BAE-3C8C-3D6D-CF4F-AD67636BC3E6}"/>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2" name="CaixaDeTexto 11">
              <a:extLst>
                <a:ext uri="{FF2B5EF4-FFF2-40B4-BE49-F238E27FC236}">
                  <a16:creationId xmlns:a16="http://schemas.microsoft.com/office/drawing/2014/main" id="{AA65A695-8DBC-586F-27F0-250302F00F1B}"/>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3" name="Retângulo 12">
              <a:extLst>
                <a:ext uri="{FF2B5EF4-FFF2-40B4-BE49-F238E27FC236}">
                  <a16:creationId xmlns:a16="http://schemas.microsoft.com/office/drawing/2014/main" id="{A169F4DC-9FC3-4F9E-1DC1-3571DB83D5B0}"/>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 name="CaixaDeTexto 13">
              <a:extLst>
                <a:ext uri="{FF2B5EF4-FFF2-40B4-BE49-F238E27FC236}">
                  <a16:creationId xmlns:a16="http://schemas.microsoft.com/office/drawing/2014/main" id="{E29E53DD-2086-E417-8BDB-0F951BC298AA}"/>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5" name="Retângulo 14">
              <a:extLst>
                <a:ext uri="{FF2B5EF4-FFF2-40B4-BE49-F238E27FC236}">
                  <a16:creationId xmlns:a16="http://schemas.microsoft.com/office/drawing/2014/main" id="{6B900A82-F1C8-F99B-3491-0281F35F6E3A}"/>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6" name="CaixaDeTexto 15">
              <a:extLst>
                <a:ext uri="{FF2B5EF4-FFF2-40B4-BE49-F238E27FC236}">
                  <a16:creationId xmlns:a16="http://schemas.microsoft.com/office/drawing/2014/main" id="{EC8D0B57-A748-5265-E6F5-F07FCD3523D2}"/>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2" name="Agrupar 41">
            <a:extLst>
              <a:ext uri="{FF2B5EF4-FFF2-40B4-BE49-F238E27FC236}">
                <a16:creationId xmlns:a16="http://schemas.microsoft.com/office/drawing/2014/main" id="{97E15E2B-5DE3-4129-3252-EA75945293D8}"/>
              </a:ext>
            </a:extLst>
          </p:cNvPr>
          <p:cNvGrpSpPr/>
          <p:nvPr/>
        </p:nvGrpSpPr>
        <p:grpSpPr>
          <a:xfrm>
            <a:off x="393680" y="3077683"/>
            <a:ext cx="1730548" cy="175957"/>
            <a:chOff x="807560" y="2045707"/>
            <a:chExt cx="1730548" cy="175957"/>
          </a:xfrm>
        </p:grpSpPr>
        <p:sp>
          <p:nvSpPr>
            <p:cNvPr id="23" name="Retângulo: Cantos Arredondados 22">
              <a:extLst>
                <a:ext uri="{FF2B5EF4-FFF2-40B4-BE49-F238E27FC236}">
                  <a16:creationId xmlns:a16="http://schemas.microsoft.com/office/drawing/2014/main" id="{73B0D396-A145-072E-F09A-2C081C94E743}"/>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24" name="Retângulo: Cantos Arredondados 23">
              <a:extLst>
                <a:ext uri="{FF2B5EF4-FFF2-40B4-BE49-F238E27FC236}">
                  <a16:creationId xmlns:a16="http://schemas.microsoft.com/office/drawing/2014/main" id="{BA73CEF6-FD04-3022-6200-9EA6AD8FA1D9}"/>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5" name="Retângulo: Cantos Arredondados 24">
              <a:extLst>
                <a:ext uri="{FF2B5EF4-FFF2-40B4-BE49-F238E27FC236}">
                  <a16:creationId xmlns:a16="http://schemas.microsoft.com/office/drawing/2014/main" id="{94686DAD-C767-DC5E-33B3-CC4159D97436}"/>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27" name="Retângulo: Cantos Arredondados 26">
              <a:extLst>
                <a:ext uri="{FF2B5EF4-FFF2-40B4-BE49-F238E27FC236}">
                  <a16:creationId xmlns:a16="http://schemas.microsoft.com/office/drawing/2014/main" id="{041EB9A5-2B75-C8E2-CA79-FE97E0F6457E}"/>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1" name="Agrupar 40">
            <a:extLst>
              <a:ext uri="{FF2B5EF4-FFF2-40B4-BE49-F238E27FC236}">
                <a16:creationId xmlns:a16="http://schemas.microsoft.com/office/drawing/2014/main" id="{19F02FCF-9D75-C932-99CC-D3C492591E92}"/>
              </a:ext>
            </a:extLst>
          </p:cNvPr>
          <p:cNvGrpSpPr/>
          <p:nvPr/>
        </p:nvGrpSpPr>
        <p:grpSpPr>
          <a:xfrm>
            <a:off x="388419" y="3304459"/>
            <a:ext cx="1735809" cy="175957"/>
            <a:chOff x="802299" y="2294613"/>
            <a:chExt cx="1735809" cy="175957"/>
          </a:xfrm>
        </p:grpSpPr>
        <p:sp>
          <p:nvSpPr>
            <p:cNvPr id="28" name="Retângulo: Cantos Arredondados 27">
              <a:extLst>
                <a:ext uri="{FF2B5EF4-FFF2-40B4-BE49-F238E27FC236}">
                  <a16:creationId xmlns:a16="http://schemas.microsoft.com/office/drawing/2014/main" id="{ABE9C880-058B-9955-5F98-DEF71E142519}"/>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0" name="Retângulo: Cantos Arredondados 29">
              <a:extLst>
                <a:ext uri="{FF2B5EF4-FFF2-40B4-BE49-F238E27FC236}">
                  <a16:creationId xmlns:a16="http://schemas.microsoft.com/office/drawing/2014/main" id="{FF087B97-9217-FFB9-C80F-30AD0379B0D1}"/>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1" name="Retângulo: Cantos Arredondados 30">
              <a:extLst>
                <a:ext uri="{FF2B5EF4-FFF2-40B4-BE49-F238E27FC236}">
                  <a16:creationId xmlns:a16="http://schemas.microsoft.com/office/drawing/2014/main" id="{23C2DE10-221E-7A9F-AF63-29A9196065DB}"/>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6" name="Retângulo: Cantos Arredondados 35">
            <a:extLst>
              <a:ext uri="{FF2B5EF4-FFF2-40B4-BE49-F238E27FC236}">
                <a16:creationId xmlns:a16="http://schemas.microsoft.com/office/drawing/2014/main" id="{D51322F2-EE3C-53F0-D440-66FC3BD706A7}"/>
              </a:ext>
            </a:extLst>
          </p:cNvPr>
          <p:cNvSpPr/>
          <p:nvPr/>
        </p:nvSpPr>
        <p:spPr>
          <a:xfrm>
            <a:off x="335360"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BACKLOG</a:t>
            </a:r>
          </a:p>
        </p:txBody>
      </p:sp>
      <p:sp>
        <p:nvSpPr>
          <p:cNvPr id="17" name="TextBox 16">
            <a:extLst>
              <a:ext uri="{FF2B5EF4-FFF2-40B4-BE49-F238E27FC236}">
                <a16:creationId xmlns:a16="http://schemas.microsoft.com/office/drawing/2014/main" id="{4308E48B-F538-3A40-86EB-547EB02C67D6}"/>
              </a:ext>
            </a:extLst>
          </p:cNvPr>
          <p:cNvSpPr txBox="1"/>
          <p:nvPr/>
        </p:nvSpPr>
        <p:spPr>
          <a:xfrm rot="1086445">
            <a:off x="10650404" y="392341"/>
            <a:ext cx="1015534" cy="276999"/>
          </a:xfrm>
          <a:prstGeom prst="rect">
            <a:avLst/>
          </a:prstGeom>
          <a:noFill/>
          <a:ln>
            <a:solidFill>
              <a:srgbClr val="C00000"/>
            </a:solidFill>
            <a:prstDash val="dash"/>
          </a:ln>
        </p:spPr>
        <p:txBody>
          <a:bodyPr wrap="none" rtlCol="0">
            <a:spAutoFit/>
          </a:bodyPr>
          <a:lstStyle/>
          <a:p>
            <a:pPr algn="ctr"/>
            <a:r>
              <a:rPr lang="en-BR" sz="1200" b="1" dirty="0">
                <a:solidFill>
                  <a:srgbClr val="C00000"/>
                </a:solidFill>
              </a:rPr>
              <a:t>ILUSTRATIVO</a:t>
            </a:r>
          </a:p>
        </p:txBody>
      </p:sp>
    </p:spTree>
    <p:extLst>
      <p:ext uri="{BB962C8B-B14F-4D97-AF65-F5344CB8AC3E}">
        <p14:creationId xmlns:p14="http://schemas.microsoft.com/office/powerpoint/2010/main" val="2061509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05F35-5AF7-452A-592C-BA9F0F8563EF}"/>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C20171E5-294F-33E5-A9CE-30AEA1041610}"/>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CC83B457-7863-19D5-F16D-A5DA92438A9C}"/>
              </a:ext>
            </a:extLst>
          </p:cNvPr>
          <p:cNvSpPr/>
          <p:nvPr/>
        </p:nvSpPr>
        <p:spPr>
          <a:xfrm>
            <a:off x="2711624" y="1340768"/>
            <a:ext cx="6552728" cy="540060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56D381E8-B65E-9BB2-A473-2E2CA7226A35}"/>
              </a:ext>
            </a:extLst>
          </p:cNvPr>
          <p:cNvSpPr/>
          <p:nvPr/>
        </p:nvSpPr>
        <p:spPr>
          <a:xfrm>
            <a:off x="2711624" y="369828"/>
            <a:ext cx="6552728" cy="54000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37048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039C9-0403-BC89-5D9C-A29C6DEF9094}"/>
            </a:ext>
          </a:extLst>
        </p:cNvPr>
        <p:cNvGrpSpPr/>
        <p:nvPr/>
      </p:nvGrpSpPr>
      <p:grpSpPr>
        <a:xfrm>
          <a:off x="0" y="0"/>
          <a:ext cx="0" cy="0"/>
          <a:chOff x="0" y="0"/>
          <a:chExt cx="0" cy="0"/>
        </a:xfrm>
      </p:grpSpPr>
      <p:sp>
        <p:nvSpPr>
          <p:cNvPr id="121" name="CaixaDeTexto 21">
            <a:extLst>
              <a:ext uri="{FF2B5EF4-FFF2-40B4-BE49-F238E27FC236}">
                <a16:creationId xmlns:a16="http://schemas.microsoft.com/office/drawing/2014/main" id="{C92384D2-0B25-C905-1FCB-7CDE097E07DA}"/>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 Cadastro da Parada</a:t>
            </a:r>
          </a:p>
        </p:txBody>
      </p:sp>
      <p:sp>
        <p:nvSpPr>
          <p:cNvPr id="154" name="CaixaDeTexto 21">
            <a:extLst>
              <a:ext uri="{FF2B5EF4-FFF2-40B4-BE49-F238E27FC236}">
                <a16:creationId xmlns:a16="http://schemas.microsoft.com/office/drawing/2014/main" id="{B1071314-C6C0-3612-91B5-21441C0DC9D4}"/>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ACAFDD48-434F-0B45-9B89-792CC686D8DC}"/>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38080AE3-9191-9E63-EF3D-B558E48055E6}"/>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E81045C7-CE0B-56FD-3C61-4343F4ED5210}"/>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58" name="CaixaDeTexto 21">
            <a:extLst>
              <a:ext uri="{FF2B5EF4-FFF2-40B4-BE49-F238E27FC236}">
                <a16:creationId xmlns:a16="http://schemas.microsoft.com/office/drawing/2014/main" id="{D8A16A1C-211C-4BC1-94A8-AB0F563CDC1D}"/>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0DF5421C-79FA-BDDD-094B-96AE4C99EB14}"/>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F90CA9C4-6210-492D-B219-E853EFCFE8AF}"/>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3BD0D699-873B-CD39-E907-63171FCBD325}"/>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46256CCC-D73D-7802-0EB0-C812B12C8FF2}"/>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C2F93F32-B3CF-9D0E-BB7F-475C2F1DEDD9}"/>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0F2B9E97-B3A8-6C03-810D-682A2587E21D}"/>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6BCAB916-D4C5-0C9F-8AC9-E71681B16196}"/>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CC34CBE4-DD78-C263-5124-6D56CDCCA868}"/>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40ED6967-7FBA-ED32-C621-10CE2896B91C}"/>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31" name="CaixaDeTexto 21">
            <a:extLst>
              <a:ext uri="{FF2B5EF4-FFF2-40B4-BE49-F238E27FC236}">
                <a16:creationId xmlns:a16="http://schemas.microsoft.com/office/drawing/2014/main" id="{F37DE38F-F8AD-E955-5C27-5F7DB23AC2A6}"/>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 </a:t>
            </a:r>
            <a:r>
              <a:rPr lang="pt-BR" dirty="0" err="1"/>
              <a:t>GMUDs</a:t>
            </a:r>
            <a:endParaRPr lang="pt-BR" dirty="0"/>
          </a:p>
        </p:txBody>
      </p:sp>
      <p:sp>
        <p:nvSpPr>
          <p:cNvPr id="62" name="Title 61">
            <a:extLst>
              <a:ext uri="{FF2B5EF4-FFF2-40B4-BE49-F238E27FC236}">
                <a16:creationId xmlns:a16="http://schemas.microsoft.com/office/drawing/2014/main" id="{9914C457-B639-EEB3-6852-700455DE3124}"/>
              </a:ext>
            </a:extLst>
          </p:cNvPr>
          <p:cNvSpPr>
            <a:spLocks noGrp="1"/>
          </p:cNvSpPr>
          <p:nvPr>
            <p:ph type="title"/>
          </p:nvPr>
        </p:nvSpPr>
        <p:spPr/>
        <p:txBody>
          <a:bodyPr/>
          <a:lstStyle/>
          <a:p>
            <a:r>
              <a:rPr lang="pt-BR" dirty="0"/>
              <a:t>HUB de Obras</a:t>
            </a:r>
            <a:br>
              <a:rPr lang="pt-BR" dirty="0"/>
            </a:br>
            <a:r>
              <a:rPr lang="pt-BR" sz="1800" b="0" dirty="0"/>
              <a:t>tema 02: </a:t>
            </a:r>
            <a:r>
              <a:rPr lang="pt-BR" sz="1800" b="0" dirty="0" err="1"/>
              <a:t>Templates</a:t>
            </a:r>
            <a:r>
              <a:rPr lang="pt-BR" sz="1800" b="0" dirty="0"/>
              <a:t> de Obras</a:t>
            </a:r>
            <a:endParaRPr lang="en-BR" sz="1800" b="0" dirty="0"/>
          </a:p>
        </p:txBody>
      </p:sp>
      <p:sp>
        <p:nvSpPr>
          <p:cNvPr id="116" name="CaixaDeTexto 557">
            <a:extLst>
              <a:ext uri="{FF2B5EF4-FFF2-40B4-BE49-F238E27FC236}">
                <a16:creationId xmlns:a16="http://schemas.microsoft.com/office/drawing/2014/main" id="{CD905E6B-F6DB-9BCD-5DAB-260F976A1F04}"/>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76090046-EA37-EA2F-7B52-A4728B515D44}"/>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B9C6D84D-F251-9B90-7872-93C36B170947}"/>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15957262-4BB3-373A-E7AC-12968E9F7A3E}"/>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C074925A-B50E-91A7-0933-0F9587B0C1EE}"/>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1C1603B6-D15B-1EC7-BAC6-6EF5D9C88DAA}"/>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82B3D232-9818-8309-E22B-A22F906DCAE7}"/>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E3634D9E-02FE-A457-13FE-2F4D1609ED58}"/>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7E725749-47B0-0BB7-73D6-FA086DBB6F02}"/>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33B79EC9-16CA-8B47-0E5D-1547C09BD067}"/>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6773CB84-D8FE-17BB-4B6A-315AB102F81C}"/>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45B872DD-631E-6E9C-0510-BAF2FFFFD7C0}"/>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00F221F2-C2CD-B186-C89C-3E1DD8F497D0}"/>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BF4901A3-4375-3C48-ABB6-7F3464383659}"/>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05B493EF-754C-DA82-E027-A97909DE0999}"/>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D0B56FB5-EF9B-0D91-7EB5-02B95759CAD4}"/>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5F747614-2EB9-F1AC-7748-3A11CCF7B4D9}"/>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42" name="CaixaDeTexto 21">
            <a:extLst>
              <a:ext uri="{FF2B5EF4-FFF2-40B4-BE49-F238E27FC236}">
                <a16:creationId xmlns:a16="http://schemas.microsoft.com/office/drawing/2014/main" id="{A688739B-8C42-727F-0CE1-CD00ED8E23BD}"/>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6475D6A9-04B2-8F0C-D497-95D7349BE763}"/>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9B30B8D9-5576-EADE-C4C0-C7DBF6A85914}"/>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53226066-AF41-9FD3-AB6F-E178D77F10BB}"/>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BC35C138-F811-9655-9BC7-0B3A801F4AC9}"/>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75983DA1-3416-A929-E33B-0E3F6C4B70BD}"/>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C17957F5-5AE7-9A49-68FF-1788789F008C}"/>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7F3E3811-C347-DB46-5AB0-65FB4EEF35BA}"/>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150" name="CaixaDeTexto 21">
            <a:extLst>
              <a:ext uri="{FF2B5EF4-FFF2-40B4-BE49-F238E27FC236}">
                <a16:creationId xmlns:a16="http://schemas.microsoft.com/office/drawing/2014/main" id="{43C9250E-571E-5F8D-839E-1E300C12C27C}"/>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03AB633A-A072-686A-6844-50FD3640DDA1}"/>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9A29D78B-C59B-566D-05A2-E79588F5DD24}"/>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744850E8-2FA2-A215-DCC7-29B341EC99DD}"/>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67" name="CaixaDeTexto 21">
            <a:extLst>
              <a:ext uri="{FF2B5EF4-FFF2-40B4-BE49-F238E27FC236}">
                <a16:creationId xmlns:a16="http://schemas.microsoft.com/office/drawing/2014/main" id="{7DD3B024-1FEC-3147-1DCA-E78DA95F459B}"/>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23140636-7512-1CBA-E18D-F226AC6F8EE8}"/>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03D5E812-47C5-8B00-625C-3CF58C9315D5}"/>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61EF22D3-DB61-CD91-ECD1-4D55F35D1E82}"/>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8B28F180-A4B8-4429-8D73-42C6A94787C0}"/>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901D6E3A-7AA2-5F95-B266-3E2FA7700147}"/>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C7B1CC3B-5E38-73DE-152F-BE5D6FF9729D}"/>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33FED111-3565-60D9-DFFA-3D37502B7DE2}"/>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B896B88B-22C3-5C20-6C9F-80D0E40FC62B}"/>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64968C8C-AB91-B97B-7197-EEFAC9539F55}"/>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374CCFA5-2855-5CAD-A0EB-18EF4DFCC353}"/>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D73FA84D-0DC3-87FD-6580-533B8265CF6E}"/>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79" name="Agrupar 178">
            <a:extLst>
              <a:ext uri="{FF2B5EF4-FFF2-40B4-BE49-F238E27FC236}">
                <a16:creationId xmlns:a16="http://schemas.microsoft.com/office/drawing/2014/main" id="{F33EF63D-EBC4-0B80-C3BF-CF3002EE462E}"/>
              </a:ext>
            </a:extLst>
          </p:cNvPr>
          <p:cNvGrpSpPr/>
          <p:nvPr/>
        </p:nvGrpSpPr>
        <p:grpSpPr>
          <a:xfrm>
            <a:off x="1495995" y="3371835"/>
            <a:ext cx="10696006" cy="3312367"/>
            <a:chOff x="0" y="3356992"/>
            <a:chExt cx="12192001" cy="3312367"/>
          </a:xfrm>
        </p:grpSpPr>
        <p:sp>
          <p:nvSpPr>
            <p:cNvPr id="180" name="Retângulo 179">
              <a:extLst>
                <a:ext uri="{FF2B5EF4-FFF2-40B4-BE49-F238E27FC236}">
                  <a16:creationId xmlns:a16="http://schemas.microsoft.com/office/drawing/2014/main" id="{6D89CEF2-0B85-4802-85C1-A74B617C3078}"/>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1" name="Retângulo 180">
              <a:extLst>
                <a:ext uri="{FF2B5EF4-FFF2-40B4-BE49-F238E27FC236}">
                  <a16:creationId xmlns:a16="http://schemas.microsoft.com/office/drawing/2014/main" id="{65365B38-556D-F85B-1D76-C03B722BDA29}"/>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83" name="Retângulo 182">
            <a:extLst>
              <a:ext uri="{FF2B5EF4-FFF2-40B4-BE49-F238E27FC236}">
                <a16:creationId xmlns:a16="http://schemas.microsoft.com/office/drawing/2014/main" id="{C2519E42-2B11-405B-6F72-8CF985983F90}"/>
              </a:ext>
            </a:extLst>
          </p:cNvPr>
          <p:cNvSpPr/>
          <p:nvPr/>
        </p:nvSpPr>
        <p:spPr>
          <a:xfrm>
            <a:off x="1463997" y="1015993"/>
            <a:ext cx="10728003" cy="230784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7" name="CaixaDeTexto 21">
            <a:extLst>
              <a:ext uri="{FF2B5EF4-FFF2-40B4-BE49-F238E27FC236}">
                <a16:creationId xmlns:a16="http://schemas.microsoft.com/office/drawing/2014/main" id="{725B8F1D-C7D6-534D-C5EB-48D6343BCE57}"/>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41014C0A-316B-501B-FA90-0F9CACAB3F26}"/>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1B0F30FA-A680-C4D4-D226-42E6401E59A9}"/>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B38073C6-0021-D709-B8CA-F1E59F64851A}"/>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B9C49F0D-2795-8290-7EE8-B724A30064E2}"/>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22" name="CaixaDeTexto 21">
            <a:extLst>
              <a:ext uri="{FF2B5EF4-FFF2-40B4-BE49-F238E27FC236}">
                <a16:creationId xmlns:a16="http://schemas.microsoft.com/office/drawing/2014/main" id="{62DE7BD2-468B-2945-9D31-B914D9458A29}"/>
              </a:ext>
            </a:extLst>
          </p:cNvPr>
          <p:cNvSpPr txBox="1"/>
          <p:nvPr/>
        </p:nvSpPr>
        <p:spPr>
          <a:xfrm>
            <a:off x="2671179" y="3610007"/>
            <a:ext cx="900000"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2. </a:t>
            </a:r>
            <a:r>
              <a:rPr lang="pt-BR" dirty="0" err="1"/>
              <a:t>Templates</a:t>
            </a:r>
            <a:endParaRPr lang="pt-BR" dirty="0"/>
          </a:p>
        </p:txBody>
      </p:sp>
    </p:spTree>
    <p:extLst>
      <p:ext uri="{BB962C8B-B14F-4D97-AF65-F5344CB8AC3E}">
        <p14:creationId xmlns:p14="http://schemas.microsoft.com/office/powerpoint/2010/main" val="2853876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CD8C-54B2-260D-AF0E-9B73518D87B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029182F-95F9-E9BA-5F8B-FFC0BE18E46C}"/>
              </a:ext>
            </a:extLst>
          </p:cNvPr>
          <p:cNvSpPr>
            <a:spLocks noGrp="1"/>
          </p:cNvSpPr>
          <p:nvPr>
            <p:ph type="title"/>
          </p:nvPr>
        </p:nvSpPr>
        <p:spPr/>
        <p:txBody>
          <a:bodyPr/>
          <a:lstStyle/>
          <a:p>
            <a:r>
              <a:rPr lang="pt-BR" dirty="0" err="1"/>
              <a:t>Templates</a:t>
            </a:r>
            <a:r>
              <a:rPr lang="pt-BR" dirty="0"/>
              <a:t> de Obras</a:t>
            </a:r>
          </a:p>
        </p:txBody>
      </p:sp>
      <p:sp>
        <p:nvSpPr>
          <p:cNvPr id="6" name="CaixaDeTexto 557">
            <a:extLst>
              <a:ext uri="{FF2B5EF4-FFF2-40B4-BE49-F238E27FC236}">
                <a16:creationId xmlns:a16="http://schemas.microsoft.com/office/drawing/2014/main" id="{8AC6EB90-8908-DB44-7839-FD7562EF863E}"/>
              </a:ext>
            </a:extLst>
          </p:cNvPr>
          <p:cNvSpPr txBox="1"/>
          <p:nvPr/>
        </p:nvSpPr>
        <p:spPr>
          <a:xfrm>
            <a:off x="263352" y="1036346"/>
            <a:ext cx="1250881" cy="1080000"/>
          </a:xfrm>
          <a:prstGeom prst="roundRect">
            <a:avLst>
              <a:gd name="adj" fmla="val 0"/>
            </a:avLst>
          </a:prstGeom>
          <a:noFill/>
          <a:ln>
            <a:solidFill>
              <a:srgbClr val="014A65"/>
            </a:solidFill>
          </a:ln>
        </p:spPr>
        <p:txBody>
          <a:bodyPr wrap="square" lIns="90000" rtlCol="0" anchor="ctr">
            <a:noAutofit/>
          </a:bodyPr>
          <a:lstStyle/>
          <a:p>
            <a:pPr algn="r"/>
            <a:r>
              <a:rPr lang="pt-BR" sz="1400" b="1" i="1" dirty="0"/>
              <a:t>Definição</a:t>
            </a:r>
          </a:p>
        </p:txBody>
      </p:sp>
      <p:sp>
        <p:nvSpPr>
          <p:cNvPr id="9" name="Espaço Reservado para Conteúdo 1">
            <a:extLst>
              <a:ext uri="{FF2B5EF4-FFF2-40B4-BE49-F238E27FC236}">
                <a16:creationId xmlns:a16="http://schemas.microsoft.com/office/drawing/2014/main" id="{264585A1-EF5E-BE61-4A2A-FE40877A8E40}"/>
              </a:ext>
            </a:extLst>
          </p:cNvPr>
          <p:cNvSpPr txBox="1">
            <a:spLocks/>
          </p:cNvSpPr>
          <p:nvPr/>
        </p:nvSpPr>
        <p:spPr>
          <a:xfrm>
            <a:off x="1617192" y="1036346"/>
            <a:ext cx="10224000" cy="1080000"/>
          </a:xfrm>
          <a:prstGeom prst="rect">
            <a:avLst/>
          </a:prstGeom>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None/>
            </a:pPr>
            <a:r>
              <a:rPr lang="pt-BR" sz="1400" dirty="0"/>
              <a:t>A funcionalidade de </a:t>
            </a:r>
            <a:r>
              <a:rPr lang="pt-BR" sz="1400" b="1" dirty="0" err="1"/>
              <a:t>Template</a:t>
            </a:r>
            <a:r>
              <a:rPr lang="pt-BR" sz="1400" b="1" dirty="0"/>
              <a:t> de Obras</a:t>
            </a:r>
            <a:r>
              <a:rPr lang="pt-BR" sz="1400" dirty="0"/>
              <a:t> tem o objetivo de facilitar o planejamento financeiro das Paradas, permitindo ao usuário carregar modelos de Obras pré-cadastrados com demandas e valores estimados de Materiais, Oficinas e Estaleiro.</a:t>
            </a:r>
          </a:p>
          <a:p>
            <a:pPr marL="0" indent="0">
              <a:buNone/>
            </a:pPr>
            <a:endParaRPr lang="pt-BR" sz="1400" dirty="0"/>
          </a:p>
          <a:p>
            <a:pPr marL="0" indent="0">
              <a:buNone/>
            </a:pPr>
            <a:r>
              <a:rPr lang="pt-BR" sz="1400" dirty="0"/>
              <a:t>O usuário pode </a:t>
            </a:r>
            <a:r>
              <a:rPr lang="pt-BR" sz="1400" b="1" dirty="0"/>
              <a:t>importar todo o </a:t>
            </a:r>
            <a:r>
              <a:rPr lang="pt-BR" sz="1400" b="1" dirty="0" err="1"/>
              <a:t>template</a:t>
            </a:r>
            <a:r>
              <a:rPr lang="pt-BR" sz="1400" b="1" dirty="0"/>
              <a:t> </a:t>
            </a:r>
            <a:r>
              <a:rPr lang="pt-BR" sz="1400" b="1" u="sng" dirty="0"/>
              <a:t>ou</a:t>
            </a:r>
            <a:r>
              <a:rPr lang="pt-BR" sz="1400" dirty="0"/>
              <a:t> </a:t>
            </a:r>
            <a:r>
              <a:rPr lang="pt-BR" sz="1400" b="1" dirty="0"/>
              <a:t>apenas selecionar apenas algumas demandas </a:t>
            </a:r>
            <a:r>
              <a:rPr lang="pt-BR" sz="1400" dirty="0"/>
              <a:t>para importar para a Parada</a:t>
            </a:r>
          </a:p>
        </p:txBody>
      </p:sp>
      <p:sp>
        <p:nvSpPr>
          <p:cNvPr id="2" name="CaixaDeTexto 557">
            <a:extLst>
              <a:ext uri="{FF2B5EF4-FFF2-40B4-BE49-F238E27FC236}">
                <a16:creationId xmlns:a16="http://schemas.microsoft.com/office/drawing/2014/main" id="{F04F9607-F4F1-DBCE-2953-0FE9ED5EDE8E}"/>
              </a:ext>
            </a:extLst>
          </p:cNvPr>
          <p:cNvSpPr txBox="1"/>
          <p:nvPr/>
        </p:nvSpPr>
        <p:spPr>
          <a:xfrm>
            <a:off x="2652530" y="3065565"/>
            <a:ext cx="1956655" cy="331086"/>
          </a:xfrm>
          <a:prstGeom prst="roundRect">
            <a:avLst>
              <a:gd name="adj" fmla="val 0"/>
            </a:avLst>
          </a:prstGeom>
          <a:noFill/>
          <a:ln>
            <a:solidFill>
              <a:srgbClr val="014A65"/>
            </a:solidFill>
          </a:ln>
        </p:spPr>
        <p:txBody>
          <a:bodyPr wrap="square" lIns="36000" rIns="36000" rtlCol="0" anchor="ctr">
            <a:noAutofit/>
          </a:bodyPr>
          <a:lstStyle/>
          <a:p>
            <a:pPr algn="ctr"/>
            <a:r>
              <a:rPr lang="pt-BR" sz="1000" b="1" i="1" dirty="0"/>
              <a:t>TO-0005 | Parada Especial </a:t>
            </a:r>
          </a:p>
          <a:p>
            <a:pPr algn="ctr"/>
            <a:r>
              <a:rPr lang="pt-BR" sz="1000" b="1" i="1" dirty="0"/>
              <a:t>P. Reis 2024</a:t>
            </a:r>
          </a:p>
        </p:txBody>
      </p:sp>
      <p:grpSp>
        <p:nvGrpSpPr>
          <p:cNvPr id="101" name="Agrupar 100">
            <a:extLst>
              <a:ext uri="{FF2B5EF4-FFF2-40B4-BE49-F238E27FC236}">
                <a16:creationId xmlns:a16="http://schemas.microsoft.com/office/drawing/2014/main" id="{A85D829F-0C89-F271-1EFB-5633D787557D}"/>
              </a:ext>
            </a:extLst>
          </p:cNvPr>
          <p:cNvGrpSpPr/>
          <p:nvPr/>
        </p:nvGrpSpPr>
        <p:grpSpPr>
          <a:xfrm>
            <a:off x="2652530" y="3507736"/>
            <a:ext cx="1956655" cy="636225"/>
            <a:chOff x="6572879" y="3722659"/>
            <a:chExt cx="1956655" cy="636225"/>
          </a:xfrm>
        </p:grpSpPr>
        <p:sp>
          <p:nvSpPr>
            <p:cNvPr id="87" name="CaixaDeTexto 557">
              <a:extLst>
                <a:ext uri="{FF2B5EF4-FFF2-40B4-BE49-F238E27FC236}">
                  <a16:creationId xmlns:a16="http://schemas.microsoft.com/office/drawing/2014/main" id="{DFB26D0D-8F9E-5A76-B5A7-3FCC5E469479}"/>
                </a:ext>
              </a:extLst>
            </p:cNvPr>
            <p:cNvSpPr txBox="1"/>
            <p:nvPr/>
          </p:nvSpPr>
          <p:spPr>
            <a:xfrm>
              <a:off x="6572879" y="3722659"/>
              <a:ext cx="1956655" cy="268342"/>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t>Demanda 1</a:t>
              </a:r>
            </a:p>
          </p:txBody>
        </p:sp>
        <p:sp>
          <p:nvSpPr>
            <p:cNvPr id="88" name="CaixaDeTexto 557">
              <a:extLst>
                <a:ext uri="{FF2B5EF4-FFF2-40B4-BE49-F238E27FC236}">
                  <a16:creationId xmlns:a16="http://schemas.microsoft.com/office/drawing/2014/main" id="{820D3315-A493-8A98-9C04-2181A7F37549}"/>
                </a:ext>
              </a:extLst>
            </p:cNvPr>
            <p:cNvSpPr txBox="1"/>
            <p:nvPr/>
          </p:nvSpPr>
          <p:spPr>
            <a:xfrm>
              <a:off x="6572879" y="4034190"/>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a:t>
              </a:r>
              <a:r>
                <a:rPr lang="pt-BR" dirty="0"/>
                <a:t> R$ Material</a:t>
              </a:r>
            </a:p>
          </p:txBody>
        </p:sp>
        <p:sp>
          <p:nvSpPr>
            <p:cNvPr id="89" name="CaixaDeTexto 557">
              <a:extLst>
                <a:ext uri="{FF2B5EF4-FFF2-40B4-BE49-F238E27FC236}">
                  <a16:creationId xmlns:a16="http://schemas.microsoft.com/office/drawing/2014/main" id="{C3C024D5-6730-68B0-B463-747801813032}"/>
                </a:ext>
              </a:extLst>
            </p:cNvPr>
            <p:cNvSpPr txBox="1"/>
            <p:nvPr/>
          </p:nvSpPr>
          <p:spPr>
            <a:xfrm>
              <a:off x="7243850" y="4034190"/>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Oficina</a:t>
              </a:r>
            </a:p>
          </p:txBody>
        </p:sp>
        <p:sp>
          <p:nvSpPr>
            <p:cNvPr id="90" name="CaixaDeTexto 557">
              <a:extLst>
                <a:ext uri="{FF2B5EF4-FFF2-40B4-BE49-F238E27FC236}">
                  <a16:creationId xmlns:a16="http://schemas.microsoft.com/office/drawing/2014/main" id="{9723A601-CE84-B183-D2AD-0D4018B4C9C8}"/>
                </a:ext>
              </a:extLst>
            </p:cNvPr>
            <p:cNvSpPr txBox="1"/>
            <p:nvPr/>
          </p:nvSpPr>
          <p:spPr>
            <a:xfrm>
              <a:off x="7914821" y="4034190"/>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Estaleiro</a:t>
              </a:r>
            </a:p>
          </p:txBody>
        </p:sp>
      </p:grpSp>
      <p:grpSp>
        <p:nvGrpSpPr>
          <p:cNvPr id="102" name="Agrupar 101">
            <a:extLst>
              <a:ext uri="{FF2B5EF4-FFF2-40B4-BE49-F238E27FC236}">
                <a16:creationId xmlns:a16="http://schemas.microsoft.com/office/drawing/2014/main" id="{4CFCFD6B-6100-DECF-DAFA-87C1E23D8D1A}"/>
              </a:ext>
            </a:extLst>
          </p:cNvPr>
          <p:cNvGrpSpPr/>
          <p:nvPr/>
        </p:nvGrpSpPr>
        <p:grpSpPr>
          <a:xfrm>
            <a:off x="2652530" y="4222308"/>
            <a:ext cx="1956655" cy="636225"/>
            <a:chOff x="6572879" y="4589865"/>
            <a:chExt cx="1956655" cy="636225"/>
          </a:xfrm>
        </p:grpSpPr>
        <p:sp>
          <p:nvSpPr>
            <p:cNvPr id="92" name="CaixaDeTexto 557">
              <a:extLst>
                <a:ext uri="{FF2B5EF4-FFF2-40B4-BE49-F238E27FC236}">
                  <a16:creationId xmlns:a16="http://schemas.microsoft.com/office/drawing/2014/main" id="{867385FE-F79C-38B0-473E-45C9496CDCEB}"/>
                </a:ext>
              </a:extLst>
            </p:cNvPr>
            <p:cNvSpPr txBox="1"/>
            <p:nvPr/>
          </p:nvSpPr>
          <p:spPr>
            <a:xfrm>
              <a:off x="6572879" y="4589865"/>
              <a:ext cx="1956655" cy="268342"/>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t>Demanda 2</a:t>
              </a:r>
            </a:p>
          </p:txBody>
        </p:sp>
        <p:sp>
          <p:nvSpPr>
            <p:cNvPr id="93" name="CaixaDeTexto 557">
              <a:extLst>
                <a:ext uri="{FF2B5EF4-FFF2-40B4-BE49-F238E27FC236}">
                  <a16:creationId xmlns:a16="http://schemas.microsoft.com/office/drawing/2014/main" id="{E30E139E-12AD-9AFF-A45A-D51FA0B77B5D}"/>
                </a:ext>
              </a:extLst>
            </p:cNvPr>
            <p:cNvSpPr txBox="1"/>
            <p:nvPr/>
          </p:nvSpPr>
          <p:spPr>
            <a:xfrm>
              <a:off x="6572879" y="4901396"/>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a:t>
              </a:r>
              <a:r>
                <a:rPr lang="pt-BR" dirty="0"/>
                <a:t> R$ Material</a:t>
              </a:r>
            </a:p>
          </p:txBody>
        </p:sp>
        <p:sp>
          <p:nvSpPr>
            <p:cNvPr id="94" name="CaixaDeTexto 557">
              <a:extLst>
                <a:ext uri="{FF2B5EF4-FFF2-40B4-BE49-F238E27FC236}">
                  <a16:creationId xmlns:a16="http://schemas.microsoft.com/office/drawing/2014/main" id="{F69FB9AF-D734-07C4-D44F-89B3CFFC5D33}"/>
                </a:ext>
              </a:extLst>
            </p:cNvPr>
            <p:cNvSpPr txBox="1"/>
            <p:nvPr/>
          </p:nvSpPr>
          <p:spPr>
            <a:xfrm>
              <a:off x="7243850" y="4901396"/>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Oficina</a:t>
              </a:r>
            </a:p>
          </p:txBody>
        </p:sp>
        <p:sp>
          <p:nvSpPr>
            <p:cNvPr id="95" name="CaixaDeTexto 557">
              <a:extLst>
                <a:ext uri="{FF2B5EF4-FFF2-40B4-BE49-F238E27FC236}">
                  <a16:creationId xmlns:a16="http://schemas.microsoft.com/office/drawing/2014/main" id="{F5C08DC2-273E-C14D-A461-B7BDBBCBEB17}"/>
                </a:ext>
              </a:extLst>
            </p:cNvPr>
            <p:cNvSpPr txBox="1"/>
            <p:nvPr/>
          </p:nvSpPr>
          <p:spPr>
            <a:xfrm>
              <a:off x="7914821" y="4901396"/>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Estaleiro</a:t>
              </a:r>
            </a:p>
          </p:txBody>
        </p:sp>
      </p:grpSp>
      <p:grpSp>
        <p:nvGrpSpPr>
          <p:cNvPr id="103" name="Agrupar 102">
            <a:extLst>
              <a:ext uri="{FF2B5EF4-FFF2-40B4-BE49-F238E27FC236}">
                <a16:creationId xmlns:a16="http://schemas.microsoft.com/office/drawing/2014/main" id="{21CE22A2-C6B9-7419-CB77-98435CD8377B}"/>
              </a:ext>
            </a:extLst>
          </p:cNvPr>
          <p:cNvGrpSpPr/>
          <p:nvPr/>
        </p:nvGrpSpPr>
        <p:grpSpPr>
          <a:xfrm>
            <a:off x="2652530" y="4936879"/>
            <a:ext cx="1956655" cy="636225"/>
            <a:chOff x="6572879" y="5457071"/>
            <a:chExt cx="1956655" cy="636225"/>
          </a:xfrm>
        </p:grpSpPr>
        <p:sp>
          <p:nvSpPr>
            <p:cNvPr id="97" name="CaixaDeTexto 557">
              <a:extLst>
                <a:ext uri="{FF2B5EF4-FFF2-40B4-BE49-F238E27FC236}">
                  <a16:creationId xmlns:a16="http://schemas.microsoft.com/office/drawing/2014/main" id="{7928DF5D-C457-DFA7-753E-531B370435C2}"/>
                </a:ext>
              </a:extLst>
            </p:cNvPr>
            <p:cNvSpPr txBox="1"/>
            <p:nvPr/>
          </p:nvSpPr>
          <p:spPr>
            <a:xfrm>
              <a:off x="6572879" y="5457071"/>
              <a:ext cx="1956655" cy="268342"/>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t>Demanda 3</a:t>
              </a:r>
            </a:p>
          </p:txBody>
        </p:sp>
        <p:sp>
          <p:nvSpPr>
            <p:cNvPr id="98" name="CaixaDeTexto 557">
              <a:extLst>
                <a:ext uri="{FF2B5EF4-FFF2-40B4-BE49-F238E27FC236}">
                  <a16:creationId xmlns:a16="http://schemas.microsoft.com/office/drawing/2014/main" id="{2C1803C9-A917-9B97-1C64-BF60B7A62450}"/>
                </a:ext>
              </a:extLst>
            </p:cNvPr>
            <p:cNvSpPr txBox="1"/>
            <p:nvPr/>
          </p:nvSpPr>
          <p:spPr>
            <a:xfrm>
              <a:off x="6572879" y="5768602"/>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a:t>
              </a:r>
              <a:r>
                <a:rPr lang="pt-BR" dirty="0"/>
                <a:t> R$ Material</a:t>
              </a:r>
            </a:p>
          </p:txBody>
        </p:sp>
        <p:sp>
          <p:nvSpPr>
            <p:cNvPr id="99" name="CaixaDeTexto 557">
              <a:extLst>
                <a:ext uri="{FF2B5EF4-FFF2-40B4-BE49-F238E27FC236}">
                  <a16:creationId xmlns:a16="http://schemas.microsoft.com/office/drawing/2014/main" id="{A3980A1B-69B2-C1C7-CA9C-649DBC6622CD}"/>
                </a:ext>
              </a:extLst>
            </p:cNvPr>
            <p:cNvSpPr txBox="1"/>
            <p:nvPr/>
          </p:nvSpPr>
          <p:spPr>
            <a:xfrm>
              <a:off x="7243850" y="5768602"/>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Oficina</a:t>
              </a:r>
            </a:p>
          </p:txBody>
        </p:sp>
        <p:sp>
          <p:nvSpPr>
            <p:cNvPr id="100" name="CaixaDeTexto 557">
              <a:extLst>
                <a:ext uri="{FF2B5EF4-FFF2-40B4-BE49-F238E27FC236}">
                  <a16:creationId xmlns:a16="http://schemas.microsoft.com/office/drawing/2014/main" id="{8F6B4FBC-36D5-5682-CC6D-FEB56A131A6D}"/>
                </a:ext>
              </a:extLst>
            </p:cNvPr>
            <p:cNvSpPr txBox="1"/>
            <p:nvPr/>
          </p:nvSpPr>
          <p:spPr>
            <a:xfrm>
              <a:off x="7914821" y="5768602"/>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Estaleiro</a:t>
              </a:r>
            </a:p>
          </p:txBody>
        </p:sp>
      </p:grpSp>
      <p:sp>
        <p:nvSpPr>
          <p:cNvPr id="117" name="Retângulo 116">
            <a:extLst>
              <a:ext uri="{FF2B5EF4-FFF2-40B4-BE49-F238E27FC236}">
                <a16:creationId xmlns:a16="http://schemas.microsoft.com/office/drawing/2014/main" id="{80823E43-76BE-5C54-96D6-5E80402BFFF2}"/>
              </a:ext>
            </a:extLst>
          </p:cNvPr>
          <p:cNvSpPr/>
          <p:nvPr/>
        </p:nvSpPr>
        <p:spPr>
          <a:xfrm>
            <a:off x="2518049" y="3446618"/>
            <a:ext cx="2217881" cy="2232000"/>
          </a:xfrm>
          <a:prstGeom prst="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557">
            <a:extLst>
              <a:ext uri="{FF2B5EF4-FFF2-40B4-BE49-F238E27FC236}">
                <a16:creationId xmlns:a16="http://schemas.microsoft.com/office/drawing/2014/main" id="{EAF7A52B-5706-72DF-DCB4-85AB866148FA}"/>
              </a:ext>
            </a:extLst>
          </p:cNvPr>
          <p:cNvSpPr txBox="1"/>
          <p:nvPr/>
        </p:nvSpPr>
        <p:spPr>
          <a:xfrm>
            <a:off x="5005312" y="3065565"/>
            <a:ext cx="1956655" cy="331086"/>
          </a:xfrm>
          <a:prstGeom prst="roundRect">
            <a:avLst>
              <a:gd name="adj" fmla="val 0"/>
            </a:avLst>
          </a:prstGeom>
          <a:noFill/>
          <a:ln>
            <a:solidFill>
              <a:srgbClr val="014A65"/>
            </a:solidFill>
          </a:ln>
        </p:spPr>
        <p:txBody>
          <a:bodyPr wrap="square" lIns="90000" rtlCol="0" anchor="ctr">
            <a:noAutofit/>
          </a:bodyPr>
          <a:lstStyle/>
          <a:p>
            <a:pPr algn="ctr"/>
            <a:r>
              <a:rPr lang="pt-BR" sz="1000" b="1" i="1" dirty="0"/>
              <a:t>ID-XX | P. Paredes</a:t>
            </a:r>
          </a:p>
        </p:txBody>
      </p:sp>
      <p:sp>
        <p:nvSpPr>
          <p:cNvPr id="34" name="CaixaDeTexto 557">
            <a:extLst>
              <a:ext uri="{FF2B5EF4-FFF2-40B4-BE49-F238E27FC236}">
                <a16:creationId xmlns:a16="http://schemas.microsoft.com/office/drawing/2014/main" id="{C711E248-41AF-96E3-A2A4-699A7F9636AE}"/>
              </a:ext>
            </a:extLst>
          </p:cNvPr>
          <p:cNvSpPr txBox="1"/>
          <p:nvPr/>
        </p:nvSpPr>
        <p:spPr>
          <a:xfrm>
            <a:off x="5005312" y="3453705"/>
            <a:ext cx="1956655" cy="205578"/>
          </a:xfrm>
          <a:prstGeom prst="roundRect">
            <a:avLst>
              <a:gd name="adj" fmla="val 0"/>
            </a:avLst>
          </a:prstGeom>
          <a:noFill/>
          <a:ln>
            <a:solidFill>
              <a:srgbClr val="014A65"/>
            </a:solidFill>
          </a:ln>
        </p:spPr>
        <p:txBody>
          <a:bodyPr wrap="square" lIns="90000" rtlCol="0" anchor="ctr">
            <a:noAutofit/>
          </a:bodyPr>
          <a:lstStyle/>
          <a:p>
            <a:pPr algn="ctr"/>
            <a:r>
              <a:rPr lang="pt-BR" sz="1000" b="1" i="1" dirty="0"/>
              <a:t>101 - Parada Especial</a:t>
            </a:r>
          </a:p>
        </p:txBody>
      </p:sp>
      <p:grpSp>
        <p:nvGrpSpPr>
          <p:cNvPr id="41" name="Agrupar 40">
            <a:extLst>
              <a:ext uri="{FF2B5EF4-FFF2-40B4-BE49-F238E27FC236}">
                <a16:creationId xmlns:a16="http://schemas.microsoft.com/office/drawing/2014/main" id="{B17DA5A4-8E81-1150-C4D7-C50E732F5D1C}"/>
              </a:ext>
            </a:extLst>
          </p:cNvPr>
          <p:cNvGrpSpPr/>
          <p:nvPr/>
        </p:nvGrpSpPr>
        <p:grpSpPr>
          <a:xfrm>
            <a:off x="5005312" y="3770826"/>
            <a:ext cx="1956655" cy="636225"/>
            <a:chOff x="5032887" y="3770826"/>
            <a:chExt cx="1956655" cy="636225"/>
          </a:xfrm>
        </p:grpSpPr>
        <p:sp>
          <p:nvSpPr>
            <p:cNvPr id="36" name="CaixaDeTexto 557">
              <a:extLst>
                <a:ext uri="{FF2B5EF4-FFF2-40B4-BE49-F238E27FC236}">
                  <a16:creationId xmlns:a16="http://schemas.microsoft.com/office/drawing/2014/main" id="{6AD135CD-DFF8-158B-306A-9A5B5215CA62}"/>
                </a:ext>
              </a:extLst>
            </p:cNvPr>
            <p:cNvSpPr txBox="1"/>
            <p:nvPr/>
          </p:nvSpPr>
          <p:spPr>
            <a:xfrm>
              <a:off x="5032887" y="3770826"/>
              <a:ext cx="1956655" cy="268342"/>
            </a:xfrm>
            <a:prstGeom prst="roundRect">
              <a:avLst>
                <a:gd name="adj" fmla="val 0"/>
              </a:avLst>
            </a:prstGeom>
            <a:solidFill>
              <a:schemeClr val="bg1">
                <a:lumMod val="95000"/>
              </a:schemeClr>
            </a:solidFill>
            <a:ln>
              <a:solidFill>
                <a:srgbClr val="014A65"/>
              </a:solidFill>
              <a:prstDash val="solid"/>
            </a:ln>
          </p:spPr>
          <p:txBody>
            <a:bodyPr wrap="square" lIns="90000" rtlCol="0" anchor="ctr">
              <a:noAutofit/>
            </a:bodyPr>
            <a:lstStyle/>
            <a:p>
              <a:pPr algn="ctr"/>
              <a:r>
                <a:rPr lang="pt-BR" sz="1000" i="1" dirty="0"/>
                <a:t>Demanda 1</a:t>
              </a:r>
            </a:p>
          </p:txBody>
        </p:sp>
        <p:sp>
          <p:nvSpPr>
            <p:cNvPr id="37" name="CaixaDeTexto 557">
              <a:extLst>
                <a:ext uri="{FF2B5EF4-FFF2-40B4-BE49-F238E27FC236}">
                  <a16:creationId xmlns:a16="http://schemas.microsoft.com/office/drawing/2014/main" id="{7FACAB88-167B-538B-163E-350716C85C0B}"/>
                </a:ext>
              </a:extLst>
            </p:cNvPr>
            <p:cNvSpPr txBox="1"/>
            <p:nvPr/>
          </p:nvSpPr>
          <p:spPr>
            <a:xfrm>
              <a:off x="5032887" y="4082357"/>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a:t>
              </a:r>
              <a:r>
                <a:rPr lang="pt-BR" sz="1000" i="1" dirty="0">
                  <a:latin typeface="Aptos" panose="020B0004020202020204" pitchFamily="34" charset="0"/>
                </a:rPr>
                <a:t> </a:t>
              </a:r>
              <a:r>
                <a:rPr lang="pt-BR" sz="1000" i="1" dirty="0"/>
                <a:t>R$ Material</a:t>
              </a:r>
            </a:p>
          </p:txBody>
        </p:sp>
        <p:sp>
          <p:nvSpPr>
            <p:cNvPr id="38" name="CaixaDeTexto 557">
              <a:extLst>
                <a:ext uri="{FF2B5EF4-FFF2-40B4-BE49-F238E27FC236}">
                  <a16:creationId xmlns:a16="http://schemas.microsoft.com/office/drawing/2014/main" id="{E6B7BF41-47FF-6E2D-F254-FBB9FCEE10F0}"/>
                </a:ext>
              </a:extLst>
            </p:cNvPr>
            <p:cNvSpPr txBox="1"/>
            <p:nvPr/>
          </p:nvSpPr>
          <p:spPr>
            <a:xfrm>
              <a:off x="5703858" y="4082357"/>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Oficina</a:t>
              </a:r>
            </a:p>
          </p:txBody>
        </p:sp>
        <p:sp>
          <p:nvSpPr>
            <p:cNvPr id="39" name="CaixaDeTexto 557">
              <a:extLst>
                <a:ext uri="{FF2B5EF4-FFF2-40B4-BE49-F238E27FC236}">
                  <a16:creationId xmlns:a16="http://schemas.microsoft.com/office/drawing/2014/main" id="{398CBFC6-E041-E00C-C70B-299D252AEFC1}"/>
                </a:ext>
              </a:extLst>
            </p:cNvPr>
            <p:cNvSpPr txBox="1"/>
            <p:nvPr/>
          </p:nvSpPr>
          <p:spPr>
            <a:xfrm>
              <a:off x="6374829" y="4082357"/>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Estaleiro</a:t>
              </a:r>
            </a:p>
          </p:txBody>
        </p:sp>
      </p:grpSp>
      <p:grpSp>
        <p:nvGrpSpPr>
          <p:cNvPr id="42" name="Agrupar 41">
            <a:extLst>
              <a:ext uri="{FF2B5EF4-FFF2-40B4-BE49-F238E27FC236}">
                <a16:creationId xmlns:a16="http://schemas.microsoft.com/office/drawing/2014/main" id="{8E2F6DDB-E8E3-B4AF-B0F9-2CFEA65B0C9E}"/>
              </a:ext>
            </a:extLst>
          </p:cNvPr>
          <p:cNvGrpSpPr/>
          <p:nvPr/>
        </p:nvGrpSpPr>
        <p:grpSpPr>
          <a:xfrm>
            <a:off x="5005312" y="4509120"/>
            <a:ext cx="1956655" cy="636225"/>
            <a:chOff x="5032887" y="4638032"/>
            <a:chExt cx="1956655" cy="636225"/>
          </a:xfrm>
        </p:grpSpPr>
        <p:sp>
          <p:nvSpPr>
            <p:cNvPr id="75" name="CaixaDeTexto 557">
              <a:extLst>
                <a:ext uri="{FF2B5EF4-FFF2-40B4-BE49-F238E27FC236}">
                  <a16:creationId xmlns:a16="http://schemas.microsoft.com/office/drawing/2014/main" id="{142CADF9-D545-FEEC-D2DA-B0CB6108984E}"/>
                </a:ext>
              </a:extLst>
            </p:cNvPr>
            <p:cNvSpPr txBox="1"/>
            <p:nvPr/>
          </p:nvSpPr>
          <p:spPr>
            <a:xfrm>
              <a:off x="5032887" y="4638032"/>
              <a:ext cx="1956655" cy="268342"/>
            </a:xfrm>
            <a:prstGeom prst="roundRect">
              <a:avLst>
                <a:gd name="adj" fmla="val 0"/>
              </a:avLst>
            </a:prstGeom>
            <a:solidFill>
              <a:schemeClr val="bg1">
                <a:lumMod val="95000"/>
              </a:schemeClr>
            </a:solidFill>
            <a:ln>
              <a:solidFill>
                <a:srgbClr val="014A65"/>
              </a:solidFill>
              <a:prstDash val="solid"/>
            </a:ln>
          </p:spPr>
          <p:txBody>
            <a:bodyPr wrap="square" lIns="90000" rtlCol="0" anchor="ctr">
              <a:noAutofit/>
            </a:bodyPr>
            <a:lstStyle/>
            <a:p>
              <a:pPr algn="ctr"/>
              <a:r>
                <a:rPr lang="pt-BR" sz="1000" i="1" dirty="0"/>
                <a:t>Demanda 2</a:t>
              </a:r>
            </a:p>
          </p:txBody>
        </p:sp>
        <p:sp>
          <p:nvSpPr>
            <p:cNvPr id="76" name="CaixaDeTexto 557">
              <a:extLst>
                <a:ext uri="{FF2B5EF4-FFF2-40B4-BE49-F238E27FC236}">
                  <a16:creationId xmlns:a16="http://schemas.microsoft.com/office/drawing/2014/main" id="{F24B41A1-DAD5-FDE1-93C5-4EFA7C63DDE6}"/>
                </a:ext>
              </a:extLst>
            </p:cNvPr>
            <p:cNvSpPr txBox="1"/>
            <p:nvPr/>
          </p:nvSpPr>
          <p:spPr>
            <a:xfrm>
              <a:off x="5032887"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a:t>
              </a:r>
              <a:r>
                <a:rPr lang="pt-BR" sz="1000" i="1" dirty="0">
                  <a:latin typeface="Aptos" panose="020B0004020202020204" pitchFamily="34" charset="0"/>
                </a:rPr>
                <a:t> </a:t>
              </a:r>
              <a:r>
                <a:rPr lang="pt-BR" sz="1000" i="1" dirty="0"/>
                <a:t>R$ Material</a:t>
              </a:r>
            </a:p>
          </p:txBody>
        </p:sp>
        <p:sp>
          <p:nvSpPr>
            <p:cNvPr id="77" name="CaixaDeTexto 557">
              <a:extLst>
                <a:ext uri="{FF2B5EF4-FFF2-40B4-BE49-F238E27FC236}">
                  <a16:creationId xmlns:a16="http://schemas.microsoft.com/office/drawing/2014/main" id="{EFBE2C74-A34E-A965-D2E1-65DC19126FDC}"/>
                </a:ext>
              </a:extLst>
            </p:cNvPr>
            <p:cNvSpPr txBox="1"/>
            <p:nvPr/>
          </p:nvSpPr>
          <p:spPr>
            <a:xfrm>
              <a:off x="5703858"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Oficina</a:t>
              </a:r>
            </a:p>
          </p:txBody>
        </p:sp>
        <p:sp>
          <p:nvSpPr>
            <p:cNvPr id="78" name="CaixaDeTexto 557">
              <a:extLst>
                <a:ext uri="{FF2B5EF4-FFF2-40B4-BE49-F238E27FC236}">
                  <a16:creationId xmlns:a16="http://schemas.microsoft.com/office/drawing/2014/main" id="{377AE432-C4A6-1857-E0D9-515DB46D499F}"/>
                </a:ext>
              </a:extLst>
            </p:cNvPr>
            <p:cNvSpPr txBox="1"/>
            <p:nvPr/>
          </p:nvSpPr>
          <p:spPr>
            <a:xfrm>
              <a:off x="6374829"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Estaleiro</a:t>
              </a:r>
            </a:p>
          </p:txBody>
        </p:sp>
      </p:grpSp>
      <p:grpSp>
        <p:nvGrpSpPr>
          <p:cNvPr id="43" name="Agrupar 42">
            <a:extLst>
              <a:ext uri="{FF2B5EF4-FFF2-40B4-BE49-F238E27FC236}">
                <a16:creationId xmlns:a16="http://schemas.microsoft.com/office/drawing/2014/main" id="{EDE7166D-62C2-7EFF-5897-584B05FA93C5}"/>
              </a:ext>
            </a:extLst>
          </p:cNvPr>
          <p:cNvGrpSpPr/>
          <p:nvPr/>
        </p:nvGrpSpPr>
        <p:grpSpPr>
          <a:xfrm>
            <a:off x="5005312" y="5244304"/>
            <a:ext cx="1956655" cy="636225"/>
            <a:chOff x="5032887" y="5505238"/>
            <a:chExt cx="1956655" cy="636225"/>
          </a:xfrm>
        </p:grpSpPr>
        <p:sp>
          <p:nvSpPr>
            <p:cNvPr id="79" name="CaixaDeTexto 557">
              <a:extLst>
                <a:ext uri="{FF2B5EF4-FFF2-40B4-BE49-F238E27FC236}">
                  <a16:creationId xmlns:a16="http://schemas.microsoft.com/office/drawing/2014/main" id="{B96BA523-47C3-9598-8EE5-EBEF9C939AEE}"/>
                </a:ext>
              </a:extLst>
            </p:cNvPr>
            <p:cNvSpPr txBox="1"/>
            <p:nvPr/>
          </p:nvSpPr>
          <p:spPr>
            <a:xfrm>
              <a:off x="5032887" y="5505238"/>
              <a:ext cx="1956655" cy="268342"/>
            </a:xfrm>
            <a:prstGeom prst="roundRect">
              <a:avLst>
                <a:gd name="adj" fmla="val 0"/>
              </a:avLst>
            </a:prstGeom>
            <a:solidFill>
              <a:schemeClr val="bg1">
                <a:lumMod val="95000"/>
              </a:schemeClr>
            </a:solidFill>
            <a:ln>
              <a:solidFill>
                <a:srgbClr val="014A65"/>
              </a:solidFill>
              <a:prstDash val="solid"/>
            </a:ln>
          </p:spPr>
          <p:txBody>
            <a:bodyPr wrap="square" lIns="90000" rtlCol="0" anchor="ctr">
              <a:noAutofit/>
            </a:bodyPr>
            <a:lstStyle/>
            <a:p>
              <a:pPr algn="ctr"/>
              <a:r>
                <a:rPr lang="pt-BR" sz="1000" i="1" dirty="0"/>
                <a:t>Demanda 3</a:t>
              </a:r>
            </a:p>
          </p:txBody>
        </p:sp>
        <p:sp>
          <p:nvSpPr>
            <p:cNvPr id="80" name="CaixaDeTexto 557">
              <a:extLst>
                <a:ext uri="{FF2B5EF4-FFF2-40B4-BE49-F238E27FC236}">
                  <a16:creationId xmlns:a16="http://schemas.microsoft.com/office/drawing/2014/main" id="{0863E4DD-BA6C-AAC1-BA8A-7875096C5486}"/>
                </a:ext>
              </a:extLst>
            </p:cNvPr>
            <p:cNvSpPr txBox="1"/>
            <p:nvPr/>
          </p:nvSpPr>
          <p:spPr>
            <a:xfrm>
              <a:off x="5032887" y="5816769"/>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a:t>
              </a:r>
              <a:r>
                <a:rPr lang="pt-BR" sz="1000" i="1" dirty="0">
                  <a:latin typeface="Aptos" panose="020B0004020202020204" pitchFamily="34" charset="0"/>
                </a:rPr>
                <a:t> </a:t>
              </a:r>
              <a:r>
                <a:rPr lang="pt-BR" sz="1000" i="1" dirty="0"/>
                <a:t>R$ Material</a:t>
              </a:r>
            </a:p>
          </p:txBody>
        </p:sp>
        <p:sp>
          <p:nvSpPr>
            <p:cNvPr id="81" name="CaixaDeTexto 557">
              <a:extLst>
                <a:ext uri="{FF2B5EF4-FFF2-40B4-BE49-F238E27FC236}">
                  <a16:creationId xmlns:a16="http://schemas.microsoft.com/office/drawing/2014/main" id="{D8C0FD90-5CEB-A45F-563C-00F6AD91AAFE}"/>
                </a:ext>
              </a:extLst>
            </p:cNvPr>
            <p:cNvSpPr txBox="1"/>
            <p:nvPr/>
          </p:nvSpPr>
          <p:spPr>
            <a:xfrm>
              <a:off x="5703858" y="5816769"/>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Oficina</a:t>
              </a:r>
            </a:p>
          </p:txBody>
        </p:sp>
        <p:sp>
          <p:nvSpPr>
            <p:cNvPr id="82" name="CaixaDeTexto 557">
              <a:extLst>
                <a:ext uri="{FF2B5EF4-FFF2-40B4-BE49-F238E27FC236}">
                  <a16:creationId xmlns:a16="http://schemas.microsoft.com/office/drawing/2014/main" id="{FF9D9344-ACC2-9553-7F20-B6537414D386}"/>
                </a:ext>
              </a:extLst>
            </p:cNvPr>
            <p:cNvSpPr txBox="1"/>
            <p:nvPr/>
          </p:nvSpPr>
          <p:spPr>
            <a:xfrm>
              <a:off x="6374829" y="5816769"/>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Estaleiro</a:t>
              </a:r>
            </a:p>
          </p:txBody>
        </p:sp>
      </p:grpSp>
      <p:sp>
        <p:nvSpPr>
          <p:cNvPr id="118" name="Retângulo 117">
            <a:extLst>
              <a:ext uri="{FF2B5EF4-FFF2-40B4-BE49-F238E27FC236}">
                <a16:creationId xmlns:a16="http://schemas.microsoft.com/office/drawing/2014/main" id="{976B832A-B7CE-5056-0339-D6F2C8D350D9}"/>
              </a:ext>
            </a:extLst>
          </p:cNvPr>
          <p:cNvSpPr/>
          <p:nvPr/>
        </p:nvSpPr>
        <p:spPr>
          <a:xfrm>
            <a:off x="4874698" y="3718591"/>
            <a:ext cx="2217881" cy="2248025"/>
          </a:xfrm>
          <a:prstGeom prst="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20" name="Conector: Curvo 119">
            <a:extLst>
              <a:ext uri="{FF2B5EF4-FFF2-40B4-BE49-F238E27FC236}">
                <a16:creationId xmlns:a16="http://schemas.microsoft.com/office/drawing/2014/main" id="{E55D07A8-6453-E241-502C-EB28D81BBE08}"/>
              </a:ext>
            </a:extLst>
          </p:cNvPr>
          <p:cNvCxnSpPr>
            <a:cxnSpLocks/>
            <a:stCxn id="117" idx="2"/>
            <a:endCxn id="118" idx="2"/>
          </p:cNvCxnSpPr>
          <p:nvPr/>
        </p:nvCxnSpPr>
        <p:spPr>
          <a:xfrm rot="16200000" flipH="1">
            <a:off x="4661315" y="4644292"/>
            <a:ext cx="287998" cy="2356649"/>
          </a:xfrm>
          <a:prstGeom prst="curvedConnector3">
            <a:avLst>
              <a:gd name="adj1" fmla="val 179376"/>
            </a:avLst>
          </a:prstGeom>
          <a:noFill/>
          <a:ln w="9525">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
        <p:nvSpPr>
          <p:cNvPr id="137" name="CaixaDeTexto 557">
            <a:extLst>
              <a:ext uri="{FF2B5EF4-FFF2-40B4-BE49-F238E27FC236}">
                <a16:creationId xmlns:a16="http://schemas.microsoft.com/office/drawing/2014/main" id="{9B28191E-B5B2-289B-1BB3-55890BD791AB}"/>
              </a:ext>
            </a:extLst>
          </p:cNvPr>
          <p:cNvSpPr txBox="1"/>
          <p:nvPr/>
        </p:nvSpPr>
        <p:spPr>
          <a:xfrm>
            <a:off x="7556655" y="3065565"/>
            <a:ext cx="1956655" cy="331086"/>
          </a:xfrm>
          <a:prstGeom prst="roundRect">
            <a:avLst>
              <a:gd name="adj" fmla="val 0"/>
            </a:avLst>
          </a:prstGeom>
          <a:noFill/>
          <a:ln>
            <a:solidFill>
              <a:srgbClr val="014A65"/>
            </a:solidFill>
          </a:ln>
        </p:spPr>
        <p:txBody>
          <a:bodyPr wrap="square" lIns="36000" rIns="36000" rtlCol="0" anchor="ctr">
            <a:noAutofit/>
          </a:bodyPr>
          <a:lstStyle>
            <a:defPPr>
              <a:defRPr lang="pt-BR"/>
            </a:defPPr>
            <a:lvl1pPr algn="ctr">
              <a:defRPr sz="1000" b="1" i="1"/>
            </a:lvl1pPr>
          </a:lstStyle>
          <a:p>
            <a:r>
              <a:rPr lang="pt-BR" dirty="0"/>
              <a:t>TO-0005 | Parada Especial </a:t>
            </a:r>
          </a:p>
          <a:p>
            <a:r>
              <a:rPr lang="pt-BR" dirty="0"/>
              <a:t>P. Reis 2024</a:t>
            </a:r>
          </a:p>
        </p:txBody>
      </p:sp>
      <p:grpSp>
        <p:nvGrpSpPr>
          <p:cNvPr id="44" name="Agrupar 43">
            <a:extLst>
              <a:ext uri="{FF2B5EF4-FFF2-40B4-BE49-F238E27FC236}">
                <a16:creationId xmlns:a16="http://schemas.microsoft.com/office/drawing/2014/main" id="{7C7F01A2-15EB-C935-14C1-33849A174E32}"/>
              </a:ext>
            </a:extLst>
          </p:cNvPr>
          <p:cNvGrpSpPr/>
          <p:nvPr/>
        </p:nvGrpSpPr>
        <p:grpSpPr>
          <a:xfrm>
            <a:off x="7556655" y="3507736"/>
            <a:ext cx="1956655" cy="636225"/>
            <a:chOff x="7584230" y="3507736"/>
            <a:chExt cx="1956655" cy="636225"/>
          </a:xfrm>
        </p:grpSpPr>
        <p:sp>
          <p:nvSpPr>
            <p:cNvPr id="139" name="CaixaDeTexto 557">
              <a:extLst>
                <a:ext uri="{FF2B5EF4-FFF2-40B4-BE49-F238E27FC236}">
                  <a16:creationId xmlns:a16="http://schemas.microsoft.com/office/drawing/2014/main" id="{044D1D81-0816-1A7F-38E8-99A5B43945B3}"/>
                </a:ext>
              </a:extLst>
            </p:cNvPr>
            <p:cNvSpPr txBox="1"/>
            <p:nvPr/>
          </p:nvSpPr>
          <p:spPr>
            <a:xfrm>
              <a:off x="7584230" y="3507736"/>
              <a:ext cx="1956655" cy="268342"/>
            </a:xfrm>
            <a:prstGeom prst="roundRect">
              <a:avLst>
                <a:gd name="adj" fmla="val 0"/>
              </a:avLst>
            </a:prstGeom>
            <a:noFill/>
            <a:ln>
              <a:solidFill>
                <a:srgbClr val="014A65"/>
              </a:solidFill>
              <a:prstDash val="solid"/>
            </a:ln>
          </p:spPr>
          <p:txBody>
            <a:bodyPr wrap="square" lIns="90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Demanda 1</a:t>
              </a:r>
            </a:p>
          </p:txBody>
        </p:sp>
        <p:sp>
          <p:nvSpPr>
            <p:cNvPr id="140" name="CaixaDeTexto 557">
              <a:extLst>
                <a:ext uri="{FF2B5EF4-FFF2-40B4-BE49-F238E27FC236}">
                  <a16:creationId xmlns:a16="http://schemas.microsoft.com/office/drawing/2014/main" id="{8DB214BB-5199-3D5A-F558-A9ED4CCF4960}"/>
                </a:ext>
              </a:extLst>
            </p:cNvPr>
            <p:cNvSpPr txBox="1"/>
            <p:nvPr/>
          </p:nvSpPr>
          <p:spPr>
            <a:xfrm>
              <a:off x="7584230" y="3819267"/>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a:t>
              </a:r>
              <a:r>
                <a:rPr lang="pt-BR" dirty="0"/>
                <a:t> R$ Material</a:t>
              </a:r>
            </a:p>
          </p:txBody>
        </p:sp>
        <p:sp>
          <p:nvSpPr>
            <p:cNvPr id="141" name="CaixaDeTexto 557">
              <a:extLst>
                <a:ext uri="{FF2B5EF4-FFF2-40B4-BE49-F238E27FC236}">
                  <a16:creationId xmlns:a16="http://schemas.microsoft.com/office/drawing/2014/main" id="{2D49350E-80BA-D940-FA30-D67A1752D0C8}"/>
                </a:ext>
              </a:extLst>
            </p:cNvPr>
            <p:cNvSpPr txBox="1"/>
            <p:nvPr/>
          </p:nvSpPr>
          <p:spPr>
            <a:xfrm>
              <a:off x="8255201" y="3819267"/>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 </a:t>
              </a:r>
              <a:r>
                <a:rPr lang="pt-BR" dirty="0"/>
                <a:t>R$ Oficina</a:t>
              </a:r>
            </a:p>
          </p:txBody>
        </p:sp>
        <p:sp>
          <p:nvSpPr>
            <p:cNvPr id="142" name="CaixaDeTexto 557">
              <a:extLst>
                <a:ext uri="{FF2B5EF4-FFF2-40B4-BE49-F238E27FC236}">
                  <a16:creationId xmlns:a16="http://schemas.microsoft.com/office/drawing/2014/main" id="{619845B6-5470-8668-C3EF-8BCCB17083B3}"/>
                </a:ext>
              </a:extLst>
            </p:cNvPr>
            <p:cNvSpPr txBox="1"/>
            <p:nvPr/>
          </p:nvSpPr>
          <p:spPr>
            <a:xfrm>
              <a:off x="8926172" y="3819267"/>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 </a:t>
              </a:r>
              <a:r>
                <a:rPr lang="pt-BR" dirty="0"/>
                <a:t>R$ Estaleiro</a:t>
              </a:r>
            </a:p>
          </p:txBody>
        </p:sp>
      </p:grpSp>
      <p:grpSp>
        <p:nvGrpSpPr>
          <p:cNvPr id="45" name="Agrupar 44">
            <a:extLst>
              <a:ext uri="{FF2B5EF4-FFF2-40B4-BE49-F238E27FC236}">
                <a16:creationId xmlns:a16="http://schemas.microsoft.com/office/drawing/2014/main" id="{7FCDF0B8-C32E-270A-4B19-271C8B13EB2E}"/>
              </a:ext>
            </a:extLst>
          </p:cNvPr>
          <p:cNvGrpSpPr/>
          <p:nvPr/>
        </p:nvGrpSpPr>
        <p:grpSpPr>
          <a:xfrm>
            <a:off x="7556655" y="4222308"/>
            <a:ext cx="1956655" cy="636225"/>
            <a:chOff x="7584230" y="4374942"/>
            <a:chExt cx="1956655" cy="636225"/>
          </a:xfrm>
        </p:grpSpPr>
        <p:sp>
          <p:nvSpPr>
            <p:cNvPr id="144" name="CaixaDeTexto 557">
              <a:extLst>
                <a:ext uri="{FF2B5EF4-FFF2-40B4-BE49-F238E27FC236}">
                  <a16:creationId xmlns:a16="http://schemas.microsoft.com/office/drawing/2014/main" id="{1D2E6135-4F8F-503B-5003-48F9FA7ACE3B}"/>
                </a:ext>
              </a:extLst>
            </p:cNvPr>
            <p:cNvSpPr txBox="1"/>
            <p:nvPr/>
          </p:nvSpPr>
          <p:spPr>
            <a:xfrm>
              <a:off x="7584230" y="4374942"/>
              <a:ext cx="1956655" cy="268342"/>
            </a:xfrm>
            <a:prstGeom prst="roundRect">
              <a:avLst>
                <a:gd name="adj" fmla="val 0"/>
              </a:avLst>
            </a:prstGeom>
            <a:noFill/>
            <a:ln>
              <a:solidFill>
                <a:srgbClr val="014A65"/>
              </a:solidFill>
              <a:prstDash val="solid"/>
            </a:ln>
          </p:spPr>
          <p:txBody>
            <a:bodyPr wrap="square" lIns="90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Demanda 2</a:t>
              </a:r>
            </a:p>
          </p:txBody>
        </p:sp>
        <p:sp>
          <p:nvSpPr>
            <p:cNvPr id="145" name="CaixaDeTexto 557">
              <a:extLst>
                <a:ext uri="{FF2B5EF4-FFF2-40B4-BE49-F238E27FC236}">
                  <a16:creationId xmlns:a16="http://schemas.microsoft.com/office/drawing/2014/main" id="{A1A5A050-2A7E-17C0-8C37-242AF7133601}"/>
                </a:ext>
              </a:extLst>
            </p:cNvPr>
            <p:cNvSpPr txBox="1"/>
            <p:nvPr/>
          </p:nvSpPr>
          <p:spPr>
            <a:xfrm>
              <a:off x="7584230" y="4686473"/>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a:t>
              </a:r>
              <a:r>
                <a:rPr lang="pt-BR" dirty="0"/>
                <a:t> R$ Material</a:t>
              </a:r>
            </a:p>
          </p:txBody>
        </p:sp>
        <p:sp>
          <p:nvSpPr>
            <p:cNvPr id="146" name="CaixaDeTexto 557">
              <a:extLst>
                <a:ext uri="{FF2B5EF4-FFF2-40B4-BE49-F238E27FC236}">
                  <a16:creationId xmlns:a16="http://schemas.microsoft.com/office/drawing/2014/main" id="{0A46B924-FE42-EEB0-1FBF-1553AE3E6B5E}"/>
                </a:ext>
              </a:extLst>
            </p:cNvPr>
            <p:cNvSpPr txBox="1"/>
            <p:nvPr/>
          </p:nvSpPr>
          <p:spPr>
            <a:xfrm>
              <a:off x="8255201" y="4686473"/>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 </a:t>
              </a:r>
              <a:r>
                <a:rPr lang="pt-BR" dirty="0"/>
                <a:t>R$ Oficina</a:t>
              </a:r>
            </a:p>
          </p:txBody>
        </p:sp>
        <p:sp>
          <p:nvSpPr>
            <p:cNvPr id="147" name="CaixaDeTexto 557">
              <a:extLst>
                <a:ext uri="{FF2B5EF4-FFF2-40B4-BE49-F238E27FC236}">
                  <a16:creationId xmlns:a16="http://schemas.microsoft.com/office/drawing/2014/main" id="{5A47D552-F29F-6C17-9315-4BCB6DF3F11A}"/>
                </a:ext>
              </a:extLst>
            </p:cNvPr>
            <p:cNvSpPr txBox="1"/>
            <p:nvPr/>
          </p:nvSpPr>
          <p:spPr>
            <a:xfrm>
              <a:off x="8926172" y="4686473"/>
              <a:ext cx="614713" cy="324694"/>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dirty="0"/>
                <a:t>Σ </a:t>
              </a:r>
              <a:r>
                <a:rPr lang="pt-BR" dirty="0"/>
                <a:t>R$ Estaleiro</a:t>
              </a:r>
            </a:p>
          </p:txBody>
        </p:sp>
      </p:grpSp>
      <p:grpSp>
        <p:nvGrpSpPr>
          <p:cNvPr id="46" name="Agrupar 45">
            <a:extLst>
              <a:ext uri="{FF2B5EF4-FFF2-40B4-BE49-F238E27FC236}">
                <a16:creationId xmlns:a16="http://schemas.microsoft.com/office/drawing/2014/main" id="{B7BD6E0F-69D6-550A-C1FD-0E884AD095E8}"/>
              </a:ext>
            </a:extLst>
          </p:cNvPr>
          <p:cNvGrpSpPr/>
          <p:nvPr/>
        </p:nvGrpSpPr>
        <p:grpSpPr>
          <a:xfrm>
            <a:off x="7556655" y="4936879"/>
            <a:ext cx="1956655" cy="636225"/>
            <a:chOff x="7584230" y="5242148"/>
            <a:chExt cx="1956655" cy="636225"/>
          </a:xfrm>
        </p:grpSpPr>
        <p:sp>
          <p:nvSpPr>
            <p:cNvPr id="149" name="CaixaDeTexto 557">
              <a:extLst>
                <a:ext uri="{FF2B5EF4-FFF2-40B4-BE49-F238E27FC236}">
                  <a16:creationId xmlns:a16="http://schemas.microsoft.com/office/drawing/2014/main" id="{BCF058D0-96A5-BA27-2B38-F05105E82BAF}"/>
                </a:ext>
              </a:extLst>
            </p:cNvPr>
            <p:cNvSpPr txBox="1"/>
            <p:nvPr/>
          </p:nvSpPr>
          <p:spPr>
            <a:xfrm>
              <a:off x="7584230" y="5242148"/>
              <a:ext cx="1956655" cy="268342"/>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dirty="0"/>
                <a:t>Demanda 3</a:t>
              </a:r>
            </a:p>
          </p:txBody>
        </p:sp>
        <p:sp>
          <p:nvSpPr>
            <p:cNvPr id="150" name="CaixaDeTexto 557">
              <a:extLst>
                <a:ext uri="{FF2B5EF4-FFF2-40B4-BE49-F238E27FC236}">
                  <a16:creationId xmlns:a16="http://schemas.microsoft.com/office/drawing/2014/main" id="{0188A017-2276-E661-1896-C1E339823C5E}"/>
                </a:ext>
              </a:extLst>
            </p:cNvPr>
            <p:cNvSpPr txBox="1"/>
            <p:nvPr/>
          </p:nvSpPr>
          <p:spPr>
            <a:xfrm>
              <a:off x="7584230" y="5553679"/>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a:t>
              </a:r>
              <a:r>
                <a:rPr lang="pt-BR" dirty="0"/>
                <a:t> R$ Material</a:t>
              </a:r>
            </a:p>
          </p:txBody>
        </p:sp>
        <p:sp>
          <p:nvSpPr>
            <p:cNvPr id="151" name="CaixaDeTexto 557">
              <a:extLst>
                <a:ext uri="{FF2B5EF4-FFF2-40B4-BE49-F238E27FC236}">
                  <a16:creationId xmlns:a16="http://schemas.microsoft.com/office/drawing/2014/main" id="{9AE7986E-0575-3A59-7EF5-7428CFB17F1D}"/>
                </a:ext>
              </a:extLst>
            </p:cNvPr>
            <p:cNvSpPr txBox="1"/>
            <p:nvPr/>
          </p:nvSpPr>
          <p:spPr>
            <a:xfrm>
              <a:off x="8255201" y="5553679"/>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Oficina</a:t>
              </a:r>
            </a:p>
          </p:txBody>
        </p:sp>
        <p:sp>
          <p:nvSpPr>
            <p:cNvPr id="152" name="CaixaDeTexto 557">
              <a:extLst>
                <a:ext uri="{FF2B5EF4-FFF2-40B4-BE49-F238E27FC236}">
                  <a16:creationId xmlns:a16="http://schemas.microsoft.com/office/drawing/2014/main" id="{6864ECCE-A4E3-BB34-7AA9-1AD16AE29317}"/>
                </a:ext>
              </a:extLst>
            </p:cNvPr>
            <p:cNvSpPr txBox="1"/>
            <p:nvPr/>
          </p:nvSpPr>
          <p:spPr>
            <a:xfrm>
              <a:off x="8926172" y="5553679"/>
              <a:ext cx="614713" cy="324694"/>
            </a:xfrm>
            <a:prstGeom prst="roundRect">
              <a:avLst>
                <a:gd name="adj" fmla="val 0"/>
              </a:avLst>
            </a:prstGeom>
            <a:pattFill prst="dkDnDiag">
              <a:fgClr>
                <a:schemeClr val="bg1">
                  <a:lumMod val="85000"/>
                </a:schemeClr>
              </a:fgClr>
              <a:bgClr>
                <a:schemeClr val="bg1"/>
              </a:bgClr>
            </a:pattFill>
            <a:ln w="952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defPPr>
                <a:defRPr lang="pt-BR"/>
              </a:defPPr>
              <a:lvl1pPr algn="ctr">
                <a:defRPr sz="1000">
                  <a:solidFill>
                    <a:schemeClr val="bg1">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l-GR" dirty="0"/>
                <a:t>Σ </a:t>
              </a:r>
              <a:r>
                <a:rPr lang="pt-BR" dirty="0"/>
                <a:t>R$ Estaleiro</a:t>
              </a:r>
            </a:p>
          </p:txBody>
        </p:sp>
      </p:grpSp>
      <p:sp>
        <p:nvSpPr>
          <p:cNvPr id="153" name="Retângulo 152">
            <a:extLst>
              <a:ext uri="{FF2B5EF4-FFF2-40B4-BE49-F238E27FC236}">
                <a16:creationId xmlns:a16="http://schemas.microsoft.com/office/drawing/2014/main" id="{2217E115-F919-3C36-12D8-FFE6F19A5D14}"/>
              </a:ext>
            </a:extLst>
          </p:cNvPr>
          <p:cNvSpPr/>
          <p:nvPr/>
        </p:nvSpPr>
        <p:spPr>
          <a:xfrm>
            <a:off x="7422174" y="4901244"/>
            <a:ext cx="2217881" cy="756000"/>
          </a:xfrm>
          <a:prstGeom prst="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55" name="Conector: Curvo 154">
            <a:extLst>
              <a:ext uri="{FF2B5EF4-FFF2-40B4-BE49-F238E27FC236}">
                <a16:creationId xmlns:a16="http://schemas.microsoft.com/office/drawing/2014/main" id="{E9EFE37C-9E20-E1A0-D863-2840DF512B02}"/>
              </a:ext>
            </a:extLst>
          </p:cNvPr>
          <p:cNvCxnSpPr>
            <a:cxnSpLocks/>
            <a:stCxn id="153" idx="2"/>
            <a:endCxn id="154" idx="2"/>
          </p:cNvCxnSpPr>
          <p:nvPr/>
        </p:nvCxnSpPr>
        <p:spPr>
          <a:xfrm rot="5400000" flipH="1" flipV="1">
            <a:off x="9467178" y="4275112"/>
            <a:ext cx="446069" cy="2318196"/>
          </a:xfrm>
          <a:prstGeom prst="curvedConnector3">
            <a:avLst>
              <a:gd name="adj1" fmla="val -51248"/>
            </a:avLst>
          </a:prstGeom>
          <a:noFill/>
          <a:ln w="9525">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pSp>
        <p:nvGrpSpPr>
          <p:cNvPr id="47" name="Agrupar 46">
            <a:extLst>
              <a:ext uri="{FF2B5EF4-FFF2-40B4-BE49-F238E27FC236}">
                <a16:creationId xmlns:a16="http://schemas.microsoft.com/office/drawing/2014/main" id="{DCEAC536-7FDE-6914-FCA4-89071FAB73D3}"/>
              </a:ext>
            </a:extLst>
          </p:cNvPr>
          <p:cNvGrpSpPr/>
          <p:nvPr/>
        </p:nvGrpSpPr>
        <p:grpSpPr>
          <a:xfrm>
            <a:off x="9870984" y="3770826"/>
            <a:ext cx="1956655" cy="636225"/>
            <a:chOff x="9898559" y="3770826"/>
            <a:chExt cx="1956655" cy="636225"/>
          </a:xfrm>
        </p:grpSpPr>
        <p:sp>
          <p:nvSpPr>
            <p:cNvPr id="125" name="CaixaDeTexto 557">
              <a:extLst>
                <a:ext uri="{FF2B5EF4-FFF2-40B4-BE49-F238E27FC236}">
                  <a16:creationId xmlns:a16="http://schemas.microsoft.com/office/drawing/2014/main" id="{722AB23F-0B03-771D-DBC1-0B64960BEC9F}"/>
                </a:ext>
              </a:extLst>
            </p:cNvPr>
            <p:cNvSpPr txBox="1"/>
            <p:nvPr/>
          </p:nvSpPr>
          <p:spPr>
            <a:xfrm>
              <a:off x="9898559" y="3770826"/>
              <a:ext cx="1956655" cy="268342"/>
            </a:xfrm>
            <a:prstGeom prst="roundRect">
              <a:avLst>
                <a:gd name="adj" fmla="val 0"/>
              </a:avLst>
            </a:prstGeom>
            <a:noFill/>
            <a:ln>
              <a:solidFill>
                <a:srgbClr val="014A65"/>
              </a:solidFill>
              <a:prstDash val="solid"/>
            </a:ln>
          </p:spPr>
          <p:txBody>
            <a:bodyPr wrap="square" lIns="90000" rtlCol="0" anchor="ctr">
              <a:noAutofit/>
            </a:bodyPr>
            <a:lstStyle/>
            <a:p>
              <a:pPr algn="ctr"/>
              <a:r>
                <a:rPr lang="pt-BR" sz="1000" i="1" dirty="0"/>
                <a:t>Demanda 1</a:t>
              </a:r>
            </a:p>
          </p:txBody>
        </p:sp>
        <p:sp>
          <p:nvSpPr>
            <p:cNvPr id="126" name="CaixaDeTexto 557">
              <a:extLst>
                <a:ext uri="{FF2B5EF4-FFF2-40B4-BE49-F238E27FC236}">
                  <a16:creationId xmlns:a16="http://schemas.microsoft.com/office/drawing/2014/main" id="{F256F14A-C98D-BFB0-26C8-445E8CDF62EA}"/>
                </a:ext>
              </a:extLst>
            </p:cNvPr>
            <p:cNvSpPr txBox="1"/>
            <p:nvPr/>
          </p:nvSpPr>
          <p:spPr>
            <a:xfrm>
              <a:off x="9898559" y="4082357"/>
              <a:ext cx="614713" cy="324694"/>
            </a:xfrm>
            <a:prstGeom prst="roundRect">
              <a:avLst>
                <a:gd name="adj" fmla="val 0"/>
              </a:avLst>
            </a:prstGeom>
            <a:no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a:t>
              </a:r>
              <a:r>
                <a:rPr lang="pt-BR" sz="1000" i="1" dirty="0">
                  <a:latin typeface="Aptos" panose="020B0004020202020204" pitchFamily="34" charset="0"/>
                </a:rPr>
                <a:t> </a:t>
              </a:r>
              <a:r>
                <a:rPr lang="pt-BR" sz="1000" i="1" dirty="0"/>
                <a:t>R$ Material</a:t>
              </a:r>
            </a:p>
          </p:txBody>
        </p:sp>
        <p:sp>
          <p:nvSpPr>
            <p:cNvPr id="127" name="CaixaDeTexto 557">
              <a:extLst>
                <a:ext uri="{FF2B5EF4-FFF2-40B4-BE49-F238E27FC236}">
                  <a16:creationId xmlns:a16="http://schemas.microsoft.com/office/drawing/2014/main" id="{34376B9D-71E6-33C1-9374-7D78F9267892}"/>
                </a:ext>
              </a:extLst>
            </p:cNvPr>
            <p:cNvSpPr txBox="1"/>
            <p:nvPr/>
          </p:nvSpPr>
          <p:spPr>
            <a:xfrm>
              <a:off x="10569530" y="4082357"/>
              <a:ext cx="614713" cy="324694"/>
            </a:xfrm>
            <a:prstGeom prst="roundRect">
              <a:avLst>
                <a:gd name="adj" fmla="val 0"/>
              </a:avLst>
            </a:prstGeom>
            <a:no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Oficina</a:t>
              </a:r>
            </a:p>
          </p:txBody>
        </p:sp>
        <p:sp>
          <p:nvSpPr>
            <p:cNvPr id="128" name="CaixaDeTexto 557">
              <a:extLst>
                <a:ext uri="{FF2B5EF4-FFF2-40B4-BE49-F238E27FC236}">
                  <a16:creationId xmlns:a16="http://schemas.microsoft.com/office/drawing/2014/main" id="{62D00770-6584-DCCD-FFB8-4EFE2311C5A4}"/>
                </a:ext>
              </a:extLst>
            </p:cNvPr>
            <p:cNvSpPr txBox="1"/>
            <p:nvPr/>
          </p:nvSpPr>
          <p:spPr>
            <a:xfrm>
              <a:off x="11240501" y="4082357"/>
              <a:ext cx="614713" cy="324694"/>
            </a:xfrm>
            <a:prstGeom prst="roundRect">
              <a:avLst>
                <a:gd name="adj" fmla="val 0"/>
              </a:avLst>
            </a:prstGeom>
            <a:noFill/>
            <a:ln>
              <a:solidFill>
                <a:srgbClr val="014A65"/>
              </a:solidFill>
              <a:prstDash val="solid"/>
            </a:ln>
          </p:spPr>
          <p:txBody>
            <a:bodyPr wrap="square" lIns="36000" rIns="36000" rtlCol="0" anchor="ctr">
              <a:noAutofit/>
            </a:bodyPr>
            <a:lstStyle/>
            <a:p>
              <a:pPr algn="ctr"/>
              <a:r>
                <a:rPr lang="el-GR" sz="1000" i="1" dirty="0">
                  <a:latin typeface="Aptos" panose="020B0004020202020204" pitchFamily="34" charset="0"/>
                </a:rPr>
                <a:t>Σ </a:t>
              </a:r>
              <a:r>
                <a:rPr lang="pt-BR" sz="1000" i="1" dirty="0"/>
                <a:t>R$ Estaleiro</a:t>
              </a:r>
            </a:p>
          </p:txBody>
        </p:sp>
      </p:grpSp>
      <p:grpSp>
        <p:nvGrpSpPr>
          <p:cNvPr id="48" name="Agrupar 47">
            <a:extLst>
              <a:ext uri="{FF2B5EF4-FFF2-40B4-BE49-F238E27FC236}">
                <a16:creationId xmlns:a16="http://schemas.microsoft.com/office/drawing/2014/main" id="{FEB8DC89-6222-4373-2089-2B55E1DAC344}"/>
              </a:ext>
            </a:extLst>
          </p:cNvPr>
          <p:cNvGrpSpPr/>
          <p:nvPr/>
        </p:nvGrpSpPr>
        <p:grpSpPr>
          <a:xfrm>
            <a:off x="9870984" y="4509120"/>
            <a:ext cx="1956655" cy="636225"/>
            <a:chOff x="9898559" y="4638032"/>
            <a:chExt cx="1956655" cy="636225"/>
          </a:xfrm>
        </p:grpSpPr>
        <p:sp>
          <p:nvSpPr>
            <p:cNvPr id="129" name="CaixaDeTexto 557">
              <a:extLst>
                <a:ext uri="{FF2B5EF4-FFF2-40B4-BE49-F238E27FC236}">
                  <a16:creationId xmlns:a16="http://schemas.microsoft.com/office/drawing/2014/main" id="{7A5DBE14-E882-07C0-DE9F-35F24C3114C5}"/>
                </a:ext>
              </a:extLst>
            </p:cNvPr>
            <p:cNvSpPr txBox="1"/>
            <p:nvPr/>
          </p:nvSpPr>
          <p:spPr>
            <a:xfrm>
              <a:off x="9898559" y="4638032"/>
              <a:ext cx="1956655" cy="268342"/>
            </a:xfrm>
            <a:prstGeom prst="roundRect">
              <a:avLst>
                <a:gd name="adj" fmla="val 0"/>
              </a:avLst>
            </a:prstGeom>
            <a:solidFill>
              <a:schemeClr val="bg1">
                <a:lumMod val="95000"/>
              </a:schemeClr>
            </a:solidFill>
            <a:ln>
              <a:solidFill>
                <a:srgbClr val="014A65"/>
              </a:solidFill>
              <a:prstDash val="solid"/>
            </a:ln>
          </p:spPr>
          <p:txBody>
            <a:bodyPr wrap="square" lIns="90000" rtlCol="0" anchor="ctr">
              <a:noAutofit/>
            </a:bodyPr>
            <a:lstStyle>
              <a:defPPr>
                <a:defRPr lang="pt-BR"/>
              </a:defPPr>
              <a:lvl1pPr algn="ctr">
                <a:defRPr sz="1000" i="1"/>
              </a:lvl1pPr>
            </a:lstStyle>
            <a:p>
              <a:r>
                <a:rPr lang="pt-BR" dirty="0"/>
                <a:t>Demanda 2</a:t>
              </a:r>
            </a:p>
          </p:txBody>
        </p:sp>
        <p:sp>
          <p:nvSpPr>
            <p:cNvPr id="130" name="CaixaDeTexto 557">
              <a:extLst>
                <a:ext uri="{FF2B5EF4-FFF2-40B4-BE49-F238E27FC236}">
                  <a16:creationId xmlns:a16="http://schemas.microsoft.com/office/drawing/2014/main" id="{1E9BB9EB-6801-1BF9-104B-46473C9D06E9}"/>
                </a:ext>
              </a:extLst>
            </p:cNvPr>
            <p:cNvSpPr txBox="1"/>
            <p:nvPr/>
          </p:nvSpPr>
          <p:spPr>
            <a:xfrm>
              <a:off x="9898559"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stStyle>
            <a:p>
              <a:r>
                <a:rPr lang="el-GR" dirty="0"/>
                <a:t>Σ</a:t>
              </a:r>
              <a:r>
                <a:rPr lang="pt-BR" dirty="0"/>
                <a:t> R$ Material</a:t>
              </a:r>
            </a:p>
          </p:txBody>
        </p:sp>
        <p:sp>
          <p:nvSpPr>
            <p:cNvPr id="131" name="CaixaDeTexto 557">
              <a:extLst>
                <a:ext uri="{FF2B5EF4-FFF2-40B4-BE49-F238E27FC236}">
                  <a16:creationId xmlns:a16="http://schemas.microsoft.com/office/drawing/2014/main" id="{B0A8036B-2284-AD76-86A0-A08273C2E114}"/>
                </a:ext>
              </a:extLst>
            </p:cNvPr>
            <p:cNvSpPr txBox="1"/>
            <p:nvPr/>
          </p:nvSpPr>
          <p:spPr>
            <a:xfrm>
              <a:off x="10569530"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stStyle>
            <a:p>
              <a:r>
                <a:rPr lang="el-GR" dirty="0"/>
                <a:t>Σ </a:t>
              </a:r>
              <a:r>
                <a:rPr lang="pt-BR" dirty="0"/>
                <a:t>R$ Oficina</a:t>
              </a:r>
            </a:p>
          </p:txBody>
        </p:sp>
        <p:sp>
          <p:nvSpPr>
            <p:cNvPr id="132" name="CaixaDeTexto 557">
              <a:extLst>
                <a:ext uri="{FF2B5EF4-FFF2-40B4-BE49-F238E27FC236}">
                  <a16:creationId xmlns:a16="http://schemas.microsoft.com/office/drawing/2014/main" id="{DB58D394-B206-8FE7-3E9A-59AE1222D5D1}"/>
                </a:ext>
              </a:extLst>
            </p:cNvPr>
            <p:cNvSpPr txBox="1"/>
            <p:nvPr/>
          </p:nvSpPr>
          <p:spPr>
            <a:xfrm>
              <a:off x="11240501" y="4949563"/>
              <a:ext cx="614713" cy="324694"/>
            </a:xfrm>
            <a:prstGeom prst="roundRect">
              <a:avLst>
                <a:gd name="adj" fmla="val 0"/>
              </a:avLst>
            </a:prstGeom>
            <a:solidFill>
              <a:schemeClr val="bg1">
                <a:lumMod val="95000"/>
              </a:schemeClr>
            </a:solid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stStyle>
            <a:p>
              <a:r>
                <a:rPr lang="el-GR" dirty="0"/>
                <a:t>Σ </a:t>
              </a:r>
              <a:r>
                <a:rPr lang="pt-BR" dirty="0"/>
                <a:t>R$ Estaleiro</a:t>
              </a:r>
            </a:p>
          </p:txBody>
        </p:sp>
      </p:grpSp>
      <p:sp>
        <p:nvSpPr>
          <p:cNvPr id="154" name="Retângulo 153">
            <a:extLst>
              <a:ext uri="{FF2B5EF4-FFF2-40B4-BE49-F238E27FC236}">
                <a16:creationId xmlns:a16="http://schemas.microsoft.com/office/drawing/2014/main" id="{3260B302-0762-1CBE-0545-0CE4DC34726D}"/>
              </a:ext>
            </a:extLst>
          </p:cNvPr>
          <p:cNvSpPr/>
          <p:nvPr/>
        </p:nvSpPr>
        <p:spPr>
          <a:xfrm>
            <a:off x="9740370" y="4455175"/>
            <a:ext cx="2217881" cy="756000"/>
          </a:xfrm>
          <a:prstGeom prst="rect">
            <a:avLst/>
          </a:prstGeom>
          <a:noFill/>
          <a:ln w="952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557">
            <a:extLst>
              <a:ext uri="{FF2B5EF4-FFF2-40B4-BE49-F238E27FC236}">
                <a16:creationId xmlns:a16="http://schemas.microsoft.com/office/drawing/2014/main" id="{9B39A1B9-0731-31EF-3C0A-1C9F5AE92AA2}"/>
              </a:ext>
            </a:extLst>
          </p:cNvPr>
          <p:cNvSpPr txBox="1"/>
          <p:nvPr/>
        </p:nvSpPr>
        <p:spPr>
          <a:xfrm>
            <a:off x="9870984" y="3065565"/>
            <a:ext cx="1956655" cy="331086"/>
          </a:xfrm>
          <a:prstGeom prst="roundRect">
            <a:avLst>
              <a:gd name="adj" fmla="val 0"/>
            </a:avLst>
          </a:prstGeom>
          <a:noFill/>
          <a:ln>
            <a:solidFill>
              <a:srgbClr val="014A65"/>
            </a:solidFill>
          </a:ln>
        </p:spPr>
        <p:txBody>
          <a:bodyPr wrap="square" lIns="90000" rtlCol="0" anchor="ctr">
            <a:noAutofit/>
          </a:bodyPr>
          <a:lstStyle/>
          <a:p>
            <a:pPr algn="ctr"/>
            <a:r>
              <a:rPr lang="pt-BR" sz="1000" b="1" i="1" dirty="0"/>
              <a:t>ID-XX | P. Paredes</a:t>
            </a:r>
          </a:p>
        </p:txBody>
      </p:sp>
      <p:sp>
        <p:nvSpPr>
          <p:cNvPr id="7" name="CaixaDeTexto 557">
            <a:extLst>
              <a:ext uri="{FF2B5EF4-FFF2-40B4-BE49-F238E27FC236}">
                <a16:creationId xmlns:a16="http://schemas.microsoft.com/office/drawing/2014/main" id="{C210E668-A1B3-3BD3-B312-9B62A2C4A885}"/>
              </a:ext>
            </a:extLst>
          </p:cNvPr>
          <p:cNvSpPr txBox="1"/>
          <p:nvPr/>
        </p:nvSpPr>
        <p:spPr>
          <a:xfrm>
            <a:off x="9870984" y="3453705"/>
            <a:ext cx="1956655" cy="205578"/>
          </a:xfrm>
          <a:prstGeom prst="roundRect">
            <a:avLst>
              <a:gd name="adj" fmla="val 0"/>
            </a:avLst>
          </a:prstGeom>
          <a:noFill/>
          <a:ln>
            <a:solidFill>
              <a:srgbClr val="014A65"/>
            </a:solidFill>
          </a:ln>
        </p:spPr>
        <p:txBody>
          <a:bodyPr wrap="square" lIns="90000" rtlCol="0" anchor="ctr">
            <a:noAutofit/>
          </a:bodyPr>
          <a:lstStyle/>
          <a:p>
            <a:pPr algn="ctr"/>
            <a:r>
              <a:rPr lang="pt-BR" sz="1000" b="1" i="1" dirty="0"/>
              <a:t>101 - Parada Especial</a:t>
            </a:r>
          </a:p>
        </p:txBody>
      </p:sp>
      <p:sp>
        <p:nvSpPr>
          <p:cNvPr id="15" name="CaixaDeTexto 557">
            <a:extLst>
              <a:ext uri="{FF2B5EF4-FFF2-40B4-BE49-F238E27FC236}">
                <a16:creationId xmlns:a16="http://schemas.microsoft.com/office/drawing/2014/main" id="{86828B29-2039-6277-3E62-A8214BF65A5D}"/>
              </a:ext>
            </a:extLst>
          </p:cNvPr>
          <p:cNvSpPr txBox="1"/>
          <p:nvPr/>
        </p:nvSpPr>
        <p:spPr>
          <a:xfrm>
            <a:off x="217359" y="3064319"/>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TO-0001 | Parada Especial </a:t>
            </a:r>
            <a:br>
              <a:rPr lang="pt-BR" sz="1000" b="1" i="1" dirty="0"/>
            </a:br>
            <a:r>
              <a:rPr lang="pt-BR" sz="1000" b="1" i="1" dirty="0"/>
              <a:t>Padrão RSV</a:t>
            </a:r>
          </a:p>
        </p:txBody>
      </p:sp>
      <p:sp>
        <p:nvSpPr>
          <p:cNvPr id="17" name="CaixaDeTexto 557">
            <a:extLst>
              <a:ext uri="{FF2B5EF4-FFF2-40B4-BE49-F238E27FC236}">
                <a16:creationId xmlns:a16="http://schemas.microsoft.com/office/drawing/2014/main" id="{5C98C62E-5D23-F0FF-DF05-AEDC7CF82562}"/>
              </a:ext>
            </a:extLst>
          </p:cNvPr>
          <p:cNvSpPr txBox="1"/>
          <p:nvPr/>
        </p:nvSpPr>
        <p:spPr>
          <a:xfrm>
            <a:off x="217359" y="3469345"/>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TO-0002 | Parada Especial </a:t>
            </a:r>
            <a:br>
              <a:rPr lang="pt-BR" sz="1000" b="1" i="1" dirty="0"/>
            </a:br>
            <a:r>
              <a:rPr lang="pt-BR" sz="1000" b="1" i="1" dirty="0"/>
              <a:t>Padrão PSV/OSRV</a:t>
            </a:r>
          </a:p>
        </p:txBody>
      </p:sp>
      <p:sp>
        <p:nvSpPr>
          <p:cNvPr id="18" name="CaixaDeTexto 557">
            <a:extLst>
              <a:ext uri="{FF2B5EF4-FFF2-40B4-BE49-F238E27FC236}">
                <a16:creationId xmlns:a16="http://schemas.microsoft.com/office/drawing/2014/main" id="{84FA2617-7741-DFDC-A7F3-6B6AEA9B9A5A}"/>
              </a:ext>
            </a:extLst>
          </p:cNvPr>
          <p:cNvSpPr txBox="1"/>
          <p:nvPr/>
        </p:nvSpPr>
        <p:spPr>
          <a:xfrm>
            <a:off x="217359" y="3874371"/>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TO-0003 | Parada Especial </a:t>
            </a:r>
            <a:br>
              <a:rPr lang="pt-BR" sz="1000" b="1" i="1" dirty="0"/>
            </a:br>
            <a:r>
              <a:rPr lang="pt-BR" sz="1000" b="1" i="1" dirty="0"/>
              <a:t>Padrão AHTS/OTSV</a:t>
            </a:r>
          </a:p>
        </p:txBody>
      </p:sp>
      <p:sp>
        <p:nvSpPr>
          <p:cNvPr id="19" name="CaixaDeTexto 557">
            <a:extLst>
              <a:ext uri="{FF2B5EF4-FFF2-40B4-BE49-F238E27FC236}">
                <a16:creationId xmlns:a16="http://schemas.microsoft.com/office/drawing/2014/main" id="{617D1A6E-A52F-C378-4D04-5D32D91ABFB5}"/>
              </a:ext>
            </a:extLst>
          </p:cNvPr>
          <p:cNvSpPr txBox="1"/>
          <p:nvPr/>
        </p:nvSpPr>
        <p:spPr>
          <a:xfrm>
            <a:off x="217359" y="4279397"/>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TO-0004 | Adequação </a:t>
            </a:r>
          </a:p>
          <a:p>
            <a:r>
              <a:rPr lang="pt-BR" sz="1000" b="1" i="1" dirty="0"/>
              <a:t>I. Mosqueiro 2024</a:t>
            </a:r>
          </a:p>
        </p:txBody>
      </p:sp>
      <p:sp>
        <p:nvSpPr>
          <p:cNvPr id="21" name="CaixaDeTexto 557">
            <a:extLst>
              <a:ext uri="{FF2B5EF4-FFF2-40B4-BE49-F238E27FC236}">
                <a16:creationId xmlns:a16="http://schemas.microsoft.com/office/drawing/2014/main" id="{E2C878BC-70FB-9FE4-236D-8BD5BDD731AD}"/>
              </a:ext>
            </a:extLst>
          </p:cNvPr>
          <p:cNvSpPr txBox="1"/>
          <p:nvPr/>
        </p:nvSpPr>
        <p:spPr>
          <a:xfrm>
            <a:off x="217359" y="5089449"/>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TO-0006 | Intermediária </a:t>
            </a:r>
          </a:p>
          <a:p>
            <a:r>
              <a:rPr lang="pt-BR" sz="1000" b="1" i="1" dirty="0"/>
              <a:t>Abrolhos 2024</a:t>
            </a:r>
          </a:p>
        </p:txBody>
      </p:sp>
      <p:sp>
        <p:nvSpPr>
          <p:cNvPr id="22" name="CaixaDeTexto 557">
            <a:extLst>
              <a:ext uri="{FF2B5EF4-FFF2-40B4-BE49-F238E27FC236}">
                <a16:creationId xmlns:a16="http://schemas.microsoft.com/office/drawing/2014/main" id="{90AA51F6-0FAF-5F24-B7A6-B84F77B039F6}"/>
              </a:ext>
            </a:extLst>
          </p:cNvPr>
          <p:cNvSpPr txBox="1"/>
          <p:nvPr/>
        </p:nvSpPr>
        <p:spPr>
          <a:xfrm>
            <a:off x="217359" y="5494476"/>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TO-0007 | Manut. Grandes </a:t>
            </a:r>
            <a:r>
              <a:rPr lang="pt-BR" sz="1000" b="1" i="1" dirty="0" err="1"/>
              <a:t>Equip</a:t>
            </a:r>
            <a:r>
              <a:rPr lang="pt-BR" sz="1000" b="1" i="1" dirty="0"/>
              <a:t>.</a:t>
            </a:r>
          </a:p>
          <a:p>
            <a:r>
              <a:rPr lang="pt-BR" sz="1000" b="1" i="1" dirty="0"/>
              <a:t>P. Feiticeiras 2024</a:t>
            </a:r>
          </a:p>
        </p:txBody>
      </p:sp>
      <p:sp>
        <p:nvSpPr>
          <p:cNvPr id="27" name="Retângulo 26">
            <a:extLst>
              <a:ext uri="{FF2B5EF4-FFF2-40B4-BE49-F238E27FC236}">
                <a16:creationId xmlns:a16="http://schemas.microsoft.com/office/drawing/2014/main" id="{D31BFF5B-86A7-C208-B550-134CA4805610}"/>
              </a:ext>
            </a:extLst>
          </p:cNvPr>
          <p:cNvSpPr/>
          <p:nvPr/>
        </p:nvSpPr>
        <p:spPr>
          <a:xfrm>
            <a:off x="91761" y="2973111"/>
            <a:ext cx="2217881" cy="2993505"/>
          </a:xfrm>
          <a:prstGeom prst="rect">
            <a:avLst/>
          </a:prstGeom>
          <a:solidFill>
            <a:srgbClr val="FFFFFF">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p>
            <a:endParaRPr lang="pt-BR"/>
          </a:p>
        </p:txBody>
      </p:sp>
      <p:sp>
        <p:nvSpPr>
          <p:cNvPr id="20" name="CaixaDeTexto 557">
            <a:extLst>
              <a:ext uri="{FF2B5EF4-FFF2-40B4-BE49-F238E27FC236}">
                <a16:creationId xmlns:a16="http://schemas.microsoft.com/office/drawing/2014/main" id="{2F7AF38D-6B6C-36F4-1D70-ADF9A36880CB}"/>
              </a:ext>
            </a:extLst>
          </p:cNvPr>
          <p:cNvSpPr txBox="1"/>
          <p:nvPr/>
        </p:nvSpPr>
        <p:spPr>
          <a:xfrm>
            <a:off x="217359" y="4684423"/>
            <a:ext cx="1956655" cy="331086"/>
          </a:xfrm>
          <a:prstGeom prst="roundRect">
            <a:avLst>
              <a:gd name="adj" fmla="val 0"/>
            </a:avLst>
          </a:prstGeom>
          <a:noFill/>
          <a:ln>
            <a:solidFill>
              <a:srgbClr val="014A65"/>
            </a:solidFill>
          </a:ln>
        </p:spPr>
        <p:txBody>
          <a:bodyPr wrap="square" lIns="144000" rIns="36000" rtlCol="0" anchor="ctr">
            <a:noAutofit/>
          </a:bodyPr>
          <a:lstStyle/>
          <a:p>
            <a:r>
              <a:rPr lang="pt-BR" sz="1000" b="1" i="1" dirty="0"/>
              <a:t>TO-0005 | Parada Especial </a:t>
            </a:r>
          </a:p>
          <a:p>
            <a:r>
              <a:rPr lang="pt-BR" sz="1000" b="1" i="1" dirty="0"/>
              <a:t>P. Reis 2024</a:t>
            </a:r>
          </a:p>
        </p:txBody>
      </p:sp>
      <p:sp>
        <p:nvSpPr>
          <p:cNvPr id="32" name="Retângulo 31">
            <a:extLst>
              <a:ext uri="{FF2B5EF4-FFF2-40B4-BE49-F238E27FC236}">
                <a16:creationId xmlns:a16="http://schemas.microsoft.com/office/drawing/2014/main" id="{929A49BB-EA58-CC32-CED2-23439A435CA4}"/>
              </a:ext>
            </a:extLst>
          </p:cNvPr>
          <p:cNvSpPr/>
          <p:nvPr/>
        </p:nvSpPr>
        <p:spPr>
          <a:xfrm>
            <a:off x="91761" y="2701492"/>
            <a:ext cx="2253412" cy="3604277"/>
          </a:xfrm>
          <a:prstGeom prst="rect">
            <a:avLst/>
          </a:prstGeom>
          <a:no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CaixaDeTexto 557">
            <a:extLst>
              <a:ext uri="{FF2B5EF4-FFF2-40B4-BE49-F238E27FC236}">
                <a16:creationId xmlns:a16="http://schemas.microsoft.com/office/drawing/2014/main" id="{02C72565-4868-7BF7-83ED-6503F6E900E7}"/>
              </a:ext>
            </a:extLst>
          </p:cNvPr>
          <p:cNvSpPr txBox="1"/>
          <p:nvPr/>
        </p:nvSpPr>
        <p:spPr>
          <a:xfrm>
            <a:off x="329079" y="2588424"/>
            <a:ext cx="1778777" cy="226136"/>
          </a:xfrm>
          <a:prstGeom prst="roundRect">
            <a:avLst>
              <a:gd name="adj" fmla="val 0"/>
            </a:avLst>
          </a:prstGeom>
          <a:solidFill>
            <a:srgbClr val="03738E"/>
          </a:solidFill>
          <a:ln>
            <a:solidFill>
              <a:srgbClr val="014A65"/>
            </a:solidFill>
          </a:ln>
        </p:spPr>
        <p:txBody>
          <a:bodyPr wrap="square" lIns="36000" rIns="36000" rtlCol="0" anchor="ctr">
            <a:noAutofit/>
          </a:bodyPr>
          <a:lstStyle/>
          <a:p>
            <a:pPr algn="ctr"/>
            <a:r>
              <a:rPr lang="pt-BR" sz="1000" b="1" dirty="0">
                <a:solidFill>
                  <a:schemeClr val="bg1"/>
                </a:solidFill>
              </a:rPr>
              <a:t>Lista de </a:t>
            </a:r>
            <a:r>
              <a:rPr lang="pt-BR" sz="1000" b="1" dirty="0" err="1">
                <a:solidFill>
                  <a:schemeClr val="bg1"/>
                </a:solidFill>
              </a:rPr>
              <a:t>Templates</a:t>
            </a:r>
            <a:endParaRPr lang="pt-BR" sz="1000" b="1" dirty="0">
              <a:solidFill>
                <a:schemeClr val="bg1"/>
              </a:solidFill>
            </a:endParaRPr>
          </a:p>
        </p:txBody>
      </p:sp>
      <p:sp>
        <p:nvSpPr>
          <p:cNvPr id="35" name="Retângulo 34">
            <a:extLst>
              <a:ext uri="{FF2B5EF4-FFF2-40B4-BE49-F238E27FC236}">
                <a16:creationId xmlns:a16="http://schemas.microsoft.com/office/drawing/2014/main" id="{1377B0DA-C847-8718-98D6-6498A49BB995}"/>
              </a:ext>
            </a:extLst>
          </p:cNvPr>
          <p:cNvSpPr/>
          <p:nvPr/>
        </p:nvSpPr>
        <p:spPr>
          <a:xfrm>
            <a:off x="2392318" y="2701492"/>
            <a:ext cx="4830388" cy="3604277"/>
          </a:xfrm>
          <a:prstGeom prst="rect">
            <a:avLst/>
          </a:prstGeom>
          <a:no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CaixaDeTexto 557">
            <a:extLst>
              <a:ext uri="{FF2B5EF4-FFF2-40B4-BE49-F238E27FC236}">
                <a16:creationId xmlns:a16="http://schemas.microsoft.com/office/drawing/2014/main" id="{D5AC236D-2341-CC9A-0B1E-8A31C723D6F8}"/>
              </a:ext>
            </a:extLst>
          </p:cNvPr>
          <p:cNvSpPr txBox="1"/>
          <p:nvPr/>
        </p:nvSpPr>
        <p:spPr>
          <a:xfrm>
            <a:off x="2710380" y="2588424"/>
            <a:ext cx="4194264" cy="226136"/>
          </a:xfrm>
          <a:prstGeom prst="roundRect">
            <a:avLst>
              <a:gd name="adj" fmla="val 0"/>
            </a:avLst>
          </a:prstGeom>
          <a:solidFill>
            <a:srgbClr val="03738E"/>
          </a:solidFill>
          <a:ln>
            <a:solidFill>
              <a:srgbClr val="014A65"/>
            </a:solidFill>
          </a:ln>
        </p:spPr>
        <p:txBody>
          <a:bodyPr wrap="square" lIns="36000" rIns="36000" rtlCol="0" anchor="ctr">
            <a:noAutofit/>
          </a:bodyPr>
          <a:lstStyle/>
          <a:p>
            <a:pPr algn="ctr"/>
            <a:r>
              <a:rPr lang="pt-BR" sz="1000" b="1" dirty="0">
                <a:solidFill>
                  <a:schemeClr val="bg1"/>
                </a:solidFill>
              </a:rPr>
              <a:t>Ex. 1: Importação de toda a Obra</a:t>
            </a:r>
          </a:p>
        </p:txBody>
      </p:sp>
      <p:sp>
        <p:nvSpPr>
          <p:cNvPr id="40" name="Retângulo 39">
            <a:extLst>
              <a:ext uri="{FF2B5EF4-FFF2-40B4-BE49-F238E27FC236}">
                <a16:creationId xmlns:a16="http://schemas.microsoft.com/office/drawing/2014/main" id="{5FBB5E4F-B7D8-DD75-6EF4-25F7774C9EBD}"/>
              </a:ext>
            </a:extLst>
          </p:cNvPr>
          <p:cNvSpPr/>
          <p:nvPr/>
        </p:nvSpPr>
        <p:spPr>
          <a:xfrm>
            <a:off x="7269851" y="2701492"/>
            <a:ext cx="4830388" cy="3604277"/>
          </a:xfrm>
          <a:prstGeom prst="rect">
            <a:avLst/>
          </a:prstGeom>
          <a:no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CaixaDeTexto 557">
            <a:extLst>
              <a:ext uri="{FF2B5EF4-FFF2-40B4-BE49-F238E27FC236}">
                <a16:creationId xmlns:a16="http://schemas.microsoft.com/office/drawing/2014/main" id="{63466DAD-9782-B457-A061-8A166178C534}"/>
              </a:ext>
            </a:extLst>
          </p:cNvPr>
          <p:cNvSpPr txBox="1"/>
          <p:nvPr/>
        </p:nvSpPr>
        <p:spPr>
          <a:xfrm>
            <a:off x="7587913" y="2588424"/>
            <a:ext cx="4194264" cy="226136"/>
          </a:xfrm>
          <a:prstGeom prst="roundRect">
            <a:avLst>
              <a:gd name="adj" fmla="val 0"/>
            </a:avLst>
          </a:prstGeom>
          <a:solidFill>
            <a:srgbClr val="03738E"/>
          </a:solidFill>
          <a:ln>
            <a:solidFill>
              <a:srgbClr val="014A65"/>
            </a:solidFill>
          </a:ln>
        </p:spPr>
        <p:txBody>
          <a:bodyPr wrap="square" lIns="36000" rIns="36000" rtlCol="0" anchor="ctr">
            <a:noAutofit/>
          </a:bodyPr>
          <a:lstStyle/>
          <a:p>
            <a:pPr algn="ctr"/>
            <a:r>
              <a:rPr lang="pt-BR" sz="1000" b="1" dirty="0">
                <a:solidFill>
                  <a:schemeClr val="bg1"/>
                </a:solidFill>
              </a:rPr>
              <a:t>Ex. 2: Importação de demanda selecionada</a:t>
            </a:r>
          </a:p>
        </p:txBody>
      </p:sp>
      <p:cxnSp>
        <p:nvCxnSpPr>
          <p:cNvPr id="23" name="Conector: Curvo 22">
            <a:extLst>
              <a:ext uri="{FF2B5EF4-FFF2-40B4-BE49-F238E27FC236}">
                <a16:creationId xmlns:a16="http://schemas.microsoft.com/office/drawing/2014/main" id="{63010C6D-EBDB-4851-B121-D4EC8F83E309}"/>
              </a:ext>
            </a:extLst>
          </p:cNvPr>
          <p:cNvCxnSpPr>
            <a:cxnSpLocks/>
            <a:stCxn id="20" idx="3"/>
            <a:endCxn id="2" idx="1"/>
          </p:cNvCxnSpPr>
          <p:nvPr/>
        </p:nvCxnSpPr>
        <p:spPr>
          <a:xfrm flipV="1">
            <a:off x="2174014" y="3231108"/>
            <a:ext cx="478516" cy="1618858"/>
          </a:xfrm>
          <a:prstGeom prst="curvedConnector3">
            <a:avLst>
              <a:gd name="adj1" fmla="val 25735"/>
            </a:avLst>
          </a:prstGeom>
          <a:noFill/>
          <a:ln w="9525">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857103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21A17-B65A-0FB4-0987-3C3D5DA66CCB}"/>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5D54B5D-70BF-7FC7-873F-CCE0D8DC01C0}"/>
              </a:ext>
            </a:extLst>
          </p:cNvPr>
          <p:cNvSpPr>
            <a:spLocks noGrp="1"/>
          </p:cNvSpPr>
          <p:nvPr>
            <p:ph type="title"/>
          </p:nvPr>
        </p:nvSpPr>
        <p:spPr/>
        <p:txBody>
          <a:bodyPr/>
          <a:lstStyle/>
          <a:p>
            <a:r>
              <a:rPr lang="pt-BR" dirty="0" err="1"/>
              <a:t>Templates</a:t>
            </a:r>
            <a:r>
              <a:rPr lang="pt-BR" dirty="0"/>
              <a:t> de Obras</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Criação de </a:t>
            </a:r>
            <a:r>
              <a:rPr kumimoji="0" lang="pt-BR" sz="1600" b="0" i="0" u="none" strike="noStrike" kern="1200" cap="none" spc="0" normalizeH="0" baseline="0" noProof="0" dirty="0" err="1">
                <a:ln>
                  <a:noFill/>
                </a:ln>
                <a:solidFill>
                  <a:prstClr val="black"/>
                </a:solidFill>
                <a:effectLst/>
                <a:uLnTx/>
                <a:uFillTx/>
                <a:latin typeface="Calibri"/>
                <a:ea typeface="+mj-ea"/>
                <a:cs typeface="+mj-cs"/>
              </a:rPr>
              <a:t>Template</a:t>
            </a:r>
            <a:endParaRPr lang="pt-BR" dirty="0"/>
          </a:p>
        </p:txBody>
      </p:sp>
      <p:sp>
        <p:nvSpPr>
          <p:cNvPr id="9" name="Espaço Reservado para Conteúdo 1">
            <a:extLst>
              <a:ext uri="{FF2B5EF4-FFF2-40B4-BE49-F238E27FC236}">
                <a16:creationId xmlns:a16="http://schemas.microsoft.com/office/drawing/2014/main" id="{917C764C-3BCF-4CB6-D302-98DBCBA4DF5C}"/>
              </a:ext>
            </a:extLst>
          </p:cNvPr>
          <p:cNvSpPr txBox="1">
            <a:spLocks/>
          </p:cNvSpPr>
          <p:nvPr/>
        </p:nvSpPr>
        <p:spPr>
          <a:xfrm>
            <a:off x="696000" y="1082174"/>
            <a:ext cx="10800000" cy="522264"/>
          </a:xfrm>
          <a:prstGeom prst="rect">
            <a:avLst/>
          </a:prstGeom>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None/>
            </a:pPr>
            <a:r>
              <a:rPr lang="pt-BR" sz="1400" dirty="0"/>
              <a:t>Os </a:t>
            </a:r>
            <a:r>
              <a:rPr lang="pt-BR" sz="1400" dirty="0" err="1"/>
              <a:t>templates</a:t>
            </a:r>
            <a:r>
              <a:rPr lang="pt-BR" sz="1400" dirty="0"/>
              <a:t> podem ser novos ou criados a partir de uma obra já executada:</a:t>
            </a:r>
          </a:p>
        </p:txBody>
      </p:sp>
      <p:sp>
        <p:nvSpPr>
          <p:cNvPr id="14" name="CaixaDeTexto 21">
            <a:extLst>
              <a:ext uri="{FF2B5EF4-FFF2-40B4-BE49-F238E27FC236}">
                <a16:creationId xmlns:a16="http://schemas.microsoft.com/office/drawing/2014/main" id="{BA3C22D1-10A3-3C4B-A795-336BFFA012FB}"/>
              </a:ext>
            </a:extLst>
          </p:cNvPr>
          <p:cNvSpPr txBox="1"/>
          <p:nvPr/>
        </p:nvSpPr>
        <p:spPr>
          <a:xfrm>
            <a:off x="405700" y="1911965"/>
            <a:ext cx="5400000" cy="4385126"/>
          </a:xfrm>
          <a:prstGeom prst="rect">
            <a:avLst/>
          </a:prstGeom>
          <a:solidFill>
            <a:schemeClr val="bg1">
              <a:lumMod val="95000"/>
            </a:schemeClr>
          </a:solidFill>
          <a:ln>
            <a:solidFill>
              <a:schemeClr val="bg1">
                <a:lumMod val="95000"/>
              </a:schemeClr>
            </a:solidFill>
          </a:ln>
        </p:spPr>
        <p:txBody>
          <a:bodyPr wrap="square" lIns="144000" tIns="396000" rIns="144000" bIns="45720" rtlCol="0" anchor="t">
            <a:noAutofit/>
          </a:bodyPr>
          <a:lstStyle>
            <a:defPPr>
              <a:defRPr lang="pt-BR"/>
            </a:defPPr>
            <a:lvl1pPr marL="171450" indent="-171450">
              <a:spcBef>
                <a:spcPts val="600"/>
              </a:spcBef>
              <a:buFont typeface="Wingdings" panose="05000000000000000000" pitchFamily="2" charset="2"/>
              <a:buChar char="§"/>
              <a:defRPr sz="1200"/>
            </a:lvl1pPr>
          </a:lstStyle>
          <a:p>
            <a:r>
              <a:rPr lang="pt-BR" dirty="0"/>
              <a:t>Na barra de navegação da página inicial, o usuário seleciona </a:t>
            </a:r>
            <a:r>
              <a:rPr lang="pt-BR" b="1" dirty="0"/>
              <a:t>“Criar </a:t>
            </a:r>
            <a:r>
              <a:rPr lang="pt-BR" b="1" dirty="0" err="1"/>
              <a:t>Template</a:t>
            </a:r>
            <a:r>
              <a:rPr lang="pt-BR" b="1" dirty="0"/>
              <a:t> de Obra”</a:t>
            </a:r>
            <a:r>
              <a:rPr lang="pt-BR" dirty="0"/>
              <a:t> e depois a opção </a:t>
            </a:r>
            <a:r>
              <a:rPr lang="pt-BR" b="1" dirty="0"/>
              <a:t>“Criar </a:t>
            </a:r>
            <a:r>
              <a:rPr lang="pt-BR" b="1" dirty="0" err="1"/>
              <a:t>Template</a:t>
            </a:r>
            <a:r>
              <a:rPr lang="pt-BR" b="1" dirty="0"/>
              <a:t> Novo”</a:t>
            </a:r>
          </a:p>
          <a:p>
            <a:r>
              <a:rPr lang="pt-BR" dirty="0"/>
              <a:t>O usuário é direcionado à página de criação do </a:t>
            </a:r>
            <a:r>
              <a:rPr lang="pt-BR" dirty="0" err="1"/>
              <a:t>template</a:t>
            </a:r>
            <a:r>
              <a:rPr lang="pt-BR" dirty="0"/>
              <a:t>, onde deve </a:t>
            </a:r>
            <a:r>
              <a:rPr lang="pt-BR" b="1" dirty="0"/>
              <a:t>cadastrar</a:t>
            </a:r>
            <a:r>
              <a:rPr lang="pt-BR" dirty="0"/>
              <a:t>:</a:t>
            </a:r>
          </a:p>
          <a:p>
            <a:pPr marL="357188" lvl="1" indent="-169863">
              <a:spcBef>
                <a:spcPts val="600"/>
              </a:spcBef>
              <a:buFont typeface="System Font Regular"/>
              <a:buChar char="–"/>
            </a:pPr>
            <a:r>
              <a:rPr lang="pt-BR" sz="1200" b="1" dirty="0"/>
              <a:t>Nome</a:t>
            </a:r>
            <a:r>
              <a:rPr lang="pt-BR" sz="1200" dirty="0"/>
              <a:t> do </a:t>
            </a:r>
            <a:r>
              <a:rPr lang="pt-BR" sz="1200" dirty="0" err="1"/>
              <a:t>template</a:t>
            </a:r>
            <a:endParaRPr lang="pt-BR" sz="1200" dirty="0"/>
          </a:p>
          <a:p>
            <a:pPr marL="357188" lvl="1" indent="-179388">
              <a:spcBef>
                <a:spcPts val="400"/>
              </a:spcBef>
              <a:buFont typeface="System Font Regular"/>
              <a:buChar char="–"/>
            </a:pPr>
            <a:r>
              <a:rPr lang="pt-BR" sz="1200" b="1" dirty="0"/>
              <a:t>Demandas</a:t>
            </a:r>
            <a:r>
              <a:rPr lang="pt-BR" sz="1200" dirty="0"/>
              <a:t> com suas </a:t>
            </a:r>
            <a:r>
              <a:rPr lang="pt-BR" sz="1200" b="1" dirty="0"/>
              <a:t>estimativas financeiras </a:t>
            </a:r>
            <a:r>
              <a:rPr lang="pt-BR" sz="1200" dirty="0"/>
              <a:t>para </a:t>
            </a:r>
            <a:r>
              <a:rPr lang="pt-BR" sz="1200" b="1" dirty="0"/>
              <a:t>Materiais</a:t>
            </a:r>
            <a:r>
              <a:rPr lang="pt-BR" sz="1200" dirty="0"/>
              <a:t>, </a:t>
            </a:r>
            <a:r>
              <a:rPr lang="pt-BR" sz="1200" b="1" dirty="0"/>
              <a:t>Oficinas</a:t>
            </a:r>
            <a:r>
              <a:rPr lang="pt-BR" sz="1200" dirty="0"/>
              <a:t> e Estaleiro em </a:t>
            </a:r>
            <a:r>
              <a:rPr lang="pt-BR" sz="1200" b="1" dirty="0"/>
              <a:t>reais (BRL)</a:t>
            </a:r>
          </a:p>
          <a:p>
            <a:pPr marL="357188" lvl="1" indent="-179388">
              <a:spcBef>
                <a:spcPts val="400"/>
              </a:spcBef>
              <a:buFont typeface="System Font Regular"/>
              <a:buChar char="–"/>
            </a:pPr>
            <a:r>
              <a:rPr lang="pt-BR" sz="1200" b="1" dirty="0"/>
              <a:t>Curva de </a:t>
            </a:r>
            <a:r>
              <a:rPr lang="pt-BR" sz="1200" b="1" dirty="0" err="1"/>
              <a:t>mensalização</a:t>
            </a:r>
            <a:endParaRPr lang="pt-BR" sz="1200" b="1" dirty="0"/>
          </a:p>
          <a:p>
            <a:pPr marL="171450" lvl="1" indent="-171450">
              <a:spcBef>
                <a:spcPts val="600"/>
              </a:spcBef>
              <a:buFont typeface="Wingdings" panose="05000000000000000000" pitchFamily="2" charset="2"/>
              <a:buChar char="§"/>
            </a:pPr>
            <a:r>
              <a:rPr lang="pt-BR" sz="1200" dirty="0"/>
              <a:t>A data de criação do </a:t>
            </a:r>
            <a:r>
              <a:rPr lang="pt-BR" sz="1200" dirty="0" err="1"/>
              <a:t>template</a:t>
            </a:r>
            <a:r>
              <a:rPr lang="pt-BR" sz="1200" dirty="0"/>
              <a:t> é salva automaticamente pelo HUB</a:t>
            </a:r>
          </a:p>
          <a:p>
            <a:r>
              <a:rPr lang="pt-BR" dirty="0"/>
              <a:t>O </a:t>
            </a:r>
            <a:r>
              <a:rPr lang="pt-BR" dirty="0" err="1"/>
              <a:t>template</a:t>
            </a:r>
            <a:r>
              <a:rPr lang="pt-BR" dirty="0"/>
              <a:t> salvo recebe um </a:t>
            </a:r>
            <a:r>
              <a:rPr lang="pt-BR" b="1" dirty="0"/>
              <a:t>código identificador (TO-XXXX) </a:t>
            </a:r>
            <a:r>
              <a:rPr lang="pt-BR" dirty="0"/>
              <a:t>e passa a ficar </a:t>
            </a:r>
            <a:r>
              <a:rPr lang="pt-BR" b="1" dirty="0"/>
              <a:t>disponível para uso futuro</a:t>
            </a:r>
          </a:p>
          <a:p>
            <a:r>
              <a:rPr lang="pt-BR" dirty="0"/>
              <a:t>A curva de </a:t>
            </a:r>
            <a:r>
              <a:rPr lang="pt-BR" dirty="0" err="1"/>
              <a:t>mensalização</a:t>
            </a:r>
            <a:r>
              <a:rPr lang="pt-BR" dirty="0"/>
              <a:t> das estimativas é aplicada no momento da importação do </a:t>
            </a:r>
            <a:r>
              <a:rPr lang="pt-BR" dirty="0" err="1"/>
              <a:t>template</a:t>
            </a:r>
            <a:r>
              <a:rPr lang="pt-BR" dirty="0"/>
              <a:t>, a partir das datas de início e fim da Parada que utilizar o </a:t>
            </a:r>
            <a:r>
              <a:rPr lang="pt-BR" dirty="0" err="1"/>
              <a:t>template</a:t>
            </a:r>
            <a:endParaRPr lang="pt-BR" dirty="0"/>
          </a:p>
        </p:txBody>
      </p:sp>
      <p:sp>
        <p:nvSpPr>
          <p:cNvPr id="24" name="CaixaDeTexto 21">
            <a:extLst>
              <a:ext uri="{FF2B5EF4-FFF2-40B4-BE49-F238E27FC236}">
                <a16:creationId xmlns:a16="http://schemas.microsoft.com/office/drawing/2014/main" id="{45AA1C83-9135-736F-7BF4-A420EB28A02D}"/>
              </a:ext>
            </a:extLst>
          </p:cNvPr>
          <p:cNvSpPr txBox="1"/>
          <p:nvPr/>
        </p:nvSpPr>
        <p:spPr>
          <a:xfrm>
            <a:off x="6386300" y="1911965"/>
            <a:ext cx="5400000" cy="4385126"/>
          </a:xfrm>
          <a:prstGeom prst="rect">
            <a:avLst/>
          </a:prstGeom>
          <a:solidFill>
            <a:schemeClr val="bg1">
              <a:lumMod val="95000"/>
            </a:schemeClr>
          </a:solidFill>
          <a:ln>
            <a:solidFill>
              <a:schemeClr val="bg1">
                <a:lumMod val="95000"/>
              </a:schemeClr>
            </a:solidFill>
          </a:ln>
        </p:spPr>
        <p:txBody>
          <a:bodyPr wrap="square" lIns="144000" tIns="396000" rIns="144000" bIns="45720" rtlCol="0" anchor="t">
            <a:noAutofit/>
          </a:bodyPr>
          <a:lstStyle/>
          <a:p>
            <a:pPr marL="171450" indent="-171450">
              <a:spcBef>
                <a:spcPts val="600"/>
              </a:spcBef>
              <a:buFont typeface="Wingdings" panose="05000000000000000000" pitchFamily="2" charset="2"/>
              <a:buChar char="§"/>
            </a:pPr>
            <a:r>
              <a:rPr lang="pt-BR" sz="1200" dirty="0"/>
              <a:t>Na barra de navegação da página inicial, o usuário seleciona </a:t>
            </a:r>
            <a:r>
              <a:rPr lang="pt-BR" sz="1200" b="1" dirty="0"/>
              <a:t>“Criar </a:t>
            </a:r>
            <a:r>
              <a:rPr lang="pt-BR" sz="1200" b="1" dirty="0" err="1"/>
              <a:t>Template</a:t>
            </a:r>
            <a:r>
              <a:rPr lang="pt-BR" sz="1200" b="1" dirty="0"/>
              <a:t> de Obra”</a:t>
            </a:r>
            <a:r>
              <a:rPr lang="pt-BR" sz="1200" dirty="0"/>
              <a:t> e depois a opção </a:t>
            </a:r>
            <a:r>
              <a:rPr lang="pt-BR" sz="1200" b="1" dirty="0"/>
              <a:t>“Criar a partir de Parada Concluída”</a:t>
            </a:r>
          </a:p>
          <a:p>
            <a:pPr marL="171450" indent="-171450">
              <a:spcBef>
                <a:spcPts val="600"/>
              </a:spcBef>
              <a:buFont typeface="Wingdings" panose="05000000000000000000" pitchFamily="2" charset="2"/>
              <a:buChar char="§"/>
            </a:pPr>
            <a:r>
              <a:rPr lang="pt-BR" sz="1200" dirty="0"/>
              <a:t>Em seguida, deve </a:t>
            </a:r>
            <a:r>
              <a:rPr lang="pt-BR" sz="1200" b="1" dirty="0"/>
              <a:t>escolher o ID da Parada e a Obra </a:t>
            </a:r>
            <a:r>
              <a:rPr lang="pt-BR" sz="1200" dirty="0"/>
              <a:t>que deseja salvar como </a:t>
            </a:r>
            <a:r>
              <a:rPr lang="pt-BR" sz="1200" dirty="0" err="1"/>
              <a:t>Template</a:t>
            </a:r>
            <a:r>
              <a:rPr lang="pt-BR" sz="1200" dirty="0"/>
              <a:t> e clicar em </a:t>
            </a:r>
            <a:r>
              <a:rPr lang="pt-BR" sz="1200" b="1" dirty="0"/>
              <a:t>”Editar </a:t>
            </a:r>
            <a:r>
              <a:rPr lang="pt-BR" sz="1200" b="1" dirty="0" err="1"/>
              <a:t>Template</a:t>
            </a:r>
            <a:r>
              <a:rPr lang="pt-BR" sz="1200" b="1" dirty="0"/>
              <a:t>”</a:t>
            </a:r>
          </a:p>
          <a:p>
            <a:pPr marL="171450" indent="-171450">
              <a:spcBef>
                <a:spcPts val="600"/>
              </a:spcBef>
              <a:buFont typeface="Wingdings" panose="05000000000000000000" pitchFamily="2" charset="2"/>
              <a:buChar char="§"/>
            </a:pPr>
            <a:r>
              <a:rPr lang="pt-BR" sz="1200" dirty="0"/>
              <a:t>O usuário é direcionado à página de criação do </a:t>
            </a:r>
            <a:r>
              <a:rPr lang="pt-BR" sz="1200" dirty="0" err="1"/>
              <a:t>template</a:t>
            </a:r>
            <a:r>
              <a:rPr lang="pt-BR" sz="1200" dirty="0"/>
              <a:t>, onde </a:t>
            </a:r>
            <a:r>
              <a:rPr lang="pt-BR" sz="1200" b="1" dirty="0"/>
              <a:t>cadastra o nome para o </a:t>
            </a:r>
            <a:r>
              <a:rPr lang="pt-BR" sz="1200" b="1" dirty="0" err="1"/>
              <a:t>template</a:t>
            </a:r>
            <a:r>
              <a:rPr lang="pt-BR" sz="1200" b="1" dirty="0"/>
              <a:t> </a:t>
            </a:r>
            <a:r>
              <a:rPr lang="pt-BR" sz="1200" dirty="0"/>
              <a:t>e </a:t>
            </a:r>
            <a:r>
              <a:rPr lang="pt-BR" sz="1200" b="1" dirty="0"/>
              <a:t>revisa as demandas com suas estimativas financeiras para Materiais, Oficinas e Estaleiro</a:t>
            </a:r>
            <a:r>
              <a:rPr lang="pt-BR" sz="1200" dirty="0"/>
              <a:t>. A data de criação e as informações da Parada de referência são salvas automaticamente pelo HUB</a:t>
            </a:r>
          </a:p>
          <a:p>
            <a:pPr marL="171450" indent="-171450">
              <a:spcBef>
                <a:spcPts val="600"/>
              </a:spcBef>
              <a:buFont typeface="Wingdings" panose="05000000000000000000" pitchFamily="2" charset="2"/>
              <a:buChar char="§"/>
            </a:pPr>
            <a:r>
              <a:rPr lang="pt-BR" sz="1200" dirty="0"/>
              <a:t>Ao salvar, o </a:t>
            </a:r>
            <a:r>
              <a:rPr lang="pt-BR" sz="1200" dirty="0" err="1"/>
              <a:t>template</a:t>
            </a:r>
            <a:r>
              <a:rPr lang="pt-BR" sz="1200" dirty="0"/>
              <a:t> recebe um </a:t>
            </a:r>
            <a:r>
              <a:rPr lang="pt-BR" sz="1200" b="1" dirty="0"/>
              <a:t>código identificador (TO-XXXX) </a:t>
            </a:r>
            <a:r>
              <a:rPr lang="pt-BR" sz="1200" dirty="0"/>
              <a:t>e passa a ficar </a:t>
            </a:r>
            <a:r>
              <a:rPr lang="pt-BR" sz="1200" b="1" dirty="0"/>
              <a:t>disponível para uso</a:t>
            </a:r>
          </a:p>
          <a:p>
            <a:pPr marL="171450" indent="-171450">
              <a:spcBef>
                <a:spcPts val="600"/>
              </a:spcBef>
              <a:buFont typeface="Wingdings" panose="05000000000000000000" pitchFamily="2" charset="2"/>
              <a:buChar char="§"/>
            </a:pPr>
            <a:r>
              <a:rPr lang="pt-BR" sz="1200" dirty="0"/>
              <a:t>Os valores das demandas são os dados de realizado da Parada original em reais (BRL), consolidados em material, oficina e estaleiro</a:t>
            </a:r>
          </a:p>
          <a:p>
            <a:pPr marL="171450" indent="-171450">
              <a:spcBef>
                <a:spcPts val="600"/>
              </a:spcBef>
              <a:buFont typeface="Wingdings" panose="05000000000000000000" pitchFamily="2" charset="2"/>
              <a:buChar char="§"/>
            </a:pPr>
            <a:r>
              <a:rPr lang="pt-BR" sz="1200" dirty="0"/>
              <a:t>A </a:t>
            </a:r>
            <a:r>
              <a:rPr lang="pt-BR" sz="1200" dirty="0" err="1"/>
              <a:t>mensalização</a:t>
            </a:r>
            <a:r>
              <a:rPr lang="pt-BR" sz="1200" dirty="0"/>
              <a:t> das estimativas é calculada no momento da importação do </a:t>
            </a:r>
            <a:r>
              <a:rPr lang="pt-BR" sz="1200" dirty="0" err="1"/>
              <a:t>template</a:t>
            </a:r>
            <a:r>
              <a:rPr lang="pt-BR" sz="1200" dirty="0"/>
              <a:t>, a partir das datas de início e fim da Parada que utilizar o </a:t>
            </a:r>
            <a:r>
              <a:rPr lang="pt-BR" sz="1200" dirty="0" err="1"/>
              <a:t>template</a:t>
            </a:r>
            <a:endParaRPr lang="pt-BR" sz="1200" dirty="0"/>
          </a:p>
          <a:p>
            <a:pPr marL="171450" indent="-171450">
              <a:spcBef>
                <a:spcPts val="600"/>
              </a:spcBef>
              <a:buFont typeface="Wingdings" panose="05000000000000000000" pitchFamily="2" charset="2"/>
              <a:buChar char="§"/>
            </a:pPr>
            <a:r>
              <a:rPr lang="pt-BR" sz="1200" dirty="0"/>
              <a:t>Durante a importação, a tela de seleção deve indicar o percentual de custos em moeda estrangeira por demanda e grupo de Material, Oficina e Estaleiro no </a:t>
            </a:r>
            <a:r>
              <a:rPr lang="pt-BR" sz="1200" dirty="0" err="1"/>
              <a:t>template</a:t>
            </a:r>
            <a:r>
              <a:rPr lang="pt-BR" sz="1200" dirty="0"/>
              <a:t>. Essa feature serve como orientação para ajustes nos valores das demandas, que podem ser feitas em lote ou individualmente</a:t>
            </a:r>
          </a:p>
        </p:txBody>
      </p:sp>
      <p:sp>
        <p:nvSpPr>
          <p:cNvPr id="26" name="Retângulo 25">
            <a:extLst>
              <a:ext uri="{FF2B5EF4-FFF2-40B4-BE49-F238E27FC236}">
                <a16:creationId xmlns:a16="http://schemas.microsoft.com/office/drawing/2014/main" id="{657E3F46-1C7A-9BE1-87A1-29060E9C6ED9}"/>
              </a:ext>
            </a:extLst>
          </p:cNvPr>
          <p:cNvSpPr/>
          <p:nvPr/>
        </p:nvSpPr>
        <p:spPr>
          <a:xfrm>
            <a:off x="784839" y="1669889"/>
            <a:ext cx="4718316"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600"/>
              </a:spcBef>
              <a:spcAft>
                <a:spcPts val="0"/>
              </a:spcAft>
              <a:buClrTx/>
              <a:buSzTx/>
              <a:buFontTx/>
              <a:buNone/>
              <a:tabLst/>
              <a:defRPr/>
            </a:pPr>
            <a:r>
              <a:rPr kumimoji="0" lang="pt-BR" sz="1400" b="1" i="0" u="none" strike="noStrike" kern="1200" cap="none" spc="0" normalizeH="0" baseline="0" noProof="0" dirty="0" err="1">
                <a:ln>
                  <a:noFill/>
                </a:ln>
                <a:solidFill>
                  <a:prstClr val="black"/>
                </a:solidFill>
                <a:effectLst/>
                <a:uLnTx/>
                <a:uFillTx/>
                <a:latin typeface="Calibri"/>
                <a:ea typeface="+mn-ea"/>
                <a:cs typeface="+mn-cs"/>
              </a:rPr>
              <a:t>Templates</a:t>
            </a:r>
            <a:r>
              <a:rPr kumimoji="0" lang="pt-BR" sz="1400" b="1" i="0" u="none" strike="noStrike" kern="1200" cap="none" spc="0" normalizeH="0" baseline="0" noProof="0" dirty="0">
                <a:ln>
                  <a:noFill/>
                </a:ln>
                <a:solidFill>
                  <a:prstClr val="black"/>
                </a:solidFill>
                <a:effectLst/>
                <a:uLnTx/>
                <a:uFillTx/>
                <a:latin typeface="Calibri"/>
                <a:ea typeface="+mn-ea"/>
                <a:cs typeface="+mn-cs"/>
              </a:rPr>
              <a:t> Novos</a:t>
            </a:r>
          </a:p>
        </p:txBody>
      </p:sp>
      <p:sp>
        <p:nvSpPr>
          <p:cNvPr id="28" name="Retângulo 27">
            <a:extLst>
              <a:ext uri="{FF2B5EF4-FFF2-40B4-BE49-F238E27FC236}">
                <a16:creationId xmlns:a16="http://schemas.microsoft.com/office/drawing/2014/main" id="{36768862-D647-C80D-1482-681586952EFA}"/>
              </a:ext>
            </a:extLst>
          </p:cNvPr>
          <p:cNvSpPr/>
          <p:nvPr/>
        </p:nvSpPr>
        <p:spPr>
          <a:xfrm>
            <a:off x="6727142" y="1669889"/>
            <a:ext cx="4718316"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600"/>
              </a:spcBef>
              <a:spcAft>
                <a:spcPts val="0"/>
              </a:spcAft>
              <a:buClrTx/>
              <a:buSzTx/>
              <a:buFontTx/>
              <a:buNone/>
              <a:tabLst/>
              <a:defRPr/>
            </a:pPr>
            <a:r>
              <a:rPr kumimoji="0" lang="pt-BR" sz="1400" b="1" i="0" u="none" strike="noStrike" kern="1200" cap="none" spc="0" normalizeH="0" baseline="0" noProof="0" dirty="0" err="1">
                <a:ln>
                  <a:noFill/>
                </a:ln>
                <a:solidFill>
                  <a:prstClr val="black"/>
                </a:solidFill>
                <a:effectLst/>
                <a:uLnTx/>
                <a:uFillTx/>
                <a:latin typeface="Calibri"/>
                <a:ea typeface="+mn-ea"/>
                <a:cs typeface="+mn-cs"/>
              </a:rPr>
              <a:t>Templates</a:t>
            </a:r>
            <a:r>
              <a:rPr kumimoji="0" lang="pt-BR" sz="1400" b="1" i="0" u="none" strike="noStrike" kern="1200" cap="none" spc="0" normalizeH="0" baseline="0" noProof="0" dirty="0">
                <a:ln>
                  <a:noFill/>
                </a:ln>
                <a:solidFill>
                  <a:prstClr val="black"/>
                </a:solidFill>
                <a:effectLst/>
                <a:uLnTx/>
                <a:uFillTx/>
                <a:latin typeface="Calibri"/>
                <a:ea typeface="+mn-ea"/>
                <a:cs typeface="+mn-cs"/>
              </a:rPr>
              <a:t> Criados a partir de Obras Concluídas</a:t>
            </a:r>
          </a:p>
        </p:txBody>
      </p:sp>
    </p:spTree>
    <p:extLst>
      <p:ext uri="{BB962C8B-B14F-4D97-AF65-F5344CB8AC3E}">
        <p14:creationId xmlns:p14="http://schemas.microsoft.com/office/powerpoint/2010/main" val="2369143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32238-4423-7E2E-0E49-325258BC764D}"/>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2B2030F-FF98-FB84-B41A-72DDE44EDBBF}"/>
              </a:ext>
            </a:extLst>
          </p:cNvPr>
          <p:cNvSpPr>
            <a:spLocks noGrp="1"/>
          </p:cNvSpPr>
          <p:nvPr>
            <p:ph type="title"/>
          </p:nvPr>
        </p:nvSpPr>
        <p:spPr/>
        <p:txBody>
          <a:bodyPr/>
          <a:lstStyle/>
          <a:p>
            <a:r>
              <a:rPr lang="pt-BR" dirty="0" err="1"/>
              <a:t>Templates</a:t>
            </a:r>
            <a:r>
              <a:rPr lang="pt-BR" dirty="0"/>
              <a:t> de Obras</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Macro Processo de Importação do </a:t>
            </a:r>
            <a:r>
              <a:rPr kumimoji="0" lang="pt-BR" sz="1600" b="0" i="0" u="none" strike="noStrike" kern="1200" cap="none" spc="0" normalizeH="0" baseline="0" noProof="0" dirty="0" err="1">
                <a:ln>
                  <a:noFill/>
                </a:ln>
                <a:solidFill>
                  <a:prstClr val="black"/>
                </a:solidFill>
                <a:effectLst/>
                <a:uLnTx/>
                <a:uFillTx/>
                <a:latin typeface="Calibri"/>
                <a:ea typeface="+mj-ea"/>
                <a:cs typeface="+mj-cs"/>
              </a:rPr>
              <a:t>Template</a:t>
            </a:r>
            <a:endParaRPr lang="pt-BR" dirty="0"/>
          </a:p>
        </p:txBody>
      </p:sp>
      <p:sp>
        <p:nvSpPr>
          <p:cNvPr id="14" name="CaixaDeTexto 21">
            <a:extLst>
              <a:ext uri="{FF2B5EF4-FFF2-40B4-BE49-F238E27FC236}">
                <a16:creationId xmlns:a16="http://schemas.microsoft.com/office/drawing/2014/main" id="{5302E760-EA7C-303E-04F3-D21FEB92485E}"/>
              </a:ext>
            </a:extLst>
          </p:cNvPr>
          <p:cNvSpPr txBox="1"/>
          <p:nvPr/>
        </p:nvSpPr>
        <p:spPr>
          <a:xfrm>
            <a:off x="215238" y="1916832"/>
            <a:ext cx="3600000" cy="3924000"/>
          </a:xfrm>
          <a:prstGeom prst="rect">
            <a:avLst/>
          </a:prstGeom>
          <a:solidFill>
            <a:schemeClr val="bg1">
              <a:lumMod val="95000"/>
            </a:schemeClr>
          </a:solidFill>
          <a:ln>
            <a:solidFill>
              <a:schemeClr val="bg1">
                <a:lumMod val="95000"/>
              </a:schemeClr>
            </a:solidFill>
          </a:ln>
        </p:spPr>
        <p:txBody>
          <a:bodyPr wrap="square" lIns="144000" tIns="396000" rIns="144000" bIns="45720" rtlCol="0" anchor="t">
            <a:noAutofit/>
          </a:bodyPr>
          <a:lstStyle>
            <a:defPPr>
              <a:defRPr lang="pt-BR"/>
            </a:defPPr>
            <a:lvl1pPr marL="171450" indent="-171450">
              <a:spcBef>
                <a:spcPts val="600"/>
              </a:spcBef>
              <a:buFont typeface="Wingdings" panose="05000000000000000000" pitchFamily="2" charset="2"/>
              <a:buChar char="§"/>
              <a:defRPr sz="1200"/>
            </a:lvl1pPr>
          </a:lstStyle>
          <a:p>
            <a:r>
              <a:rPr lang="pt-BR" dirty="0"/>
              <a:t>Na tela inicial, o usuário </a:t>
            </a:r>
            <a:r>
              <a:rPr lang="pt-BR" b="1" dirty="0"/>
              <a:t>seleciona a Parada </a:t>
            </a:r>
            <a:r>
              <a:rPr lang="pt-BR" dirty="0"/>
              <a:t>na qual deseja aplicar um </a:t>
            </a:r>
            <a:r>
              <a:rPr lang="pt-BR" dirty="0" err="1"/>
              <a:t>template</a:t>
            </a:r>
            <a:endParaRPr lang="pt-BR" dirty="0"/>
          </a:p>
          <a:p>
            <a:r>
              <a:rPr lang="pt-BR" dirty="0"/>
              <a:t>Na tela Ficha da Parada, o usuário escolhe a Obra e seleciona a opção </a:t>
            </a:r>
            <a:r>
              <a:rPr lang="pt-BR" b="1" dirty="0"/>
              <a:t>“Importar </a:t>
            </a:r>
            <a:r>
              <a:rPr lang="pt-BR" b="1" dirty="0" err="1"/>
              <a:t>Template</a:t>
            </a:r>
            <a:r>
              <a:rPr lang="pt-BR" b="1" dirty="0"/>
              <a:t>”</a:t>
            </a:r>
          </a:p>
          <a:p>
            <a:r>
              <a:rPr lang="pt-BR" dirty="0"/>
              <a:t>A importação de </a:t>
            </a:r>
            <a:r>
              <a:rPr lang="pt-BR" dirty="0" err="1"/>
              <a:t>templates</a:t>
            </a:r>
            <a:r>
              <a:rPr lang="pt-BR" dirty="0"/>
              <a:t> é </a:t>
            </a:r>
            <a:r>
              <a:rPr lang="pt-BR" b="1" dirty="0"/>
              <a:t>permitida somente no FEL-0</a:t>
            </a:r>
            <a:r>
              <a:rPr lang="pt-BR" dirty="0"/>
              <a:t>; a partir do FEL-1, novas demandas devem ser criadas manualmente na Ficha da Parada</a:t>
            </a:r>
          </a:p>
        </p:txBody>
      </p:sp>
      <p:sp>
        <p:nvSpPr>
          <p:cNvPr id="26" name="Retângulo 25">
            <a:extLst>
              <a:ext uri="{FF2B5EF4-FFF2-40B4-BE49-F238E27FC236}">
                <a16:creationId xmlns:a16="http://schemas.microsoft.com/office/drawing/2014/main" id="{C0643893-7BAB-4A3D-A316-D4F307008EC4}"/>
              </a:ext>
            </a:extLst>
          </p:cNvPr>
          <p:cNvSpPr/>
          <p:nvPr/>
        </p:nvSpPr>
        <p:spPr>
          <a:xfrm>
            <a:off x="485238" y="1674756"/>
            <a:ext cx="3060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600"/>
              </a:spcBef>
              <a:spcAft>
                <a:spcPts val="0"/>
              </a:spcAft>
              <a:buClrTx/>
              <a:buSzTx/>
              <a:buFontTx/>
              <a:buNone/>
              <a:tabLst/>
              <a:defRPr/>
            </a:pPr>
            <a:r>
              <a:rPr kumimoji="0" lang="pt-BR" sz="1400" b="1" i="0" u="none" strike="noStrike" kern="1200" cap="none" spc="0" normalizeH="0" baseline="0" noProof="0">
                <a:ln>
                  <a:noFill/>
                </a:ln>
                <a:solidFill>
                  <a:prstClr val="black"/>
                </a:solidFill>
                <a:effectLst/>
                <a:uLnTx/>
                <a:uFillTx/>
                <a:latin typeface="Calibri"/>
                <a:ea typeface="+mn-ea"/>
                <a:cs typeface="+mn-cs"/>
              </a:rPr>
              <a:t>Selecionar Parada</a:t>
            </a:r>
            <a:endParaRPr kumimoji="0" lang="pt-BR" sz="1400" b="1" i="0" u="none" strike="noStrike" kern="1200" cap="none" spc="0" normalizeH="0" baseline="0" noProof="0" dirty="0">
              <a:ln>
                <a:noFill/>
              </a:ln>
              <a:solidFill>
                <a:prstClr val="black"/>
              </a:solidFill>
              <a:effectLst/>
              <a:uLnTx/>
              <a:uFillTx/>
              <a:latin typeface="Calibri"/>
              <a:ea typeface="+mn-ea"/>
              <a:cs typeface="+mn-cs"/>
            </a:endParaRPr>
          </a:p>
        </p:txBody>
      </p:sp>
      <p:sp>
        <p:nvSpPr>
          <p:cNvPr id="2" name="CaixaDeTexto 21">
            <a:extLst>
              <a:ext uri="{FF2B5EF4-FFF2-40B4-BE49-F238E27FC236}">
                <a16:creationId xmlns:a16="http://schemas.microsoft.com/office/drawing/2014/main" id="{D3E760C1-0FC0-4B40-F732-F6730CA05EA4}"/>
              </a:ext>
            </a:extLst>
          </p:cNvPr>
          <p:cNvSpPr txBox="1"/>
          <p:nvPr/>
        </p:nvSpPr>
        <p:spPr>
          <a:xfrm>
            <a:off x="4296001" y="1916832"/>
            <a:ext cx="3600000" cy="3924000"/>
          </a:xfrm>
          <a:prstGeom prst="rect">
            <a:avLst/>
          </a:prstGeom>
          <a:solidFill>
            <a:schemeClr val="bg1">
              <a:lumMod val="95000"/>
            </a:schemeClr>
          </a:solidFill>
          <a:ln>
            <a:solidFill>
              <a:schemeClr val="bg1">
                <a:lumMod val="95000"/>
              </a:schemeClr>
            </a:solidFill>
          </a:ln>
        </p:spPr>
        <p:txBody>
          <a:bodyPr wrap="square" lIns="144000" tIns="396000" rIns="144000" bIns="45720" rtlCol="0" anchor="t">
            <a:noAutofit/>
          </a:bodyPr>
          <a:lstStyle>
            <a:defPPr>
              <a:defRPr lang="pt-BR"/>
            </a:defPPr>
            <a:lvl1pPr marL="171450" indent="-171450">
              <a:spcBef>
                <a:spcPts val="600"/>
              </a:spcBef>
              <a:buFont typeface="Wingdings" panose="05000000000000000000" pitchFamily="2" charset="2"/>
              <a:buChar char="§"/>
              <a:defRPr sz="1200"/>
            </a:lvl1pPr>
          </a:lstStyle>
          <a:p>
            <a:r>
              <a:rPr lang="pt-BR" dirty="0"/>
              <a:t>O HUB exibe a tela Seleção de </a:t>
            </a:r>
            <a:r>
              <a:rPr lang="pt-BR" dirty="0" err="1"/>
              <a:t>Template</a:t>
            </a:r>
            <a:r>
              <a:rPr lang="pt-BR" dirty="0"/>
              <a:t> de Obras, onde o </a:t>
            </a:r>
            <a:r>
              <a:rPr lang="pt-BR" b="1" dirty="0"/>
              <a:t>usuário escolhe, em lista suspensa, o </a:t>
            </a:r>
            <a:r>
              <a:rPr lang="pt-BR" b="1" dirty="0" err="1"/>
              <a:t>template</a:t>
            </a:r>
            <a:r>
              <a:rPr lang="pt-BR" b="1" dirty="0"/>
              <a:t> a importar</a:t>
            </a:r>
          </a:p>
          <a:p>
            <a:r>
              <a:rPr lang="pt-BR" dirty="0"/>
              <a:t>Em seguida, define se deseja </a:t>
            </a:r>
            <a:r>
              <a:rPr lang="pt-BR" b="1" dirty="0"/>
              <a:t>importar todas as demandas</a:t>
            </a:r>
            <a:r>
              <a:rPr lang="pt-BR" dirty="0"/>
              <a:t> do </a:t>
            </a:r>
            <a:r>
              <a:rPr lang="pt-BR" dirty="0" err="1"/>
              <a:t>template</a:t>
            </a:r>
            <a:r>
              <a:rPr lang="pt-BR" dirty="0"/>
              <a:t> </a:t>
            </a:r>
            <a:r>
              <a:rPr lang="pt-BR" b="1" dirty="0"/>
              <a:t>ou apenas algumas</a:t>
            </a:r>
            <a:r>
              <a:rPr lang="pt-BR" dirty="0"/>
              <a:t>, e clica em </a:t>
            </a:r>
            <a:r>
              <a:rPr lang="pt-BR" b="1" dirty="0"/>
              <a:t>“Avançar”</a:t>
            </a:r>
          </a:p>
          <a:p>
            <a:r>
              <a:rPr lang="pt-BR" dirty="0"/>
              <a:t>Na sequência, </a:t>
            </a:r>
            <a:r>
              <a:rPr lang="pt-BR" b="1" dirty="0"/>
              <a:t>pode ajustar os valores das demandas</a:t>
            </a:r>
            <a:r>
              <a:rPr lang="pt-BR" dirty="0"/>
              <a:t>, individualmente ou em lote (em percentual), conforme necessário</a:t>
            </a:r>
          </a:p>
          <a:p>
            <a:r>
              <a:rPr lang="pt-BR" dirty="0"/>
              <a:t>Para </a:t>
            </a:r>
            <a:r>
              <a:rPr lang="pt-BR" dirty="0" err="1"/>
              <a:t>templates</a:t>
            </a:r>
            <a:r>
              <a:rPr lang="pt-BR" dirty="0"/>
              <a:t> criados a partir de Paradas anteriores, o HUB informa a proporção em dólar de cada demanda importada, a data da Parada e a cotação média do dólar da época</a:t>
            </a:r>
          </a:p>
        </p:txBody>
      </p:sp>
      <p:sp>
        <p:nvSpPr>
          <p:cNvPr id="3" name="Retângulo 2">
            <a:extLst>
              <a:ext uri="{FF2B5EF4-FFF2-40B4-BE49-F238E27FC236}">
                <a16:creationId xmlns:a16="http://schemas.microsoft.com/office/drawing/2014/main" id="{83650C25-C898-84FE-2E0C-DC66938400BD}"/>
              </a:ext>
            </a:extLst>
          </p:cNvPr>
          <p:cNvSpPr/>
          <p:nvPr/>
        </p:nvSpPr>
        <p:spPr>
          <a:xfrm>
            <a:off x="4566001" y="1674756"/>
            <a:ext cx="3060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60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Calibri"/>
                <a:ea typeface="+mn-ea"/>
                <a:cs typeface="+mn-cs"/>
              </a:rPr>
              <a:t>Selecionar </a:t>
            </a:r>
            <a:r>
              <a:rPr kumimoji="0" lang="pt-BR" sz="1400" b="1" i="0" u="none" strike="noStrike" kern="1200" cap="none" spc="0" normalizeH="0" baseline="0" noProof="0" dirty="0" err="1">
                <a:ln>
                  <a:noFill/>
                </a:ln>
                <a:solidFill>
                  <a:prstClr val="black"/>
                </a:solidFill>
                <a:effectLst/>
                <a:uLnTx/>
                <a:uFillTx/>
                <a:latin typeface="Calibri"/>
                <a:ea typeface="+mn-ea"/>
                <a:cs typeface="+mn-cs"/>
              </a:rPr>
              <a:t>Template</a:t>
            </a:r>
            <a:endParaRPr kumimoji="0" lang="pt-BR" sz="1400" b="1" i="0" u="none" strike="noStrike" kern="1200" cap="none" spc="0" normalizeH="0" baseline="0" noProof="0" dirty="0">
              <a:ln>
                <a:noFill/>
              </a:ln>
              <a:solidFill>
                <a:prstClr val="black"/>
              </a:solidFill>
              <a:effectLst/>
              <a:uLnTx/>
              <a:uFillTx/>
              <a:latin typeface="Calibri"/>
              <a:ea typeface="+mn-ea"/>
              <a:cs typeface="+mn-cs"/>
            </a:endParaRPr>
          </a:p>
        </p:txBody>
      </p:sp>
      <p:sp>
        <p:nvSpPr>
          <p:cNvPr id="4" name="CaixaDeTexto 21">
            <a:extLst>
              <a:ext uri="{FF2B5EF4-FFF2-40B4-BE49-F238E27FC236}">
                <a16:creationId xmlns:a16="http://schemas.microsoft.com/office/drawing/2014/main" id="{2AC0896C-D741-5C8D-33B9-C136609E89AA}"/>
              </a:ext>
            </a:extLst>
          </p:cNvPr>
          <p:cNvSpPr txBox="1"/>
          <p:nvPr/>
        </p:nvSpPr>
        <p:spPr>
          <a:xfrm>
            <a:off x="8376763" y="1916832"/>
            <a:ext cx="3600000" cy="3924000"/>
          </a:xfrm>
          <a:prstGeom prst="rect">
            <a:avLst/>
          </a:prstGeom>
          <a:solidFill>
            <a:schemeClr val="bg1">
              <a:lumMod val="95000"/>
            </a:schemeClr>
          </a:solidFill>
          <a:ln>
            <a:solidFill>
              <a:schemeClr val="bg1">
                <a:lumMod val="95000"/>
              </a:schemeClr>
            </a:solidFill>
          </a:ln>
        </p:spPr>
        <p:txBody>
          <a:bodyPr wrap="square" lIns="144000" tIns="396000" rIns="144000" bIns="45720" rtlCol="0" anchor="t">
            <a:noAutofit/>
          </a:bodyPr>
          <a:lstStyle>
            <a:defPPr>
              <a:defRPr lang="pt-BR"/>
            </a:defPPr>
            <a:lvl1pPr marL="171450" indent="-171450">
              <a:spcBef>
                <a:spcPts val="600"/>
              </a:spcBef>
              <a:buFont typeface="Wingdings" panose="05000000000000000000" pitchFamily="2" charset="2"/>
              <a:buChar char="§"/>
              <a:defRPr sz="1200"/>
            </a:lvl1pPr>
          </a:lstStyle>
          <a:p>
            <a:r>
              <a:rPr lang="pt-BR" dirty="0"/>
              <a:t>Após revisar o </a:t>
            </a:r>
            <a:r>
              <a:rPr lang="pt-BR" dirty="0" err="1"/>
              <a:t>template</a:t>
            </a:r>
            <a:r>
              <a:rPr lang="pt-BR" dirty="0"/>
              <a:t>, o </a:t>
            </a:r>
            <a:r>
              <a:rPr lang="pt-BR" b="1" dirty="0"/>
              <a:t>usuário aplica a importação</a:t>
            </a:r>
            <a:r>
              <a:rPr lang="pt-BR" dirty="0"/>
              <a:t> na Obra selecionada</a:t>
            </a:r>
          </a:p>
          <a:p>
            <a:r>
              <a:rPr lang="pt-BR" b="1" dirty="0"/>
              <a:t>A importação do </a:t>
            </a:r>
            <a:r>
              <a:rPr lang="pt-BR" b="1" dirty="0" err="1"/>
              <a:t>template</a:t>
            </a:r>
            <a:r>
              <a:rPr lang="pt-BR" b="1" dirty="0"/>
              <a:t> não altera as demandas já existentes na Obra da Parada</a:t>
            </a:r>
          </a:p>
          <a:p>
            <a:r>
              <a:rPr lang="pt-BR" dirty="0"/>
              <a:t>Ao concluir, o usuário salva as informações na Ficha da Parada e o valor total da Parada é atualizado</a:t>
            </a:r>
          </a:p>
        </p:txBody>
      </p:sp>
      <p:sp>
        <p:nvSpPr>
          <p:cNvPr id="6" name="Retângulo 5">
            <a:extLst>
              <a:ext uri="{FF2B5EF4-FFF2-40B4-BE49-F238E27FC236}">
                <a16:creationId xmlns:a16="http://schemas.microsoft.com/office/drawing/2014/main" id="{16C0429D-D0E2-4497-6C85-3E746FA7941D}"/>
              </a:ext>
            </a:extLst>
          </p:cNvPr>
          <p:cNvSpPr/>
          <p:nvPr/>
        </p:nvSpPr>
        <p:spPr>
          <a:xfrm>
            <a:off x="8646763" y="1674756"/>
            <a:ext cx="3060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600"/>
              </a:spcBef>
              <a:spcAft>
                <a:spcPts val="0"/>
              </a:spcAft>
              <a:buClrTx/>
              <a:buSzTx/>
              <a:buFontTx/>
              <a:buNone/>
              <a:tabLst/>
              <a:defRPr/>
            </a:pPr>
            <a:r>
              <a:rPr kumimoji="0" lang="pt-BR" sz="1400" b="1" i="0" u="none" strike="noStrike" kern="1200" cap="none" spc="0" normalizeH="0" baseline="0" noProof="0" dirty="0">
                <a:ln>
                  <a:noFill/>
                </a:ln>
                <a:solidFill>
                  <a:prstClr val="black"/>
                </a:solidFill>
                <a:effectLst/>
                <a:uLnTx/>
                <a:uFillTx/>
                <a:latin typeface="Calibri"/>
                <a:ea typeface="+mn-ea"/>
                <a:cs typeface="+mn-cs"/>
              </a:rPr>
              <a:t>Aplicar </a:t>
            </a:r>
            <a:r>
              <a:rPr kumimoji="0" lang="pt-BR" sz="1400" b="1" i="0" u="none" strike="noStrike" kern="1200" cap="none" spc="0" normalizeH="0" baseline="0" noProof="0" dirty="0" err="1">
                <a:ln>
                  <a:noFill/>
                </a:ln>
                <a:solidFill>
                  <a:prstClr val="black"/>
                </a:solidFill>
                <a:effectLst/>
                <a:uLnTx/>
                <a:uFillTx/>
                <a:latin typeface="Calibri"/>
                <a:ea typeface="+mn-ea"/>
                <a:cs typeface="+mn-cs"/>
              </a:rPr>
              <a:t>Template</a:t>
            </a:r>
            <a:endParaRPr kumimoji="0" lang="pt-BR" sz="1400" b="1"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riangle 12">
            <a:extLst>
              <a:ext uri="{FF2B5EF4-FFF2-40B4-BE49-F238E27FC236}">
                <a16:creationId xmlns:a16="http://schemas.microsoft.com/office/drawing/2014/main" id="{FF23B1D2-07C7-702F-7158-DDFB92EF5DDB}"/>
              </a:ext>
            </a:extLst>
          </p:cNvPr>
          <p:cNvSpPr/>
          <p:nvPr/>
        </p:nvSpPr>
        <p:spPr>
          <a:xfrm rot="5400000">
            <a:off x="3525266" y="3658495"/>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5" name="Triangle 12">
            <a:extLst>
              <a:ext uri="{FF2B5EF4-FFF2-40B4-BE49-F238E27FC236}">
                <a16:creationId xmlns:a16="http://schemas.microsoft.com/office/drawing/2014/main" id="{D7D27BC4-1790-65D0-F990-F53D0A2DF79A}"/>
              </a:ext>
            </a:extLst>
          </p:cNvPr>
          <p:cNvSpPr/>
          <p:nvPr/>
        </p:nvSpPr>
        <p:spPr>
          <a:xfrm rot="5400000">
            <a:off x="7606030" y="3658496"/>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6" name="CaixaDeTexto 15">
            <a:extLst>
              <a:ext uri="{FF2B5EF4-FFF2-40B4-BE49-F238E27FC236}">
                <a16:creationId xmlns:a16="http://schemas.microsoft.com/office/drawing/2014/main" id="{51A21278-DDCD-3A19-763D-2A42FCCF54FB}"/>
              </a:ext>
            </a:extLst>
          </p:cNvPr>
          <p:cNvSpPr txBox="1"/>
          <p:nvPr/>
        </p:nvSpPr>
        <p:spPr>
          <a:xfrm>
            <a:off x="696000" y="6093296"/>
            <a:ext cx="10800000" cy="307777"/>
          </a:xfrm>
          <a:prstGeom prst="rect">
            <a:avLst/>
          </a:prstGeom>
          <a:noFill/>
        </p:spPr>
        <p:txBody>
          <a:bodyPr wrap="square" rtlCol="0">
            <a:spAutoFit/>
          </a:bodyPr>
          <a:lstStyle/>
          <a:p>
            <a:pPr algn="ctr"/>
            <a:r>
              <a:rPr lang="pt-BR" sz="1400" b="1" dirty="0">
                <a:solidFill>
                  <a:srgbClr val="FF0000"/>
                </a:solidFill>
                <a:highlight>
                  <a:srgbClr val="FFFF00"/>
                </a:highlight>
              </a:rPr>
              <a:t>IMPORTANTE:</a:t>
            </a:r>
            <a:r>
              <a:rPr lang="pt-BR" sz="1400" b="1" dirty="0">
                <a:solidFill>
                  <a:srgbClr val="FF0000"/>
                </a:solidFill>
              </a:rPr>
              <a:t> </a:t>
            </a:r>
            <a:r>
              <a:rPr lang="pt-BR" sz="1400" dirty="0"/>
              <a:t>o uso de </a:t>
            </a:r>
            <a:r>
              <a:rPr lang="pt-BR" sz="1400" dirty="0" err="1"/>
              <a:t>templates</a:t>
            </a:r>
            <a:r>
              <a:rPr lang="pt-BR" sz="1400" dirty="0"/>
              <a:t> é opcional. Caso prefira, o usuário pode criar as demandas manualmente no HUB</a:t>
            </a:r>
          </a:p>
        </p:txBody>
      </p:sp>
    </p:spTree>
    <p:extLst>
      <p:ext uri="{BB962C8B-B14F-4D97-AF65-F5344CB8AC3E}">
        <p14:creationId xmlns:p14="http://schemas.microsoft.com/office/powerpoint/2010/main" val="1451511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4">
            <a:extLst>
              <a:ext uri="{FF2B5EF4-FFF2-40B4-BE49-F238E27FC236}">
                <a16:creationId xmlns:a16="http://schemas.microsoft.com/office/drawing/2014/main" id="{B2668451-8226-879C-30BC-43A187F3F2D7}"/>
              </a:ext>
            </a:extLst>
          </p:cNvPr>
          <p:cNvSpPr>
            <a:spLocks noGrp="1"/>
          </p:cNvSpPr>
          <p:nvPr>
            <p:ph type="title"/>
          </p:nvPr>
        </p:nvSpPr>
        <p:spPr>
          <a:xfrm>
            <a:off x="1089653" y="303578"/>
            <a:ext cx="10485852" cy="645195"/>
          </a:xfrm>
        </p:spPr>
        <p:txBody>
          <a:bodyPr/>
          <a:lstStyle/>
          <a:p>
            <a:r>
              <a:rPr lang="pt-BR" dirty="0" err="1"/>
              <a:t>Templates</a:t>
            </a:r>
            <a:r>
              <a:rPr lang="pt-BR" dirty="0"/>
              <a:t> de Obras</a:t>
            </a:r>
            <a:br>
              <a:rPr lang="pt-BR" dirty="0"/>
            </a:br>
            <a:r>
              <a:rPr kumimoji="0" lang="pt-BR" sz="1600" b="0" i="0" u="none" strike="noStrike" kern="1200" cap="none" spc="0" normalizeH="0" baseline="0" noProof="0" dirty="0" err="1">
                <a:ln>
                  <a:noFill/>
                </a:ln>
                <a:solidFill>
                  <a:prstClr val="black"/>
                </a:solidFill>
                <a:effectLst/>
                <a:uLnTx/>
                <a:uFillTx/>
                <a:latin typeface="Calibri"/>
                <a:ea typeface="+mj-ea"/>
                <a:cs typeface="+mj-cs"/>
              </a:rPr>
              <a:t>Mockup</a:t>
            </a:r>
            <a:r>
              <a:rPr kumimoji="0" lang="pt-BR" sz="1600" b="0" i="0" u="none" strike="noStrike" kern="1200" cap="none" spc="0" normalizeH="0" baseline="0" noProof="0" dirty="0">
                <a:ln>
                  <a:noFill/>
                </a:ln>
                <a:solidFill>
                  <a:prstClr val="black"/>
                </a:solidFill>
                <a:effectLst/>
                <a:uLnTx/>
                <a:uFillTx/>
                <a:latin typeface="Calibri"/>
                <a:ea typeface="+mj-ea"/>
                <a:cs typeface="+mj-cs"/>
              </a:rPr>
              <a:t> – Tela de Criação de </a:t>
            </a:r>
            <a:r>
              <a:rPr kumimoji="0" lang="pt-BR" sz="1600" b="0" i="0" u="none" strike="noStrike" kern="1200" cap="none" spc="0" normalizeH="0" baseline="0" noProof="0" dirty="0" err="1">
                <a:ln>
                  <a:noFill/>
                </a:ln>
                <a:solidFill>
                  <a:prstClr val="black"/>
                </a:solidFill>
                <a:effectLst/>
                <a:uLnTx/>
                <a:uFillTx/>
                <a:latin typeface="Calibri"/>
                <a:ea typeface="+mj-ea"/>
                <a:cs typeface="+mj-cs"/>
              </a:rPr>
              <a:t>Template</a:t>
            </a:r>
            <a:endParaRPr lang="pt-BR" dirty="0"/>
          </a:p>
        </p:txBody>
      </p:sp>
      <p:sp>
        <p:nvSpPr>
          <p:cNvPr id="7" name="Retângulo 6">
            <a:extLst>
              <a:ext uri="{FF2B5EF4-FFF2-40B4-BE49-F238E27FC236}">
                <a16:creationId xmlns:a16="http://schemas.microsoft.com/office/drawing/2014/main" id="{46E236F5-CD85-1EEC-41A7-643E64A8F289}"/>
              </a:ext>
            </a:extLst>
          </p:cNvPr>
          <p:cNvSpPr/>
          <p:nvPr/>
        </p:nvSpPr>
        <p:spPr>
          <a:xfrm rot="525205">
            <a:off x="4905785" y="2923159"/>
            <a:ext cx="2380430" cy="1011683"/>
          </a:xfrm>
          <a:prstGeom prst="rect">
            <a:avLst/>
          </a:prstGeom>
          <a:solidFill>
            <a:srgbClr val="FFFF99"/>
          </a:solid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800" b="1" dirty="0">
                <a:solidFill>
                  <a:srgbClr val="FF0000"/>
                </a:solidFill>
              </a:rPr>
              <a:t>Em Desenvolvimento</a:t>
            </a:r>
          </a:p>
        </p:txBody>
      </p:sp>
    </p:spTree>
    <p:extLst>
      <p:ext uri="{BB962C8B-B14F-4D97-AF65-F5344CB8AC3E}">
        <p14:creationId xmlns:p14="http://schemas.microsoft.com/office/powerpoint/2010/main" val="21925348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85604-79B1-6391-173D-FD345639ADD3}"/>
            </a:ext>
          </a:extLst>
        </p:cNvPr>
        <p:cNvGrpSpPr/>
        <p:nvPr/>
      </p:nvGrpSpPr>
      <p:grpSpPr>
        <a:xfrm>
          <a:off x="0" y="0"/>
          <a:ext cx="0" cy="0"/>
          <a:chOff x="0" y="0"/>
          <a:chExt cx="0" cy="0"/>
        </a:xfrm>
      </p:grpSpPr>
      <p:sp>
        <p:nvSpPr>
          <p:cNvPr id="6" name="Título 4">
            <a:extLst>
              <a:ext uri="{FF2B5EF4-FFF2-40B4-BE49-F238E27FC236}">
                <a16:creationId xmlns:a16="http://schemas.microsoft.com/office/drawing/2014/main" id="{0673D4F5-5CEC-F73C-D7D5-AE81CA6734A6}"/>
              </a:ext>
            </a:extLst>
          </p:cNvPr>
          <p:cNvSpPr>
            <a:spLocks noGrp="1"/>
          </p:cNvSpPr>
          <p:nvPr>
            <p:ph type="title"/>
          </p:nvPr>
        </p:nvSpPr>
        <p:spPr>
          <a:xfrm>
            <a:off x="1089653" y="303578"/>
            <a:ext cx="10485852" cy="645195"/>
          </a:xfrm>
        </p:spPr>
        <p:txBody>
          <a:bodyPr/>
          <a:lstStyle/>
          <a:p>
            <a:r>
              <a:rPr lang="pt-BR" dirty="0" err="1"/>
              <a:t>Templates</a:t>
            </a:r>
            <a:r>
              <a:rPr lang="pt-BR" dirty="0"/>
              <a:t> de Obras</a:t>
            </a:r>
            <a:br>
              <a:rPr lang="pt-BR" dirty="0"/>
            </a:br>
            <a:r>
              <a:rPr kumimoji="0" lang="pt-BR" sz="1600" b="0" i="0" u="none" strike="noStrike" kern="1200" cap="none" spc="0" normalizeH="0" baseline="0" noProof="0" dirty="0" err="1">
                <a:ln>
                  <a:noFill/>
                </a:ln>
                <a:solidFill>
                  <a:prstClr val="black"/>
                </a:solidFill>
                <a:effectLst/>
                <a:uLnTx/>
                <a:uFillTx/>
                <a:latin typeface="Calibri"/>
                <a:ea typeface="+mj-ea"/>
                <a:cs typeface="+mj-cs"/>
              </a:rPr>
              <a:t>Mockup</a:t>
            </a:r>
            <a:r>
              <a:rPr kumimoji="0" lang="pt-BR" sz="1600" b="0" i="0" u="none" strike="noStrike" kern="1200" cap="none" spc="0" normalizeH="0" baseline="0" noProof="0" dirty="0">
                <a:ln>
                  <a:noFill/>
                </a:ln>
                <a:solidFill>
                  <a:prstClr val="black"/>
                </a:solidFill>
                <a:effectLst/>
                <a:uLnTx/>
                <a:uFillTx/>
                <a:latin typeface="Calibri"/>
                <a:ea typeface="+mj-ea"/>
                <a:cs typeface="+mj-cs"/>
              </a:rPr>
              <a:t> – Tela de Edição de </a:t>
            </a:r>
            <a:r>
              <a:rPr kumimoji="0" lang="pt-BR" sz="1600" b="0" i="0" u="none" strike="noStrike" kern="1200" cap="none" spc="0" normalizeH="0" baseline="0" noProof="0" dirty="0" err="1">
                <a:ln>
                  <a:noFill/>
                </a:ln>
                <a:solidFill>
                  <a:prstClr val="black"/>
                </a:solidFill>
                <a:effectLst/>
                <a:uLnTx/>
                <a:uFillTx/>
                <a:latin typeface="Calibri"/>
                <a:ea typeface="+mj-ea"/>
                <a:cs typeface="+mj-cs"/>
              </a:rPr>
              <a:t>Template</a:t>
            </a:r>
            <a:endParaRPr lang="pt-BR" dirty="0"/>
          </a:p>
        </p:txBody>
      </p:sp>
      <p:sp>
        <p:nvSpPr>
          <p:cNvPr id="5" name="Retângulo 4">
            <a:extLst>
              <a:ext uri="{FF2B5EF4-FFF2-40B4-BE49-F238E27FC236}">
                <a16:creationId xmlns:a16="http://schemas.microsoft.com/office/drawing/2014/main" id="{7E61E337-4053-8D16-4535-B93465E63593}"/>
              </a:ext>
            </a:extLst>
          </p:cNvPr>
          <p:cNvSpPr/>
          <p:nvPr/>
        </p:nvSpPr>
        <p:spPr>
          <a:xfrm rot="525205">
            <a:off x="4905785" y="2923159"/>
            <a:ext cx="2380430" cy="1011683"/>
          </a:xfrm>
          <a:prstGeom prst="rect">
            <a:avLst/>
          </a:prstGeom>
          <a:solidFill>
            <a:srgbClr val="FFFF99"/>
          </a:solid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800" b="1" dirty="0">
                <a:solidFill>
                  <a:srgbClr val="FF0000"/>
                </a:solidFill>
              </a:rPr>
              <a:t>Em Desenvolvimento</a:t>
            </a:r>
          </a:p>
        </p:txBody>
      </p:sp>
    </p:spTree>
    <p:extLst>
      <p:ext uri="{BB962C8B-B14F-4D97-AF65-F5344CB8AC3E}">
        <p14:creationId xmlns:p14="http://schemas.microsoft.com/office/powerpoint/2010/main" val="2944049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950A0-1E9B-AB8C-B993-4350FBAA4606}"/>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6FDA211-564A-295C-E8AE-05186C05AD6C}"/>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30EDEE27-095A-E255-C13F-D1F5B311D11A}"/>
              </a:ext>
            </a:extLst>
          </p:cNvPr>
          <p:cNvSpPr/>
          <p:nvPr/>
        </p:nvSpPr>
        <p:spPr>
          <a:xfrm>
            <a:off x="2711624" y="1628800"/>
            <a:ext cx="6552728" cy="5112568"/>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3AF6467E-4917-6E7E-23DC-18CFAECAEFAA}"/>
              </a:ext>
            </a:extLst>
          </p:cNvPr>
          <p:cNvSpPr/>
          <p:nvPr/>
        </p:nvSpPr>
        <p:spPr>
          <a:xfrm>
            <a:off x="2711624" y="369828"/>
            <a:ext cx="6552728" cy="898932"/>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600601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C19BE-4842-2F26-F43E-40A3875423EF}"/>
            </a:ext>
          </a:extLst>
        </p:cNvPr>
        <p:cNvGrpSpPr/>
        <p:nvPr/>
      </p:nvGrpSpPr>
      <p:grpSpPr>
        <a:xfrm>
          <a:off x="0" y="0"/>
          <a:ext cx="0" cy="0"/>
          <a:chOff x="0" y="0"/>
          <a:chExt cx="0" cy="0"/>
        </a:xfrm>
      </p:grpSpPr>
      <p:sp>
        <p:nvSpPr>
          <p:cNvPr id="4" name="CaixaDeTexto 21">
            <a:extLst>
              <a:ext uri="{FF2B5EF4-FFF2-40B4-BE49-F238E27FC236}">
                <a16:creationId xmlns:a16="http://schemas.microsoft.com/office/drawing/2014/main" id="{00A6B0D5-0793-0507-0F1D-20F47EAC0233}"/>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5" name="CaixaDeTexto 21">
            <a:extLst>
              <a:ext uri="{FF2B5EF4-FFF2-40B4-BE49-F238E27FC236}">
                <a16:creationId xmlns:a16="http://schemas.microsoft.com/office/drawing/2014/main" id="{BB70B8B7-950C-910E-492E-E9319DE0A0D2}"/>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7" name="CaixaDeTexto 21">
            <a:extLst>
              <a:ext uri="{FF2B5EF4-FFF2-40B4-BE49-F238E27FC236}">
                <a16:creationId xmlns:a16="http://schemas.microsoft.com/office/drawing/2014/main" id="{BFB7A767-4BAF-DB55-54BB-FEAD3454675F}"/>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8" name="CaixaDeTexto 21">
            <a:extLst>
              <a:ext uri="{FF2B5EF4-FFF2-40B4-BE49-F238E27FC236}">
                <a16:creationId xmlns:a16="http://schemas.microsoft.com/office/drawing/2014/main" id="{E081559D-077B-DFCD-75D1-2F438BAD91C3}"/>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9" name="CaixaDeTexto 21">
            <a:extLst>
              <a:ext uri="{FF2B5EF4-FFF2-40B4-BE49-F238E27FC236}">
                <a16:creationId xmlns:a16="http://schemas.microsoft.com/office/drawing/2014/main" id="{6FFDF3F7-E945-A28F-FC33-D8EBD83815E5}"/>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0" name="CaixaDeTexto 21">
            <a:extLst>
              <a:ext uri="{FF2B5EF4-FFF2-40B4-BE49-F238E27FC236}">
                <a16:creationId xmlns:a16="http://schemas.microsoft.com/office/drawing/2014/main" id="{45D23E23-D5B0-92D2-EE86-EEB28D6F1016}"/>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1" name="CaixaDeTexto 21">
            <a:extLst>
              <a:ext uri="{FF2B5EF4-FFF2-40B4-BE49-F238E27FC236}">
                <a16:creationId xmlns:a16="http://schemas.microsoft.com/office/drawing/2014/main" id="{E43D9DD9-E785-0BF3-08F9-D551C33C668F}"/>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 name="CaixaDeTexto 21">
            <a:extLst>
              <a:ext uri="{FF2B5EF4-FFF2-40B4-BE49-F238E27FC236}">
                <a16:creationId xmlns:a16="http://schemas.microsoft.com/office/drawing/2014/main" id="{5901DA0B-7690-C00D-9FCA-F42C8707D966}"/>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 name="CaixaDeTexto 21">
            <a:extLst>
              <a:ext uri="{FF2B5EF4-FFF2-40B4-BE49-F238E27FC236}">
                <a16:creationId xmlns:a16="http://schemas.microsoft.com/office/drawing/2014/main" id="{0A8BA015-7523-708D-6745-1A0283738A92}"/>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4" name="CaixaDeTexto 21">
            <a:extLst>
              <a:ext uri="{FF2B5EF4-FFF2-40B4-BE49-F238E27FC236}">
                <a16:creationId xmlns:a16="http://schemas.microsoft.com/office/drawing/2014/main" id="{4B3BC96D-3AEE-6787-C64D-1BD6505A2C26}"/>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 </a:t>
            </a:r>
            <a:r>
              <a:rPr lang="pt-BR" dirty="0" err="1"/>
              <a:t>GMUDs</a:t>
            </a:r>
            <a:endParaRPr lang="pt-BR" dirty="0"/>
          </a:p>
        </p:txBody>
      </p:sp>
      <p:sp>
        <p:nvSpPr>
          <p:cNvPr id="15" name="CaixaDeTexto 21">
            <a:extLst>
              <a:ext uri="{FF2B5EF4-FFF2-40B4-BE49-F238E27FC236}">
                <a16:creationId xmlns:a16="http://schemas.microsoft.com/office/drawing/2014/main" id="{1752164D-5302-D813-22F9-80C5D8885820}"/>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6" name="CaixaDeTexto 21">
            <a:extLst>
              <a:ext uri="{FF2B5EF4-FFF2-40B4-BE49-F238E27FC236}">
                <a16:creationId xmlns:a16="http://schemas.microsoft.com/office/drawing/2014/main" id="{690912DD-F510-36CC-3053-E35299D867CE}"/>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7" name="CaixaDeTexto 21">
            <a:extLst>
              <a:ext uri="{FF2B5EF4-FFF2-40B4-BE49-F238E27FC236}">
                <a16:creationId xmlns:a16="http://schemas.microsoft.com/office/drawing/2014/main" id="{4ADE84AF-5BAD-069F-F8D5-49D844093378}"/>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20" name="CaixaDeTexto 557">
            <a:extLst>
              <a:ext uri="{FF2B5EF4-FFF2-40B4-BE49-F238E27FC236}">
                <a16:creationId xmlns:a16="http://schemas.microsoft.com/office/drawing/2014/main" id="{E8B16286-319A-6B08-5FE9-4540CB486FC1}"/>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38" name="CaixaDeTexto 557">
            <a:extLst>
              <a:ext uri="{FF2B5EF4-FFF2-40B4-BE49-F238E27FC236}">
                <a16:creationId xmlns:a16="http://schemas.microsoft.com/office/drawing/2014/main" id="{17676B4E-D42D-6C9F-41E2-65869A098924}"/>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41" name="CaixaDeTexto 557">
            <a:extLst>
              <a:ext uri="{FF2B5EF4-FFF2-40B4-BE49-F238E27FC236}">
                <a16:creationId xmlns:a16="http://schemas.microsoft.com/office/drawing/2014/main" id="{9080A144-EF13-D792-8D90-CF9E475C7B71}"/>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43" name="CaixaDeTexto 557">
            <a:extLst>
              <a:ext uri="{FF2B5EF4-FFF2-40B4-BE49-F238E27FC236}">
                <a16:creationId xmlns:a16="http://schemas.microsoft.com/office/drawing/2014/main" id="{3B6C6846-A81A-87CF-F2D1-8722B4A6DC93}"/>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44" name="CaixaDeTexto 21">
            <a:extLst>
              <a:ext uri="{FF2B5EF4-FFF2-40B4-BE49-F238E27FC236}">
                <a16:creationId xmlns:a16="http://schemas.microsoft.com/office/drawing/2014/main" id="{23FB915C-C2E8-1BF0-D714-30CCE29DD211}"/>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47" name="CaixaDeTexto 21">
            <a:extLst>
              <a:ext uri="{FF2B5EF4-FFF2-40B4-BE49-F238E27FC236}">
                <a16:creationId xmlns:a16="http://schemas.microsoft.com/office/drawing/2014/main" id="{13DB8150-C62D-91F2-B549-6DE3852AB0AD}"/>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73" name="CaixaDeTexto 557">
            <a:extLst>
              <a:ext uri="{FF2B5EF4-FFF2-40B4-BE49-F238E27FC236}">
                <a16:creationId xmlns:a16="http://schemas.microsoft.com/office/drawing/2014/main" id="{B3F06CA0-1F39-A54C-68E9-4C8F0F2A0686}"/>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48" name="CaixaDeTexto 21">
            <a:extLst>
              <a:ext uri="{FF2B5EF4-FFF2-40B4-BE49-F238E27FC236}">
                <a16:creationId xmlns:a16="http://schemas.microsoft.com/office/drawing/2014/main" id="{C7A889B0-271F-A4DA-96F6-0490E5FD0217}"/>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55" name="CaixaDeTexto 21">
            <a:extLst>
              <a:ext uri="{FF2B5EF4-FFF2-40B4-BE49-F238E27FC236}">
                <a16:creationId xmlns:a16="http://schemas.microsoft.com/office/drawing/2014/main" id="{0FBE74E1-7F3A-CB80-B847-B949E3BBF8A9}"/>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74" name="CaixaDeTexto 21">
            <a:extLst>
              <a:ext uri="{FF2B5EF4-FFF2-40B4-BE49-F238E27FC236}">
                <a16:creationId xmlns:a16="http://schemas.microsoft.com/office/drawing/2014/main" id="{27AEB2A8-424D-07B1-54BF-237C63FAE329}"/>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24" name="Straight Arrow Connector 23">
            <a:extLst>
              <a:ext uri="{FF2B5EF4-FFF2-40B4-BE49-F238E27FC236}">
                <a16:creationId xmlns:a16="http://schemas.microsoft.com/office/drawing/2014/main" id="{E3B29499-ADCF-C4D5-9074-E12B2281C696}"/>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6" name="CaixaDeTexto 557">
            <a:extLst>
              <a:ext uri="{FF2B5EF4-FFF2-40B4-BE49-F238E27FC236}">
                <a16:creationId xmlns:a16="http://schemas.microsoft.com/office/drawing/2014/main" id="{FBF51B48-1998-37D8-1CFC-286033778815}"/>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54" name="CaixaDeTexto 21">
            <a:extLst>
              <a:ext uri="{FF2B5EF4-FFF2-40B4-BE49-F238E27FC236}">
                <a16:creationId xmlns:a16="http://schemas.microsoft.com/office/drawing/2014/main" id="{1E332A4A-1317-AF30-92C3-F436D1A12D74}"/>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75" name="CaixaDeTexto 21">
            <a:extLst>
              <a:ext uri="{FF2B5EF4-FFF2-40B4-BE49-F238E27FC236}">
                <a16:creationId xmlns:a16="http://schemas.microsoft.com/office/drawing/2014/main" id="{DF252432-AD09-31D5-A5E1-FE85CE191B43}"/>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28" name="Straight Arrow Connector 27">
            <a:extLst>
              <a:ext uri="{FF2B5EF4-FFF2-40B4-BE49-F238E27FC236}">
                <a16:creationId xmlns:a16="http://schemas.microsoft.com/office/drawing/2014/main" id="{7B75EDD5-EF1A-98EF-F552-230CD719C927}"/>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7" name="CaixaDeTexto 557">
            <a:extLst>
              <a:ext uri="{FF2B5EF4-FFF2-40B4-BE49-F238E27FC236}">
                <a16:creationId xmlns:a16="http://schemas.microsoft.com/office/drawing/2014/main" id="{E2E4AE18-B85A-1A6B-0F90-D457A83E6A5B}"/>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56" name="CaixaDeTexto 21">
            <a:extLst>
              <a:ext uri="{FF2B5EF4-FFF2-40B4-BE49-F238E27FC236}">
                <a16:creationId xmlns:a16="http://schemas.microsoft.com/office/drawing/2014/main" id="{1D54E6C7-F95C-AFD0-31EF-BE0FA66C8A04}"/>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88" name="CaixaDeTexto 21">
            <a:extLst>
              <a:ext uri="{FF2B5EF4-FFF2-40B4-BE49-F238E27FC236}">
                <a16:creationId xmlns:a16="http://schemas.microsoft.com/office/drawing/2014/main" id="{04924BDD-D64E-E8B5-F551-C8700BBD4251}"/>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31" name="Straight Arrow Connector 30">
            <a:extLst>
              <a:ext uri="{FF2B5EF4-FFF2-40B4-BE49-F238E27FC236}">
                <a16:creationId xmlns:a16="http://schemas.microsoft.com/office/drawing/2014/main" id="{A8DE984D-3A52-731C-6012-AE3A9B91FE6D}"/>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0" name="CaixaDeTexto 557">
            <a:extLst>
              <a:ext uri="{FF2B5EF4-FFF2-40B4-BE49-F238E27FC236}">
                <a16:creationId xmlns:a16="http://schemas.microsoft.com/office/drawing/2014/main" id="{207CDD9F-FF68-3A74-CCCF-C69F968F400F}"/>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a:t>
            </a:r>
            <a:br>
              <a:rPr lang="pt-BR" sz="1000" b="1" i="1" dirty="0"/>
            </a:br>
            <a:r>
              <a:rPr lang="pt-BR" sz="1000" b="1" i="1" dirty="0"/>
              <a:t>meses</a:t>
            </a:r>
          </a:p>
        </p:txBody>
      </p:sp>
      <p:sp>
        <p:nvSpPr>
          <p:cNvPr id="57" name="CaixaDeTexto 21">
            <a:extLst>
              <a:ext uri="{FF2B5EF4-FFF2-40B4-BE49-F238E27FC236}">
                <a16:creationId xmlns:a16="http://schemas.microsoft.com/office/drawing/2014/main" id="{61E0B764-7E60-70EB-224E-F6DA2AECB274}"/>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89" name="CaixaDeTexto 21">
            <a:extLst>
              <a:ext uri="{FF2B5EF4-FFF2-40B4-BE49-F238E27FC236}">
                <a16:creationId xmlns:a16="http://schemas.microsoft.com/office/drawing/2014/main" id="{D0780AFB-78FA-C3FD-F12D-0B6A419038D7}"/>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35" name="Straight Arrow Connector 34">
            <a:extLst>
              <a:ext uri="{FF2B5EF4-FFF2-40B4-BE49-F238E27FC236}">
                <a16:creationId xmlns:a16="http://schemas.microsoft.com/office/drawing/2014/main" id="{64FEE2F6-E349-8C75-C0AA-DD8053636537}"/>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1" name="CaixaDeTexto 557">
            <a:extLst>
              <a:ext uri="{FF2B5EF4-FFF2-40B4-BE49-F238E27FC236}">
                <a16:creationId xmlns:a16="http://schemas.microsoft.com/office/drawing/2014/main" id="{3BD7B697-2951-6107-289E-60EA9D7AD13F}"/>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58" name="CaixaDeTexto 21">
            <a:extLst>
              <a:ext uri="{FF2B5EF4-FFF2-40B4-BE49-F238E27FC236}">
                <a16:creationId xmlns:a16="http://schemas.microsoft.com/office/drawing/2014/main" id="{45080BE6-E8B5-B278-FDCE-2DC120322C31}"/>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91" name="CaixaDeTexto 21">
            <a:extLst>
              <a:ext uri="{FF2B5EF4-FFF2-40B4-BE49-F238E27FC236}">
                <a16:creationId xmlns:a16="http://schemas.microsoft.com/office/drawing/2014/main" id="{0CAAFC8C-5B53-F57A-4A28-EAE263FAD8C8}"/>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39" name="Straight Arrow Connector 38">
            <a:extLst>
              <a:ext uri="{FF2B5EF4-FFF2-40B4-BE49-F238E27FC236}">
                <a16:creationId xmlns:a16="http://schemas.microsoft.com/office/drawing/2014/main" id="{D559C8DF-878B-324A-3967-12C19D6F4113}"/>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2" name="CaixaDeTexto 557">
            <a:extLst>
              <a:ext uri="{FF2B5EF4-FFF2-40B4-BE49-F238E27FC236}">
                <a16:creationId xmlns:a16="http://schemas.microsoft.com/office/drawing/2014/main" id="{EBA8FF92-EFA1-8E26-7638-1779058A8753}"/>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45" name="CaixaDeTexto 21">
            <a:extLst>
              <a:ext uri="{FF2B5EF4-FFF2-40B4-BE49-F238E27FC236}">
                <a16:creationId xmlns:a16="http://schemas.microsoft.com/office/drawing/2014/main" id="{DBAE5313-DA1C-4B45-7452-9A8B517B962F}"/>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60" name="CaixaDeTexto 21">
            <a:extLst>
              <a:ext uri="{FF2B5EF4-FFF2-40B4-BE49-F238E27FC236}">
                <a16:creationId xmlns:a16="http://schemas.microsoft.com/office/drawing/2014/main" id="{F5995AE1-CC08-B405-F230-F99B9C90AE7A}"/>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2" name="CaixaDeTexto 21">
            <a:extLst>
              <a:ext uri="{FF2B5EF4-FFF2-40B4-BE49-F238E27FC236}">
                <a16:creationId xmlns:a16="http://schemas.microsoft.com/office/drawing/2014/main" id="{377EAB8C-3A16-47D6-9B1B-54FDD85C7E1E}"/>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63" name="Straight Arrow Connector 62">
            <a:extLst>
              <a:ext uri="{FF2B5EF4-FFF2-40B4-BE49-F238E27FC236}">
                <a16:creationId xmlns:a16="http://schemas.microsoft.com/office/drawing/2014/main" id="{3335B7BA-2541-20A0-3C84-7ACE94F16EBB}"/>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3" name="CaixaDeTexto 557">
            <a:extLst>
              <a:ext uri="{FF2B5EF4-FFF2-40B4-BE49-F238E27FC236}">
                <a16:creationId xmlns:a16="http://schemas.microsoft.com/office/drawing/2014/main" id="{F97DCBAB-8C8B-0259-4241-AEFC2ADB867D}"/>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59" name="CaixaDeTexto 21">
            <a:extLst>
              <a:ext uri="{FF2B5EF4-FFF2-40B4-BE49-F238E27FC236}">
                <a16:creationId xmlns:a16="http://schemas.microsoft.com/office/drawing/2014/main" id="{8647A4B6-C050-7EF6-FEF5-0433C5CAA24D}"/>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92" name="CaixaDeTexto 21">
            <a:extLst>
              <a:ext uri="{FF2B5EF4-FFF2-40B4-BE49-F238E27FC236}">
                <a16:creationId xmlns:a16="http://schemas.microsoft.com/office/drawing/2014/main" id="{7C528B5D-3CD1-6078-3908-DB3528E5C3AB}"/>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46" name="Straight Arrow Connector 38">
            <a:extLst>
              <a:ext uri="{FF2B5EF4-FFF2-40B4-BE49-F238E27FC236}">
                <a16:creationId xmlns:a16="http://schemas.microsoft.com/office/drawing/2014/main" id="{858A3991-F692-BB23-4BD6-E238421C9EB0}"/>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9" name="CaixaDeTexto 557">
            <a:extLst>
              <a:ext uri="{FF2B5EF4-FFF2-40B4-BE49-F238E27FC236}">
                <a16:creationId xmlns:a16="http://schemas.microsoft.com/office/drawing/2014/main" id="{66665D86-65D0-1E2C-CB07-5A38C9FCFC4A}"/>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32" name="CaixaDeTexto 21">
            <a:extLst>
              <a:ext uri="{FF2B5EF4-FFF2-40B4-BE49-F238E27FC236}">
                <a16:creationId xmlns:a16="http://schemas.microsoft.com/office/drawing/2014/main" id="{2E1A3C8C-C01B-62E6-1F48-8696B49EF1FB}"/>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33" name="CaixaDeTexto 21">
            <a:extLst>
              <a:ext uri="{FF2B5EF4-FFF2-40B4-BE49-F238E27FC236}">
                <a16:creationId xmlns:a16="http://schemas.microsoft.com/office/drawing/2014/main" id="{3D07DEFA-3256-F541-BA85-416FB632D8AD}"/>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50" name="Straight Arrow Connector 62">
            <a:extLst>
              <a:ext uri="{FF2B5EF4-FFF2-40B4-BE49-F238E27FC236}">
                <a16:creationId xmlns:a16="http://schemas.microsoft.com/office/drawing/2014/main" id="{D12C4CB4-1C8C-637A-C156-C0DFF232BD3E}"/>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1" name="CaixaDeTexto 557">
            <a:extLst>
              <a:ext uri="{FF2B5EF4-FFF2-40B4-BE49-F238E27FC236}">
                <a16:creationId xmlns:a16="http://schemas.microsoft.com/office/drawing/2014/main" id="{D0BA8E88-895E-F951-56B9-59F7D2281E90}"/>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34" name="CaixaDeTexto 21">
            <a:extLst>
              <a:ext uri="{FF2B5EF4-FFF2-40B4-BE49-F238E27FC236}">
                <a16:creationId xmlns:a16="http://schemas.microsoft.com/office/drawing/2014/main" id="{88695673-4625-8D33-CF2B-BB1D9682379C}"/>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36" name="CaixaDeTexto 21">
            <a:extLst>
              <a:ext uri="{FF2B5EF4-FFF2-40B4-BE49-F238E27FC236}">
                <a16:creationId xmlns:a16="http://schemas.microsoft.com/office/drawing/2014/main" id="{9834B1EF-E0AA-B12E-8ACD-68D143FDCE0B}"/>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52" name="Straight Arrow Connector 62">
            <a:extLst>
              <a:ext uri="{FF2B5EF4-FFF2-40B4-BE49-F238E27FC236}">
                <a16:creationId xmlns:a16="http://schemas.microsoft.com/office/drawing/2014/main" id="{5B84F03D-4B88-B56A-A4A8-77034E818C25}"/>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3" name="CaixaDeTexto 557">
            <a:extLst>
              <a:ext uri="{FF2B5EF4-FFF2-40B4-BE49-F238E27FC236}">
                <a16:creationId xmlns:a16="http://schemas.microsoft.com/office/drawing/2014/main" id="{DD7BA8C3-0B9A-B60C-4F23-4E244400085E}"/>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37" name="CaixaDeTexto 21">
            <a:extLst>
              <a:ext uri="{FF2B5EF4-FFF2-40B4-BE49-F238E27FC236}">
                <a16:creationId xmlns:a16="http://schemas.microsoft.com/office/drawing/2014/main" id="{9263A010-D363-ECBF-8FD3-3145D14953F8}"/>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40" name="CaixaDeTexto 21">
            <a:extLst>
              <a:ext uri="{FF2B5EF4-FFF2-40B4-BE49-F238E27FC236}">
                <a16:creationId xmlns:a16="http://schemas.microsoft.com/office/drawing/2014/main" id="{22C4CCA8-3A8C-F09B-E326-958AD61014D4}"/>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64" name="Straight Arrow Connector 62">
            <a:extLst>
              <a:ext uri="{FF2B5EF4-FFF2-40B4-BE49-F238E27FC236}">
                <a16:creationId xmlns:a16="http://schemas.microsoft.com/office/drawing/2014/main" id="{5262A379-197B-96A2-9C4F-0BD2FF35BD50}"/>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5" name="CaixaDeTexto 557">
            <a:extLst>
              <a:ext uri="{FF2B5EF4-FFF2-40B4-BE49-F238E27FC236}">
                <a16:creationId xmlns:a16="http://schemas.microsoft.com/office/drawing/2014/main" id="{E86CEAFE-2F11-A98D-98F8-21A4B376ADF3}"/>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9" name="Agrupar 18">
            <a:extLst>
              <a:ext uri="{FF2B5EF4-FFF2-40B4-BE49-F238E27FC236}">
                <a16:creationId xmlns:a16="http://schemas.microsoft.com/office/drawing/2014/main" id="{161B0652-4AEC-393F-4A87-EF2726B43982}"/>
              </a:ext>
            </a:extLst>
          </p:cNvPr>
          <p:cNvGrpSpPr/>
          <p:nvPr/>
        </p:nvGrpSpPr>
        <p:grpSpPr>
          <a:xfrm>
            <a:off x="0" y="2833300"/>
            <a:ext cx="12192001" cy="3850902"/>
            <a:chOff x="0" y="3356992"/>
            <a:chExt cx="12192001" cy="3312367"/>
          </a:xfrm>
        </p:grpSpPr>
        <p:sp>
          <p:nvSpPr>
            <p:cNvPr id="3" name="Retângulo 2">
              <a:extLst>
                <a:ext uri="{FF2B5EF4-FFF2-40B4-BE49-F238E27FC236}">
                  <a16:creationId xmlns:a16="http://schemas.microsoft.com/office/drawing/2014/main" id="{87472303-29DB-3DD0-8A83-8D2479ECD3A2}"/>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A9A6D5B8-990D-0A75-9F52-3DFE3116A928}"/>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 name="CaixaDeTexto 21">
            <a:extLst>
              <a:ext uri="{FF2B5EF4-FFF2-40B4-BE49-F238E27FC236}">
                <a16:creationId xmlns:a16="http://schemas.microsoft.com/office/drawing/2014/main" id="{CEA3BAF4-E670-B04F-A7F6-781C6F98D7E7}"/>
              </a:ext>
            </a:extLst>
          </p:cNvPr>
          <p:cNvSpPr txBox="1"/>
          <p:nvPr/>
        </p:nvSpPr>
        <p:spPr>
          <a:xfrm>
            <a:off x="1495995" y="3838007"/>
            <a:ext cx="10360645"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3. Status e Dinâmica </a:t>
            </a:r>
            <a:r>
              <a:rPr lang="pt-BR"/>
              <a:t>de FEL’s</a:t>
            </a:r>
            <a:endParaRPr lang="pt-BR" dirty="0"/>
          </a:p>
        </p:txBody>
      </p:sp>
      <p:sp>
        <p:nvSpPr>
          <p:cNvPr id="21" name="Title 61">
            <a:extLst>
              <a:ext uri="{FF2B5EF4-FFF2-40B4-BE49-F238E27FC236}">
                <a16:creationId xmlns:a16="http://schemas.microsoft.com/office/drawing/2014/main" id="{76DBF9F2-C4FF-0D05-2C5D-4DC2439102D0}"/>
              </a:ext>
            </a:extLst>
          </p:cNvPr>
          <p:cNvSpPr txBox="1">
            <a:spLocks/>
          </p:cNvSpPr>
          <p:nvPr/>
        </p:nvSpPr>
        <p:spPr>
          <a:xfrm>
            <a:off x="1089653" y="303578"/>
            <a:ext cx="10485852" cy="645195"/>
          </a:xfrm>
          <a:prstGeom prst="rect">
            <a:avLst/>
          </a:prstGeom>
        </p:spPr>
        <p:txBody>
          <a:bodyPr vert="horz" lIns="91440" tIns="45720" rIns="91440" bIns="45720" rtlCol="0" anchor="ctr">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r>
              <a:rPr lang="en-US" dirty="0"/>
              <a:t>HUB de Obras</a:t>
            </a:r>
            <a:br>
              <a:rPr lang="en-US" dirty="0"/>
            </a:br>
            <a:r>
              <a:rPr lang="en-US" sz="1800" b="0" dirty="0" err="1"/>
              <a:t>tema</a:t>
            </a:r>
            <a:r>
              <a:rPr lang="en-US" sz="1800" b="0" dirty="0"/>
              <a:t> 03: Status e </a:t>
            </a:r>
            <a:r>
              <a:rPr lang="en-US" sz="1800" b="0" dirty="0" err="1"/>
              <a:t>Dinâmica</a:t>
            </a:r>
            <a:r>
              <a:rPr lang="en-US" sz="1800" b="0" dirty="0"/>
              <a:t> de FEL’s</a:t>
            </a:r>
          </a:p>
        </p:txBody>
      </p:sp>
    </p:spTree>
    <p:extLst>
      <p:ext uri="{BB962C8B-B14F-4D97-AF65-F5344CB8AC3E}">
        <p14:creationId xmlns:p14="http://schemas.microsoft.com/office/powerpoint/2010/main" val="3582452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EDA21-6D8C-7524-4AD1-1E247753E920}"/>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05CCBD03-042E-CE69-8BA7-F5E48554966E}"/>
              </a:ext>
            </a:extLst>
          </p:cNvPr>
          <p:cNvSpPr>
            <a:spLocks noGrp="1"/>
          </p:cNvSpPr>
          <p:nvPr>
            <p:ph type="title"/>
          </p:nvPr>
        </p:nvSpPr>
        <p:spPr>
          <a:xfrm>
            <a:off x="1089653" y="303578"/>
            <a:ext cx="10485852" cy="645195"/>
          </a:xfrm>
        </p:spPr>
        <p:txBody>
          <a:bodyPr/>
          <a:lstStyle/>
          <a:p>
            <a:pPr defTabSz="1055035">
              <a:lnSpc>
                <a:spcPct val="100000"/>
              </a:lnSpc>
              <a:spcBef>
                <a:spcPts val="0"/>
              </a:spcBef>
              <a:tabLst>
                <a:tab pos="9415463" algn="l"/>
              </a:tabLst>
              <a:defRPr/>
            </a:pPr>
            <a:r>
              <a:rPr lang="pt-BR" dirty="0"/>
              <a:t>Status da Parada 		(1/2)</a:t>
            </a:r>
            <a:br>
              <a:rPr lang="pt-BR" dirty="0"/>
            </a:br>
            <a:r>
              <a:rPr lang="pt-BR" sz="1600" b="0" dirty="0">
                <a:solidFill>
                  <a:prstClr val="black"/>
                </a:solidFill>
                <a:latin typeface="Calibri"/>
              </a:rPr>
              <a:t>Marcos de início e pré-requisitos mínimos para a mudança de status</a:t>
            </a:r>
            <a:endParaRPr lang="pt-BR" b="0" dirty="0"/>
          </a:p>
        </p:txBody>
      </p:sp>
      <p:sp>
        <p:nvSpPr>
          <p:cNvPr id="546" name="CaixaDeTexto 557">
            <a:extLst>
              <a:ext uri="{FF2B5EF4-FFF2-40B4-BE49-F238E27FC236}">
                <a16:creationId xmlns:a16="http://schemas.microsoft.com/office/drawing/2014/main" id="{AB3A6BED-370F-7ED2-5CA0-70FF5AD8AFF2}"/>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547" name="CaixaDeTexto 557">
            <a:extLst>
              <a:ext uri="{FF2B5EF4-FFF2-40B4-BE49-F238E27FC236}">
                <a16:creationId xmlns:a16="http://schemas.microsoft.com/office/drawing/2014/main" id="{44A48EA8-1992-FE47-9391-23C6C15A4C98}"/>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548" name="CaixaDeTexto 557">
            <a:extLst>
              <a:ext uri="{FF2B5EF4-FFF2-40B4-BE49-F238E27FC236}">
                <a16:creationId xmlns:a16="http://schemas.microsoft.com/office/drawing/2014/main" id="{7A029E5D-5AA6-E08E-3ADF-13B5DDBDFE0F}"/>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549" name="CaixaDeTexto 21">
            <a:extLst>
              <a:ext uri="{FF2B5EF4-FFF2-40B4-BE49-F238E27FC236}">
                <a16:creationId xmlns:a16="http://schemas.microsoft.com/office/drawing/2014/main" id="{9B0464E9-14A6-D6F3-B726-E81CD565EE65}"/>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550" name="CaixaDeTexto 21">
            <a:extLst>
              <a:ext uri="{FF2B5EF4-FFF2-40B4-BE49-F238E27FC236}">
                <a16:creationId xmlns:a16="http://schemas.microsoft.com/office/drawing/2014/main" id="{6D463521-600C-6AFA-F23F-730F085D0C0E}"/>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566" name="CaixaDeTexto 557">
            <a:extLst>
              <a:ext uri="{FF2B5EF4-FFF2-40B4-BE49-F238E27FC236}">
                <a16:creationId xmlns:a16="http://schemas.microsoft.com/office/drawing/2014/main" id="{F2B3BDBE-CA00-F5C5-9F6A-E77D92F70B11}"/>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567" name="CaixaDeTexto 21">
            <a:extLst>
              <a:ext uri="{FF2B5EF4-FFF2-40B4-BE49-F238E27FC236}">
                <a16:creationId xmlns:a16="http://schemas.microsoft.com/office/drawing/2014/main" id="{CA50005D-66AA-9114-8F26-09759DD8706C}"/>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568" name="CaixaDeTexto 21">
            <a:extLst>
              <a:ext uri="{FF2B5EF4-FFF2-40B4-BE49-F238E27FC236}">
                <a16:creationId xmlns:a16="http://schemas.microsoft.com/office/drawing/2014/main" id="{A052AE74-AAF7-B9AA-63A5-D036FED4C0D7}"/>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569" name="CaixaDeTexto 21">
            <a:extLst>
              <a:ext uri="{FF2B5EF4-FFF2-40B4-BE49-F238E27FC236}">
                <a16:creationId xmlns:a16="http://schemas.microsoft.com/office/drawing/2014/main" id="{B7D521E9-E856-897E-ECD1-6E725B53ED79}"/>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570" name="Straight Arrow Connector 23">
            <a:extLst>
              <a:ext uri="{FF2B5EF4-FFF2-40B4-BE49-F238E27FC236}">
                <a16:creationId xmlns:a16="http://schemas.microsoft.com/office/drawing/2014/main" id="{3A8CBE16-9D34-099A-5A67-F58F026435CD}"/>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1" name="CaixaDeTexto 557">
            <a:extLst>
              <a:ext uri="{FF2B5EF4-FFF2-40B4-BE49-F238E27FC236}">
                <a16:creationId xmlns:a16="http://schemas.microsoft.com/office/drawing/2014/main" id="{8BE26C26-EFB4-9F5C-A289-6F29D1631515}"/>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572" name="CaixaDeTexto 21">
            <a:extLst>
              <a:ext uri="{FF2B5EF4-FFF2-40B4-BE49-F238E27FC236}">
                <a16:creationId xmlns:a16="http://schemas.microsoft.com/office/drawing/2014/main" id="{E0B757A3-8B03-BB8C-B3C9-F4C19A6CCDA8}"/>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573" name="CaixaDeTexto 21">
            <a:extLst>
              <a:ext uri="{FF2B5EF4-FFF2-40B4-BE49-F238E27FC236}">
                <a16:creationId xmlns:a16="http://schemas.microsoft.com/office/drawing/2014/main" id="{03063675-40D3-CAF7-B0D1-E473CF360E40}"/>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574" name="Straight Arrow Connector 27">
            <a:extLst>
              <a:ext uri="{FF2B5EF4-FFF2-40B4-BE49-F238E27FC236}">
                <a16:creationId xmlns:a16="http://schemas.microsoft.com/office/drawing/2014/main" id="{C0F43F71-2B94-DC94-CF9F-76BB35D473E2}"/>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5" name="CaixaDeTexto 557">
            <a:extLst>
              <a:ext uri="{FF2B5EF4-FFF2-40B4-BE49-F238E27FC236}">
                <a16:creationId xmlns:a16="http://schemas.microsoft.com/office/drawing/2014/main" id="{7CC4F6C9-410F-5D17-B085-F79AE12B4AB7}"/>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576" name="CaixaDeTexto 21">
            <a:extLst>
              <a:ext uri="{FF2B5EF4-FFF2-40B4-BE49-F238E27FC236}">
                <a16:creationId xmlns:a16="http://schemas.microsoft.com/office/drawing/2014/main" id="{E4D6EA9C-01DC-9ED2-E3E9-7F33DE264C6C}"/>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577" name="CaixaDeTexto 21">
            <a:extLst>
              <a:ext uri="{FF2B5EF4-FFF2-40B4-BE49-F238E27FC236}">
                <a16:creationId xmlns:a16="http://schemas.microsoft.com/office/drawing/2014/main" id="{5C1DD674-50D2-E62A-D6E4-304541F8D686}"/>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578" name="Straight Arrow Connector 30">
            <a:extLst>
              <a:ext uri="{FF2B5EF4-FFF2-40B4-BE49-F238E27FC236}">
                <a16:creationId xmlns:a16="http://schemas.microsoft.com/office/drawing/2014/main" id="{081F7133-E34E-E26D-E680-7A3DD995A92D}"/>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9" name="CaixaDeTexto 557">
            <a:extLst>
              <a:ext uri="{FF2B5EF4-FFF2-40B4-BE49-F238E27FC236}">
                <a16:creationId xmlns:a16="http://schemas.microsoft.com/office/drawing/2014/main" id="{566DC665-8668-1F03-E18B-2F946FF731E6}"/>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580" name="CaixaDeTexto 21">
            <a:extLst>
              <a:ext uri="{FF2B5EF4-FFF2-40B4-BE49-F238E27FC236}">
                <a16:creationId xmlns:a16="http://schemas.microsoft.com/office/drawing/2014/main" id="{E27F7BB7-9383-7D8D-6D17-9CFC2A3022DE}"/>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581" name="CaixaDeTexto 21">
            <a:extLst>
              <a:ext uri="{FF2B5EF4-FFF2-40B4-BE49-F238E27FC236}">
                <a16:creationId xmlns:a16="http://schemas.microsoft.com/office/drawing/2014/main" id="{80CE3A3E-A07F-9271-2B88-BC06034B864D}"/>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582" name="Straight Arrow Connector 34">
            <a:extLst>
              <a:ext uri="{FF2B5EF4-FFF2-40B4-BE49-F238E27FC236}">
                <a16:creationId xmlns:a16="http://schemas.microsoft.com/office/drawing/2014/main" id="{CCD6EA68-AE17-4094-975C-4E4B1C42DEC9}"/>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3" name="CaixaDeTexto 557">
            <a:extLst>
              <a:ext uri="{FF2B5EF4-FFF2-40B4-BE49-F238E27FC236}">
                <a16:creationId xmlns:a16="http://schemas.microsoft.com/office/drawing/2014/main" id="{D3D450B9-427A-3BE2-8CE3-7D59A6FA493A}"/>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584" name="CaixaDeTexto 21">
            <a:extLst>
              <a:ext uri="{FF2B5EF4-FFF2-40B4-BE49-F238E27FC236}">
                <a16:creationId xmlns:a16="http://schemas.microsoft.com/office/drawing/2014/main" id="{49A15D55-7A00-1406-A7D6-B35A6E427EE5}"/>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585" name="CaixaDeTexto 21">
            <a:extLst>
              <a:ext uri="{FF2B5EF4-FFF2-40B4-BE49-F238E27FC236}">
                <a16:creationId xmlns:a16="http://schemas.microsoft.com/office/drawing/2014/main" id="{420D1D12-D43F-F515-7A9A-25E69CC2F19B}"/>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586" name="Straight Arrow Connector 38">
            <a:extLst>
              <a:ext uri="{FF2B5EF4-FFF2-40B4-BE49-F238E27FC236}">
                <a16:creationId xmlns:a16="http://schemas.microsoft.com/office/drawing/2014/main" id="{51842E5A-F83F-3BBF-AB1D-985B0B954743}"/>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7" name="CaixaDeTexto 557">
            <a:extLst>
              <a:ext uri="{FF2B5EF4-FFF2-40B4-BE49-F238E27FC236}">
                <a16:creationId xmlns:a16="http://schemas.microsoft.com/office/drawing/2014/main" id="{4D815BF9-0F50-AEFE-D867-0541D4B39F2D}"/>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588" name="CaixaDeTexto 21">
            <a:extLst>
              <a:ext uri="{FF2B5EF4-FFF2-40B4-BE49-F238E27FC236}">
                <a16:creationId xmlns:a16="http://schemas.microsoft.com/office/drawing/2014/main" id="{227D4E07-4A0A-FF7C-8EF5-4C91B6A8F089}"/>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589" name="CaixaDeTexto 21">
            <a:extLst>
              <a:ext uri="{FF2B5EF4-FFF2-40B4-BE49-F238E27FC236}">
                <a16:creationId xmlns:a16="http://schemas.microsoft.com/office/drawing/2014/main" id="{151EFE5D-98D8-BD4D-7C6C-F48572CAE19F}"/>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590" name="CaixaDeTexto 21">
            <a:extLst>
              <a:ext uri="{FF2B5EF4-FFF2-40B4-BE49-F238E27FC236}">
                <a16:creationId xmlns:a16="http://schemas.microsoft.com/office/drawing/2014/main" id="{E91CEA36-000D-EE8D-459B-6A67B4BB0CAE}"/>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591" name="Straight Arrow Connector 62">
            <a:extLst>
              <a:ext uri="{FF2B5EF4-FFF2-40B4-BE49-F238E27FC236}">
                <a16:creationId xmlns:a16="http://schemas.microsoft.com/office/drawing/2014/main" id="{FCF9D20A-E83C-E27F-4D24-DD5E3E6F76DC}"/>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2" name="CaixaDeTexto 557">
            <a:extLst>
              <a:ext uri="{FF2B5EF4-FFF2-40B4-BE49-F238E27FC236}">
                <a16:creationId xmlns:a16="http://schemas.microsoft.com/office/drawing/2014/main" id="{0E47A45B-D356-C769-C3E9-58AEA9780710}"/>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593" name="CaixaDeTexto 21">
            <a:extLst>
              <a:ext uri="{FF2B5EF4-FFF2-40B4-BE49-F238E27FC236}">
                <a16:creationId xmlns:a16="http://schemas.microsoft.com/office/drawing/2014/main" id="{777C5ABB-5FC3-B25D-F85C-B96C292CA946}"/>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594" name="CaixaDeTexto 21">
            <a:extLst>
              <a:ext uri="{FF2B5EF4-FFF2-40B4-BE49-F238E27FC236}">
                <a16:creationId xmlns:a16="http://schemas.microsoft.com/office/drawing/2014/main" id="{F97B8928-7FE7-D35C-2656-1BA92197DD50}"/>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595" name="Straight Arrow Connector 38">
            <a:extLst>
              <a:ext uri="{FF2B5EF4-FFF2-40B4-BE49-F238E27FC236}">
                <a16:creationId xmlns:a16="http://schemas.microsoft.com/office/drawing/2014/main" id="{9207AD4B-0C6F-3145-2C4D-EDF5E37F3EED}"/>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6" name="CaixaDeTexto 557">
            <a:extLst>
              <a:ext uri="{FF2B5EF4-FFF2-40B4-BE49-F238E27FC236}">
                <a16:creationId xmlns:a16="http://schemas.microsoft.com/office/drawing/2014/main" id="{04B9C7B6-D600-11A6-D44E-404DE0194BD3}"/>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597" name="CaixaDeTexto 21">
            <a:extLst>
              <a:ext uri="{FF2B5EF4-FFF2-40B4-BE49-F238E27FC236}">
                <a16:creationId xmlns:a16="http://schemas.microsoft.com/office/drawing/2014/main" id="{D9349136-CA7C-17B1-F708-01119D783BF9}"/>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598" name="CaixaDeTexto 21">
            <a:extLst>
              <a:ext uri="{FF2B5EF4-FFF2-40B4-BE49-F238E27FC236}">
                <a16:creationId xmlns:a16="http://schemas.microsoft.com/office/drawing/2014/main" id="{8556D93C-9CBB-E4B8-1413-E3B28EE72232}"/>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599" name="Straight Arrow Connector 62">
            <a:extLst>
              <a:ext uri="{FF2B5EF4-FFF2-40B4-BE49-F238E27FC236}">
                <a16:creationId xmlns:a16="http://schemas.microsoft.com/office/drawing/2014/main" id="{1B27CF2A-B59F-BC5B-6FDD-D3CB7558D928}"/>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0" name="CaixaDeTexto 557">
            <a:extLst>
              <a:ext uri="{FF2B5EF4-FFF2-40B4-BE49-F238E27FC236}">
                <a16:creationId xmlns:a16="http://schemas.microsoft.com/office/drawing/2014/main" id="{D14A9588-A15E-4929-2CC4-0A8404A179DB}"/>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601" name="CaixaDeTexto 21">
            <a:extLst>
              <a:ext uri="{FF2B5EF4-FFF2-40B4-BE49-F238E27FC236}">
                <a16:creationId xmlns:a16="http://schemas.microsoft.com/office/drawing/2014/main" id="{720BA022-41DF-BA76-6D46-E49F65F1E66C}"/>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602" name="CaixaDeTexto 21">
            <a:extLst>
              <a:ext uri="{FF2B5EF4-FFF2-40B4-BE49-F238E27FC236}">
                <a16:creationId xmlns:a16="http://schemas.microsoft.com/office/drawing/2014/main" id="{D1912CB0-3AFC-08CD-3E46-72D9FE6F459C}"/>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603" name="Straight Arrow Connector 62">
            <a:extLst>
              <a:ext uri="{FF2B5EF4-FFF2-40B4-BE49-F238E27FC236}">
                <a16:creationId xmlns:a16="http://schemas.microsoft.com/office/drawing/2014/main" id="{E3963737-080E-2CDA-0060-45AA3E51B42C}"/>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4" name="CaixaDeTexto 557">
            <a:extLst>
              <a:ext uri="{FF2B5EF4-FFF2-40B4-BE49-F238E27FC236}">
                <a16:creationId xmlns:a16="http://schemas.microsoft.com/office/drawing/2014/main" id="{B1C4610E-F727-7074-1F7A-6FAF411C3661}"/>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605" name="CaixaDeTexto 21">
            <a:extLst>
              <a:ext uri="{FF2B5EF4-FFF2-40B4-BE49-F238E27FC236}">
                <a16:creationId xmlns:a16="http://schemas.microsoft.com/office/drawing/2014/main" id="{75EB8A33-1095-2A7C-E058-4F0C23D5B535}"/>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606" name="CaixaDeTexto 21">
            <a:extLst>
              <a:ext uri="{FF2B5EF4-FFF2-40B4-BE49-F238E27FC236}">
                <a16:creationId xmlns:a16="http://schemas.microsoft.com/office/drawing/2014/main" id="{014DE8F9-953B-FFA4-AAA3-3EFAEF0872CB}"/>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607" name="Straight Arrow Connector 62">
            <a:extLst>
              <a:ext uri="{FF2B5EF4-FFF2-40B4-BE49-F238E27FC236}">
                <a16:creationId xmlns:a16="http://schemas.microsoft.com/office/drawing/2014/main" id="{B6A1E989-3790-2DF1-99E0-B84D7381A0E8}"/>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8" name="CaixaDeTexto 557">
            <a:extLst>
              <a:ext uri="{FF2B5EF4-FFF2-40B4-BE49-F238E27FC236}">
                <a16:creationId xmlns:a16="http://schemas.microsoft.com/office/drawing/2014/main" id="{ABCB5139-7CFC-B386-006F-A82B291EDA94}"/>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609" name="CaixaDeTexto 25">
            <a:extLst>
              <a:ext uri="{FF2B5EF4-FFF2-40B4-BE49-F238E27FC236}">
                <a16:creationId xmlns:a16="http://schemas.microsoft.com/office/drawing/2014/main" id="{14034A49-02B4-0F5B-F288-7AC489267270}"/>
              </a:ext>
            </a:extLst>
          </p:cNvPr>
          <p:cNvSpPr txBox="1"/>
          <p:nvPr/>
        </p:nvSpPr>
        <p:spPr>
          <a:xfrm>
            <a:off x="178479" y="3861048"/>
            <a:ext cx="1800000" cy="2520000"/>
          </a:xfrm>
          <a:prstGeom prst="rect">
            <a:avLst/>
          </a:prstGeom>
          <a:solidFill>
            <a:schemeClr val="bg1">
              <a:lumMod val="95000"/>
            </a:schemeClr>
          </a:solidFill>
        </p:spPr>
        <p:txBody>
          <a:bodyPr wrap="square" lIns="90000" rtlCol="0">
            <a:noAutofit/>
          </a:bodyPr>
          <a:lstStyle/>
          <a:p>
            <a:r>
              <a:rPr lang="pt-BR" sz="1100" b="1" dirty="0"/>
              <a:t>Pré-requisitos mínimos para formalização do FEL-0</a:t>
            </a:r>
          </a:p>
          <a:p>
            <a:pPr marL="171450" indent="-171450">
              <a:spcBef>
                <a:spcPts val="600"/>
              </a:spcBef>
              <a:buFont typeface="Wingdings" panose="05000000000000000000" pitchFamily="2" charset="2"/>
              <a:buChar char="§"/>
            </a:pPr>
            <a:r>
              <a:rPr lang="pt-BR" sz="1100" dirty="0"/>
              <a:t>Parada criada no SGO com ID cadastrado ...</a:t>
            </a:r>
          </a:p>
          <a:p>
            <a:pPr marL="171450" indent="-171450">
              <a:spcBef>
                <a:spcPts val="600"/>
              </a:spcBef>
              <a:buFont typeface="Wingdings" panose="05000000000000000000" pitchFamily="2" charset="2"/>
              <a:buChar char="§"/>
            </a:pPr>
            <a:r>
              <a:rPr lang="pt-BR" sz="1100" dirty="0"/>
              <a:t>... e em Backlog no HUB </a:t>
            </a:r>
            <a:r>
              <a:rPr lang="pt-BR" sz="1100" i="1" dirty="0"/>
              <a:t>(atualização SGO &gt; HUB de forma automatizada)</a:t>
            </a:r>
          </a:p>
          <a:p>
            <a:pPr marL="171450" indent="-171450">
              <a:spcBef>
                <a:spcPts val="600"/>
              </a:spcBef>
              <a:buFont typeface="Wingdings" panose="05000000000000000000" pitchFamily="2" charset="2"/>
              <a:buChar char="§"/>
            </a:pPr>
            <a:r>
              <a:rPr lang="pt-BR" sz="1100" dirty="0"/>
              <a:t>Pelo menos 1 demanda por Obra com custos estimados e </a:t>
            </a:r>
            <a:r>
              <a:rPr lang="pt-BR" sz="1100" dirty="0" err="1"/>
              <a:t>mensalizados</a:t>
            </a:r>
            <a:endParaRPr lang="pt-BR" sz="1100" dirty="0"/>
          </a:p>
        </p:txBody>
      </p:sp>
      <p:cxnSp>
        <p:nvCxnSpPr>
          <p:cNvPr id="610" name="Curved Connector 10">
            <a:extLst>
              <a:ext uri="{FF2B5EF4-FFF2-40B4-BE49-F238E27FC236}">
                <a16:creationId xmlns:a16="http://schemas.microsoft.com/office/drawing/2014/main" id="{A024896B-2243-D389-CD2E-58B1D1C5BB3D}"/>
              </a:ext>
            </a:extLst>
          </p:cNvPr>
          <p:cNvCxnSpPr>
            <a:cxnSpLocks/>
            <a:stCxn id="609" idx="0"/>
            <a:endCxn id="612" idx="4"/>
          </p:cNvCxnSpPr>
          <p:nvPr/>
        </p:nvCxnSpPr>
        <p:spPr>
          <a:xfrm rot="5400000" flipH="1" flipV="1">
            <a:off x="1621699" y="2859160"/>
            <a:ext cx="458669" cy="1545109"/>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12" name="Elipse 611">
            <a:extLst>
              <a:ext uri="{FF2B5EF4-FFF2-40B4-BE49-F238E27FC236}">
                <a16:creationId xmlns:a16="http://schemas.microsoft.com/office/drawing/2014/main" id="{C16133F5-E177-4AEB-800F-F988DDE47EFB}"/>
              </a:ext>
            </a:extLst>
          </p:cNvPr>
          <p:cNvSpPr/>
          <p:nvPr/>
        </p:nvSpPr>
        <p:spPr>
          <a:xfrm>
            <a:off x="2575996"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4" name="CaixaDeTexto 25">
            <a:extLst>
              <a:ext uri="{FF2B5EF4-FFF2-40B4-BE49-F238E27FC236}">
                <a16:creationId xmlns:a16="http://schemas.microsoft.com/office/drawing/2014/main" id="{31FFD045-1CE5-39EB-BDF4-00E0570A2FF7}"/>
              </a:ext>
            </a:extLst>
          </p:cNvPr>
          <p:cNvSpPr txBox="1"/>
          <p:nvPr/>
        </p:nvSpPr>
        <p:spPr>
          <a:xfrm>
            <a:off x="2035951" y="3861048"/>
            <a:ext cx="1800000" cy="2520000"/>
          </a:xfrm>
          <a:prstGeom prst="rect">
            <a:avLst/>
          </a:prstGeom>
          <a:solidFill>
            <a:schemeClr val="bg1">
              <a:lumMod val="95000"/>
            </a:schemeClr>
          </a:solidFill>
        </p:spPr>
        <p:txBody>
          <a:bodyPr wrap="square" lIns="90000" rtlCol="0">
            <a:noAutofit/>
          </a:bodyPr>
          <a:lstStyle/>
          <a:p>
            <a:r>
              <a:rPr lang="pt-BR" sz="1100" b="1" dirty="0"/>
              <a:t>Pré-requisito mínimo para formalização do FEL-1</a:t>
            </a:r>
          </a:p>
          <a:p>
            <a:pPr marL="171450" indent="-171450">
              <a:spcBef>
                <a:spcPts val="600"/>
              </a:spcBef>
              <a:buFont typeface="Wingdings" panose="05000000000000000000" pitchFamily="2" charset="2"/>
              <a:buChar char="§"/>
            </a:pPr>
            <a:r>
              <a:rPr lang="pt-BR" sz="1100" dirty="0"/>
              <a:t>Orçamento(</a:t>
            </a:r>
            <a:r>
              <a:rPr lang="pt-BR" sz="1100" dirty="0" err="1"/>
              <a:t>s</a:t>
            </a:r>
            <a:r>
              <a:rPr lang="pt-BR" sz="1100" dirty="0"/>
              <a:t>) aberto no Protheus </a:t>
            </a:r>
            <a:r>
              <a:rPr lang="pt-BR" sz="1100" i="1" dirty="0"/>
              <a:t>(via habilitação da Controladoria dos coletores de Obra para o ID da Parada)</a:t>
            </a:r>
          </a:p>
        </p:txBody>
      </p:sp>
      <p:cxnSp>
        <p:nvCxnSpPr>
          <p:cNvPr id="615" name="Curved Connector 20">
            <a:extLst>
              <a:ext uri="{FF2B5EF4-FFF2-40B4-BE49-F238E27FC236}">
                <a16:creationId xmlns:a16="http://schemas.microsoft.com/office/drawing/2014/main" id="{52CC7402-4A3E-31C3-9082-ADA0143622C9}"/>
              </a:ext>
            </a:extLst>
          </p:cNvPr>
          <p:cNvCxnSpPr>
            <a:cxnSpLocks/>
            <a:stCxn id="614" idx="0"/>
            <a:endCxn id="617" idx="4"/>
          </p:cNvCxnSpPr>
          <p:nvPr/>
        </p:nvCxnSpPr>
        <p:spPr>
          <a:xfrm rot="5400000" flipH="1" flipV="1">
            <a:off x="3048027" y="3290304"/>
            <a:ext cx="458669" cy="682820"/>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17" name="Elipse 616">
            <a:extLst>
              <a:ext uri="{FF2B5EF4-FFF2-40B4-BE49-F238E27FC236}">
                <a16:creationId xmlns:a16="http://schemas.microsoft.com/office/drawing/2014/main" id="{75B48B05-ECB8-3C0C-C053-E39EAC5C8389}"/>
              </a:ext>
            </a:extLst>
          </p:cNvPr>
          <p:cNvSpPr/>
          <p:nvPr/>
        </p:nvSpPr>
        <p:spPr>
          <a:xfrm>
            <a:off x="3571179"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0" name="CaixaDeTexto 25">
            <a:extLst>
              <a:ext uri="{FF2B5EF4-FFF2-40B4-BE49-F238E27FC236}">
                <a16:creationId xmlns:a16="http://schemas.microsoft.com/office/drawing/2014/main" id="{E6F4668E-F83D-068A-A453-302B15A078F3}"/>
              </a:ext>
            </a:extLst>
          </p:cNvPr>
          <p:cNvSpPr txBox="1"/>
          <p:nvPr/>
        </p:nvSpPr>
        <p:spPr>
          <a:xfrm>
            <a:off x="3893423" y="3861048"/>
            <a:ext cx="1800000" cy="2520000"/>
          </a:xfrm>
          <a:prstGeom prst="rect">
            <a:avLst/>
          </a:prstGeom>
          <a:solidFill>
            <a:schemeClr val="bg1">
              <a:lumMod val="95000"/>
            </a:schemeClr>
          </a:solidFill>
        </p:spPr>
        <p:txBody>
          <a:bodyPr wrap="square" lIns="90000" rtlCol="0">
            <a:noAutofit/>
          </a:bodyPr>
          <a:lstStyle/>
          <a:p>
            <a:r>
              <a:rPr lang="pt-BR" sz="1100" b="1" dirty="0"/>
              <a:t>Pré-requisitos mínimos para formalização FEL-2 </a:t>
            </a:r>
          </a:p>
          <a:p>
            <a:pPr marL="171450" indent="-171450">
              <a:spcBef>
                <a:spcPts val="600"/>
              </a:spcBef>
              <a:buFont typeface="Wingdings" panose="05000000000000000000" pitchFamily="2" charset="2"/>
              <a:buChar char="§"/>
            </a:pPr>
            <a:r>
              <a:rPr lang="pt-BR" sz="1100" dirty="0"/>
              <a:t>Lista de serviços importada do TM Master (importação arquivo </a:t>
            </a:r>
            <a:r>
              <a:rPr lang="pt-BR" sz="1100" dirty="0" err="1"/>
              <a:t>excel</a:t>
            </a:r>
            <a:r>
              <a:rPr lang="pt-BR" sz="1100" dirty="0"/>
              <a:t>)</a:t>
            </a:r>
          </a:p>
          <a:p>
            <a:pPr marL="171450" indent="-171450">
              <a:spcBef>
                <a:spcPts val="600"/>
              </a:spcBef>
              <a:buFont typeface="Wingdings" panose="05000000000000000000" pitchFamily="2" charset="2"/>
              <a:buChar char="§"/>
            </a:pPr>
            <a:r>
              <a:rPr lang="pt-BR" sz="1100" dirty="0"/>
              <a:t>Estimativas de custos para todas as linhas de serviço (Estaleiro e Oficinas)</a:t>
            </a:r>
          </a:p>
          <a:p>
            <a:pPr marL="171450" indent="-171450">
              <a:spcBef>
                <a:spcPts val="600"/>
              </a:spcBef>
              <a:buFont typeface="Wingdings" panose="05000000000000000000" pitchFamily="2" charset="2"/>
              <a:buChar char="§"/>
            </a:pPr>
            <a:r>
              <a:rPr lang="pt-BR" sz="1100" dirty="0"/>
              <a:t>Novas demandas que surjam devem ter custos estimados associados</a:t>
            </a:r>
          </a:p>
        </p:txBody>
      </p:sp>
      <p:cxnSp>
        <p:nvCxnSpPr>
          <p:cNvPr id="621" name="Curved Connector 20">
            <a:extLst>
              <a:ext uri="{FF2B5EF4-FFF2-40B4-BE49-F238E27FC236}">
                <a16:creationId xmlns:a16="http://schemas.microsoft.com/office/drawing/2014/main" id="{A223799D-EB60-5B86-5C61-AE371B1B7633}"/>
              </a:ext>
            </a:extLst>
          </p:cNvPr>
          <p:cNvCxnSpPr>
            <a:cxnSpLocks/>
            <a:stCxn id="620" idx="0"/>
            <a:endCxn id="622" idx="4"/>
          </p:cNvCxnSpPr>
          <p:nvPr/>
        </p:nvCxnSpPr>
        <p:spPr>
          <a:xfrm rot="16200000" flipV="1">
            <a:off x="4478480" y="3546104"/>
            <a:ext cx="458669" cy="171219"/>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22" name="Elipse 621">
            <a:extLst>
              <a:ext uri="{FF2B5EF4-FFF2-40B4-BE49-F238E27FC236}">
                <a16:creationId xmlns:a16="http://schemas.microsoft.com/office/drawing/2014/main" id="{528F99DD-2F9B-41D6-BBFB-FF76B175B559}"/>
              </a:ext>
            </a:extLst>
          </p:cNvPr>
          <p:cNvSpPr/>
          <p:nvPr/>
        </p:nvSpPr>
        <p:spPr>
          <a:xfrm>
            <a:off x="4574612"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4" name="CaixaDeTexto 25">
            <a:extLst>
              <a:ext uri="{FF2B5EF4-FFF2-40B4-BE49-F238E27FC236}">
                <a16:creationId xmlns:a16="http://schemas.microsoft.com/office/drawing/2014/main" id="{6695AE83-4727-E64A-D744-CB0A16F171E7}"/>
              </a:ext>
            </a:extLst>
          </p:cNvPr>
          <p:cNvSpPr txBox="1"/>
          <p:nvPr/>
        </p:nvSpPr>
        <p:spPr>
          <a:xfrm>
            <a:off x="5750895" y="3861048"/>
            <a:ext cx="1800000" cy="2520000"/>
          </a:xfrm>
          <a:prstGeom prst="rect">
            <a:avLst/>
          </a:prstGeom>
          <a:solidFill>
            <a:schemeClr val="bg1">
              <a:lumMod val="95000"/>
            </a:schemeClr>
          </a:solidFill>
        </p:spPr>
        <p:txBody>
          <a:bodyPr wrap="square" lIns="90000" rtlCol="0">
            <a:noAutofit/>
          </a:bodyPr>
          <a:lstStyle/>
          <a:p>
            <a:r>
              <a:rPr lang="pt-BR" sz="1100" b="1" dirty="0"/>
              <a:t>Pré-requisitos mínimos para formalizar o FEL-3</a:t>
            </a:r>
          </a:p>
          <a:p>
            <a:pPr marL="171450" indent="-171450">
              <a:spcBef>
                <a:spcPts val="600"/>
              </a:spcBef>
              <a:buFont typeface="Wingdings" panose="05000000000000000000" pitchFamily="2" charset="2"/>
              <a:buChar char="§"/>
            </a:pPr>
            <a:r>
              <a:rPr lang="pt-BR" sz="1100" dirty="0"/>
              <a:t>Todos os serviços e materiais mapeados devem ter pelo menos a estimativa de custos</a:t>
            </a:r>
          </a:p>
          <a:p>
            <a:pPr marL="171450" indent="-171450">
              <a:spcBef>
                <a:spcPts val="600"/>
              </a:spcBef>
              <a:buFont typeface="Wingdings" panose="05000000000000000000" pitchFamily="2" charset="2"/>
              <a:buChar char="§"/>
            </a:pPr>
            <a:r>
              <a:rPr lang="pt-BR" sz="1100" dirty="0"/>
              <a:t>Todas as demandas devem ter saldos financeiros maiores ou iguais a zero</a:t>
            </a:r>
          </a:p>
          <a:p>
            <a:pPr marL="171450" indent="-171450">
              <a:spcBef>
                <a:spcPts val="600"/>
              </a:spcBef>
              <a:buFont typeface="Wingdings" panose="05000000000000000000" pitchFamily="2" charset="2"/>
              <a:buChar char="§"/>
            </a:pPr>
            <a:r>
              <a:rPr lang="pt-BR" sz="1100" dirty="0"/>
              <a:t>Eventuais cenários alternativos da Parada devem ser descartados</a:t>
            </a:r>
          </a:p>
        </p:txBody>
      </p:sp>
      <p:cxnSp>
        <p:nvCxnSpPr>
          <p:cNvPr id="625" name="Curved Connector 20">
            <a:extLst>
              <a:ext uri="{FF2B5EF4-FFF2-40B4-BE49-F238E27FC236}">
                <a16:creationId xmlns:a16="http://schemas.microsoft.com/office/drawing/2014/main" id="{3FFEF039-B12A-55B5-EC59-251B12CDA11E}"/>
              </a:ext>
            </a:extLst>
          </p:cNvPr>
          <p:cNvCxnSpPr>
            <a:cxnSpLocks/>
            <a:stCxn id="624" idx="0"/>
            <a:endCxn id="626" idx="4"/>
          </p:cNvCxnSpPr>
          <p:nvPr/>
        </p:nvCxnSpPr>
        <p:spPr>
          <a:xfrm rot="16200000" flipV="1">
            <a:off x="5902466" y="3112619"/>
            <a:ext cx="458669" cy="1038190"/>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26" name="Elipse 625">
            <a:extLst>
              <a:ext uri="{FF2B5EF4-FFF2-40B4-BE49-F238E27FC236}">
                <a16:creationId xmlns:a16="http://schemas.microsoft.com/office/drawing/2014/main" id="{2FDB0A3B-D5F5-6A86-226B-D40C2F78777F}"/>
              </a:ext>
            </a:extLst>
          </p:cNvPr>
          <p:cNvSpPr/>
          <p:nvPr/>
        </p:nvSpPr>
        <p:spPr>
          <a:xfrm>
            <a:off x="5565113"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28" name="CaixaDeTexto 25">
            <a:extLst>
              <a:ext uri="{FF2B5EF4-FFF2-40B4-BE49-F238E27FC236}">
                <a16:creationId xmlns:a16="http://schemas.microsoft.com/office/drawing/2014/main" id="{58253366-C58A-6671-8AA9-8AB6ABADCA7F}"/>
              </a:ext>
            </a:extLst>
          </p:cNvPr>
          <p:cNvSpPr txBox="1"/>
          <p:nvPr/>
        </p:nvSpPr>
        <p:spPr>
          <a:xfrm>
            <a:off x="7608368" y="3861048"/>
            <a:ext cx="1800000" cy="2520000"/>
          </a:xfrm>
          <a:prstGeom prst="rect">
            <a:avLst/>
          </a:prstGeom>
          <a:solidFill>
            <a:schemeClr val="bg1">
              <a:lumMod val="95000"/>
            </a:schemeClr>
          </a:solidFill>
        </p:spPr>
        <p:txBody>
          <a:bodyPr wrap="square" lIns="90000" rtlCol="0">
            <a:noAutofit/>
          </a:bodyPr>
          <a:lstStyle/>
          <a:p>
            <a:r>
              <a:rPr lang="pt-BR" sz="1100" b="1" dirty="0"/>
              <a:t>Pré-requisitos mínimos para formalizar o FEL-4</a:t>
            </a:r>
          </a:p>
          <a:p>
            <a:pPr marL="171450" indent="-171450">
              <a:spcBef>
                <a:spcPts val="600"/>
              </a:spcBef>
              <a:buFont typeface="Wingdings" panose="05000000000000000000" pitchFamily="2" charset="2"/>
              <a:buChar char="§"/>
            </a:pPr>
            <a:r>
              <a:rPr lang="pt-BR" sz="1100" dirty="0"/>
              <a:t>Todos os serviços e materiais mapeados devem ter pelo menos a estimativa de custos</a:t>
            </a:r>
          </a:p>
          <a:p>
            <a:pPr marL="171450" indent="-171450">
              <a:spcBef>
                <a:spcPts val="600"/>
              </a:spcBef>
              <a:buFont typeface="Wingdings" panose="05000000000000000000" pitchFamily="2" charset="2"/>
              <a:buChar char="§"/>
            </a:pPr>
            <a:r>
              <a:rPr lang="pt-BR" sz="1100" dirty="0"/>
              <a:t>Todas as </a:t>
            </a:r>
            <a:r>
              <a:rPr lang="pt-BR" sz="1100" dirty="0" err="1"/>
              <a:t>GMUD’s</a:t>
            </a:r>
            <a:r>
              <a:rPr lang="pt-BR" sz="1100" dirty="0"/>
              <a:t> abertas até o momento devem estar aprovadas e ter valores definidos</a:t>
            </a:r>
          </a:p>
        </p:txBody>
      </p:sp>
      <p:cxnSp>
        <p:nvCxnSpPr>
          <p:cNvPr id="629" name="Curved Connector 20">
            <a:extLst>
              <a:ext uri="{FF2B5EF4-FFF2-40B4-BE49-F238E27FC236}">
                <a16:creationId xmlns:a16="http://schemas.microsoft.com/office/drawing/2014/main" id="{691D7778-EA34-5E80-9C36-9E7CFE2EC72C}"/>
              </a:ext>
            </a:extLst>
          </p:cNvPr>
          <p:cNvCxnSpPr>
            <a:cxnSpLocks/>
            <a:stCxn id="628" idx="0"/>
            <a:endCxn id="630" idx="4"/>
          </p:cNvCxnSpPr>
          <p:nvPr/>
        </p:nvCxnSpPr>
        <p:spPr>
          <a:xfrm rot="16200000" flipV="1">
            <a:off x="7328822" y="2681502"/>
            <a:ext cx="458669" cy="1900424"/>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30" name="Elipse 629">
            <a:extLst>
              <a:ext uri="{FF2B5EF4-FFF2-40B4-BE49-F238E27FC236}">
                <a16:creationId xmlns:a16="http://schemas.microsoft.com/office/drawing/2014/main" id="{133206BA-98A4-556B-633D-E41B3B50184F}"/>
              </a:ext>
            </a:extLst>
          </p:cNvPr>
          <p:cNvSpPr/>
          <p:nvPr/>
        </p:nvSpPr>
        <p:spPr>
          <a:xfrm>
            <a:off x="6560352"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4" name="Retângulo 633">
            <a:extLst>
              <a:ext uri="{FF2B5EF4-FFF2-40B4-BE49-F238E27FC236}">
                <a16:creationId xmlns:a16="http://schemas.microsoft.com/office/drawing/2014/main" id="{02FFC413-6777-73C4-35A3-63B1E573382A}"/>
              </a:ext>
            </a:extLst>
          </p:cNvPr>
          <p:cNvSpPr/>
          <p:nvPr/>
        </p:nvSpPr>
        <p:spPr>
          <a:xfrm>
            <a:off x="7633655" y="1177116"/>
            <a:ext cx="4439009" cy="23400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32383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CE7FB-B4F6-9BAB-6802-3F033FB039B2}"/>
            </a:ext>
          </a:extLst>
        </p:cNvPr>
        <p:cNvGrpSpPr/>
        <p:nvPr/>
      </p:nvGrpSpPr>
      <p:grpSpPr>
        <a:xfrm>
          <a:off x="0" y="0"/>
          <a:ext cx="0" cy="0"/>
          <a:chOff x="0" y="0"/>
          <a:chExt cx="0" cy="0"/>
        </a:xfrm>
      </p:grpSpPr>
      <p:sp>
        <p:nvSpPr>
          <p:cNvPr id="22" name="Retângulo 21">
            <a:extLst>
              <a:ext uri="{FF2B5EF4-FFF2-40B4-BE49-F238E27FC236}">
                <a16:creationId xmlns:a16="http://schemas.microsoft.com/office/drawing/2014/main" id="{53CFA272-C9B2-52AD-0001-601C9CCF45F0}"/>
              </a:ext>
            </a:extLst>
          </p:cNvPr>
          <p:cNvSpPr/>
          <p:nvPr/>
        </p:nvSpPr>
        <p:spPr>
          <a:xfrm>
            <a:off x="10620395" y="5677290"/>
            <a:ext cx="1571606" cy="1180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6" name="CaixaDeTexto 557">
            <a:extLst>
              <a:ext uri="{FF2B5EF4-FFF2-40B4-BE49-F238E27FC236}">
                <a16:creationId xmlns:a16="http://schemas.microsoft.com/office/drawing/2014/main" id="{8BB9398F-9138-87AA-273C-7F09182198A8}"/>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547" name="CaixaDeTexto 557">
            <a:extLst>
              <a:ext uri="{FF2B5EF4-FFF2-40B4-BE49-F238E27FC236}">
                <a16:creationId xmlns:a16="http://schemas.microsoft.com/office/drawing/2014/main" id="{518410DA-CF80-4018-0490-9281FC84FFB9}"/>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548" name="CaixaDeTexto 557">
            <a:extLst>
              <a:ext uri="{FF2B5EF4-FFF2-40B4-BE49-F238E27FC236}">
                <a16:creationId xmlns:a16="http://schemas.microsoft.com/office/drawing/2014/main" id="{8609EDDD-F0E3-8C9D-D312-ABB7515A3D24}"/>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549" name="CaixaDeTexto 21">
            <a:extLst>
              <a:ext uri="{FF2B5EF4-FFF2-40B4-BE49-F238E27FC236}">
                <a16:creationId xmlns:a16="http://schemas.microsoft.com/office/drawing/2014/main" id="{F25C0BD2-B81B-180A-6330-2CD20A823426}"/>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550" name="CaixaDeTexto 21">
            <a:extLst>
              <a:ext uri="{FF2B5EF4-FFF2-40B4-BE49-F238E27FC236}">
                <a16:creationId xmlns:a16="http://schemas.microsoft.com/office/drawing/2014/main" id="{BAD1EDEC-8860-A0EE-D2B2-8E8144E7F84E}"/>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566" name="CaixaDeTexto 557">
            <a:extLst>
              <a:ext uri="{FF2B5EF4-FFF2-40B4-BE49-F238E27FC236}">
                <a16:creationId xmlns:a16="http://schemas.microsoft.com/office/drawing/2014/main" id="{11AB68A4-C3E5-928F-3EBF-41C183C40614}"/>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567" name="CaixaDeTexto 21">
            <a:extLst>
              <a:ext uri="{FF2B5EF4-FFF2-40B4-BE49-F238E27FC236}">
                <a16:creationId xmlns:a16="http://schemas.microsoft.com/office/drawing/2014/main" id="{A8072F5D-97A9-A33F-72A4-613F63096B71}"/>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568" name="CaixaDeTexto 21">
            <a:extLst>
              <a:ext uri="{FF2B5EF4-FFF2-40B4-BE49-F238E27FC236}">
                <a16:creationId xmlns:a16="http://schemas.microsoft.com/office/drawing/2014/main" id="{FDF56BB8-07C3-EC8A-0717-98EDB183969B}"/>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569" name="CaixaDeTexto 21">
            <a:extLst>
              <a:ext uri="{FF2B5EF4-FFF2-40B4-BE49-F238E27FC236}">
                <a16:creationId xmlns:a16="http://schemas.microsoft.com/office/drawing/2014/main" id="{018BCB9B-E8C4-0F44-C3DE-FEB4CE829C31}"/>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570" name="Straight Arrow Connector 23">
            <a:extLst>
              <a:ext uri="{FF2B5EF4-FFF2-40B4-BE49-F238E27FC236}">
                <a16:creationId xmlns:a16="http://schemas.microsoft.com/office/drawing/2014/main" id="{15648D93-54DF-43AA-BD75-A892C7988488}"/>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1" name="CaixaDeTexto 557">
            <a:extLst>
              <a:ext uri="{FF2B5EF4-FFF2-40B4-BE49-F238E27FC236}">
                <a16:creationId xmlns:a16="http://schemas.microsoft.com/office/drawing/2014/main" id="{57F78B68-DA7A-A375-3E50-2B788AC51E94}"/>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572" name="CaixaDeTexto 21">
            <a:extLst>
              <a:ext uri="{FF2B5EF4-FFF2-40B4-BE49-F238E27FC236}">
                <a16:creationId xmlns:a16="http://schemas.microsoft.com/office/drawing/2014/main" id="{4C3A54FC-B02B-E5FF-9118-E21D77779859}"/>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573" name="CaixaDeTexto 21">
            <a:extLst>
              <a:ext uri="{FF2B5EF4-FFF2-40B4-BE49-F238E27FC236}">
                <a16:creationId xmlns:a16="http://schemas.microsoft.com/office/drawing/2014/main" id="{2E070FF3-145F-F558-9D5E-0E97D32135B2}"/>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574" name="Straight Arrow Connector 27">
            <a:extLst>
              <a:ext uri="{FF2B5EF4-FFF2-40B4-BE49-F238E27FC236}">
                <a16:creationId xmlns:a16="http://schemas.microsoft.com/office/drawing/2014/main" id="{8DB4F8F8-A5C0-D008-290C-A985F5716B31}"/>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5" name="CaixaDeTexto 557">
            <a:extLst>
              <a:ext uri="{FF2B5EF4-FFF2-40B4-BE49-F238E27FC236}">
                <a16:creationId xmlns:a16="http://schemas.microsoft.com/office/drawing/2014/main" id="{C328D88F-73E8-E3A0-5552-E93620281DD3}"/>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576" name="CaixaDeTexto 21">
            <a:extLst>
              <a:ext uri="{FF2B5EF4-FFF2-40B4-BE49-F238E27FC236}">
                <a16:creationId xmlns:a16="http://schemas.microsoft.com/office/drawing/2014/main" id="{825830A6-237A-4544-FAA9-048F19440DBB}"/>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577" name="CaixaDeTexto 21">
            <a:extLst>
              <a:ext uri="{FF2B5EF4-FFF2-40B4-BE49-F238E27FC236}">
                <a16:creationId xmlns:a16="http://schemas.microsoft.com/office/drawing/2014/main" id="{BDD46179-0E65-518A-5918-F7DF97D1A4E8}"/>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578" name="Straight Arrow Connector 30">
            <a:extLst>
              <a:ext uri="{FF2B5EF4-FFF2-40B4-BE49-F238E27FC236}">
                <a16:creationId xmlns:a16="http://schemas.microsoft.com/office/drawing/2014/main" id="{6DCC01D9-DB46-3D94-5DCF-D1A3EFD26E56}"/>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79" name="CaixaDeTexto 557">
            <a:extLst>
              <a:ext uri="{FF2B5EF4-FFF2-40B4-BE49-F238E27FC236}">
                <a16:creationId xmlns:a16="http://schemas.microsoft.com/office/drawing/2014/main" id="{254F30E2-3C4F-FE13-5F57-3DCED63A580B}"/>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580" name="CaixaDeTexto 21">
            <a:extLst>
              <a:ext uri="{FF2B5EF4-FFF2-40B4-BE49-F238E27FC236}">
                <a16:creationId xmlns:a16="http://schemas.microsoft.com/office/drawing/2014/main" id="{905B0256-F7B2-1A8E-E0AB-B0080174367B}"/>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581" name="CaixaDeTexto 21">
            <a:extLst>
              <a:ext uri="{FF2B5EF4-FFF2-40B4-BE49-F238E27FC236}">
                <a16:creationId xmlns:a16="http://schemas.microsoft.com/office/drawing/2014/main" id="{5689D409-FBA7-CC61-2D21-E1C10C3094A1}"/>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582" name="Straight Arrow Connector 34">
            <a:extLst>
              <a:ext uri="{FF2B5EF4-FFF2-40B4-BE49-F238E27FC236}">
                <a16:creationId xmlns:a16="http://schemas.microsoft.com/office/drawing/2014/main" id="{386B66DF-8E21-FB58-BD02-18BDF1D662ED}"/>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3" name="CaixaDeTexto 557">
            <a:extLst>
              <a:ext uri="{FF2B5EF4-FFF2-40B4-BE49-F238E27FC236}">
                <a16:creationId xmlns:a16="http://schemas.microsoft.com/office/drawing/2014/main" id="{523C57CD-B838-BB58-2AF1-66A87EDE44EE}"/>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584" name="CaixaDeTexto 21">
            <a:extLst>
              <a:ext uri="{FF2B5EF4-FFF2-40B4-BE49-F238E27FC236}">
                <a16:creationId xmlns:a16="http://schemas.microsoft.com/office/drawing/2014/main" id="{C964128D-7D54-3781-D9E9-1E309CD565C8}"/>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585" name="CaixaDeTexto 21">
            <a:extLst>
              <a:ext uri="{FF2B5EF4-FFF2-40B4-BE49-F238E27FC236}">
                <a16:creationId xmlns:a16="http://schemas.microsoft.com/office/drawing/2014/main" id="{9F28F417-3665-2136-D1DA-E9052BDB5313}"/>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586" name="Straight Arrow Connector 38">
            <a:extLst>
              <a:ext uri="{FF2B5EF4-FFF2-40B4-BE49-F238E27FC236}">
                <a16:creationId xmlns:a16="http://schemas.microsoft.com/office/drawing/2014/main" id="{1346D646-5249-DDE1-6D79-71E926CF4CD4}"/>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87" name="CaixaDeTexto 557">
            <a:extLst>
              <a:ext uri="{FF2B5EF4-FFF2-40B4-BE49-F238E27FC236}">
                <a16:creationId xmlns:a16="http://schemas.microsoft.com/office/drawing/2014/main" id="{20D197D9-33DA-4D51-D8D8-39618452F10B}"/>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588" name="CaixaDeTexto 21">
            <a:extLst>
              <a:ext uri="{FF2B5EF4-FFF2-40B4-BE49-F238E27FC236}">
                <a16:creationId xmlns:a16="http://schemas.microsoft.com/office/drawing/2014/main" id="{86244CC9-6394-02FF-822A-06D1327EDC50}"/>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589" name="CaixaDeTexto 21">
            <a:extLst>
              <a:ext uri="{FF2B5EF4-FFF2-40B4-BE49-F238E27FC236}">
                <a16:creationId xmlns:a16="http://schemas.microsoft.com/office/drawing/2014/main" id="{7F07A165-B7B0-04A4-C1E6-5044F3A8E13A}"/>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590" name="CaixaDeTexto 21">
            <a:extLst>
              <a:ext uri="{FF2B5EF4-FFF2-40B4-BE49-F238E27FC236}">
                <a16:creationId xmlns:a16="http://schemas.microsoft.com/office/drawing/2014/main" id="{85C06F40-8A90-040C-BB85-DDC5362D23E1}"/>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591" name="Straight Arrow Connector 62">
            <a:extLst>
              <a:ext uri="{FF2B5EF4-FFF2-40B4-BE49-F238E27FC236}">
                <a16:creationId xmlns:a16="http://schemas.microsoft.com/office/drawing/2014/main" id="{D979D51C-930B-47B8-8C00-2BC4717E5F5D}"/>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2" name="CaixaDeTexto 557">
            <a:extLst>
              <a:ext uri="{FF2B5EF4-FFF2-40B4-BE49-F238E27FC236}">
                <a16:creationId xmlns:a16="http://schemas.microsoft.com/office/drawing/2014/main" id="{8601B98D-4FB3-1ACF-9C29-F5F1CA157508}"/>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593" name="CaixaDeTexto 21">
            <a:extLst>
              <a:ext uri="{FF2B5EF4-FFF2-40B4-BE49-F238E27FC236}">
                <a16:creationId xmlns:a16="http://schemas.microsoft.com/office/drawing/2014/main" id="{D703C108-8889-0896-9341-7F0411A9573E}"/>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594" name="CaixaDeTexto 21">
            <a:extLst>
              <a:ext uri="{FF2B5EF4-FFF2-40B4-BE49-F238E27FC236}">
                <a16:creationId xmlns:a16="http://schemas.microsoft.com/office/drawing/2014/main" id="{AF31A6C8-9D86-435E-199F-2422F4C34903}"/>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595" name="Straight Arrow Connector 38">
            <a:extLst>
              <a:ext uri="{FF2B5EF4-FFF2-40B4-BE49-F238E27FC236}">
                <a16:creationId xmlns:a16="http://schemas.microsoft.com/office/drawing/2014/main" id="{ACF62A75-E2F5-4AB1-1DF6-F1F19A7E9E24}"/>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596" name="CaixaDeTexto 557">
            <a:extLst>
              <a:ext uri="{FF2B5EF4-FFF2-40B4-BE49-F238E27FC236}">
                <a16:creationId xmlns:a16="http://schemas.microsoft.com/office/drawing/2014/main" id="{B0F074FC-826B-6980-3F29-F757677221D5}"/>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597" name="CaixaDeTexto 21">
            <a:extLst>
              <a:ext uri="{FF2B5EF4-FFF2-40B4-BE49-F238E27FC236}">
                <a16:creationId xmlns:a16="http://schemas.microsoft.com/office/drawing/2014/main" id="{286F9EFA-40D2-17C4-5FBD-898E251E4210}"/>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598" name="CaixaDeTexto 21">
            <a:extLst>
              <a:ext uri="{FF2B5EF4-FFF2-40B4-BE49-F238E27FC236}">
                <a16:creationId xmlns:a16="http://schemas.microsoft.com/office/drawing/2014/main" id="{C2EE81A4-5DD4-BB3B-231F-FC61692C36A4}"/>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599" name="Straight Arrow Connector 62">
            <a:extLst>
              <a:ext uri="{FF2B5EF4-FFF2-40B4-BE49-F238E27FC236}">
                <a16:creationId xmlns:a16="http://schemas.microsoft.com/office/drawing/2014/main" id="{2B818D25-0C51-5F50-2271-ACA104728AD9}"/>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0" name="CaixaDeTexto 557">
            <a:extLst>
              <a:ext uri="{FF2B5EF4-FFF2-40B4-BE49-F238E27FC236}">
                <a16:creationId xmlns:a16="http://schemas.microsoft.com/office/drawing/2014/main" id="{A7561780-0DC2-91C3-D2A8-4DA95E6DAAD6}"/>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601" name="CaixaDeTexto 21">
            <a:extLst>
              <a:ext uri="{FF2B5EF4-FFF2-40B4-BE49-F238E27FC236}">
                <a16:creationId xmlns:a16="http://schemas.microsoft.com/office/drawing/2014/main" id="{B1222F46-4D8A-3A81-7C33-2BDF0B1D266A}"/>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602" name="CaixaDeTexto 21">
            <a:extLst>
              <a:ext uri="{FF2B5EF4-FFF2-40B4-BE49-F238E27FC236}">
                <a16:creationId xmlns:a16="http://schemas.microsoft.com/office/drawing/2014/main" id="{313E7FFC-DBC2-E79A-A021-18DA8BC135BD}"/>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603" name="Straight Arrow Connector 62">
            <a:extLst>
              <a:ext uri="{FF2B5EF4-FFF2-40B4-BE49-F238E27FC236}">
                <a16:creationId xmlns:a16="http://schemas.microsoft.com/office/drawing/2014/main" id="{89A0FD3B-5273-FF2B-2242-ECA75AE17CE8}"/>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4" name="CaixaDeTexto 557">
            <a:extLst>
              <a:ext uri="{FF2B5EF4-FFF2-40B4-BE49-F238E27FC236}">
                <a16:creationId xmlns:a16="http://schemas.microsoft.com/office/drawing/2014/main" id="{0D5A26AA-69AC-3138-D3F3-50A9254992D5}"/>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605" name="CaixaDeTexto 21">
            <a:extLst>
              <a:ext uri="{FF2B5EF4-FFF2-40B4-BE49-F238E27FC236}">
                <a16:creationId xmlns:a16="http://schemas.microsoft.com/office/drawing/2014/main" id="{BFB680FD-CCAE-82DA-C614-E4EFBED38FB6}"/>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606" name="CaixaDeTexto 21">
            <a:extLst>
              <a:ext uri="{FF2B5EF4-FFF2-40B4-BE49-F238E27FC236}">
                <a16:creationId xmlns:a16="http://schemas.microsoft.com/office/drawing/2014/main" id="{83B3F059-64EB-F0FC-912A-FC606147EB2A}"/>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607" name="Straight Arrow Connector 62">
            <a:extLst>
              <a:ext uri="{FF2B5EF4-FFF2-40B4-BE49-F238E27FC236}">
                <a16:creationId xmlns:a16="http://schemas.microsoft.com/office/drawing/2014/main" id="{7DD782C6-6287-575D-5408-030AC04CF4E4}"/>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608" name="CaixaDeTexto 557">
            <a:extLst>
              <a:ext uri="{FF2B5EF4-FFF2-40B4-BE49-F238E27FC236}">
                <a16:creationId xmlns:a16="http://schemas.microsoft.com/office/drawing/2014/main" id="{48AA471C-9FA8-5BC7-778C-6DDC0F5BBA55}"/>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634" name="Retângulo 633">
            <a:extLst>
              <a:ext uri="{FF2B5EF4-FFF2-40B4-BE49-F238E27FC236}">
                <a16:creationId xmlns:a16="http://schemas.microsoft.com/office/drawing/2014/main" id="{E09AE8C6-F37A-0AAA-FEBA-7797DFDDF8BA}"/>
              </a:ext>
            </a:extLst>
          </p:cNvPr>
          <p:cNvSpPr/>
          <p:nvPr/>
        </p:nvSpPr>
        <p:spPr>
          <a:xfrm>
            <a:off x="1454137" y="1177116"/>
            <a:ext cx="6154231" cy="2340001"/>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CaixaDeTexto 25">
            <a:extLst>
              <a:ext uri="{FF2B5EF4-FFF2-40B4-BE49-F238E27FC236}">
                <a16:creationId xmlns:a16="http://schemas.microsoft.com/office/drawing/2014/main" id="{E1A5E95F-D87E-01B0-A463-EB7B9B58A23C}"/>
              </a:ext>
            </a:extLst>
          </p:cNvPr>
          <p:cNvSpPr txBox="1"/>
          <p:nvPr/>
        </p:nvSpPr>
        <p:spPr>
          <a:xfrm>
            <a:off x="4234794" y="3855094"/>
            <a:ext cx="1800000" cy="2880319"/>
          </a:xfrm>
          <a:prstGeom prst="rect">
            <a:avLst/>
          </a:prstGeom>
          <a:solidFill>
            <a:schemeClr val="bg1">
              <a:lumMod val="95000"/>
            </a:schemeClr>
          </a:solidFill>
        </p:spPr>
        <p:txBody>
          <a:bodyPr wrap="square" lIns="90000" rtlCol="0">
            <a:noAutofit/>
          </a:bodyPr>
          <a:lstStyle/>
          <a:p>
            <a:r>
              <a:rPr lang="pt-BR" sz="1200" b="1" dirty="0"/>
              <a:t>Pré-requisitos mínimos para status “Em Execução”</a:t>
            </a:r>
          </a:p>
          <a:p>
            <a:pPr marL="171450" indent="-171450">
              <a:spcBef>
                <a:spcPts val="600"/>
              </a:spcBef>
              <a:buFont typeface="Wingdings" panose="05000000000000000000" pitchFamily="2" charset="2"/>
              <a:buChar char="§"/>
            </a:pPr>
            <a:r>
              <a:rPr lang="pt-BR" sz="1200" dirty="0"/>
              <a:t>Todos os serviços e materiais mapeados devem ter pelo menos a estimativa de custos</a:t>
            </a:r>
          </a:p>
          <a:p>
            <a:pPr marL="171450" indent="-171450">
              <a:spcBef>
                <a:spcPts val="600"/>
              </a:spcBef>
              <a:buFont typeface="Wingdings" panose="05000000000000000000" pitchFamily="2" charset="2"/>
              <a:buChar char="§"/>
            </a:pPr>
            <a:r>
              <a:rPr lang="pt-BR" sz="1200" dirty="0"/>
              <a:t>Todas as </a:t>
            </a:r>
            <a:r>
              <a:rPr lang="pt-BR" sz="1200" dirty="0" err="1"/>
              <a:t>GMUD’s</a:t>
            </a:r>
            <a:r>
              <a:rPr lang="pt-BR" sz="1200" dirty="0"/>
              <a:t> abertas até o momento devem estar aprovadas e ter valores definidos</a:t>
            </a:r>
          </a:p>
        </p:txBody>
      </p:sp>
      <p:cxnSp>
        <p:nvCxnSpPr>
          <p:cNvPr id="610" name="Curved Connector 10">
            <a:extLst>
              <a:ext uri="{FF2B5EF4-FFF2-40B4-BE49-F238E27FC236}">
                <a16:creationId xmlns:a16="http://schemas.microsoft.com/office/drawing/2014/main" id="{EEC5D5E2-359A-3304-594E-BA7E60F2D6D8}"/>
              </a:ext>
            </a:extLst>
          </p:cNvPr>
          <p:cNvCxnSpPr>
            <a:cxnSpLocks/>
            <a:stCxn id="2" idx="0"/>
            <a:endCxn id="612" idx="4"/>
          </p:cNvCxnSpPr>
          <p:nvPr/>
        </p:nvCxnSpPr>
        <p:spPr>
          <a:xfrm rot="5400000" flipH="1" flipV="1">
            <a:off x="6136044" y="2401130"/>
            <a:ext cx="452715" cy="2455214"/>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12" name="Elipse 611">
            <a:extLst>
              <a:ext uri="{FF2B5EF4-FFF2-40B4-BE49-F238E27FC236}">
                <a16:creationId xmlns:a16="http://schemas.microsoft.com/office/drawing/2014/main" id="{12B40F51-02AD-F734-C485-CD7064169FB4}"/>
              </a:ext>
            </a:extLst>
          </p:cNvPr>
          <p:cNvSpPr/>
          <p:nvPr/>
        </p:nvSpPr>
        <p:spPr>
          <a:xfrm>
            <a:off x="7542416"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25">
            <a:extLst>
              <a:ext uri="{FF2B5EF4-FFF2-40B4-BE49-F238E27FC236}">
                <a16:creationId xmlns:a16="http://schemas.microsoft.com/office/drawing/2014/main" id="{A9ED2BA3-E46B-7095-9F22-E39566569B49}"/>
              </a:ext>
            </a:extLst>
          </p:cNvPr>
          <p:cNvSpPr txBox="1"/>
          <p:nvPr/>
        </p:nvSpPr>
        <p:spPr>
          <a:xfrm>
            <a:off x="6127337" y="3855094"/>
            <a:ext cx="1800000" cy="2880319"/>
          </a:xfrm>
          <a:prstGeom prst="rect">
            <a:avLst/>
          </a:prstGeom>
          <a:solidFill>
            <a:schemeClr val="bg1">
              <a:lumMod val="95000"/>
            </a:schemeClr>
          </a:solidFill>
        </p:spPr>
        <p:txBody>
          <a:bodyPr wrap="square" lIns="90000" rtlCol="0">
            <a:noAutofit/>
          </a:bodyPr>
          <a:lstStyle/>
          <a:p>
            <a:r>
              <a:rPr lang="pt-BR" sz="1200" b="1" dirty="0"/>
              <a:t>Pré-requisitos mínimos para </a:t>
            </a:r>
            <a:r>
              <a:rPr lang="pt-BR" sz="1200" b="1" dirty="0" err="1"/>
              <a:t>para</a:t>
            </a:r>
            <a:r>
              <a:rPr lang="pt-BR" sz="1200" b="1" dirty="0"/>
              <a:t> status “Em Fechamento”</a:t>
            </a:r>
          </a:p>
          <a:p>
            <a:pPr marL="171450" indent="-171450">
              <a:spcBef>
                <a:spcPts val="600"/>
              </a:spcBef>
              <a:buFont typeface="Wingdings" panose="05000000000000000000" pitchFamily="2" charset="2"/>
              <a:buChar char="§"/>
            </a:pPr>
            <a:r>
              <a:rPr lang="pt-BR" sz="1200" dirty="0"/>
              <a:t>Obra finalizada</a:t>
            </a:r>
          </a:p>
          <a:p>
            <a:pPr marL="171450" indent="-171450">
              <a:spcBef>
                <a:spcPts val="600"/>
              </a:spcBef>
              <a:buFont typeface="Wingdings" panose="05000000000000000000" pitchFamily="2" charset="2"/>
              <a:buChar char="§"/>
            </a:pPr>
            <a:r>
              <a:rPr lang="pt-BR" sz="1200" i="1" dirty="0"/>
              <a:t>Todos os serviços devem estar atrelados a uma OS</a:t>
            </a:r>
          </a:p>
          <a:p>
            <a:pPr marL="171450" indent="-171450">
              <a:spcBef>
                <a:spcPts val="600"/>
              </a:spcBef>
              <a:buFont typeface="Wingdings" panose="05000000000000000000" pitchFamily="2" charset="2"/>
              <a:buChar char="§"/>
            </a:pPr>
            <a:r>
              <a:rPr lang="pt-BR" sz="1200" i="1" dirty="0"/>
              <a:t>Todos os materiais devem estar atrelados a pelo menos um serviço</a:t>
            </a:r>
          </a:p>
        </p:txBody>
      </p:sp>
      <p:cxnSp>
        <p:nvCxnSpPr>
          <p:cNvPr id="5" name="Curved Connector 10">
            <a:extLst>
              <a:ext uri="{FF2B5EF4-FFF2-40B4-BE49-F238E27FC236}">
                <a16:creationId xmlns:a16="http://schemas.microsoft.com/office/drawing/2014/main" id="{BD9F56FF-904D-34A5-9A6F-53810D4D80C4}"/>
              </a:ext>
            </a:extLst>
          </p:cNvPr>
          <p:cNvCxnSpPr>
            <a:cxnSpLocks/>
            <a:stCxn id="4" idx="0"/>
            <a:endCxn id="6" idx="4"/>
          </p:cNvCxnSpPr>
          <p:nvPr/>
        </p:nvCxnSpPr>
        <p:spPr>
          <a:xfrm rot="5400000" flipH="1" flipV="1">
            <a:off x="7678038" y="2751679"/>
            <a:ext cx="452715" cy="1754116"/>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6" name="Elipse 5">
            <a:extLst>
              <a:ext uri="{FF2B5EF4-FFF2-40B4-BE49-F238E27FC236}">
                <a16:creationId xmlns:a16="http://schemas.microsoft.com/office/drawing/2014/main" id="{65A4C476-2D2B-390F-A7B6-2E4F4741B3D1}"/>
              </a:ext>
            </a:extLst>
          </p:cNvPr>
          <p:cNvSpPr/>
          <p:nvPr/>
        </p:nvSpPr>
        <p:spPr>
          <a:xfrm>
            <a:off x="8733861"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25">
            <a:extLst>
              <a:ext uri="{FF2B5EF4-FFF2-40B4-BE49-F238E27FC236}">
                <a16:creationId xmlns:a16="http://schemas.microsoft.com/office/drawing/2014/main" id="{EFC43992-4371-9FB6-DB9C-0E031EE94683}"/>
              </a:ext>
            </a:extLst>
          </p:cNvPr>
          <p:cNvSpPr txBox="1"/>
          <p:nvPr/>
        </p:nvSpPr>
        <p:spPr>
          <a:xfrm>
            <a:off x="8019880" y="3855094"/>
            <a:ext cx="1800000" cy="2880318"/>
          </a:xfrm>
          <a:prstGeom prst="rect">
            <a:avLst/>
          </a:prstGeom>
          <a:solidFill>
            <a:schemeClr val="bg1">
              <a:lumMod val="95000"/>
            </a:schemeClr>
          </a:solidFill>
        </p:spPr>
        <p:txBody>
          <a:bodyPr wrap="square" lIns="90000" rtlCol="0">
            <a:noAutofit/>
          </a:bodyPr>
          <a:lstStyle/>
          <a:p>
            <a:r>
              <a:rPr lang="pt-BR" sz="1200" b="1" dirty="0"/>
              <a:t>Pré-requisitos mínimos para </a:t>
            </a:r>
            <a:r>
              <a:rPr lang="pt-BR" sz="1200" b="1" dirty="0" err="1"/>
              <a:t>para</a:t>
            </a:r>
            <a:r>
              <a:rPr lang="pt-BR" sz="1200" b="1" dirty="0"/>
              <a:t> status “Pós </a:t>
            </a:r>
            <a:r>
              <a:rPr lang="pt-BR" sz="1200" b="1" dirty="0" err="1"/>
              <a:t>Audit</a:t>
            </a:r>
            <a:r>
              <a:rPr lang="pt-BR" sz="1200" b="1" dirty="0"/>
              <a:t>”</a:t>
            </a:r>
          </a:p>
          <a:p>
            <a:pPr marL="171450" indent="-171450">
              <a:spcBef>
                <a:spcPts val="600"/>
              </a:spcBef>
              <a:buFont typeface="Wingdings" panose="05000000000000000000" pitchFamily="2" charset="2"/>
              <a:buChar char="§"/>
            </a:pPr>
            <a:r>
              <a:rPr lang="pt-BR" sz="1200" dirty="0"/>
              <a:t>Todos os serviços com </a:t>
            </a:r>
            <a:r>
              <a:rPr lang="pt-BR" sz="1200" b="1" dirty="0"/>
              <a:t>OS</a:t>
            </a:r>
            <a:r>
              <a:rPr lang="pt-BR" sz="1200" dirty="0"/>
              <a:t> devem ter pedidos de compra </a:t>
            </a:r>
            <a:r>
              <a:rPr lang="pt-BR" sz="1200" b="1" dirty="0"/>
              <a:t>emitidos e aprovados</a:t>
            </a:r>
          </a:p>
          <a:p>
            <a:pPr marL="171450" indent="-171450">
              <a:spcBef>
                <a:spcPts val="600"/>
              </a:spcBef>
              <a:buFont typeface="Wingdings" panose="05000000000000000000" pitchFamily="2" charset="2"/>
              <a:buChar char="§"/>
            </a:pPr>
            <a:r>
              <a:rPr lang="pt-BR" sz="1200" dirty="0"/>
              <a:t>Todas as </a:t>
            </a:r>
            <a:r>
              <a:rPr lang="pt-BR" sz="1200" b="1" dirty="0"/>
              <a:t>VOR</a:t>
            </a:r>
            <a:r>
              <a:rPr lang="pt-BR" sz="1200" dirty="0"/>
              <a:t> devem ter pedidos de compra </a:t>
            </a:r>
            <a:r>
              <a:rPr lang="pt-BR" sz="1200" b="1" dirty="0"/>
              <a:t>aprovados</a:t>
            </a:r>
          </a:p>
          <a:p>
            <a:pPr marL="171450" indent="-171450">
              <a:spcBef>
                <a:spcPts val="600"/>
              </a:spcBef>
              <a:buFont typeface="Wingdings" panose="05000000000000000000" pitchFamily="2" charset="2"/>
              <a:buChar char="§"/>
            </a:pPr>
            <a:r>
              <a:rPr lang="pt-BR" sz="1200" dirty="0"/>
              <a:t>Todos os </a:t>
            </a:r>
            <a:r>
              <a:rPr lang="pt-BR" sz="1200" b="1" dirty="0"/>
              <a:t>materiais</a:t>
            </a:r>
            <a:r>
              <a:rPr lang="pt-BR" sz="1200" dirty="0"/>
              <a:t> devem ter pedidos de compra </a:t>
            </a:r>
            <a:r>
              <a:rPr lang="pt-BR" sz="1200" b="1" dirty="0"/>
              <a:t>aprovados ou cancelados</a:t>
            </a:r>
            <a:endParaRPr lang="pt-BR" sz="1200" dirty="0"/>
          </a:p>
        </p:txBody>
      </p:sp>
      <p:cxnSp>
        <p:nvCxnSpPr>
          <p:cNvPr id="11" name="Curved Connector 10">
            <a:extLst>
              <a:ext uri="{FF2B5EF4-FFF2-40B4-BE49-F238E27FC236}">
                <a16:creationId xmlns:a16="http://schemas.microsoft.com/office/drawing/2014/main" id="{B3A614ED-73F6-B63C-2274-21B8EB1D9F64}"/>
              </a:ext>
            </a:extLst>
          </p:cNvPr>
          <p:cNvCxnSpPr>
            <a:cxnSpLocks/>
            <a:stCxn id="8" idx="0"/>
            <a:endCxn id="12" idx="4"/>
          </p:cNvCxnSpPr>
          <p:nvPr/>
        </p:nvCxnSpPr>
        <p:spPr>
          <a:xfrm rot="5400000" flipH="1" flipV="1">
            <a:off x="9298910" y="3023350"/>
            <a:ext cx="452715" cy="1210775"/>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12" name="Elipse 11">
            <a:extLst>
              <a:ext uri="{FF2B5EF4-FFF2-40B4-BE49-F238E27FC236}">
                <a16:creationId xmlns:a16="http://schemas.microsoft.com/office/drawing/2014/main" id="{EC277C3F-E329-1B1F-128B-D9DD1FD56D4B}"/>
              </a:ext>
            </a:extLst>
          </p:cNvPr>
          <p:cNvSpPr/>
          <p:nvPr/>
        </p:nvSpPr>
        <p:spPr>
          <a:xfrm>
            <a:off x="10083063"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CaixaDeTexto 25">
            <a:extLst>
              <a:ext uri="{FF2B5EF4-FFF2-40B4-BE49-F238E27FC236}">
                <a16:creationId xmlns:a16="http://schemas.microsoft.com/office/drawing/2014/main" id="{E1139D7B-3B2B-1E79-AF30-E1E83A36B858}"/>
              </a:ext>
            </a:extLst>
          </p:cNvPr>
          <p:cNvSpPr txBox="1"/>
          <p:nvPr/>
        </p:nvSpPr>
        <p:spPr>
          <a:xfrm>
            <a:off x="9912424" y="3855095"/>
            <a:ext cx="1800000" cy="2886274"/>
          </a:xfrm>
          <a:prstGeom prst="rect">
            <a:avLst/>
          </a:prstGeom>
          <a:solidFill>
            <a:schemeClr val="bg1">
              <a:lumMod val="95000"/>
            </a:schemeClr>
          </a:solidFill>
        </p:spPr>
        <p:txBody>
          <a:bodyPr wrap="square" lIns="90000" rtlCol="0">
            <a:noAutofit/>
          </a:bodyPr>
          <a:lstStyle/>
          <a:p>
            <a:r>
              <a:rPr lang="pt-BR" sz="1200" b="1" dirty="0"/>
              <a:t>Pré-requisitos mínimos para </a:t>
            </a:r>
            <a:r>
              <a:rPr lang="pt-BR" sz="1200" b="1" dirty="0" err="1"/>
              <a:t>para</a:t>
            </a:r>
            <a:r>
              <a:rPr lang="pt-BR" sz="1200" b="1" dirty="0"/>
              <a:t> status “Concluída”</a:t>
            </a:r>
          </a:p>
          <a:p>
            <a:pPr marL="171450" indent="-171450">
              <a:spcBef>
                <a:spcPts val="600"/>
              </a:spcBef>
              <a:buFont typeface="Wingdings" panose="05000000000000000000" pitchFamily="2" charset="2"/>
              <a:buChar char="§"/>
            </a:pPr>
            <a:r>
              <a:rPr lang="pt-BR" sz="1200" dirty="0"/>
              <a:t>Todas as pendências financeiras devem estar saneadas; </a:t>
            </a:r>
          </a:p>
          <a:p>
            <a:pPr marL="171450" indent="-171450">
              <a:spcBef>
                <a:spcPts val="600"/>
              </a:spcBef>
              <a:buFont typeface="Wingdings" panose="05000000000000000000" pitchFamily="2" charset="2"/>
              <a:buChar char="§"/>
            </a:pPr>
            <a:r>
              <a:rPr lang="pt-BR" sz="1200" dirty="0"/>
              <a:t>Pedidos de compra ainda em aberto devem estar formalmente justificados</a:t>
            </a:r>
          </a:p>
        </p:txBody>
      </p:sp>
      <p:cxnSp>
        <p:nvCxnSpPr>
          <p:cNvPr id="19" name="Curved Connector 10">
            <a:extLst>
              <a:ext uri="{FF2B5EF4-FFF2-40B4-BE49-F238E27FC236}">
                <a16:creationId xmlns:a16="http://schemas.microsoft.com/office/drawing/2014/main" id="{44F08B71-FA3D-4806-707F-4E0CB8031EBE}"/>
              </a:ext>
            </a:extLst>
          </p:cNvPr>
          <p:cNvCxnSpPr>
            <a:cxnSpLocks/>
            <a:stCxn id="14" idx="0"/>
            <a:endCxn id="20" idx="4"/>
          </p:cNvCxnSpPr>
          <p:nvPr/>
        </p:nvCxnSpPr>
        <p:spPr>
          <a:xfrm rot="5400000" flipH="1" flipV="1">
            <a:off x="10688291" y="3526512"/>
            <a:ext cx="452716" cy="204451"/>
          </a:xfrm>
          <a:prstGeom prst="curvedConnector3">
            <a:avLst>
              <a:gd name="adj1" fmla="val 50000"/>
            </a:avLst>
          </a:prstGeom>
          <a:ln>
            <a:solidFill>
              <a:srgbClr val="014A65"/>
            </a:solidFill>
            <a:prstDash val="dash"/>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20" name="Elipse 19">
            <a:extLst>
              <a:ext uri="{FF2B5EF4-FFF2-40B4-BE49-F238E27FC236}">
                <a16:creationId xmlns:a16="http://schemas.microsoft.com/office/drawing/2014/main" id="{E5AC42DB-B99A-8E7D-4493-753069B14876}"/>
              </a:ext>
            </a:extLst>
          </p:cNvPr>
          <p:cNvSpPr/>
          <p:nvPr/>
        </p:nvSpPr>
        <p:spPr>
          <a:xfrm>
            <a:off x="10969283" y="3307196"/>
            <a:ext cx="95183" cy="9518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Título 4">
            <a:extLst>
              <a:ext uri="{FF2B5EF4-FFF2-40B4-BE49-F238E27FC236}">
                <a16:creationId xmlns:a16="http://schemas.microsoft.com/office/drawing/2014/main" id="{C5F069F6-C8E7-2214-FB47-355768D51BFE}"/>
              </a:ext>
            </a:extLst>
          </p:cNvPr>
          <p:cNvSpPr>
            <a:spLocks noGrp="1"/>
          </p:cNvSpPr>
          <p:nvPr>
            <p:ph type="title"/>
          </p:nvPr>
        </p:nvSpPr>
        <p:spPr>
          <a:xfrm>
            <a:off x="1089653" y="303578"/>
            <a:ext cx="10485852" cy="645195"/>
          </a:xfrm>
        </p:spPr>
        <p:txBody>
          <a:bodyPr/>
          <a:lstStyle/>
          <a:p>
            <a:pPr defTabSz="1055035">
              <a:lnSpc>
                <a:spcPct val="100000"/>
              </a:lnSpc>
              <a:spcBef>
                <a:spcPts val="0"/>
              </a:spcBef>
              <a:tabLst>
                <a:tab pos="9415463" algn="l"/>
              </a:tabLst>
              <a:defRPr/>
            </a:pPr>
            <a:r>
              <a:rPr lang="pt-BR" dirty="0"/>
              <a:t>Status da Parada 		(2/2)</a:t>
            </a:r>
            <a:br>
              <a:rPr lang="pt-BR" dirty="0"/>
            </a:br>
            <a:r>
              <a:rPr lang="pt-BR" sz="1600" b="0" dirty="0">
                <a:solidFill>
                  <a:prstClr val="black"/>
                </a:solidFill>
                <a:latin typeface="Calibri"/>
              </a:rPr>
              <a:t>Marcos de início e pré-requisitos mínimos para a mudança de status</a:t>
            </a:r>
            <a:endParaRPr lang="pt-BR" b="0" dirty="0"/>
          </a:p>
        </p:txBody>
      </p:sp>
    </p:spTree>
    <p:extLst>
      <p:ext uri="{BB962C8B-B14F-4D97-AF65-F5344CB8AC3E}">
        <p14:creationId xmlns:p14="http://schemas.microsoft.com/office/powerpoint/2010/main" val="267871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a:extLst>
              <a:ext uri="{FF2B5EF4-FFF2-40B4-BE49-F238E27FC236}">
                <a16:creationId xmlns:a16="http://schemas.microsoft.com/office/drawing/2014/main" id="{BC971A12-E509-ED8B-1CFE-AB20A95A7952}"/>
              </a:ext>
            </a:extLst>
          </p:cNvPr>
          <p:cNvSpPr>
            <a:spLocks noGrp="1"/>
          </p:cNvSpPr>
          <p:nvPr>
            <p:ph type="title"/>
          </p:nvPr>
        </p:nvSpPr>
        <p:spPr>
          <a:xfrm>
            <a:off x="1089652" y="303578"/>
            <a:ext cx="10838995" cy="645195"/>
          </a:xfrm>
        </p:spPr>
        <p:txBody>
          <a:bodyPr/>
          <a:lstStyle/>
          <a:p>
            <a:pPr defTabSz="1055035">
              <a:lnSpc>
                <a:spcPct val="100000"/>
              </a:lnSpc>
              <a:spcBef>
                <a:spcPts val="0"/>
              </a:spcBef>
              <a:defRPr/>
            </a:pPr>
            <a:r>
              <a:rPr lang="pt-BR" dirty="0"/>
              <a:t>[FEL-0 para FEL-1] Da primeira estimativa financeira à abertura de Orçamento e Coletores </a:t>
            </a:r>
          </a:p>
        </p:txBody>
      </p:sp>
      <p:sp>
        <p:nvSpPr>
          <p:cNvPr id="6" name="Retângulo 5">
            <a:extLst>
              <a:ext uri="{FF2B5EF4-FFF2-40B4-BE49-F238E27FC236}">
                <a16:creationId xmlns:a16="http://schemas.microsoft.com/office/drawing/2014/main" id="{1A0CCA10-733E-A8D2-DF81-52223115DFEC}"/>
              </a:ext>
            </a:extLst>
          </p:cNvPr>
          <p:cNvSpPr/>
          <p:nvPr/>
        </p:nvSpPr>
        <p:spPr>
          <a:xfrm>
            <a:off x="623392" y="1196752"/>
            <a:ext cx="10952113" cy="354103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011494E8-675E-0440-1A89-4F0427B91174}"/>
              </a:ext>
            </a:extLst>
          </p:cNvPr>
          <p:cNvSpPr txBox="1"/>
          <p:nvPr/>
        </p:nvSpPr>
        <p:spPr>
          <a:xfrm rot="16200000">
            <a:off x="126056" y="2828769"/>
            <a:ext cx="1282973" cy="276999"/>
          </a:xfrm>
          <a:prstGeom prst="rect">
            <a:avLst/>
          </a:prstGeom>
          <a:noFill/>
        </p:spPr>
        <p:txBody>
          <a:bodyPr wrap="square" rtlCol="0">
            <a:spAutoFit/>
          </a:bodyPr>
          <a:lstStyle/>
          <a:p>
            <a:pPr algn="ctr"/>
            <a:r>
              <a:rPr lang="pt-BR" sz="1200" b="1" dirty="0"/>
              <a:t>Planejamento AT</a:t>
            </a:r>
          </a:p>
        </p:txBody>
      </p:sp>
      <p:sp>
        <p:nvSpPr>
          <p:cNvPr id="8" name="Elipse 7">
            <a:extLst>
              <a:ext uri="{FF2B5EF4-FFF2-40B4-BE49-F238E27FC236}">
                <a16:creationId xmlns:a16="http://schemas.microsoft.com/office/drawing/2014/main" id="{1A1A622E-9549-8E06-A283-F26A9E3393EE}"/>
              </a:ext>
            </a:extLst>
          </p:cNvPr>
          <p:cNvSpPr/>
          <p:nvPr/>
        </p:nvSpPr>
        <p:spPr>
          <a:xfrm>
            <a:off x="1520481" y="1771509"/>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74F15404-D559-A6A0-1EAC-AA79CECC0917}"/>
              </a:ext>
            </a:extLst>
          </p:cNvPr>
          <p:cNvSpPr txBox="1"/>
          <p:nvPr/>
        </p:nvSpPr>
        <p:spPr>
          <a:xfrm>
            <a:off x="1061434" y="2179220"/>
            <a:ext cx="1278134" cy="430887"/>
          </a:xfrm>
          <a:prstGeom prst="rect">
            <a:avLst/>
          </a:prstGeom>
          <a:noFill/>
        </p:spPr>
        <p:txBody>
          <a:bodyPr wrap="square" rtlCol="0">
            <a:spAutoFit/>
          </a:bodyPr>
          <a:lstStyle/>
          <a:p>
            <a:pPr algn="ctr"/>
            <a:r>
              <a:rPr lang="pt-BR" sz="1050" dirty="0"/>
              <a:t>Necessidade de parada identificada</a:t>
            </a:r>
          </a:p>
        </p:txBody>
      </p:sp>
      <p:cxnSp>
        <p:nvCxnSpPr>
          <p:cNvPr id="11" name="Conector de Seta Reta 10">
            <a:extLst>
              <a:ext uri="{FF2B5EF4-FFF2-40B4-BE49-F238E27FC236}">
                <a16:creationId xmlns:a16="http://schemas.microsoft.com/office/drawing/2014/main" id="{38DC0CC9-A3DA-6AEC-71F8-1E2DBF60E323}"/>
              </a:ext>
            </a:extLst>
          </p:cNvPr>
          <p:cNvCxnSpPr>
            <a:cxnSpLocks/>
            <a:stCxn id="8" idx="6"/>
            <a:endCxn id="76" idx="1"/>
          </p:cNvCxnSpPr>
          <p:nvPr/>
        </p:nvCxnSpPr>
        <p:spPr>
          <a:xfrm>
            <a:off x="1880521" y="1951529"/>
            <a:ext cx="34112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de Seta Reta 11">
            <a:extLst>
              <a:ext uri="{FF2B5EF4-FFF2-40B4-BE49-F238E27FC236}">
                <a16:creationId xmlns:a16="http://schemas.microsoft.com/office/drawing/2014/main" id="{79C013B2-1F7C-A07C-2F98-87C47222C37A}"/>
              </a:ext>
            </a:extLst>
          </p:cNvPr>
          <p:cNvCxnSpPr>
            <a:cxnSpLocks/>
            <a:stCxn id="76" idx="3"/>
            <a:endCxn id="38" idx="1"/>
          </p:cNvCxnSpPr>
          <p:nvPr/>
        </p:nvCxnSpPr>
        <p:spPr>
          <a:xfrm flipV="1">
            <a:off x="3517888" y="1951529"/>
            <a:ext cx="333826"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6" name="CaixaDeTexto 15">
            <a:extLst>
              <a:ext uri="{FF2B5EF4-FFF2-40B4-BE49-F238E27FC236}">
                <a16:creationId xmlns:a16="http://schemas.microsoft.com/office/drawing/2014/main" id="{333F9151-D963-B463-98A0-8D0ED7E0EEED}"/>
              </a:ext>
            </a:extLst>
          </p:cNvPr>
          <p:cNvSpPr txBox="1"/>
          <p:nvPr/>
        </p:nvSpPr>
        <p:spPr>
          <a:xfrm>
            <a:off x="2332103" y="1423616"/>
            <a:ext cx="1191453" cy="230832"/>
          </a:xfrm>
          <a:prstGeom prst="rect">
            <a:avLst/>
          </a:prstGeom>
          <a:noFill/>
        </p:spPr>
        <p:txBody>
          <a:bodyPr wrap="square" rtlCol="0">
            <a:spAutoFit/>
          </a:bodyPr>
          <a:lstStyle/>
          <a:p>
            <a:r>
              <a:rPr lang="pt-BR" sz="900" i="1" dirty="0"/>
              <a:t>Nasce o </a:t>
            </a:r>
            <a:r>
              <a:rPr lang="pt-BR" sz="900" b="1" i="1" dirty="0"/>
              <a:t>ID da Parada</a:t>
            </a:r>
          </a:p>
        </p:txBody>
      </p:sp>
      <p:grpSp>
        <p:nvGrpSpPr>
          <p:cNvPr id="17" name="Agrupar 16">
            <a:extLst>
              <a:ext uri="{FF2B5EF4-FFF2-40B4-BE49-F238E27FC236}">
                <a16:creationId xmlns:a16="http://schemas.microsoft.com/office/drawing/2014/main" id="{DEC2A176-99BC-D9A5-1A88-FEF202718EEE}"/>
              </a:ext>
            </a:extLst>
          </p:cNvPr>
          <p:cNvGrpSpPr/>
          <p:nvPr/>
        </p:nvGrpSpPr>
        <p:grpSpPr>
          <a:xfrm>
            <a:off x="2243074" y="1423655"/>
            <a:ext cx="144016" cy="194954"/>
            <a:chOff x="4223792" y="5610310"/>
            <a:chExt cx="144016" cy="194954"/>
          </a:xfrm>
        </p:grpSpPr>
        <p:sp>
          <p:nvSpPr>
            <p:cNvPr id="18" name="Onda 17">
              <a:extLst>
                <a:ext uri="{FF2B5EF4-FFF2-40B4-BE49-F238E27FC236}">
                  <a16:creationId xmlns:a16="http://schemas.microsoft.com/office/drawing/2014/main" id="{3885A112-5E4F-56E1-D074-E09CF220AA2F}"/>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9" name="Conector reto 18">
              <a:extLst>
                <a:ext uri="{FF2B5EF4-FFF2-40B4-BE49-F238E27FC236}">
                  <a16:creationId xmlns:a16="http://schemas.microsoft.com/office/drawing/2014/main" id="{4C0AC742-6B9E-1A2E-EDFE-EB2282615FA8}"/>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2" name="Retângulo: Cantos Arredondados 21">
            <a:extLst>
              <a:ext uri="{FF2B5EF4-FFF2-40B4-BE49-F238E27FC236}">
                <a16:creationId xmlns:a16="http://schemas.microsoft.com/office/drawing/2014/main" id="{0F4AC367-44E0-7A31-6BF6-F67798C88BF0}"/>
              </a:ext>
            </a:extLst>
          </p:cNvPr>
          <p:cNvSpPr/>
          <p:nvPr/>
        </p:nvSpPr>
        <p:spPr>
          <a:xfrm>
            <a:off x="2061716" y="3990888"/>
            <a:ext cx="1618434" cy="57754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Simulação de Cenários</a:t>
            </a:r>
          </a:p>
        </p:txBody>
      </p:sp>
      <p:sp>
        <p:nvSpPr>
          <p:cNvPr id="23" name="Retângulo: Cantos Arredondados 22">
            <a:extLst>
              <a:ext uri="{FF2B5EF4-FFF2-40B4-BE49-F238E27FC236}">
                <a16:creationId xmlns:a16="http://schemas.microsoft.com/office/drawing/2014/main" id="{71FA187A-A707-E20F-766E-B57BE7DAE89A}"/>
              </a:ext>
            </a:extLst>
          </p:cNvPr>
          <p:cNvSpPr/>
          <p:nvPr/>
        </p:nvSpPr>
        <p:spPr>
          <a:xfrm>
            <a:off x="5077777" y="4972778"/>
            <a:ext cx="1440160"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Abrir Orçamento e Coletores para ID no Protheus</a:t>
            </a:r>
          </a:p>
        </p:txBody>
      </p:sp>
      <p:sp>
        <p:nvSpPr>
          <p:cNvPr id="24" name="CaixaDeTexto 23">
            <a:extLst>
              <a:ext uri="{FF2B5EF4-FFF2-40B4-BE49-F238E27FC236}">
                <a16:creationId xmlns:a16="http://schemas.microsoft.com/office/drawing/2014/main" id="{B819DD8F-B9AB-9B67-7FC6-BD06ED1B49E9}"/>
              </a:ext>
            </a:extLst>
          </p:cNvPr>
          <p:cNvSpPr txBox="1"/>
          <p:nvPr/>
        </p:nvSpPr>
        <p:spPr>
          <a:xfrm>
            <a:off x="8305240" y="4126220"/>
            <a:ext cx="1711614" cy="507831"/>
          </a:xfrm>
          <a:prstGeom prst="rect">
            <a:avLst/>
          </a:prstGeom>
          <a:noFill/>
        </p:spPr>
        <p:txBody>
          <a:bodyPr wrap="square" rtlCol="0">
            <a:spAutoFit/>
          </a:bodyPr>
          <a:lstStyle/>
          <a:p>
            <a:pPr algn="ctr"/>
            <a:r>
              <a:rPr lang="pt-BR" sz="900" b="1" i="1" dirty="0"/>
              <a:t>Registro do FEL-1 </a:t>
            </a:r>
            <a:r>
              <a:rPr lang="pt-BR" sz="900" i="1" dirty="0"/>
              <a:t>a partir de ação manual no HUB até 7 dias após a abertura do orçamento</a:t>
            </a:r>
          </a:p>
        </p:txBody>
      </p:sp>
      <p:grpSp>
        <p:nvGrpSpPr>
          <p:cNvPr id="25" name="Agrupar 24">
            <a:extLst>
              <a:ext uri="{FF2B5EF4-FFF2-40B4-BE49-F238E27FC236}">
                <a16:creationId xmlns:a16="http://schemas.microsoft.com/office/drawing/2014/main" id="{4D814723-82B5-4C7B-F2AB-2D31F589ADD5}"/>
              </a:ext>
            </a:extLst>
          </p:cNvPr>
          <p:cNvGrpSpPr/>
          <p:nvPr/>
        </p:nvGrpSpPr>
        <p:grpSpPr>
          <a:xfrm>
            <a:off x="8288662" y="4134383"/>
            <a:ext cx="144016" cy="194954"/>
            <a:chOff x="4223792" y="5610310"/>
            <a:chExt cx="144016" cy="194954"/>
          </a:xfrm>
        </p:grpSpPr>
        <p:sp>
          <p:nvSpPr>
            <p:cNvPr id="26" name="Onda 25">
              <a:extLst>
                <a:ext uri="{FF2B5EF4-FFF2-40B4-BE49-F238E27FC236}">
                  <a16:creationId xmlns:a16="http://schemas.microsoft.com/office/drawing/2014/main" id="{D25F5F04-02CA-E357-41B9-637253F6C84D}"/>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7" name="Conector reto 26">
              <a:extLst>
                <a:ext uri="{FF2B5EF4-FFF2-40B4-BE49-F238E27FC236}">
                  <a16:creationId xmlns:a16="http://schemas.microsoft.com/office/drawing/2014/main" id="{D7C629B6-7F75-F681-6602-70086BC4FDC0}"/>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8" name="Retângulo: Cantos Arredondados 27">
            <a:extLst>
              <a:ext uri="{FF2B5EF4-FFF2-40B4-BE49-F238E27FC236}">
                <a16:creationId xmlns:a16="http://schemas.microsoft.com/office/drawing/2014/main" id="{A2BDB39B-A2D7-47BD-BB3E-77269FF1363F}"/>
              </a:ext>
            </a:extLst>
          </p:cNvPr>
          <p:cNvSpPr/>
          <p:nvPr/>
        </p:nvSpPr>
        <p:spPr>
          <a:xfrm>
            <a:off x="5077777" y="3351265"/>
            <a:ext cx="1440160"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Solicitar abertura de Orçamento e Coletores para ID</a:t>
            </a:r>
          </a:p>
        </p:txBody>
      </p:sp>
      <p:sp>
        <p:nvSpPr>
          <p:cNvPr id="29" name="Elipse 28">
            <a:extLst>
              <a:ext uri="{FF2B5EF4-FFF2-40B4-BE49-F238E27FC236}">
                <a16:creationId xmlns:a16="http://schemas.microsoft.com/office/drawing/2014/main" id="{8D112E5F-3A7C-39E9-6E59-C3A1C4CE6E37}"/>
              </a:ext>
            </a:extLst>
          </p:cNvPr>
          <p:cNvSpPr/>
          <p:nvPr/>
        </p:nvSpPr>
        <p:spPr>
          <a:xfrm>
            <a:off x="1690409" y="3433763"/>
            <a:ext cx="360040" cy="36004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1</a:t>
            </a:r>
          </a:p>
        </p:txBody>
      </p:sp>
      <p:sp>
        <p:nvSpPr>
          <p:cNvPr id="30" name="Elipse 29">
            <a:extLst>
              <a:ext uri="{FF2B5EF4-FFF2-40B4-BE49-F238E27FC236}">
                <a16:creationId xmlns:a16="http://schemas.microsoft.com/office/drawing/2014/main" id="{FF5FB41A-01D6-C58F-BD54-AC037FB15049}"/>
              </a:ext>
            </a:extLst>
          </p:cNvPr>
          <p:cNvSpPr/>
          <p:nvPr/>
        </p:nvSpPr>
        <p:spPr>
          <a:xfrm>
            <a:off x="10404394" y="1771509"/>
            <a:ext cx="360040" cy="36004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cxnSp>
        <p:nvCxnSpPr>
          <p:cNvPr id="31" name="Conector de Seta Reta 30">
            <a:extLst>
              <a:ext uri="{FF2B5EF4-FFF2-40B4-BE49-F238E27FC236}">
                <a16:creationId xmlns:a16="http://schemas.microsoft.com/office/drawing/2014/main" id="{329A2E4B-7CBE-2C90-86E7-86AF00A5E135}"/>
              </a:ext>
            </a:extLst>
          </p:cNvPr>
          <p:cNvCxnSpPr>
            <a:cxnSpLocks/>
            <a:stCxn id="29" idx="6"/>
            <a:endCxn id="50" idx="1"/>
          </p:cNvCxnSpPr>
          <p:nvPr/>
        </p:nvCxnSpPr>
        <p:spPr>
          <a:xfrm>
            <a:off x="2050449" y="3613783"/>
            <a:ext cx="6127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tângulo 31">
            <a:extLst>
              <a:ext uri="{FF2B5EF4-FFF2-40B4-BE49-F238E27FC236}">
                <a16:creationId xmlns:a16="http://schemas.microsoft.com/office/drawing/2014/main" id="{27542753-FCCA-DA50-F200-3D3E9C866DC1}"/>
              </a:ext>
            </a:extLst>
          </p:cNvPr>
          <p:cNvSpPr/>
          <p:nvPr/>
        </p:nvSpPr>
        <p:spPr>
          <a:xfrm>
            <a:off x="623392" y="4737783"/>
            <a:ext cx="10952113" cy="146957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3" name="Conector de Seta Reta 32">
            <a:extLst>
              <a:ext uri="{FF2B5EF4-FFF2-40B4-BE49-F238E27FC236}">
                <a16:creationId xmlns:a16="http://schemas.microsoft.com/office/drawing/2014/main" id="{C10CE50C-3862-FC31-E812-FAB53C1E98BF}"/>
              </a:ext>
            </a:extLst>
          </p:cNvPr>
          <p:cNvCxnSpPr>
            <a:cxnSpLocks/>
            <a:stCxn id="28" idx="2"/>
            <a:endCxn id="23" idx="0"/>
          </p:cNvCxnSpPr>
          <p:nvPr/>
        </p:nvCxnSpPr>
        <p:spPr>
          <a:xfrm>
            <a:off x="5797857" y="3876301"/>
            <a:ext cx="0" cy="10964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CaixaDeTexto 33">
            <a:extLst>
              <a:ext uri="{FF2B5EF4-FFF2-40B4-BE49-F238E27FC236}">
                <a16:creationId xmlns:a16="http://schemas.microsoft.com/office/drawing/2014/main" id="{021559D1-E4FA-3B28-C0FC-72F1F55A2AE7}"/>
              </a:ext>
            </a:extLst>
          </p:cNvPr>
          <p:cNvSpPr txBox="1"/>
          <p:nvPr/>
        </p:nvSpPr>
        <p:spPr>
          <a:xfrm>
            <a:off x="6971746" y="3229526"/>
            <a:ext cx="1405947" cy="415498"/>
          </a:xfrm>
          <a:prstGeom prst="rect">
            <a:avLst/>
          </a:prstGeom>
          <a:noFill/>
        </p:spPr>
        <p:txBody>
          <a:bodyPr wrap="square" rtlCol="0">
            <a:spAutoFit/>
          </a:bodyPr>
          <a:lstStyle/>
          <a:p>
            <a:pPr algn="ctr"/>
            <a:r>
              <a:rPr lang="pt-BR" sz="1050" dirty="0"/>
              <a:t>Orçamento e Coletores habilitados</a:t>
            </a:r>
          </a:p>
        </p:txBody>
      </p:sp>
      <p:cxnSp>
        <p:nvCxnSpPr>
          <p:cNvPr id="35" name="Conector de Seta Reta 34">
            <a:extLst>
              <a:ext uri="{FF2B5EF4-FFF2-40B4-BE49-F238E27FC236}">
                <a16:creationId xmlns:a16="http://schemas.microsoft.com/office/drawing/2014/main" id="{4FD61071-C890-3319-4203-A7418115949A}"/>
              </a:ext>
            </a:extLst>
          </p:cNvPr>
          <p:cNvCxnSpPr>
            <a:cxnSpLocks/>
            <a:stCxn id="23" idx="3"/>
            <a:endCxn id="60" idx="1"/>
          </p:cNvCxnSpPr>
          <p:nvPr/>
        </p:nvCxnSpPr>
        <p:spPr>
          <a:xfrm>
            <a:off x="6517937" y="5235296"/>
            <a:ext cx="4125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63AE7BDA-289F-799D-37FE-90C2F09166E2}"/>
              </a:ext>
            </a:extLst>
          </p:cNvPr>
          <p:cNvSpPr txBox="1"/>
          <p:nvPr/>
        </p:nvSpPr>
        <p:spPr>
          <a:xfrm rot="16200000">
            <a:off x="126056" y="5295108"/>
            <a:ext cx="1282973" cy="276999"/>
          </a:xfrm>
          <a:prstGeom prst="rect">
            <a:avLst/>
          </a:prstGeom>
          <a:noFill/>
        </p:spPr>
        <p:txBody>
          <a:bodyPr wrap="square" rtlCol="0">
            <a:spAutoFit/>
          </a:bodyPr>
          <a:lstStyle/>
          <a:p>
            <a:pPr algn="ctr"/>
            <a:r>
              <a:rPr lang="pt-BR" sz="1200" b="1" dirty="0"/>
              <a:t>Controladoria</a:t>
            </a:r>
          </a:p>
        </p:txBody>
      </p:sp>
      <p:cxnSp>
        <p:nvCxnSpPr>
          <p:cNvPr id="37" name="Conector de Seta Reta 36">
            <a:extLst>
              <a:ext uri="{FF2B5EF4-FFF2-40B4-BE49-F238E27FC236}">
                <a16:creationId xmlns:a16="http://schemas.microsoft.com/office/drawing/2014/main" id="{DA9B02B7-0D9D-70FE-C17E-B421403F7FDB}"/>
              </a:ext>
            </a:extLst>
          </p:cNvPr>
          <p:cNvCxnSpPr>
            <a:cxnSpLocks/>
            <a:stCxn id="130" idx="6"/>
            <a:endCxn id="68" idx="1"/>
          </p:cNvCxnSpPr>
          <p:nvPr/>
        </p:nvCxnSpPr>
        <p:spPr>
          <a:xfrm>
            <a:off x="6357033" y="1951529"/>
            <a:ext cx="668848"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tângulo: Cantos Arredondados 37">
            <a:extLst>
              <a:ext uri="{FF2B5EF4-FFF2-40B4-BE49-F238E27FC236}">
                <a16:creationId xmlns:a16="http://schemas.microsoft.com/office/drawing/2014/main" id="{CEDF112B-2C04-D789-B417-90F13004C2A0}"/>
              </a:ext>
            </a:extLst>
          </p:cNvPr>
          <p:cNvSpPr/>
          <p:nvPr/>
        </p:nvSpPr>
        <p:spPr>
          <a:xfrm>
            <a:off x="3851714" y="1689011"/>
            <a:ext cx="1637367" cy="525036"/>
          </a:xfrm>
          <a:prstGeom prst="roundRect">
            <a:avLst/>
          </a:prstGeom>
          <a:solidFill>
            <a:schemeClr val="bg1"/>
          </a:solidFill>
          <a:ln w="9525">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Dados da Parada são importados para o HUB</a:t>
            </a:r>
          </a:p>
        </p:txBody>
      </p:sp>
      <p:grpSp>
        <p:nvGrpSpPr>
          <p:cNvPr id="43" name="Agrupar 42">
            <a:extLst>
              <a:ext uri="{FF2B5EF4-FFF2-40B4-BE49-F238E27FC236}">
                <a16:creationId xmlns:a16="http://schemas.microsoft.com/office/drawing/2014/main" id="{11FD21EE-AD93-00E7-B70B-B9EA99E875C0}"/>
              </a:ext>
            </a:extLst>
          </p:cNvPr>
          <p:cNvGrpSpPr/>
          <p:nvPr/>
        </p:nvGrpSpPr>
        <p:grpSpPr>
          <a:xfrm>
            <a:off x="8625114" y="1689011"/>
            <a:ext cx="1460147" cy="525036"/>
            <a:chOff x="8630505" y="1758964"/>
            <a:chExt cx="1460147" cy="525036"/>
          </a:xfrm>
        </p:grpSpPr>
        <p:sp>
          <p:nvSpPr>
            <p:cNvPr id="44" name="Retângulo: Cantos Arredondados 43">
              <a:extLst>
                <a:ext uri="{FF2B5EF4-FFF2-40B4-BE49-F238E27FC236}">
                  <a16:creationId xmlns:a16="http://schemas.microsoft.com/office/drawing/2014/main" id="{2746CF02-8CD3-E4EB-133F-E1426877A381}"/>
                </a:ext>
              </a:extLst>
            </p:cNvPr>
            <p:cNvSpPr/>
            <p:nvPr/>
          </p:nvSpPr>
          <p:spPr>
            <a:xfrm>
              <a:off x="8630505" y="1758964"/>
              <a:ext cx="146014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Cadastrar estimativas financeiras </a:t>
              </a:r>
              <a:r>
                <a:rPr lang="pt-BR" sz="1100" dirty="0" err="1">
                  <a:solidFill>
                    <a:schemeClr val="tx1"/>
                  </a:solidFill>
                </a:rPr>
                <a:t>mensalizadas</a:t>
              </a:r>
              <a:endParaRPr lang="pt-BR" sz="1100" dirty="0">
                <a:solidFill>
                  <a:schemeClr val="tx1"/>
                </a:solidFill>
              </a:endParaRPr>
            </a:p>
          </p:txBody>
        </p:sp>
        <p:pic>
          <p:nvPicPr>
            <p:cNvPr id="45" name="Imagem 44" descr="Forma&#10;&#10;O conteúdo gerado por IA pode estar incorreto.">
              <a:extLst>
                <a:ext uri="{FF2B5EF4-FFF2-40B4-BE49-F238E27FC236}">
                  <a16:creationId xmlns:a16="http://schemas.microsoft.com/office/drawing/2014/main" id="{FE319150-02B0-F791-F6A6-EEE47FB5BC36}"/>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9908773" y="2152957"/>
              <a:ext cx="121379" cy="105309"/>
            </a:xfrm>
            <a:prstGeom prst="rect">
              <a:avLst/>
            </a:prstGeom>
          </p:spPr>
        </p:pic>
      </p:grpSp>
      <p:cxnSp>
        <p:nvCxnSpPr>
          <p:cNvPr id="47" name="Conector de Seta Reta 46">
            <a:extLst>
              <a:ext uri="{FF2B5EF4-FFF2-40B4-BE49-F238E27FC236}">
                <a16:creationId xmlns:a16="http://schemas.microsoft.com/office/drawing/2014/main" id="{62841458-D1FE-F8AE-D07B-ADAA65ABC83D}"/>
              </a:ext>
            </a:extLst>
          </p:cNvPr>
          <p:cNvCxnSpPr>
            <a:cxnSpLocks/>
            <a:stCxn id="44" idx="3"/>
            <a:endCxn id="30" idx="2"/>
          </p:cNvCxnSpPr>
          <p:nvPr/>
        </p:nvCxnSpPr>
        <p:spPr>
          <a:xfrm>
            <a:off x="10085261" y="1951529"/>
            <a:ext cx="31913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Losango 49">
            <a:extLst>
              <a:ext uri="{FF2B5EF4-FFF2-40B4-BE49-F238E27FC236}">
                <a16:creationId xmlns:a16="http://schemas.microsoft.com/office/drawing/2014/main" id="{C08563F6-3FFE-069D-14FF-3EDF50A2128D}"/>
              </a:ext>
            </a:extLst>
          </p:cNvPr>
          <p:cNvSpPr/>
          <p:nvPr/>
        </p:nvSpPr>
        <p:spPr>
          <a:xfrm>
            <a:off x="2663185" y="3406035"/>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 name="CaixaDeTexto 50">
            <a:extLst>
              <a:ext uri="{FF2B5EF4-FFF2-40B4-BE49-F238E27FC236}">
                <a16:creationId xmlns:a16="http://schemas.microsoft.com/office/drawing/2014/main" id="{6FBA110B-3B2F-C6CD-7F44-5589A79B771D}"/>
              </a:ext>
            </a:extLst>
          </p:cNvPr>
          <p:cNvSpPr txBox="1"/>
          <p:nvPr/>
        </p:nvSpPr>
        <p:spPr>
          <a:xfrm>
            <a:off x="2165222" y="2979594"/>
            <a:ext cx="1405947" cy="415498"/>
          </a:xfrm>
          <a:prstGeom prst="rect">
            <a:avLst/>
          </a:prstGeom>
          <a:noFill/>
        </p:spPr>
        <p:txBody>
          <a:bodyPr wrap="square" rtlCol="0">
            <a:spAutoFit/>
          </a:bodyPr>
          <a:lstStyle/>
          <a:p>
            <a:pPr algn="ctr"/>
            <a:r>
              <a:rPr lang="pt-BR" sz="1050" dirty="0"/>
              <a:t>Necessário simular diferentes cenários?</a:t>
            </a:r>
          </a:p>
        </p:txBody>
      </p:sp>
      <p:cxnSp>
        <p:nvCxnSpPr>
          <p:cNvPr id="52" name="Conector de Seta Reta 51">
            <a:extLst>
              <a:ext uri="{FF2B5EF4-FFF2-40B4-BE49-F238E27FC236}">
                <a16:creationId xmlns:a16="http://schemas.microsoft.com/office/drawing/2014/main" id="{9943ADAE-8F6A-603F-85B6-19958E35AAFE}"/>
              </a:ext>
            </a:extLst>
          </p:cNvPr>
          <p:cNvCxnSpPr>
            <a:cxnSpLocks/>
            <a:stCxn id="50" idx="2"/>
            <a:endCxn id="22" idx="0"/>
          </p:cNvCxnSpPr>
          <p:nvPr/>
        </p:nvCxnSpPr>
        <p:spPr>
          <a:xfrm flipH="1">
            <a:off x="2870933" y="3821532"/>
            <a:ext cx="1" cy="16935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3" name="Agrupar 52">
            <a:extLst>
              <a:ext uri="{FF2B5EF4-FFF2-40B4-BE49-F238E27FC236}">
                <a16:creationId xmlns:a16="http://schemas.microsoft.com/office/drawing/2014/main" id="{240680FC-EF35-C843-5538-AE9375266DA5}"/>
              </a:ext>
            </a:extLst>
          </p:cNvPr>
          <p:cNvGrpSpPr/>
          <p:nvPr/>
        </p:nvGrpSpPr>
        <p:grpSpPr>
          <a:xfrm>
            <a:off x="2808410" y="4414821"/>
            <a:ext cx="125046" cy="125046"/>
            <a:chOff x="3437956" y="3698436"/>
            <a:chExt cx="125046" cy="125046"/>
          </a:xfrm>
        </p:grpSpPr>
        <p:sp>
          <p:nvSpPr>
            <p:cNvPr id="54" name="Sinal de Adição 53">
              <a:extLst>
                <a:ext uri="{FF2B5EF4-FFF2-40B4-BE49-F238E27FC236}">
                  <a16:creationId xmlns:a16="http://schemas.microsoft.com/office/drawing/2014/main" id="{1283624C-7C3B-9847-9218-15E780AF57C4}"/>
                </a:ext>
              </a:extLst>
            </p:cNvPr>
            <p:cNvSpPr/>
            <p:nvPr/>
          </p:nvSpPr>
          <p:spPr>
            <a:xfrm>
              <a:off x="3443582" y="3706689"/>
              <a:ext cx="113794" cy="113794"/>
            </a:xfrm>
            <a:prstGeom prst="mathPlus">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Retângulo 54">
              <a:extLst>
                <a:ext uri="{FF2B5EF4-FFF2-40B4-BE49-F238E27FC236}">
                  <a16:creationId xmlns:a16="http://schemas.microsoft.com/office/drawing/2014/main" id="{10D0629D-D126-4A6D-4C9A-B4CDA7A16BDC}"/>
                </a:ext>
              </a:extLst>
            </p:cNvPr>
            <p:cNvSpPr/>
            <p:nvPr/>
          </p:nvSpPr>
          <p:spPr>
            <a:xfrm>
              <a:off x="3437956" y="3698436"/>
              <a:ext cx="125046" cy="125046"/>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56" name="CaixaDeTexto 55">
            <a:extLst>
              <a:ext uri="{FF2B5EF4-FFF2-40B4-BE49-F238E27FC236}">
                <a16:creationId xmlns:a16="http://schemas.microsoft.com/office/drawing/2014/main" id="{75C1A4AE-DCEB-FF65-EE5E-46336DA5B99A}"/>
              </a:ext>
            </a:extLst>
          </p:cNvPr>
          <p:cNvSpPr txBox="1"/>
          <p:nvPr/>
        </p:nvSpPr>
        <p:spPr>
          <a:xfrm>
            <a:off x="3791250" y="2979594"/>
            <a:ext cx="1056309" cy="415498"/>
          </a:xfrm>
          <a:prstGeom prst="rect">
            <a:avLst/>
          </a:prstGeom>
          <a:noFill/>
        </p:spPr>
        <p:txBody>
          <a:bodyPr wrap="square" rtlCol="0">
            <a:spAutoFit/>
          </a:bodyPr>
          <a:lstStyle/>
          <a:p>
            <a:pPr algn="ctr"/>
            <a:r>
              <a:rPr lang="pt-BR" sz="1050" dirty="0"/>
              <a:t>~ 10 a 12 meses antes da parada</a:t>
            </a:r>
          </a:p>
        </p:txBody>
      </p:sp>
      <p:sp>
        <p:nvSpPr>
          <p:cNvPr id="57" name="Elipse 56">
            <a:extLst>
              <a:ext uri="{FF2B5EF4-FFF2-40B4-BE49-F238E27FC236}">
                <a16:creationId xmlns:a16="http://schemas.microsoft.com/office/drawing/2014/main" id="{082DD077-C678-DA53-1F43-4B9DF428C6F7}"/>
              </a:ext>
            </a:extLst>
          </p:cNvPr>
          <p:cNvSpPr/>
          <p:nvPr/>
        </p:nvSpPr>
        <p:spPr>
          <a:xfrm>
            <a:off x="4139384" y="3433763"/>
            <a:ext cx="360040" cy="360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8" name="Conector de Seta Reta 57">
            <a:extLst>
              <a:ext uri="{FF2B5EF4-FFF2-40B4-BE49-F238E27FC236}">
                <a16:creationId xmlns:a16="http://schemas.microsoft.com/office/drawing/2014/main" id="{0BA5B192-B80E-79E2-6862-C0BA33D0B26E}"/>
              </a:ext>
            </a:extLst>
          </p:cNvPr>
          <p:cNvCxnSpPr>
            <a:cxnSpLocks/>
            <a:stCxn id="50" idx="3"/>
            <a:endCxn id="57" idx="2"/>
          </p:cNvCxnSpPr>
          <p:nvPr/>
        </p:nvCxnSpPr>
        <p:spPr>
          <a:xfrm flipV="1">
            <a:off x="3078682" y="3613783"/>
            <a:ext cx="106070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B71590F6-DA68-58EC-6447-8F1A73BD7D75}"/>
              </a:ext>
            </a:extLst>
          </p:cNvPr>
          <p:cNvCxnSpPr>
            <a:cxnSpLocks/>
            <a:stCxn id="57" idx="6"/>
            <a:endCxn id="28" idx="1"/>
          </p:cNvCxnSpPr>
          <p:nvPr/>
        </p:nvCxnSpPr>
        <p:spPr>
          <a:xfrm>
            <a:off x="4499424" y="3613783"/>
            <a:ext cx="5783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tângulo: Cantos Arredondados 59">
            <a:extLst>
              <a:ext uri="{FF2B5EF4-FFF2-40B4-BE49-F238E27FC236}">
                <a16:creationId xmlns:a16="http://schemas.microsoft.com/office/drawing/2014/main" id="{6DFF9D9B-0969-5102-C54D-283ABA201F49}"/>
              </a:ext>
            </a:extLst>
          </p:cNvPr>
          <p:cNvSpPr/>
          <p:nvPr/>
        </p:nvSpPr>
        <p:spPr>
          <a:xfrm>
            <a:off x="6930462" y="4972778"/>
            <a:ext cx="1488515" cy="525036"/>
          </a:xfrm>
          <a:prstGeom prst="roundRect">
            <a:avLst/>
          </a:prstGeom>
          <a:solidFill>
            <a:schemeClr val="bg1"/>
          </a:solidFill>
          <a:ln w="9525">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Protheus comunica ao HUB que o orçamento foi aberto</a:t>
            </a:r>
          </a:p>
        </p:txBody>
      </p:sp>
      <p:cxnSp>
        <p:nvCxnSpPr>
          <p:cNvPr id="61" name="Conector: Angulado 60">
            <a:extLst>
              <a:ext uri="{FF2B5EF4-FFF2-40B4-BE49-F238E27FC236}">
                <a16:creationId xmlns:a16="http://schemas.microsoft.com/office/drawing/2014/main" id="{58766A5C-50C0-3ACB-07E4-805F525ACFD8}"/>
              </a:ext>
            </a:extLst>
          </p:cNvPr>
          <p:cNvCxnSpPr>
            <a:cxnSpLocks/>
            <a:stCxn id="22" idx="3"/>
            <a:endCxn id="57" idx="4"/>
          </p:cNvCxnSpPr>
          <p:nvPr/>
        </p:nvCxnSpPr>
        <p:spPr>
          <a:xfrm flipV="1">
            <a:off x="3680150" y="3793803"/>
            <a:ext cx="639254" cy="48585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EC15A4EF-7D78-0375-8202-8D3835FA26E4}"/>
              </a:ext>
            </a:extLst>
          </p:cNvPr>
          <p:cNvSpPr/>
          <p:nvPr/>
        </p:nvSpPr>
        <p:spPr>
          <a:xfrm>
            <a:off x="7494699" y="3621081"/>
            <a:ext cx="360040" cy="360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3" name="Conector de Seta Reta 62">
            <a:extLst>
              <a:ext uri="{FF2B5EF4-FFF2-40B4-BE49-F238E27FC236}">
                <a16:creationId xmlns:a16="http://schemas.microsoft.com/office/drawing/2014/main" id="{44B6A9FD-081B-F811-9F67-C69A33E19303}"/>
              </a:ext>
            </a:extLst>
          </p:cNvPr>
          <p:cNvCxnSpPr>
            <a:cxnSpLocks/>
            <a:stCxn id="60" idx="0"/>
            <a:endCxn id="62" idx="4"/>
          </p:cNvCxnSpPr>
          <p:nvPr/>
        </p:nvCxnSpPr>
        <p:spPr>
          <a:xfrm flipH="1" flipV="1">
            <a:off x="7674719" y="3981121"/>
            <a:ext cx="1" cy="9916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CaixaDeTexto 65">
            <a:extLst>
              <a:ext uri="{FF2B5EF4-FFF2-40B4-BE49-F238E27FC236}">
                <a16:creationId xmlns:a16="http://schemas.microsoft.com/office/drawing/2014/main" id="{474D2754-F1D0-5104-558A-AEA1D4B10C5B}"/>
              </a:ext>
            </a:extLst>
          </p:cNvPr>
          <p:cNvSpPr txBox="1"/>
          <p:nvPr/>
        </p:nvSpPr>
        <p:spPr>
          <a:xfrm>
            <a:off x="2848285" y="3768499"/>
            <a:ext cx="492776" cy="230833"/>
          </a:xfrm>
          <a:prstGeom prst="rect">
            <a:avLst/>
          </a:prstGeom>
          <a:noFill/>
        </p:spPr>
        <p:txBody>
          <a:bodyPr wrap="square" rtlCol="0">
            <a:spAutoFit/>
          </a:bodyPr>
          <a:lstStyle/>
          <a:p>
            <a:pPr algn="ctr"/>
            <a:r>
              <a:rPr lang="pt-BR" sz="1000" dirty="0"/>
              <a:t>Sim</a:t>
            </a:r>
          </a:p>
        </p:txBody>
      </p:sp>
      <p:sp>
        <p:nvSpPr>
          <p:cNvPr id="67" name="CaixaDeTexto 66">
            <a:extLst>
              <a:ext uri="{FF2B5EF4-FFF2-40B4-BE49-F238E27FC236}">
                <a16:creationId xmlns:a16="http://schemas.microsoft.com/office/drawing/2014/main" id="{F217AE9F-10D7-6550-359F-38E4D03E3EAC}"/>
              </a:ext>
            </a:extLst>
          </p:cNvPr>
          <p:cNvSpPr txBox="1"/>
          <p:nvPr/>
        </p:nvSpPr>
        <p:spPr>
          <a:xfrm>
            <a:off x="3373139" y="3381337"/>
            <a:ext cx="492776" cy="246221"/>
          </a:xfrm>
          <a:prstGeom prst="rect">
            <a:avLst/>
          </a:prstGeom>
          <a:noFill/>
        </p:spPr>
        <p:txBody>
          <a:bodyPr wrap="square" rtlCol="0">
            <a:spAutoFit/>
          </a:bodyPr>
          <a:lstStyle/>
          <a:p>
            <a:pPr algn="ctr"/>
            <a:r>
              <a:rPr lang="pt-BR" sz="1000" dirty="0"/>
              <a:t>Não</a:t>
            </a:r>
          </a:p>
        </p:txBody>
      </p:sp>
      <p:sp>
        <p:nvSpPr>
          <p:cNvPr id="68" name="Losango 67">
            <a:extLst>
              <a:ext uri="{FF2B5EF4-FFF2-40B4-BE49-F238E27FC236}">
                <a16:creationId xmlns:a16="http://schemas.microsoft.com/office/drawing/2014/main" id="{3FC5EC68-E5AD-909A-E64E-921403FFE169}"/>
              </a:ext>
            </a:extLst>
          </p:cNvPr>
          <p:cNvSpPr/>
          <p:nvPr/>
        </p:nvSpPr>
        <p:spPr>
          <a:xfrm>
            <a:off x="7025881" y="1743781"/>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69" name="Conector de Seta Reta 68">
            <a:extLst>
              <a:ext uri="{FF2B5EF4-FFF2-40B4-BE49-F238E27FC236}">
                <a16:creationId xmlns:a16="http://schemas.microsoft.com/office/drawing/2014/main" id="{76E893B0-92C6-4176-8EDB-DEE00EAFB9ED}"/>
              </a:ext>
            </a:extLst>
          </p:cNvPr>
          <p:cNvCxnSpPr>
            <a:cxnSpLocks/>
            <a:stCxn id="68" idx="3"/>
            <a:endCxn id="44" idx="1"/>
          </p:cNvCxnSpPr>
          <p:nvPr/>
        </p:nvCxnSpPr>
        <p:spPr>
          <a:xfrm flipV="1">
            <a:off x="7441378" y="1951529"/>
            <a:ext cx="11837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CaixaDeTexto 69">
            <a:extLst>
              <a:ext uri="{FF2B5EF4-FFF2-40B4-BE49-F238E27FC236}">
                <a16:creationId xmlns:a16="http://schemas.microsoft.com/office/drawing/2014/main" id="{CA97CEC5-F8E6-8E99-81E5-C4683A6DBB03}"/>
              </a:ext>
            </a:extLst>
          </p:cNvPr>
          <p:cNvSpPr txBox="1"/>
          <p:nvPr/>
        </p:nvSpPr>
        <p:spPr>
          <a:xfrm>
            <a:off x="6753489" y="1268760"/>
            <a:ext cx="960281" cy="415498"/>
          </a:xfrm>
          <a:prstGeom prst="rect">
            <a:avLst/>
          </a:prstGeom>
          <a:noFill/>
        </p:spPr>
        <p:txBody>
          <a:bodyPr wrap="square" rtlCol="0">
            <a:spAutoFit/>
          </a:bodyPr>
          <a:lstStyle/>
          <a:p>
            <a:pPr algn="ctr"/>
            <a:r>
              <a:rPr lang="pt-BR" sz="1050" dirty="0"/>
              <a:t>Usar modelo existente?</a:t>
            </a:r>
          </a:p>
        </p:txBody>
      </p:sp>
      <p:sp>
        <p:nvSpPr>
          <p:cNvPr id="71" name="CaixaDeTexto 70">
            <a:extLst>
              <a:ext uri="{FF2B5EF4-FFF2-40B4-BE49-F238E27FC236}">
                <a16:creationId xmlns:a16="http://schemas.microsoft.com/office/drawing/2014/main" id="{CB9B5AA6-2830-6C4F-EF04-B6C6B0E8E67D}"/>
              </a:ext>
            </a:extLst>
          </p:cNvPr>
          <p:cNvSpPr txBox="1"/>
          <p:nvPr/>
        </p:nvSpPr>
        <p:spPr>
          <a:xfrm>
            <a:off x="7461494" y="1717316"/>
            <a:ext cx="492776" cy="246221"/>
          </a:xfrm>
          <a:prstGeom prst="rect">
            <a:avLst/>
          </a:prstGeom>
          <a:noFill/>
        </p:spPr>
        <p:txBody>
          <a:bodyPr wrap="square" rtlCol="0">
            <a:spAutoFit/>
          </a:bodyPr>
          <a:lstStyle/>
          <a:p>
            <a:pPr algn="ctr"/>
            <a:r>
              <a:rPr lang="pt-BR" sz="1000" dirty="0"/>
              <a:t>Não</a:t>
            </a:r>
          </a:p>
        </p:txBody>
      </p:sp>
      <p:sp>
        <p:nvSpPr>
          <p:cNvPr id="72" name="Retângulo: Cantos Arredondados 71">
            <a:extLst>
              <a:ext uri="{FF2B5EF4-FFF2-40B4-BE49-F238E27FC236}">
                <a16:creationId xmlns:a16="http://schemas.microsoft.com/office/drawing/2014/main" id="{6EBA1894-538F-0F98-165A-6F1105E449EE}"/>
              </a:ext>
            </a:extLst>
          </p:cNvPr>
          <p:cNvSpPr/>
          <p:nvPr/>
        </p:nvSpPr>
        <p:spPr>
          <a:xfrm>
            <a:off x="6638522" y="2492896"/>
            <a:ext cx="1190215"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Selecionar modelos</a:t>
            </a:r>
          </a:p>
        </p:txBody>
      </p:sp>
      <p:cxnSp>
        <p:nvCxnSpPr>
          <p:cNvPr id="73" name="Conector de Seta Reta 72">
            <a:extLst>
              <a:ext uri="{FF2B5EF4-FFF2-40B4-BE49-F238E27FC236}">
                <a16:creationId xmlns:a16="http://schemas.microsoft.com/office/drawing/2014/main" id="{158ECC4F-7A0B-2FF7-EF80-B974242DEF60}"/>
              </a:ext>
            </a:extLst>
          </p:cNvPr>
          <p:cNvCxnSpPr>
            <a:cxnSpLocks/>
            <a:stCxn id="68" idx="2"/>
            <a:endCxn id="72" idx="0"/>
          </p:cNvCxnSpPr>
          <p:nvPr/>
        </p:nvCxnSpPr>
        <p:spPr>
          <a:xfrm>
            <a:off x="7233630" y="2159278"/>
            <a:ext cx="0" cy="3336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ector: Angulado 73">
            <a:extLst>
              <a:ext uri="{FF2B5EF4-FFF2-40B4-BE49-F238E27FC236}">
                <a16:creationId xmlns:a16="http://schemas.microsoft.com/office/drawing/2014/main" id="{3C93B781-FB29-2666-3702-E8F3FBB8A449}"/>
              </a:ext>
            </a:extLst>
          </p:cNvPr>
          <p:cNvCxnSpPr>
            <a:cxnSpLocks/>
            <a:stCxn id="72" idx="3"/>
            <a:endCxn id="44" idx="2"/>
          </p:cNvCxnSpPr>
          <p:nvPr/>
        </p:nvCxnSpPr>
        <p:spPr>
          <a:xfrm flipV="1">
            <a:off x="7828737" y="2214047"/>
            <a:ext cx="1526451" cy="54136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CaixaDeTexto 74">
            <a:extLst>
              <a:ext uri="{FF2B5EF4-FFF2-40B4-BE49-F238E27FC236}">
                <a16:creationId xmlns:a16="http://schemas.microsoft.com/office/drawing/2014/main" id="{250B2C94-5B71-0B67-B4A8-5B1854E6E977}"/>
              </a:ext>
            </a:extLst>
          </p:cNvPr>
          <p:cNvSpPr txBox="1"/>
          <p:nvPr/>
        </p:nvSpPr>
        <p:spPr>
          <a:xfrm>
            <a:off x="7181943" y="2192814"/>
            <a:ext cx="492776" cy="246221"/>
          </a:xfrm>
          <a:prstGeom prst="rect">
            <a:avLst/>
          </a:prstGeom>
          <a:noFill/>
        </p:spPr>
        <p:txBody>
          <a:bodyPr wrap="square" rtlCol="0">
            <a:spAutoFit/>
          </a:bodyPr>
          <a:lstStyle/>
          <a:p>
            <a:pPr algn="ctr"/>
            <a:r>
              <a:rPr lang="pt-BR" sz="1000" dirty="0"/>
              <a:t>Sim</a:t>
            </a:r>
          </a:p>
        </p:txBody>
      </p:sp>
      <p:sp>
        <p:nvSpPr>
          <p:cNvPr id="77" name="CaixaDeTexto 76">
            <a:extLst>
              <a:ext uri="{FF2B5EF4-FFF2-40B4-BE49-F238E27FC236}">
                <a16:creationId xmlns:a16="http://schemas.microsoft.com/office/drawing/2014/main" id="{3D3C83AF-80B4-95D3-26C8-2413D18ACB38}"/>
              </a:ext>
            </a:extLst>
          </p:cNvPr>
          <p:cNvSpPr txBox="1"/>
          <p:nvPr/>
        </p:nvSpPr>
        <p:spPr>
          <a:xfrm>
            <a:off x="9135628" y="5021480"/>
            <a:ext cx="2144948" cy="974626"/>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dirty="0"/>
              <a:t>Pré-requisito mínimo para formalização do FEL-1: </a:t>
            </a:r>
            <a:endParaRPr lang="pt-BR" b="0" dirty="0"/>
          </a:p>
          <a:p>
            <a:pPr marL="171450" indent="-171450" algn="l">
              <a:spcBef>
                <a:spcPts val="400"/>
              </a:spcBef>
              <a:buFont typeface="Wingdings" panose="05000000000000000000" pitchFamily="2" charset="2"/>
              <a:buChar char="§"/>
            </a:pPr>
            <a:r>
              <a:rPr lang="pt-BR" b="0" dirty="0"/>
              <a:t>Orçamento(</a:t>
            </a:r>
            <a:r>
              <a:rPr lang="pt-BR" b="0" dirty="0" err="1"/>
              <a:t>s</a:t>
            </a:r>
            <a:r>
              <a:rPr lang="pt-BR" b="0" dirty="0"/>
              <a:t>) aberto no Protheus (via habilitação da Controladoria dos coletores de Obra para o ID da Parada)</a:t>
            </a:r>
          </a:p>
        </p:txBody>
      </p:sp>
      <p:cxnSp>
        <p:nvCxnSpPr>
          <p:cNvPr id="78" name="Conector: Curvo 77">
            <a:extLst>
              <a:ext uri="{FF2B5EF4-FFF2-40B4-BE49-F238E27FC236}">
                <a16:creationId xmlns:a16="http://schemas.microsoft.com/office/drawing/2014/main" id="{FFEE6BB4-648E-9715-3BAB-DFB93E1FB069}"/>
              </a:ext>
            </a:extLst>
          </p:cNvPr>
          <p:cNvCxnSpPr>
            <a:cxnSpLocks/>
            <a:stCxn id="24" idx="2"/>
            <a:endCxn id="77" idx="0"/>
          </p:cNvCxnSpPr>
          <p:nvPr/>
        </p:nvCxnSpPr>
        <p:spPr>
          <a:xfrm rot="16200000" flipH="1">
            <a:off x="9490860" y="4304237"/>
            <a:ext cx="387429" cy="10470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CaixaDeTexto 118">
            <a:extLst>
              <a:ext uri="{FF2B5EF4-FFF2-40B4-BE49-F238E27FC236}">
                <a16:creationId xmlns:a16="http://schemas.microsoft.com/office/drawing/2014/main" id="{F3A99C67-034C-BDAB-8DA5-8A7FEAAA677A}"/>
              </a:ext>
            </a:extLst>
          </p:cNvPr>
          <p:cNvSpPr txBox="1"/>
          <p:nvPr/>
        </p:nvSpPr>
        <p:spPr>
          <a:xfrm>
            <a:off x="8802504" y="1423616"/>
            <a:ext cx="1282758" cy="230832"/>
          </a:xfrm>
          <a:prstGeom prst="rect">
            <a:avLst/>
          </a:prstGeom>
          <a:noFill/>
        </p:spPr>
        <p:txBody>
          <a:bodyPr wrap="square" rtlCol="0">
            <a:spAutoFit/>
          </a:bodyPr>
          <a:lstStyle/>
          <a:p>
            <a:r>
              <a:rPr lang="pt-BR" sz="900" i="1" dirty="0"/>
              <a:t>Parada entra em </a:t>
            </a:r>
            <a:r>
              <a:rPr lang="pt-BR" sz="900" b="1" i="1" dirty="0"/>
              <a:t>FEL-0</a:t>
            </a:r>
          </a:p>
        </p:txBody>
      </p:sp>
      <p:grpSp>
        <p:nvGrpSpPr>
          <p:cNvPr id="120" name="Agrupar 119">
            <a:extLst>
              <a:ext uri="{FF2B5EF4-FFF2-40B4-BE49-F238E27FC236}">
                <a16:creationId xmlns:a16="http://schemas.microsoft.com/office/drawing/2014/main" id="{149EB125-D51A-8FA6-C176-2970A26724D6}"/>
              </a:ext>
            </a:extLst>
          </p:cNvPr>
          <p:cNvGrpSpPr/>
          <p:nvPr/>
        </p:nvGrpSpPr>
        <p:grpSpPr>
          <a:xfrm>
            <a:off x="8713474" y="1423655"/>
            <a:ext cx="144016" cy="194954"/>
            <a:chOff x="4223792" y="5610310"/>
            <a:chExt cx="144016" cy="194954"/>
          </a:xfrm>
        </p:grpSpPr>
        <p:sp>
          <p:nvSpPr>
            <p:cNvPr id="121" name="Onda 120">
              <a:extLst>
                <a:ext uri="{FF2B5EF4-FFF2-40B4-BE49-F238E27FC236}">
                  <a16:creationId xmlns:a16="http://schemas.microsoft.com/office/drawing/2014/main" id="{96D9E976-3767-D1E1-24BF-1A529AFDFC9B}"/>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22" name="Conector reto 121">
              <a:extLst>
                <a:ext uri="{FF2B5EF4-FFF2-40B4-BE49-F238E27FC236}">
                  <a16:creationId xmlns:a16="http://schemas.microsoft.com/office/drawing/2014/main" id="{4235D72C-121F-C530-DF9A-AAF5C90CBE78}"/>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29" name="CaixaDeTexto 128">
            <a:extLst>
              <a:ext uri="{FF2B5EF4-FFF2-40B4-BE49-F238E27FC236}">
                <a16:creationId xmlns:a16="http://schemas.microsoft.com/office/drawing/2014/main" id="{33CE1475-DCFA-AF38-0CE6-1FE4026224D0}"/>
              </a:ext>
            </a:extLst>
          </p:cNvPr>
          <p:cNvSpPr txBox="1"/>
          <p:nvPr/>
        </p:nvSpPr>
        <p:spPr>
          <a:xfrm>
            <a:off x="5537946" y="1268760"/>
            <a:ext cx="1278134" cy="415498"/>
          </a:xfrm>
          <a:prstGeom prst="rect">
            <a:avLst/>
          </a:prstGeom>
          <a:noFill/>
        </p:spPr>
        <p:txBody>
          <a:bodyPr wrap="square" rtlCol="0">
            <a:spAutoFit/>
          </a:bodyPr>
          <a:lstStyle/>
          <a:p>
            <a:pPr algn="ctr"/>
            <a:r>
              <a:rPr lang="pt-BR" sz="1050" dirty="0"/>
              <a:t>Parada cadastrada no HUB</a:t>
            </a:r>
          </a:p>
        </p:txBody>
      </p:sp>
      <p:sp>
        <p:nvSpPr>
          <p:cNvPr id="130" name="Elipse 129">
            <a:extLst>
              <a:ext uri="{FF2B5EF4-FFF2-40B4-BE49-F238E27FC236}">
                <a16:creationId xmlns:a16="http://schemas.microsoft.com/office/drawing/2014/main" id="{DD7DAB29-15C9-66E8-EBDF-A58251B48727}"/>
              </a:ext>
            </a:extLst>
          </p:cNvPr>
          <p:cNvSpPr/>
          <p:nvPr/>
        </p:nvSpPr>
        <p:spPr>
          <a:xfrm>
            <a:off x="5996993" y="1771509"/>
            <a:ext cx="360040" cy="360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2" name="Conector de Seta Reta 131">
            <a:extLst>
              <a:ext uri="{FF2B5EF4-FFF2-40B4-BE49-F238E27FC236}">
                <a16:creationId xmlns:a16="http://schemas.microsoft.com/office/drawing/2014/main" id="{451FE479-72F9-1DFD-821F-B0BB0BA5C1B4}"/>
              </a:ext>
            </a:extLst>
          </p:cNvPr>
          <p:cNvCxnSpPr>
            <a:cxnSpLocks/>
            <a:stCxn id="38" idx="3"/>
            <a:endCxn id="130" idx="2"/>
          </p:cNvCxnSpPr>
          <p:nvPr/>
        </p:nvCxnSpPr>
        <p:spPr>
          <a:xfrm>
            <a:off x="5489081" y="1951529"/>
            <a:ext cx="507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7" name="Imagem 136" descr="Forma&#10;&#10;O conteúdo gerado por IA pode estar incorreto.">
            <a:extLst>
              <a:ext uri="{FF2B5EF4-FFF2-40B4-BE49-F238E27FC236}">
                <a16:creationId xmlns:a16="http://schemas.microsoft.com/office/drawing/2014/main" id="{366C4822-E9A3-6A12-6E53-56D894ADC359}"/>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5336977" y="2078894"/>
            <a:ext cx="121379" cy="105309"/>
          </a:xfrm>
          <a:prstGeom prst="rect">
            <a:avLst/>
          </a:prstGeom>
        </p:spPr>
      </p:pic>
      <p:sp>
        <p:nvSpPr>
          <p:cNvPr id="3" name="Retângulo: Cantos Arredondados 2">
            <a:extLst>
              <a:ext uri="{FF2B5EF4-FFF2-40B4-BE49-F238E27FC236}">
                <a16:creationId xmlns:a16="http://schemas.microsoft.com/office/drawing/2014/main" id="{36593041-715C-5543-1134-5916003ADFE7}"/>
              </a:ext>
            </a:extLst>
          </p:cNvPr>
          <p:cNvSpPr/>
          <p:nvPr/>
        </p:nvSpPr>
        <p:spPr>
          <a:xfrm>
            <a:off x="8380008" y="3538583"/>
            <a:ext cx="10820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Salvar FEL-1</a:t>
            </a:r>
          </a:p>
        </p:txBody>
      </p:sp>
      <p:cxnSp>
        <p:nvCxnSpPr>
          <p:cNvPr id="13" name="Conector de Seta Reta 12">
            <a:extLst>
              <a:ext uri="{FF2B5EF4-FFF2-40B4-BE49-F238E27FC236}">
                <a16:creationId xmlns:a16="http://schemas.microsoft.com/office/drawing/2014/main" id="{EF74AAD2-E72B-293D-FD07-9647335E59D3}"/>
              </a:ext>
            </a:extLst>
          </p:cNvPr>
          <p:cNvCxnSpPr>
            <a:cxnSpLocks/>
            <a:stCxn id="62" idx="6"/>
            <a:endCxn id="3" idx="1"/>
          </p:cNvCxnSpPr>
          <p:nvPr/>
        </p:nvCxnSpPr>
        <p:spPr>
          <a:xfrm>
            <a:off x="7854739" y="3801101"/>
            <a:ext cx="52526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D22CE249-9A8B-8418-5A37-6046B52B51D5}"/>
              </a:ext>
            </a:extLst>
          </p:cNvPr>
          <p:cNvSpPr/>
          <p:nvPr/>
        </p:nvSpPr>
        <p:spPr>
          <a:xfrm>
            <a:off x="10068031" y="3617603"/>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9" name="Conector de Seta Reta 38">
            <a:extLst>
              <a:ext uri="{FF2B5EF4-FFF2-40B4-BE49-F238E27FC236}">
                <a16:creationId xmlns:a16="http://schemas.microsoft.com/office/drawing/2014/main" id="{074E44AF-3FC6-774D-1C24-0AEC863CA084}"/>
              </a:ext>
            </a:extLst>
          </p:cNvPr>
          <p:cNvCxnSpPr>
            <a:cxnSpLocks/>
            <a:stCxn id="3" idx="3"/>
            <a:endCxn id="21" idx="2"/>
          </p:cNvCxnSpPr>
          <p:nvPr/>
        </p:nvCxnSpPr>
        <p:spPr>
          <a:xfrm flipV="1">
            <a:off x="9462022" y="3797623"/>
            <a:ext cx="606009" cy="34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CaixaDeTexto 48">
            <a:extLst>
              <a:ext uri="{FF2B5EF4-FFF2-40B4-BE49-F238E27FC236}">
                <a16:creationId xmlns:a16="http://schemas.microsoft.com/office/drawing/2014/main" id="{AA2CA5DD-1B65-9CC1-457F-0E045FEAE930}"/>
              </a:ext>
            </a:extLst>
          </p:cNvPr>
          <p:cNvSpPr txBox="1"/>
          <p:nvPr/>
        </p:nvSpPr>
        <p:spPr>
          <a:xfrm>
            <a:off x="9719897" y="3356992"/>
            <a:ext cx="1056309" cy="253916"/>
          </a:xfrm>
          <a:prstGeom prst="rect">
            <a:avLst/>
          </a:prstGeom>
          <a:noFill/>
        </p:spPr>
        <p:txBody>
          <a:bodyPr wrap="square" rtlCol="0">
            <a:spAutoFit/>
          </a:bodyPr>
          <a:lstStyle/>
          <a:p>
            <a:pPr algn="ctr"/>
            <a:r>
              <a:rPr lang="pt-BR" sz="1050" b="1" dirty="0"/>
              <a:t>FEL-1 salvo</a:t>
            </a:r>
          </a:p>
        </p:txBody>
      </p:sp>
      <p:sp>
        <p:nvSpPr>
          <p:cNvPr id="65" name="CaixaDeTexto 64">
            <a:extLst>
              <a:ext uri="{FF2B5EF4-FFF2-40B4-BE49-F238E27FC236}">
                <a16:creationId xmlns:a16="http://schemas.microsoft.com/office/drawing/2014/main" id="{B3D7E48A-6203-0CD4-3ACF-D09E136C3B6F}"/>
              </a:ext>
            </a:extLst>
          </p:cNvPr>
          <p:cNvSpPr txBox="1"/>
          <p:nvPr/>
        </p:nvSpPr>
        <p:spPr>
          <a:xfrm>
            <a:off x="3851714" y="2217564"/>
            <a:ext cx="1637367" cy="507831"/>
          </a:xfrm>
          <a:prstGeom prst="rect">
            <a:avLst/>
          </a:prstGeom>
          <a:noFill/>
        </p:spPr>
        <p:txBody>
          <a:bodyPr wrap="square" rtlCol="0">
            <a:spAutoFit/>
          </a:bodyPr>
          <a:lstStyle/>
          <a:p>
            <a:pPr algn="ctr"/>
            <a:r>
              <a:rPr lang="pt-BR" sz="900" i="1" dirty="0"/>
              <a:t>Parada em status </a:t>
            </a:r>
            <a:r>
              <a:rPr lang="pt-BR" sz="900" b="1" i="1" dirty="0"/>
              <a:t>“backlog” </a:t>
            </a:r>
            <a:r>
              <a:rPr lang="pt-BR" sz="900" i="1" dirty="0"/>
              <a:t>até primeiro cadastro de estimativa financeira</a:t>
            </a:r>
            <a:endParaRPr lang="pt-BR" sz="900" b="1" i="1" dirty="0"/>
          </a:p>
        </p:txBody>
      </p:sp>
      <p:sp>
        <p:nvSpPr>
          <p:cNvPr id="76" name="Fluxograma: Processo Predefinido 75">
            <a:extLst>
              <a:ext uri="{FF2B5EF4-FFF2-40B4-BE49-F238E27FC236}">
                <a16:creationId xmlns:a16="http://schemas.microsoft.com/office/drawing/2014/main" id="{97796FC8-536D-B81B-322B-DE650DF5055D}"/>
              </a:ext>
            </a:extLst>
          </p:cNvPr>
          <p:cNvSpPr/>
          <p:nvPr/>
        </p:nvSpPr>
        <p:spPr>
          <a:xfrm>
            <a:off x="2221644" y="1703155"/>
            <a:ext cx="1296244" cy="496749"/>
          </a:xfrm>
          <a:prstGeom prst="flowChartPredefinedProcess">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Abertura de parada no SGO</a:t>
            </a:r>
          </a:p>
        </p:txBody>
      </p:sp>
      <p:sp>
        <p:nvSpPr>
          <p:cNvPr id="2" name="CaixaDeTexto 64">
            <a:extLst>
              <a:ext uri="{FF2B5EF4-FFF2-40B4-BE49-F238E27FC236}">
                <a16:creationId xmlns:a16="http://schemas.microsoft.com/office/drawing/2014/main" id="{A4AE5B8D-7D1C-BD67-3F30-2899CC300F37}"/>
              </a:ext>
            </a:extLst>
          </p:cNvPr>
          <p:cNvSpPr txBox="1"/>
          <p:nvPr/>
        </p:nvSpPr>
        <p:spPr>
          <a:xfrm>
            <a:off x="5030941" y="5539571"/>
            <a:ext cx="1637367" cy="646331"/>
          </a:xfrm>
          <a:prstGeom prst="rect">
            <a:avLst/>
          </a:prstGeom>
          <a:noFill/>
        </p:spPr>
        <p:txBody>
          <a:bodyPr wrap="square" rtlCol="0">
            <a:spAutoFit/>
          </a:bodyPr>
          <a:lstStyle/>
          <a:p>
            <a:pPr algn="ctr"/>
            <a:r>
              <a:rPr lang="pt-BR" sz="900" i="1" dirty="0" err="1">
                <a:solidFill>
                  <a:srgbClr val="FF0000"/>
                </a:solidFill>
              </a:rPr>
              <a:t>Imp</a:t>
            </a:r>
            <a:r>
              <a:rPr lang="pt-BR" sz="900" i="1" dirty="0">
                <a:solidFill>
                  <a:srgbClr val="FF0000"/>
                </a:solidFill>
              </a:rPr>
              <a:t>: processo de inclusão do ID da Parada nos sistemas sendo desenvolvido em paralelo a este projeto do HUB</a:t>
            </a:r>
            <a:endParaRPr lang="pt-BR" sz="900" b="1" i="1" dirty="0">
              <a:solidFill>
                <a:srgbClr val="FF0000"/>
              </a:solidFill>
            </a:endParaRPr>
          </a:p>
        </p:txBody>
      </p:sp>
    </p:spTree>
    <p:extLst>
      <p:ext uri="{BB962C8B-B14F-4D97-AF65-F5344CB8AC3E}">
        <p14:creationId xmlns:p14="http://schemas.microsoft.com/office/powerpoint/2010/main" val="1845716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6A51C-79A0-6B41-6C90-23C80DDF0054}"/>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7182D2F-7A62-AF4A-C5EF-1B01B473BDD4}"/>
              </a:ext>
            </a:extLst>
          </p:cNvPr>
          <p:cNvSpPr>
            <a:spLocks noGrp="1"/>
          </p:cNvSpPr>
          <p:nvPr>
            <p:ph type="title"/>
          </p:nvPr>
        </p:nvSpPr>
        <p:spPr/>
        <p:txBody>
          <a:bodyPr/>
          <a:lstStyle/>
          <a:p>
            <a:pPr lvl="0" defTabSz="1055035">
              <a:lnSpc>
                <a:spcPct val="100000"/>
              </a:lnSpc>
              <a:spcBef>
                <a:spcPts val="0"/>
              </a:spcBef>
              <a:defRPr/>
            </a:pPr>
            <a:r>
              <a:rPr lang="pt-BR" dirty="0"/>
              <a:t>[FEL-1 para FEL-2] Importação da Lista de Serviços TM Master</a:t>
            </a:r>
            <a:endParaRPr lang="pt-BR" b="0" dirty="0"/>
          </a:p>
        </p:txBody>
      </p:sp>
      <p:sp>
        <p:nvSpPr>
          <p:cNvPr id="3" name="Retângulo 2">
            <a:extLst>
              <a:ext uri="{FF2B5EF4-FFF2-40B4-BE49-F238E27FC236}">
                <a16:creationId xmlns:a16="http://schemas.microsoft.com/office/drawing/2014/main" id="{F5B7609C-7CC0-BC4D-B159-C9E85C707765}"/>
              </a:ext>
            </a:extLst>
          </p:cNvPr>
          <p:cNvSpPr/>
          <p:nvPr/>
        </p:nvSpPr>
        <p:spPr>
          <a:xfrm>
            <a:off x="623392" y="2780928"/>
            <a:ext cx="10952113" cy="3773494"/>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70C8183E-580A-7FB8-221F-D60CF6E392EA}"/>
              </a:ext>
            </a:extLst>
          </p:cNvPr>
          <p:cNvSpPr txBox="1"/>
          <p:nvPr/>
        </p:nvSpPr>
        <p:spPr>
          <a:xfrm rot="16200000">
            <a:off x="126056" y="4529176"/>
            <a:ext cx="1282973" cy="276999"/>
          </a:xfrm>
          <a:prstGeom prst="rect">
            <a:avLst/>
          </a:prstGeom>
          <a:noFill/>
        </p:spPr>
        <p:txBody>
          <a:bodyPr wrap="square" rtlCol="0">
            <a:spAutoFit/>
          </a:bodyPr>
          <a:lstStyle/>
          <a:p>
            <a:pPr algn="ctr"/>
            <a:r>
              <a:rPr lang="pt-BR" sz="1200" b="1" dirty="0"/>
              <a:t>Planejamento AT</a:t>
            </a:r>
          </a:p>
        </p:txBody>
      </p:sp>
      <p:sp>
        <p:nvSpPr>
          <p:cNvPr id="7" name="Elipse 6">
            <a:extLst>
              <a:ext uri="{FF2B5EF4-FFF2-40B4-BE49-F238E27FC236}">
                <a16:creationId xmlns:a16="http://schemas.microsoft.com/office/drawing/2014/main" id="{125EF2B6-F4CE-E8C0-3D3D-8047E6711648}"/>
              </a:ext>
            </a:extLst>
          </p:cNvPr>
          <p:cNvSpPr/>
          <p:nvPr/>
        </p:nvSpPr>
        <p:spPr>
          <a:xfrm>
            <a:off x="1235268" y="1604204"/>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89399DAF-2D09-C42A-9DC9-DED94E28DAEF}"/>
              </a:ext>
            </a:extLst>
          </p:cNvPr>
          <p:cNvSpPr txBox="1"/>
          <p:nvPr/>
        </p:nvSpPr>
        <p:spPr>
          <a:xfrm>
            <a:off x="1191299" y="1373423"/>
            <a:ext cx="447978" cy="230832"/>
          </a:xfrm>
          <a:prstGeom prst="rect">
            <a:avLst/>
          </a:prstGeom>
          <a:noFill/>
        </p:spPr>
        <p:txBody>
          <a:bodyPr wrap="square" rtlCol="0">
            <a:spAutoFit/>
          </a:bodyPr>
          <a:lstStyle/>
          <a:p>
            <a:pPr algn="ctr"/>
            <a:r>
              <a:rPr lang="pt-BR" sz="900" b="1" dirty="0"/>
              <a:t>FEL-1</a:t>
            </a:r>
          </a:p>
        </p:txBody>
      </p:sp>
      <p:cxnSp>
        <p:nvCxnSpPr>
          <p:cNvPr id="21" name="Conector de Seta Reta 20">
            <a:extLst>
              <a:ext uri="{FF2B5EF4-FFF2-40B4-BE49-F238E27FC236}">
                <a16:creationId xmlns:a16="http://schemas.microsoft.com/office/drawing/2014/main" id="{B33B8740-B447-D58A-4493-55E0944F9404}"/>
              </a:ext>
            </a:extLst>
          </p:cNvPr>
          <p:cNvCxnSpPr>
            <a:cxnSpLocks/>
            <a:stCxn id="7" idx="6"/>
            <a:endCxn id="16" idx="1"/>
          </p:cNvCxnSpPr>
          <p:nvPr/>
        </p:nvCxnSpPr>
        <p:spPr>
          <a:xfrm>
            <a:off x="1595308" y="1784224"/>
            <a:ext cx="3000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Retângulo: Cantos Arredondados 115">
            <a:extLst>
              <a:ext uri="{FF2B5EF4-FFF2-40B4-BE49-F238E27FC236}">
                <a16:creationId xmlns:a16="http://schemas.microsoft.com/office/drawing/2014/main" id="{7091F260-57F0-AB30-49DA-630521C43469}"/>
              </a:ext>
            </a:extLst>
          </p:cNvPr>
          <p:cNvSpPr/>
          <p:nvPr/>
        </p:nvSpPr>
        <p:spPr>
          <a:xfrm>
            <a:off x="4443804" y="3056834"/>
            <a:ext cx="1249829"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Atribuir uma demanda ao serviço</a:t>
            </a:r>
          </a:p>
        </p:txBody>
      </p:sp>
      <p:sp>
        <p:nvSpPr>
          <p:cNvPr id="70" name="CaixaDeTexto 69">
            <a:extLst>
              <a:ext uri="{FF2B5EF4-FFF2-40B4-BE49-F238E27FC236}">
                <a16:creationId xmlns:a16="http://schemas.microsoft.com/office/drawing/2014/main" id="{81214941-30FD-5B9C-86D4-C8D50ADB18AD}"/>
              </a:ext>
            </a:extLst>
          </p:cNvPr>
          <p:cNvSpPr txBox="1"/>
          <p:nvPr/>
        </p:nvSpPr>
        <p:spPr>
          <a:xfrm>
            <a:off x="7362730" y="3645024"/>
            <a:ext cx="1694752" cy="507831"/>
          </a:xfrm>
          <a:prstGeom prst="rect">
            <a:avLst/>
          </a:prstGeom>
          <a:noFill/>
        </p:spPr>
        <p:txBody>
          <a:bodyPr wrap="square" rtlCol="0">
            <a:spAutoFit/>
          </a:bodyPr>
          <a:lstStyle/>
          <a:p>
            <a:pPr algn="ctr"/>
            <a:r>
              <a:rPr lang="pt-BR" sz="900" b="1" i="1" dirty="0"/>
              <a:t>Registro do FEL-2 </a:t>
            </a:r>
            <a:r>
              <a:rPr lang="pt-BR" sz="900" i="1" dirty="0"/>
              <a:t>a partir de ação manual no HUB até 7 dias após a importação da lista</a:t>
            </a:r>
          </a:p>
        </p:txBody>
      </p:sp>
      <p:grpSp>
        <p:nvGrpSpPr>
          <p:cNvPr id="71" name="Agrupar 70">
            <a:extLst>
              <a:ext uri="{FF2B5EF4-FFF2-40B4-BE49-F238E27FC236}">
                <a16:creationId xmlns:a16="http://schemas.microsoft.com/office/drawing/2014/main" id="{E82779CE-E8ED-3979-C806-897AF455EC4B}"/>
              </a:ext>
            </a:extLst>
          </p:cNvPr>
          <p:cNvGrpSpPr/>
          <p:nvPr/>
        </p:nvGrpSpPr>
        <p:grpSpPr>
          <a:xfrm>
            <a:off x="7362730" y="3653187"/>
            <a:ext cx="144016" cy="194954"/>
            <a:chOff x="4223792" y="5610310"/>
            <a:chExt cx="144016" cy="194954"/>
          </a:xfrm>
        </p:grpSpPr>
        <p:sp>
          <p:nvSpPr>
            <p:cNvPr id="72" name="Onda 71">
              <a:extLst>
                <a:ext uri="{FF2B5EF4-FFF2-40B4-BE49-F238E27FC236}">
                  <a16:creationId xmlns:a16="http://schemas.microsoft.com/office/drawing/2014/main" id="{D7AAC5CE-C213-6EA0-A87D-A6A1AB82E575}"/>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3" name="Conector reto 72">
              <a:extLst>
                <a:ext uri="{FF2B5EF4-FFF2-40B4-BE49-F238E27FC236}">
                  <a16:creationId xmlns:a16="http://schemas.microsoft.com/office/drawing/2014/main" id="{8CC1C817-47B9-FA2A-8127-6BA2C91C4497}"/>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 name="CaixaDeTexto 13">
            <a:extLst>
              <a:ext uri="{FF2B5EF4-FFF2-40B4-BE49-F238E27FC236}">
                <a16:creationId xmlns:a16="http://schemas.microsoft.com/office/drawing/2014/main" id="{C150D706-28D2-18C5-F95D-C7FD584C59F6}"/>
              </a:ext>
            </a:extLst>
          </p:cNvPr>
          <p:cNvSpPr txBox="1"/>
          <p:nvPr/>
        </p:nvSpPr>
        <p:spPr>
          <a:xfrm>
            <a:off x="7689169" y="4398044"/>
            <a:ext cx="2511282" cy="1215717"/>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dirty="0"/>
              <a:t>Pré-requisitos mínimos para formalização FEL-2: </a:t>
            </a:r>
            <a:endParaRPr lang="pt-BR" b="0" dirty="0"/>
          </a:p>
          <a:p>
            <a:pPr marL="171450" indent="-171450" algn="l">
              <a:spcBef>
                <a:spcPts val="400"/>
              </a:spcBef>
              <a:buFont typeface="Wingdings" panose="05000000000000000000" pitchFamily="2" charset="2"/>
              <a:buChar char="§"/>
            </a:pPr>
            <a:r>
              <a:rPr lang="pt-BR" b="0" dirty="0"/>
              <a:t>Lista de serviços importada do TM Master (importação arquivo </a:t>
            </a:r>
            <a:r>
              <a:rPr lang="pt-BR" b="0" dirty="0" err="1"/>
              <a:t>excel</a:t>
            </a:r>
            <a:r>
              <a:rPr lang="pt-BR" b="0" dirty="0"/>
              <a:t>)</a:t>
            </a:r>
          </a:p>
          <a:p>
            <a:pPr marL="171450" indent="-171450" algn="l">
              <a:spcBef>
                <a:spcPts val="400"/>
              </a:spcBef>
              <a:buFont typeface="Wingdings" panose="05000000000000000000" pitchFamily="2" charset="2"/>
              <a:buChar char="§"/>
            </a:pPr>
            <a:r>
              <a:rPr lang="pt-BR" b="0" dirty="0"/>
              <a:t>Estimativas de custos para todas as linhas de serviço (Estaleiro e Oficinas)</a:t>
            </a:r>
          </a:p>
          <a:p>
            <a:pPr marL="171450" indent="-171450" algn="l">
              <a:spcBef>
                <a:spcPts val="400"/>
              </a:spcBef>
              <a:buFont typeface="Wingdings" panose="05000000000000000000" pitchFamily="2" charset="2"/>
              <a:buChar char="§"/>
            </a:pPr>
            <a:r>
              <a:rPr lang="pt-BR" b="0" dirty="0"/>
              <a:t>Novas demandas que surjam devem ter custos estimados associados</a:t>
            </a:r>
          </a:p>
        </p:txBody>
      </p:sp>
      <p:cxnSp>
        <p:nvCxnSpPr>
          <p:cNvPr id="26" name="Conector: Curvo 25">
            <a:extLst>
              <a:ext uri="{FF2B5EF4-FFF2-40B4-BE49-F238E27FC236}">
                <a16:creationId xmlns:a16="http://schemas.microsoft.com/office/drawing/2014/main" id="{6A8256A4-1D8D-4D04-B178-4645928317C4}"/>
              </a:ext>
            </a:extLst>
          </p:cNvPr>
          <p:cNvCxnSpPr>
            <a:cxnSpLocks/>
            <a:stCxn id="70" idx="2"/>
            <a:endCxn id="14" idx="0"/>
          </p:cNvCxnSpPr>
          <p:nvPr/>
        </p:nvCxnSpPr>
        <p:spPr>
          <a:xfrm rot="16200000" flipH="1">
            <a:off x="8454864" y="3908097"/>
            <a:ext cx="245189" cy="7347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tângulo: Cantos Arredondados 41">
            <a:extLst>
              <a:ext uri="{FF2B5EF4-FFF2-40B4-BE49-F238E27FC236}">
                <a16:creationId xmlns:a16="http://schemas.microsoft.com/office/drawing/2014/main" id="{47B716E0-BC40-FF22-C4DF-63D8407F2F34}"/>
              </a:ext>
            </a:extLst>
          </p:cNvPr>
          <p:cNvSpPr/>
          <p:nvPr/>
        </p:nvSpPr>
        <p:spPr>
          <a:xfrm>
            <a:off x="3535643" y="1521706"/>
            <a:ext cx="137481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Cadastrar JOB/ONE das áreas no TM Master </a:t>
            </a:r>
          </a:p>
        </p:txBody>
      </p:sp>
      <p:sp>
        <p:nvSpPr>
          <p:cNvPr id="43" name="Retângulo 42">
            <a:extLst>
              <a:ext uri="{FF2B5EF4-FFF2-40B4-BE49-F238E27FC236}">
                <a16:creationId xmlns:a16="http://schemas.microsoft.com/office/drawing/2014/main" id="{59971E4E-B2A0-C092-570A-827C03EBFC4E}"/>
              </a:ext>
            </a:extLst>
          </p:cNvPr>
          <p:cNvSpPr/>
          <p:nvPr/>
        </p:nvSpPr>
        <p:spPr>
          <a:xfrm>
            <a:off x="623392" y="1306619"/>
            <a:ext cx="10952113" cy="147379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3" name="Conector de Seta Reta 52">
            <a:extLst>
              <a:ext uri="{FF2B5EF4-FFF2-40B4-BE49-F238E27FC236}">
                <a16:creationId xmlns:a16="http://schemas.microsoft.com/office/drawing/2014/main" id="{71AF22EC-4D17-F491-D8F0-615B66272F35}"/>
              </a:ext>
            </a:extLst>
          </p:cNvPr>
          <p:cNvCxnSpPr>
            <a:cxnSpLocks/>
            <a:stCxn id="42" idx="3"/>
            <a:endCxn id="68" idx="2"/>
          </p:cNvCxnSpPr>
          <p:nvPr/>
        </p:nvCxnSpPr>
        <p:spPr>
          <a:xfrm>
            <a:off x="4910455" y="1784224"/>
            <a:ext cx="2494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Elipse 67">
            <a:extLst>
              <a:ext uri="{FF2B5EF4-FFF2-40B4-BE49-F238E27FC236}">
                <a16:creationId xmlns:a16="http://schemas.microsoft.com/office/drawing/2014/main" id="{D26BDE61-B248-1945-D13B-73C8EC5B76DD}"/>
              </a:ext>
            </a:extLst>
          </p:cNvPr>
          <p:cNvSpPr/>
          <p:nvPr/>
        </p:nvSpPr>
        <p:spPr>
          <a:xfrm>
            <a:off x="5159896" y="1604204"/>
            <a:ext cx="360040" cy="36004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sp>
        <p:nvSpPr>
          <p:cNvPr id="79" name="Elipse 78">
            <a:extLst>
              <a:ext uri="{FF2B5EF4-FFF2-40B4-BE49-F238E27FC236}">
                <a16:creationId xmlns:a16="http://schemas.microsoft.com/office/drawing/2014/main" id="{433284DE-C2C4-7213-FE64-3A89EF3F6231}"/>
              </a:ext>
            </a:extLst>
          </p:cNvPr>
          <p:cNvSpPr/>
          <p:nvPr/>
        </p:nvSpPr>
        <p:spPr>
          <a:xfrm>
            <a:off x="1004640" y="3139332"/>
            <a:ext cx="360040" cy="36004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1</a:t>
            </a:r>
          </a:p>
        </p:txBody>
      </p:sp>
      <p:cxnSp>
        <p:nvCxnSpPr>
          <p:cNvPr id="80" name="Conector de Seta Reta 79">
            <a:extLst>
              <a:ext uri="{FF2B5EF4-FFF2-40B4-BE49-F238E27FC236}">
                <a16:creationId xmlns:a16="http://schemas.microsoft.com/office/drawing/2014/main" id="{297D9F8C-6925-B7D7-4281-56E8ADB1CE81}"/>
              </a:ext>
            </a:extLst>
          </p:cNvPr>
          <p:cNvCxnSpPr>
            <a:cxnSpLocks/>
            <a:stCxn id="79" idx="6"/>
            <a:endCxn id="2" idx="1"/>
          </p:cNvCxnSpPr>
          <p:nvPr/>
        </p:nvCxnSpPr>
        <p:spPr>
          <a:xfrm>
            <a:off x="1364680"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5" name="CaixaDeTexto 104">
            <a:extLst>
              <a:ext uri="{FF2B5EF4-FFF2-40B4-BE49-F238E27FC236}">
                <a16:creationId xmlns:a16="http://schemas.microsoft.com/office/drawing/2014/main" id="{3FAD2067-F722-E7FF-9BE3-15A4C4460919}"/>
              </a:ext>
            </a:extLst>
          </p:cNvPr>
          <p:cNvSpPr txBox="1"/>
          <p:nvPr/>
        </p:nvSpPr>
        <p:spPr>
          <a:xfrm rot="16200000">
            <a:off x="126056" y="1905015"/>
            <a:ext cx="1282973" cy="276999"/>
          </a:xfrm>
          <a:prstGeom prst="rect">
            <a:avLst/>
          </a:prstGeom>
          <a:noFill/>
        </p:spPr>
        <p:txBody>
          <a:bodyPr wrap="square" rtlCol="0">
            <a:spAutoFit/>
          </a:bodyPr>
          <a:lstStyle/>
          <a:p>
            <a:pPr algn="ctr"/>
            <a:r>
              <a:rPr lang="pt-BR" sz="1200" b="1" dirty="0"/>
              <a:t>Manut. Prev.</a:t>
            </a:r>
          </a:p>
        </p:txBody>
      </p:sp>
      <p:cxnSp>
        <p:nvCxnSpPr>
          <p:cNvPr id="11" name="Conector de Seta Reta 10">
            <a:extLst>
              <a:ext uri="{FF2B5EF4-FFF2-40B4-BE49-F238E27FC236}">
                <a16:creationId xmlns:a16="http://schemas.microsoft.com/office/drawing/2014/main" id="{1D29FB5A-2EB9-FD48-55D9-1D11159B3636}"/>
              </a:ext>
            </a:extLst>
          </p:cNvPr>
          <p:cNvCxnSpPr>
            <a:cxnSpLocks/>
            <a:stCxn id="116" idx="3"/>
            <a:endCxn id="60" idx="1"/>
          </p:cNvCxnSpPr>
          <p:nvPr/>
        </p:nvCxnSpPr>
        <p:spPr>
          <a:xfrm>
            <a:off x="5693633"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tângulo: Cantos Arredondados 27">
            <a:extLst>
              <a:ext uri="{FF2B5EF4-FFF2-40B4-BE49-F238E27FC236}">
                <a16:creationId xmlns:a16="http://schemas.microsoft.com/office/drawing/2014/main" id="{4EF86392-1FBA-023C-AF0E-B8EFF0D61519}"/>
              </a:ext>
            </a:extLst>
          </p:cNvPr>
          <p:cNvSpPr/>
          <p:nvPr/>
        </p:nvSpPr>
        <p:spPr>
          <a:xfrm>
            <a:off x="7603004" y="3056834"/>
            <a:ext cx="114998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Salvar FEL-2</a:t>
            </a:r>
          </a:p>
        </p:txBody>
      </p:sp>
      <p:cxnSp>
        <p:nvCxnSpPr>
          <p:cNvPr id="30" name="Conector de Seta Reta 29">
            <a:extLst>
              <a:ext uri="{FF2B5EF4-FFF2-40B4-BE49-F238E27FC236}">
                <a16:creationId xmlns:a16="http://schemas.microsoft.com/office/drawing/2014/main" id="{BB10B96A-7BED-3DE3-11C0-51C2A6850F4A}"/>
              </a:ext>
            </a:extLst>
          </p:cNvPr>
          <p:cNvCxnSpPr>
            <a:cxnSpLocks/>
            <a:stCxn id="60" idx="3"/>
            <a:endCxn id="28" idx="1"/>
          </p:cNvCxnSpPr>
          <p:nvPr/>
        </p:nvCxnSpPr>
        <p:spPr>
          <a:xfrm>
            <a:off x="7413636"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tângulo: Cantos Arredondados 59">
            <a:extLst>
              <a:ext uri="{FF2B5EF4-FFF2-40B4-BE49-F238E27FC236}">
                <a16:creationId xmlns:a16="http://schemas.microsoft.com/office/drawing/2014/main" id="{AAD6B43C-A24F-4FFB-27E0-1619FF92E85D}"/>
              </a:ext>
            </a:extLst>
          </p:cNvPr>
          <p:cNvSpPr/>
          <p:nvPr/>
        </p:nvSpPr>
        <p:spPr>
          <a:xfrm>
            <a:off x="5883001" y="3056834"/>
            <a:ext cx="1530635"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estimativas não comprometidas e saldos</a:t>
            </a:r>
          </a:p>
        </p:txBody>
      </p:sp>
      <p:sp>
        <p:nvSpPr>
          <p:cNvPr id="62" name="Retângulo: Cantos Arredondados 61">
            <a:extLst>
              <a:ext uri="{FF2B5EF4-FFF2-40B4-BE49-F238E27FC236}">
                <a16:creationId xmlns:a16="http://schemas.microsoft.com/office/drawing/2014/main" id="{A3711132-7967-6263-ACBC-7E6E983C25AB}"/>
              </a:ext>
            </a:extLst>
          </p:cNvPr>
          <p:cNvSpPr/>
          <p:nvPr/>
        </p:nvSpPr>
        <p:spPr>
          <a:xfrm>
            <a:off x="4041211" y="4272116"/>
            <a:ext cx="1038959"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estimativas de custos</a:t>
            </a:r>
          </a:p>
        </p:txBody>
      </p:sp>
      <p:sp>
        <p:nvSpPr>
          <p:cNvPr id="63" name="Losango 62">
            <a:extLst>
              <a:ext uri="{FF2B5EF4-FFF2-40B4-BE49-F238E27FC236}">
                <a16:creationId xmlns:a16="http://schemas.microsoft.com/office/drawing/2014/main" id="{2F9B4707-CABC-85F9-9699-D1B7D6F443BD}"/>
              </a:ext>
            </a:extLst>
          </p:cNvPr>
          <p:cNvSpPr/>
          <p:nvPr/>
        </p:nvSpPr>
        <p:spPr>
          <a:xfrm>
            <a:off x="4352942" y="5047218"/>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6" name="CaixaDeTexto 65">
            <a:extLst>
              <a:ext uri="{FF2B5EF4-FFF2-40B4-BE49-F238E27FC236}">
                <a16:creationId xmlns:a16="http://schemas.microsoft.com/office/drawing/2014/main" id="{113B0106-6733-96ED-A7AA-7EDF43695A75}"/>
              </a:ext>
            </a:extLst>
          </p:cNvPr>
          <p:cNvSpPr txBox="1"/>
          <p:nvPr/>
        </p:nvSpPr>
        <p:spPr>
          <a:xfrm>
            <a:off x="3244770" y="5081472"/>
            <a:ext cx="1112911" cy="369332"/>
          </a:xfrm>
          <a:prstGeom prst="rect">
            <a:avLst/>
          </a:prstGeom>
          <a:noFill/>
        </p:spPr>
        <p:txBody>
          <a:bodyPr wrap="square" rtlCol="0">
            <a:spAutoFit/>
          </a:bodyPr>
          <a:lstStyle/>
          <a:p>
            <a:pPr algn="ctr"/>
            <a:r>
              <a:rPr lang="pt-BR" sz="900" i="1" dirty="0"/>
              <a:t>Há necessidade de materiais?</a:t>
            </a:r>
          </a:p>
        </p:txBody>
      </p:sp>
      <p:sp>
        <p:nvSpPr>
          <p:cNvPr id="67" name="Fluxograma: Processo Predefinido 66">
            <a:extLst>
              <a:ext uri="{FF2B5EF4-FFF2-40B4-BE49-F238E27FC236}">
                <a16:creationId xmlns:a16="http://schemas.microsoft.com/office/drawing/2014/main" id="{9EF46688-D80A-AAD0-8713-B1BCCE99AC1C}"/>
              </a:ext>
            </a:extLst>
          </p:cNvPr>
          <p:cNvSpPr/>
          <p:nvPr/>
        </p:nvSpPr>
        <p:spPr>
          <a:xfrm>
            <a:off x="5173753" y="5006591"/>
            <a:ext cx="1178404" cy="496749"/>
          </a:xfrm>
          <a:prstGeom prst="flowChartPredefinedProcess">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Cadastrar material no HUB</a:t>
            </a:r>
          </a:p>
        </p:txBody>
      </p:sp>
      <p:cxnSp>
        <p:nvCxnSpPr>
          <p:cNvPr id="74" name="Conector de Seta Reta 73">
            <a:extLst>
              <a:ext uri="{FF2B5EF4-FFF2-40B4-BE49-F238E27FC236}">
                <a16:creationId xmlns:a16="http://schemas.microsoft.com/office/drawing/2014/main" id="{A99D0306-3734-46EA-7BAD-B247B33C31EC}"/>
              </a:ext>
            </a:extLst>
          </p:cNvPr>
          <p:cNvCxnSpPr>
            <a:cxnSpLocks/>
            <a:stCxn id="63" idx="3"/>
            <a:endCxn id="67" idx="1"/>
          </p:cNvCxnSpPr>
          <p:nvPr/>
        </p:nvCxnSpPr>
        <p:spPr>
          <a:xfrm flipV="1">
            <a:off x="4768439" y="5254966"/>
            <a:ext cx="4053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ector de Seta Reta 75">
            <a:extLst>
              <a:ext uri="{FF2B5EF4-FFF2-40B4-BE49-F238E27FC236}">
                <a16:creationId xmlns:a16="http://schemas.microsoft.com/office/drawing/2014/main" id="{43E5897F-B275-330A-A18C-40D64B3231A3}"/>
              </a:ext>
            </a:extLst>
          </p:cNvPr>
          <p:cNvCxnSpPr>
            <a:cxnSpLocks/>
            <a:stCxn id="63" idx="2"/>
            <a:endCxn id="83" idx="0"/>
          </p:cNvCxnSpPr>
          <p:nvPr/>
        </p:nvCxnSpPr>
        <p:spPr>
          <a:xfrm flipH="1">
            <a:off x="4560690" y="5462715"/>
            <a:ext cx="1" cy="27054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CaixaDeTexto 76">
            <a:extLst>
              <a:ext uri="{FF2B5EF4-FFF2-40B4-BE49-F238E27FC236}">
                <a16:creationId xmlns:a16="http://schemas.microsoft.com/office/drawing/2014/main" id="{C4540815-492F-FE4D-A512-7639A29DE210}"/>
              </a:ext>
            </a:extLst>
          </p:cNvPr>
          <p:cNvSpPr txBox="1"/>
          <p:nvPr/>
        </p:nvSpPr>
        <p:spPr>
          <a:xfrm>
            <a:off x="4782149" y="5037970"/>
            <a:ext cx="360543" cy="209847"/>
          </a:xfrm>
          <a:prstGeom prst="rect">
            <a:avLst/>
          </a:prstGeom>
          <a:noFill/>
        </p:spPr>
        <p:txBody>
          <a:bodyPr wrap="square" rtlCol="0">
            <a:spAutoFit/>
          </a:bodyPr>
          <a:lstStyle/>
          <a:p>
            <a:pPr algn="ctr"/>
            <a:r>
              <a:rPr lang="pt-BR" sz="900" i="1" dirty="0"/>
              <a:t>Sim</a:t>
            </a:r>
          </a:p>
        </p:txBody>
      </p:sp>
      <p:sp>
        <p:nvSpPr>
          <p:cNvPr id="78" name="CaixaDeTexto 77">
            <a:extLst>
              <a:ext uri="{FF2B5EF4-FFF2-40B4-BE49-F238E27FC236}">
                <a16:creationId xmlns:a16="http://schemas.microsoft.com/office/drawing/2014/main" id="{249DD96C-2C6B-39CD-91A0-4C970FA67016}"/>
              </a:ext>
            </a:extLst>
          </p:cNvPr>
          <p:cNvSpPr txBox="1"/>
          <p:nvPr/>
        </p:nvSpPr>
        <p:spPr>
          <a:xfrm>
            <a:off x="4561641" y="5432388"/>
            <a:ext cx="484682" cy="230832"/>
          </a:xfrm>
          <a:prstGeom prst="rect">
            <a:avLst/>
          </a:prstGeom>
          <a:noFill/>
        </p:spPr>
        <p:txBody>
          <a:bodyPr wrap="square" rtlCol="0">
            <a:spAutoFit/>
          </a:bodyPr>
          <a:lstStyle/>
          <a:p>
            <a:r>
              <a:rPr lang="pt-BR" sz="900" i="1" dirty="0"/>
              <a:t>Não</a:t>
            </a:r>
          </a:p>
        </p:txBody>
      </p:sp>
      <p:cxnSp>
        <p:nvCxnSpPr>
          <p:cNvPr id="81" name="Conector: Angulado 80">
            <a:extLst>
              <a:ext uri="{FF2B5EF4-FFF2-40B4-BE49-F238E27FC236}">
                <a16:creationId xmlns:a16="http://schemas.microsoft.com/office/drawing/2014/main" id="{F24B8065-1317-0FBF-3AF9-41D4A2DAF837}"/>
              </a:ext>
            </a:extLst>
          </p:cNvPr>
          <p:cNvCxnSpPr>
            <a:cxnSpLocks/>
            <a:stCxn id="67" idx="2"/>
            <a:endCxn id="83" idx="6"/>
          </p:cNvCxnSpPr>
          <p:nvPr/>
        </p:nvCxnSpPr>
        <p:spPr>
          <a:xfrm rot="5400000">
            <a:off x="5046865" y="5197186"/>
            <a:ext cx="409936" cy="102224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2" name="Retângulo: Cantos Arredondados 81">
            <a:extLst>
              <a:ext uri="{FF2B5EF4-FFF2-40B4-BE49-F238E27FC236}">
                <a16:creationId xmlns:a16="http://schemas.microsoft.com/office/drawing/2014/main" id="{EB86907E-1393-D802-11C7-5CECB4CE4176}"/>
              </a:ext>
            </a:extLst>
          </p:cNvPr>
          <p:cNvSpPr/>
          <p:nvPr/>
        </p:nvSpPr>
        <p:spPr>
          <a:xfrm>
            <a:off x="1743181" y="4272116"/>
            <a:ext cx="1884331"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Avaliar serviços, eliminar duplicidades e aglutinar serviços de escopo semelhante</a:t>
            </a:r>
          </a:p>
        </p:txBody>
      </p:sp>
      <p:sp>
        <p:nvSpPr>
          <p:cNvPr id="83" name="Elipse 82">
            <a:extLst>
              <a:ext uri="{FF2B5EF4-FFF2-40B4-BE49-F238E27FC236}">
                <a16:creationId xmlns:a16="http://schemas.microsoft.com/office/drawing/2014/main" id="{1D3B1A6D-41BC-91BB-6443-450F63A56A5E}"/>
              </a:ext>
            </a:extLst>
          </p:cNvPr>
          <p:cNvSpPr/>
          <p:nvPr/>
        </p:nvSpPr>
        <p:spPr>
          <a:xfrm>
            <a:off x="4380670" y="5733256"/>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CaixaDeTexto 84">
            <a:extLst>
              <a:ext uri="{FF2B5EF4-FFF2-40B4-BE49-F238E27FC236}">
                <a16:creationId xmlns:a16="http://schemas.microsoft.com/office/drawing/2014/main" id="{D652D25A-168D-03E7-4321-7ECAD1E2D6FF}"/>
              </a:ext>
            </a:extLst>
          </p:cNvPr>
          <p:cNvSpPr txBox="1"/>
          <p:nvPr/>
        </p:nvSpPr>
        <p:spPr>
          <a:xfrm>
            <a:off x="3888307" y="6109846"/>
            <a:ext cx="1366663" cy="415498"/>
          </a:xfrm>
          <a:prstGeom prst="rect">
            <a:avLst/>
          </a:prstGeom>
          <a:noFill/>
        </p:spPr>
        <p:txBody>
          <a:bodyPr wrap="square" rtlCol="0">
            <a:spAutoFit/>
          </a:bodyPr>
          <a:lstStyle/>
          <a:p>
            <a:pPr algn="ctr"/>
            <a:r>
              <a:rPr lang="pt-BR" sz="1050" dirty="0"/>
              <a:t>Escopo da parada atualizado</a:t>
            </a:r>
            <a:endParaRPr lang="pt-BR" sz="1050" dirty="0">
              <a:solidFill>
                <a:schemeClr val="tx1"/>
              </a:solidFill>
            </a:endParaRPr>
          </a:p>
        </p:txBody>
      </p:sp>
      <p:cxnSp>
        <p:nvCxnSpPr>
          <p:cNvPr id="87" name="Conector de Seta Reta 86">
            <a:extLst>
              <a:ext uri="{FF2B5EF4-FFF2-40B4-BE49-F238E27FC236}">
                <a16:creationId xmlns:a16="http://schemas.microsoft.com/office/drawing/2014/main" id="{54F4FB4E-649B-011B-9A64-B8560A239993}"/>
              </a:ext>
            </a:extLst>
          </p:cNvPr>
          <p:cNvCxnSpPr>
            <a:cxnSpLocks/>
            <a:stCxn id="62" idx="2"/>
            <a:endCxn id="63" idx="0"/>
          </p:cNvCxnSpPr>
          <p:nvPr/>
        </p:nvCxnSpPr>
        <p:spPr>
          <a:xfrm>
            <a:off x="4560691" y="4797152"/>
            <a:ext cx="0" cy="2500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Retângulo: Cantos Arredondados 87">
            <a:extLst>
              <a:ext uri="{FF2B5EF4-FFF2-40B4-BE49-F238E27FC236}">
                <a16:creationId xmlns:a16="http://schemas.microsoft.com/office/drawing/2014/main" id="{377D8033-8807-1A84-AE75-B69EB8DF8CE5}"/>
              </a:ext>
            </a:extLst>
          </p:cNvPr>
          <p:cNvSpPr/>
          <p:nvPr/>
        </p:nvSpPr>
        <p:spPr>
          <a:xfrm>
            <a:off x="9491767" y="3056834"/>
            <a:ext cx="1311413"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Visitar embarcação para detalhar necessidades</a:t>
            </a:r>
          </a:p>
        </p:txBody>
      </p:sp>
      <p:cxnSp>
        <p:nvCxnSpPr>
          <p:cNvPr id="89" name="Conector de Seta Reta 88">
            <a:extLst>
              <a:ext uri="{FF2B5EF4-FFF2-40B4-BE49-F238E27FC236}">
                <a16:creationId xmlns:a16="http://schemas.microsoft.com/office/drawing/2014/main" id="{DC281BCB-B403-B803-8049-B4432D7C1073}"/>
              </a:ext>
            </a:extLst>
          </p:cNvPr>
          <p:cNvCxnSpPr>
            <a:cxnSpLocks/>
            <a:stCxn id="88" idx="3"/>
            <a:endCxn id="121" idx="2"/>
          </p:cNvCxnSpPr>
          <p:nvPr/>
        </p:nvCxnSpPr>
        <p:spPr>
          <a:xfrm>
            <a:off x="10803180" y="3319352"/>
            <a:ext cx="18936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0" name="Conector de Seta Reta 89">
            <a:extLst>
              <a:ext uri="{FF2B5EF4-FFF2-40B4-BE49-F238E27FC236}">
                <a16:creationId xmlns:a16="http://schemas.microsoft.com/office/drawing/2014/main" id="{5412CF3F-3F73-BA50-CEED-D43F63F97FE5}"/>
              </a:ext>
            </a:extLst>
          </p:cNvPr>
          <p:cNvCxnSpPr>
            <a:cxnSpLocks/>
            <a:stCxn id="82" idx="3"/>
            <a:endCxn id="62" idx="1"/>
          </p:cNvCxnSpPr>
          <p:nvPr/>
        </p:nvCxnSpPr>
        <p:spPr>
          <a:xfrm>
            <a:off x="3627512" y="4534634"/>
            <a:ext cx="4136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Elipse 105">
            <a:extLst>
              <a:ext uri="{FF2B5EF4-FFF2-40B4-BE49-F238E27FC236}">
                <a16:creationId xmlns:a16="http://schemas.microsoft.com/office/drawing/2014/main" id="{E0BF7569-A07D-E736-74EE-3E5C7E9A91AF}"/>
              </a:ext>
            </a:extLst>
          </p:cNvPr>
          <p:cNvSpPr/>
          <p:nvPr/>
        </p:nvSpPr>
        <p:spPr>
          <a:xfrm>
            <a:off x="8942359" y="3139332"/>
            <a:ext cx="360040" cy="360040"/>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07" name="Conector de Seta Reta 106">
            <a:extLst>
              <a:ext uri="{FF2B5EF4-FFF2-40B4-BE49-F238E27FC236}">
                <a16:creationId xmlns:a16="http://schemas.microsoft.com/office/drawing/2014/main" id="{46690A53-2BFF-F606-7EFC-5617E9B8B46E}"/>
              </a:ext>
            </a:extLst>
          </p:cNvPr>
          <p:cNvCxnSpPr>
            <a:cxnSpLocks/>
            <a:stCxn id="28" idx="3"/>
            <a:endCxn id="106" idx="2"/>
          </p:cNvCxnSpPr>
          <p:nvPr/>
        </p:nvCxnSpPr>
        <p:spPr>
          <a:xfrm>
            <a:off x="8752991"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CaixaDeTexto 110">
            <a:extLst>
              <a:ext uri="{FF2B5EF4-FFF2-40B4-BE49-F238E27FC236}">
                <a16:creationId xmlns:a16="http://schemas.microsoft.com/office/drawing/2014/main" id="{AC933D8C-307E-17BE-C8BE-ED5C26740190}"/>
              </a:ext>
            </a:extLst>
          </p:cNvPr>
          <p:cNvSpPr txBox="1"/>
          <p:nvPr/>
        </p:nvSpPr>
        <p:spPr>
          <a:xfrm>
            <a:off x="8420814" y="2872028"/>
            <a:ext cx="1405947" cy="253916"/>
          </a:xfrm>
          <a:prstGeom prst="rect">
            <a:avLst/>
          </a:prstGeom>
          <a:noFill/>
        </p:spPr>
        <p:txBody>
          <a:bodyPr wrap="square" rtlCol="0">
            <a:spAutoFit/>
          </a:bodyPr>
          <a:lstStyle/>
          <a:p>
            <a:pPr algn="ctr"/>
            <a:r>
              <a:rPr lang="pt-BR" sz="1050" b="1" dirty="0"/>
              <a:t>FEL-2 salvo</a:t>
            </a:r>
          </a:p>
        </p:txBody>
      </p:sp>
      <p:cxnSp>
        <p:nvCxnSpPr>
          <p:cNvPr id="117" name="Conector de Seta Reta 116">
            <a:extLst>
              <a:ext uri="{FF2B5EF4-FFF2-40B4-BE49-F238E27FC236}">
                <a16:creationId xmlns:a16="http://schemas.microsoft.com/office/drawing/2014/main" id="{FB5F2C0C-7B2F-719D-B1A2-C4F89DD1E82D}"/>
              </a:ext>
            </a:extLst>
          </p:cNvPr>
          <p:cNvCxnSpPr>
            <a:cxnSpLocks/>
            <a:stCxn id="106" idx="6"/>
            <a:endCxn id="88" idx="1"/>
          </p:cNvCxnSpPr>
          <p:nvPr/>
        </p:nvCxnSpPr>
        <p:spPr>
          <a:xfrm>
            <a:off x="9302399"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Elipse 120">
            <a:extLst>
              <a:ext uri="{FF2B5EF4-FFF2-40B4-BE49-F238E27FC236}">
                <a16:creationId xmlns:a16="http://schemas.microsoft.com/office/drawing/2014/main" id="{51DB4759-8014-27B6-F46D-3BE2B0C6BF77}"/>
              </a:ext>
            </a:extLst>
          </p:cNvPr>
          <p:cNvSpPr/>
          <p:nvPr/>
        </p:nvSpPr>
        <p:spPr>
          <a:xfrm>
            <a:off x="10992544" y="3139332"/>
            <a:ext cx="360040" cy="36004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2</a:t>
            </a:r>
          </a:p>
        </p:txBody>
      </p:sp>
      <p:sp>
        <p:nvSpPr>
          <p:cNvPr id="125" name="Elipse 124">
            <a:extLst>
              <a:ext uri="{FF2B5EF4-FFF2-40B4-BE49-F238E27FC236}">
                <a16:creationId xmlns:a16="http://schemas.microsoft.com/office/drawing/2014/main" id="{F0668DF6-035F-4822-201C-620F5895CC64}"/>
              </a:ext>
            </a:extLst>
          </p:cNvPr>
          <p:cNvSpPr/>
          <p:nvPr/>
        </p:nvSpPr>
        <p:spPr>
          <a:xfrm>
            <a:off x="1004640" y="4354614"/>
            <a:ext cx="360040" cy="36004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2</a:t>
            </a:r>
          </a:p>
        </p:txBody>
      </p:sp>
      <p:cxnSp>
        <p:nvCxnSpPr>
          <p:cNvPr id="128" name="Conector de Seta Reta 127">
            <a:extLst>
              <a:ext uri="{FF2B5EF4-FFF2-40B4-BE49-F238E27FC236}">
                <a16:creationId xmlns:a16="http://schemas.microsoft.com/office/drawing/2014/main" id="{73971AF3-6E09-6EBB-552F-47CA033A5B8D}"/>
              </a:ext>
            </a:extLst>
          </p:cNvPr>
          <p:cNvCxnSpPr>
            <a:cxnSpLocks/>
            <a:stCxn id="125" idx="6"/>
            <a:endCxn id="82" idx="1"/>
          </p:cNvCxnSpPr>
          <p:nvPr/>
        </p:nvCxnSpPr>
        <p:spPr>
          <a:xfrm>
            <a:off x="1364680" y="4534634"/>
            <a:ext cx="3785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CaixaDeTexto 11">
            <a:extLst>
              <a:ext uri="{FF2B5EF4-FFF2-40B4-BE49-F238E27FC236}">
                <a16:creationId xmlns:a16="http://schemas.microsoft.com/office/drawing/2014/main" id="{A7F54C55-917B-630D-48C6-700FB5682E1E}"/>
              </a:ext>
            </a:extLst>
          </p:cNvPr>
          <p:cNvSpPr txBox="1"/>
          <p:nvPr/>
        </p:nvSpPr>
        <p:spPr>
          <a:xfrm>
            <a:off x="1845373" y="2027896"/>
            <a:ext cx="1565925" cy="707886"/>
          </a:xfrm>
          <a:prstGeom prst="rect">
            <a:avLst/>
          </a:prstGeom>
          <a:noFill/>
        </p:spPr>
        <p:txBody>
          <a:bodyPr wrap="square" rtlCol="0">
            <a:spAutoFit/>
          </a:bodyPr>
          <a:lstStyle/>
          <a:p>
            <a:pPr algn="ctr"/>
            <a:r>
              <a:rPr lang="pt-BR" sz="1000" i="1" dirty="0"/>
              <a:t>A </a:t>
            </a:r>
            <a:r>
              <a:rPr lang="pt-BR" sz="1000" i="1" dirty="0" err="1"/>
              <a:t>Job</a:t>
            </a:r>
            <a:r>
              <a:rPr lang="pt-BR" sz="1000" i="1" dirty="0"/>
              <a:t> </a:t>
            </a:r>
            <a:r>
              <a:rPr lang="pt-BR" sz="1000" i="1" dirty="0" err="1"/>
              <a:t>List</a:t>
            </a:r>
            <a:r>
              <a:rPr lang="pt-BR" sz="1000" i="1" dirty="0"/>
              <a:t> é um agrupador dos JOB/ONE que os vincula ao ID da Parada (similar a um “diretório”)</a:t>
            </a:r>
          </a:p>
        </p:txBody>
      </p:sp>
      <p:sp>
        <p:nvSpPr>
          <p:cNvPr id="16" name="Retângulo: Cantos Arredondados 15">
            <a:extLst>
              <a:ext uri="{FF2B5EF4-FFF2-40B4-BE49-F238E27FC236}">
                <a16:creationId xmlns:a16="http://schemas.microsoft.com/office/drawing/2014/main" id="{3FE0C896-D64F-5561-1CB2-B52AFBACF5B2}"/>
              </a:ext>
            </a:extLst>
          </p:cNvPr>
          <p:cNvSpPr/>
          <p:nvPr/>
        </p:nvSpPr>
        <p:spPr>
          <a:xfrm>
            <a:off x="1895315" y="1521706"/>
            <a:ext cx="137481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Criar </a:t>
            </a:r>
            <a:r>
              <a:rPr lang="pt-BR" sz="1000" dirty="0" err="1">
                <a:solidFill>
                  <a:schemeClr val="tx1"/>
                </a:solidFill>
              </a:rPr>
              <a:t>Job</a:t>
            </a:r>
            <a:r>
              <a:rPr lang="pt-BR" sz="1000" dirty="0">
                <a:solidFill>
                  <a:schemeClr val="tx1"/>
                </a:solidFill>
              </a:rPr>
              <a:t> </a:t>
            </a:r>
            <a:r>
              <a:rPr lang="pt-BR" sz="1000" dirty="0" err="1">
                <a:solidFill>
                  <a:schemeClr val="tx1"/>
                </a:solidFill>
              </a:rPr>
              <a:t>List</a:t>
            </a:r>
            <a:r>
              <a:rPr lang="pt-BR" sz="1000" dirty="0">
                <a:solidFill>
                  <a:schemeClr val="tx1"/>
                </a:solidFill>
              </a:rPr>
              <a:t> no TM Master</a:t>
            </a:r>
          </a:p>
        </p:txBody>
      </p:sp>
      <p:cxnSp>
        <p:nvCxnSpPr>
          <p:cNvPr id="18" name="Conector de Seta Reta 17">
            <a:extLst>
              <a:ext uri="{FF2B5EF4-FFF2-40B4-BE49-F238E27FC236}">
                <a16:creationId xmlns:a16="http://schemas.microsoft.com/office/drawing/2014/main" id="{BEF4BC8D-620F-10A6-B033-4FAEC1C6C2CD}"/>
              </a:ext>
            </a:extLst>
          </p:cNvPr>
          <p:cNvCxnSpPr>
            <a:cxnSpLocks/>
            <a:stCxn id="16" idx="3"/>
            <a:endCxn id="42" idx="1"/>
          </p:cNvCxnSpPr>
          <p:nvPr/>
        </p:nvCxnSpPr>
        <p:spPr>
          <a:xfrm>
            <a:off x="3270127" y="1784224"/>
            <a:ext cx="26551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Retângulo: Cantos Arredondados 1">
            <a:extLst>
              <a:ext uri="{FF2B5EF4-FFF2-40B4-BE49-F238E27FC236}">
                <a16:creationId xmlns:a16="http://schemas.microsoft.com/office/drawing/2014/main" id="{767C8504-7EA8-95EA-5E86-24DE1F8C42DC}"/>
              </a:ext>
            </a:extLst>
          </p:cNvPr>
          <p:cNvSpPr/>
          <p:nvPr/>
        </p:nvSpPr>
        <p:spPr>
          <a:xfrm>
            <a:off x="1554048" y="3056834"/>
            <a:ext cx="1374812" cy="525036"/>
          </a:xfrm>
          <a:prstGeom prst="roundRect">
            <a:avLst/>
          </a:prstGeom>
          <a:solidFill>
            <a:schemeClr val="bg1"/>
          </a:solidFill>
          <a:ln w="9525">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dirty="0">
                <a:solidFill>
                  <a:schemeClr val="tx1"/>
                </a:solidFill>
              </a:rPr>
              <a:t>Selecionar e importar </a:t>
            </a:r>
            <a:r>
              <a:rPr lang="pt-BR" sz="1100" dirty="0" err="1">
                <a:solidFill>
                  <a:schemeClr val="tx1"/>
                </a:solidFill>
              </a:rPr>
              <a:t>Job</a:t>
            </a:r>
            <a:r>
              <a:rPr lang="pt-BR" sz="1100" dirty="0">
                <a:solidFill>
                  <a:schemeClr val="tx1"/>
                </a:solidFill>
              </a:rPr>
              <a:t> </a:t>
            </a:r>
            <a:r>
              <a:rPr lang="pt-BR" sz="1100" dirty="0" err="1">
                <a:solidFill>
                  <a:schemeClr val="tx1"/>
                </a:solidFill>
              </a:rPr>
              <a:t>List</a:t>
            </a:r>
            <a:r>
              <a:rPr lang="pt-BR" sz="1100" dirty="0">
                <a:solidFill>
                  <a:schemeClr val="tx1"/>
                </a:solidFill>
              </a:rPr>
              <a:t> para o HUB</a:t>
            </a:r>
          </a:p>
        </p:txBody>
      </p:sp>
      <p:sp>
        <p:nvSpPr>
          <p:cNvPr id="4" name="Retângulo: Cantos Arredondados 3">
            <a:extLst>
              <a:ext uri="{FF2B5EF4-FFF2-40B4-BE49-F238E27FC236}">
                <a16:creationId xmlns:a16="http://schemas.microsoft.com/office/drawing/2014/main" id="{14BB186A-720A-4210-0B2F-1C12F32DA3C5}"/>
              </a:ext>
            </a:extLst>
          </p:cNvPr>
          <p:cNvSpPr/>
          <p:nvPr/>
        </p:nvSpPr>
        <p:spPr>
          <a:xfrm>
            <a:off x="3118228" y="3056834"/>
            <a:ext cx="1136208"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Estimar custos dos JOB/ONE</a:t>
            </a:r>
          </a:p>
        </p:txBody>
      </p:sp>
      <p:cxnSp>
        <p:nvCxnSpPr>
          <p:cNvPr id="6" name="Conector de Seta Reta 5">
            <a:extLst>
              <a:ext uri="{FF2B5EF4-FFF2-40B4-BE49-F238E27FC236}">
                <a16:creationId xmlns:a16="http://schemas.microsoft.com/office/drawing/2014/main" id="{C07B60B2-70D7-5F99-ADC9-016BE4F2E113}"/>
              </a:ext>
            </a:extLst>
          </p:cNvPr>
          <p:cNvCxnSpPr>
            <a:cxnSpLocks/>
            <a:stCxn id="2" idx="3"/>
            <a:endCxn id="4" idx="1"/>
          </p:cNvCxnSpPr>
          <p:nvPr/>
        </p:nvCxnSpPr>
        <p:spPr>
          <a:xfrm>
            <a:off x="2928860"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308E282C-B569-7DD5-C31E-CCC193C78FA8}"/>
              </a:ext>
            </a:extLst>
          </p:cNvPr>
          <p:cNvCxnSpPr>
            <a:cxnSpLocks/>
            <a:stCxn id="4" idx="3"/>
            <a:endCxn id="116" idx="1"/>
          </p:cNvCxnSpPr>
          <p:nvPr/>
        </p:nvCxnSpPr>
        <p:spPr>
          <a:xfrm>
            <a:off x="4254436" y="3319352"/>
            <a:ext cx="18936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Retângulo: Cantos Arredondados 30">
            <a:extLst>
              <a:ext uri="{FF2B5EF4-FFF2-40B4-BE49-F238E27FC236}">
                <a16:creationId xmlns:a16="http://schemas.microsoft.com/office/drawing/2014/main" id="{336E7287-D80D-9593-45D1-91006B9113CB}"/>
              </a:ext>
            </a:extLst>
          </p:cNvPr>
          <p:cNvSpPr/>
          <p:nvPr/>
        </p:nvSpPr>
        <p:spPr>
          <a:xfrm>
            <a:off x="1227596" y="6625528"/>
            <a:ext cx="336573" cy="189267"/>
          </a:xfrm>
          <a:prstGeom prst="roundRect">
            <a:avLst/>
          </a:prstGeom>
          <a:solidFill>
            <a:schemeClr val="bg1"/>
          </a:solidFill>
          <a:ln w="9525">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32" name="Retângulo: Cantos Arredondados 31">
            <a:extLst>
              <a:ext uri="{FF2B5EF4-FFF2-40B4-BE49-F238E27FC236}">
                <a16:creationId xmlns:a16="http://schemas.microsoft.com/office/drawing/2014/main" id="{0A5AFDC1-2A98-6FD2-EA9B-EEE5CA465332}"/>
              </a:ext>
            </a:extLst>
          </p:cNvPr>
          <p:cNvSpPr/>
          <p:nvPr/>
        </p:nvSpPr>
        <p:spPr>
          <a:xfrm>
            <a:off x="3142968" y="6625528"/>
            <a:ext cx="336573" cy="189267"/>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33" name="CaixaDeTexto 32">
            <a:extLst>
              <a:ext uri="{FF2B5EF4-FFF2-40B4-BE49-F238E27FC236}">
                <a16:creationId xmlns:a16="http://schemas.microsoft.com/office/drawing/2014/main" id="{938118E8-9CE3-59F1-1487-20368F49BC4D}"/>
              </a:ext>
            </a:extLst>
          </p:cNvPr>
          <p:cNvSpPr txBox="1"/>
          <p:nvPr/>
        </p:nvSpPr>
        <p:spPr>
          <a:xfrm>
            <a:off x="1542257" y="6604745"/>
            <a:ext cx="1622623" cy="230832"/>
          </a:xfrm>
          <a:prstGeom prst="rect">
            <a:avLst/>
          </a:prstGeom>
          <a:noFill/>
        </p:spPr>
        <p:txBody>
          <a:bodyPr wrap="square" rtlCol="0">
            <a:spAutoFit/>
          </a:bodyPr>
          <a:lstStyle/>
          <a:p>
            <a:r>
              <a:rPr lang="pt-BR" sz="900" dirty="0"/>
              <a:t>Integração com outro sistema</a:t>
            </a:r>
          </a:p>
        </p:txBody>
      </p:sp>
      <p:sp>
        <p:nvSpPr>
          <p:cNvPr id="34" name="CaixaDeTexto 33">
            <a:extLst>
              <a:ext uri="{FF2B5EF4-FFF2-40B4-BE49-F238E27FC236}">
                <a16:creationId xmlns:a16="http://schemas.microsoft.com/office/drawing/2014/main" id="{8C646351-18C2-2D11-8AB7-F758FE43170F}"/>
              </a:ext>
            </a:extLst>
          </p:cNvPr>
          <p:cNvSpPr txBox="1"/>
          <p:nvPr/>
        </p:nvSpPr>
        <p:spPr>
          <a:xfrm>
            <a:off x="3509460" y="6604745"/>
            <a:ext cx="1868687" cy="230832"/>
          </a:xfrm>
          <a:prstGeom prst="rect">
            <a:avLst/>
          </a:prstGeom>
          <a:noFill/>
        </p:spPr>
        <p:txBody>
          <a:bodyPr wrap="square" rtlCol="0">
            <a:spAutoFit/>
          </a:bodyPr>
          <a:lstStyle/>
          <a:p>
            <a:r>
              <a:rPr lang="pt-BR" sz="900" dirty="0"/>
              <a:t>Atividade executada sem integração</a:t>
            </a:r>
          </a:p>
        </p:txBody>
      </p:sp>
      <p:sp>
        <p:nvSpPr>
          <p:cNvPr id="35" name="CaixaDeTexto 34">
            <a:extLst>
              <a:ext uri="{FF2B5EF4-FFF2-40B4-BE49-F238E27FC236}">
                <a16:creationId xmlns:a16="http://schemas.microsoft.com/office/drawing/2014/main" id="{9A602314-B29F-1922-C78F-CE36514D9101}"/>
              </a:ext>
            </a:extLst>
          </p:cNvPr>
          <p:cNvSpPr txBox="1"/>
          <p:nvPr/>
        </p:nvSpPr>
        <p:spPr>
          <a:xfrm>
            <a:off x="545312" y="6604745"/>
            <a:ext cx="652366" cy="230832"/>
          </a:xfrm>
          <a:prstGeom prst="rect">
            <a:avLst/>
          </a:prstGeom>
          <a:noFill/>
        </p:spPr>
        <p:txBody>
          <a:bodyPr wrap="square" rtlCol="0">
            <a:spAutoFit/>
          </a:bodyPr>
          <a:lstStyle/>
          <a:p>
            <a:r>
              <a:rPr lang="pt-BR" sz="900" b="1" dirty="0"/>
              <a:t>Legenda:</a:t>
            </a:r>
          </a:p>
        </p:txBody>
      </p:sp>
      <p:sp>
        <p:nvSpPr>
          <p:cNvPr id="36" name="CaixaDeTexto 35">
            <a:extLst>
              <a:ext uri="{FF2B5EF4-FFF2-40B4-BE49-F238E27FC236}">
                <a16:creationId xmlns:a16="http://schemas.microsoft.com/office/drawing/2014/main" id="{1EBAA7CA-52D7-0F05-10FD-8FE7B75C241B}"/>
              </a:ext>
            </a:extLst>
          </p:cNvPr>
          <p:cNvSpPr txBox="1"/>
          <p:nvPr/>
        </p:nvSpPr>
        <p:spPr>
          <a:xfrm>
            <a:off x="1477347" y="3605975"/>
            <a:ext cx="1512292" cy="400110"/>
          </a:xfrm>
          <a:prstGeom prst="rect">
            <a:avLst/>
          </a:prstGeom>
          <a:noFill/>
        </p:spPr>
        <p:txBody>
          <a:bodyPr wrap="square" rtlCol="0">
            <a:spAutoFit/>
          </a:bodyPr>
          <a:lstStyle/>
          <a:p>
            <a:pPr algn="ctr"/>
            <a:r>
              <a:rPr lang="pt-BR" sz="1000" i="1" dirty="0"/>
              <a:t>Ação manual para acionar integração</a:t>
            </a:r>
          </a:p>
        </p:txBody>
      </p:sp>
      <p:sp>
        <p:nvSpPr>
          <p:cNvPr id="17" name="Rectangle 16">
            <a:extLst>
              <a:ext uri="{FF2B5EF4-FFF2-40B4-BE49-F238E27FC236}">
                <a16:creationId xmlns:a16="http://schemas.microsoft.com/office/drawing/2014/main" id="{181E414D-BD0F-8FE8-DB3B-5926A4AA8DC6}"/>
              </a:ext>
            </a:extLst>
          </p:cNvPr>
          <p:cNvSpPr/>
          <p:nvPr/>
        </p:nvSpPr>
        <p:spPr>
          <a:xfrm>
            <a:off x="10964404" y="6109846"/>
            <a:ext cx="1227596" cy="7481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19" name="Picture 2">
            <a:extLst>
              <a:ext uri="{FF2B5EF4-FFF2-40B4-BE49-F238E27FC236}">
                <a16:creationId xmlns:a16="http://schemas.microsoft.com/office/drawing/2014/main" id="{EEA2BBA8-4A73-6EB8-3CE5-89A4F86D9F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5214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65280-ED28-8079-0C2A-70B62BA4C719}"/>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C7972B8B-AD26-7054-F06C-CA46649CCC54}"/>
              </a:ext>
            </a:extLst>
          </p:cNvPr>
          <p:cNvSpPr>
            <a:spLocks noGrp="1"/>
          </p:cNvSpPr>
          <p:nvPr>
            <p:ph type="title"/>
          </p:nvPr>
        </p:nvSpPr>
        <p:spPr>
          <a:xfrm>
            <a:off x="1089653" y="303578"/>
            <a:ext cx="10485852" cy="645195"/>
          </a:xfrm>
        </p:spPr>
        <p:txBody>
          <a:bodyPr/>
          <a:lstStyle/>
          <a:p>
            <a:pPr lvl="0" defTabSz="1055035">
              <a:lnSpc>
                <a:spcPct val="100000"/>
              </a:lnSpc>
              <a:spcBef>
                <a:spcPts val="0"/>
              </a:spcBef>
              <a:defRPr/>
            </a:pPr>
            <a:r>
              <a:rPr lang="pt-BR" dirty="0"/>
              <a:t>[FEL-2 para FEL-3] Refinamento e congelamento do(</a:t>
            </a:r>
            <a:r>
              <a:rPr lang="pt-BR" dirty="0" err="1"/>
              <a:t>s</a:t>
            </a:r>
            <a:r>
              <a:rPr lang="pt-BR" dirty="0"/>
              <a:t>) Escopo(</a:t>
            </a:r>
            <a:r>
              <a:rPr lang="pt-BR" dirty="0" err="1"/>
              <a:t>s</a:t>
            </a:r>
            <a:r>
              <a:rPr lang="pt-BR" dirty="0"/>
              <a:t>) da(</a:t>
            </a:r>
            <a:r>
              <a:rPr lang="pt-BR" dirty="0" err="1"/>
              <a:t>s</a:t>
            </a:r>
            <a:r>
              <a:rPr lang="pt-BR" dirty="0"/>
              <a:t>) Obra(</a:t>
            </a:r>
            <a:r>
              <a:rPr lang="pt-BR" dirty="0" err="1"/>
              <a:t>s</a:t>
            </a:r>
            <a:r>
              <a:rPr lang="pt-BR" dirty="0"/>
              <a:t>)</a:t>
            </a:r>
            <a:endParaRPr lang="pt-BR" b="0" dirty="0"/>
          </a:p>
        </p:txBody>
      </p:sp>
      <p:sp>
        <p:nvSpPr>
          <p:cNvPr id="2" name="Elipse 1">
            <a:extLst>
              <a:ext uri="{FF2B5EF4-FFF2-40B4-BE49-F238E27FC236}">
                <a16:creationId xmlns:a16="http://schemas.microsoft.com/office/drawing/2014/main" id="{2939D7C6-301D-3588-6C43-7D80C443ED46}"/>
              </a:ext>
            </a:extLst>
          </p:cNvPr>
          <p:cNvSpPr/>
          <p:nvPr/>
        </p:nvSpPr>
        <p:spPr>
          <a:xfrm>
            <a:off x="1115542" y="1934399"/>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7B611FF6-D7BE-ADCF-1572-5AC39DF9A473}"/>
              </a:ext>
            </a:extLst>
          </p:cNvPr>
          <p:cNvSpPr txBox="1"/>
          <p:nvPr/>
        </p:nvSpPr>
        <p:spPr>
          <a:xfrm>
            <a:off x="767408" y="1628800"/>
            <a:ext cx="1056309" cy="230832"/>
          </a:xfrm>
          <a:prstGeom prst="rect">
            <a:avLst/>
          </a:prstGeom>
          <a:noFill/>
        </p:spPr>
        <p:txBody>
          <a:bodyPr wrap="square" rtlCol="0">
            <a:spAutoFit/>
          </a:bodyPr>
          <a:lstStyle/>
          <a:p>
            <a:pPr algn="ctr"/>
            <a:r>
              <a:rPr lang="pt-BR" sz="900" b="1" dirty="0"/>
              <a:t>FEL-2</a:t>
            </a:r>
          </a:p>
        </p:txBody>
      </p:sp>
      <p:cxnSp>
        <p:nvCxnSpPr>
          <p:cNvPr id="6" name="Conector de Seta Reta 5">
            <a:extLst>
              <a:ext uri="{FF2B5EF4-FFF2-40B4-BE49-F238E27FC236}">
                <a16:creationId xmlns:a16="http://schemas.microsoft.com/office/drawing/2014/main" id="{A1EDDF1A-BA0A-7B7C-7CAA-39BDA7D6DD58}"/>
              </a:ext>
            </a:extLst>
          </p:cNvPr>
          <p:cNvCxnSpPr>
            <a:cxnSpLocks/>
            <a:stCxn id="2" idx="6"/>
            <a:endCxn id="7" idx="1"/>
          </p:cNvCxnSpPr>
          <p:nvPr/>
        </p:nvCxnSpPr>
        <p:spPr>
          <a:xfrm>
            <a:off x="1475582" y="2114419"/>
            <a:ext cx="30585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Retângulo: Cantos Arredondados 6">
            <a:extLst>
              <a:ext uri="{FF2B5EF4-FFF2-40B4-BE49-F238E27FC236}">
                <a16:creationId xmlns:a16="http://schemas.microsoft.com/office/drawing/2014/main" id="{7EF98626-8D4F-AD2F-ADC9-9159C0CCD72E}"/>
              </a:ext>
            </a:extLst>
          </p:cNvPr>
          <p:cNvSpPr/>
          <p:nvPr/>
        </p:nvSpPr>
        <p:spPr>
          <a:xfrm>
            <a:off x="1781439" y="1851901"/>
            <a:ext cx="137481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escopo e custos estimados</a:t>
            </a:r>
          </a:p>
        </p:txBody>
      </p:sp>
      <p:sp>
        <p:nvSpPr>
          <p:cNvPr id="8" name="Retângulo 7">
            <a:extLst>
              <a:ext uri="{FF2B5EF4-FFF2-40B4-BE49-F238E27FC236}">
                <a16:creationId xmlns:a16="http://schemas.microsoft.com/office/drawing/2014/main" id="{F636ECE5-BBD8-6F42-1B41-D30101DA74EB}"/>
              </a:ext>
            </a:extLst>
          </p:cNvPr>
          <p:cNvSpPr/>
          <p:nvPr/>
        </p:nvSpPr>
        <p:spPr>
          <a:xfrm>
            <a:off x="623392" y="1339330"/>
            <a:ext cx="10952113" cy="453794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Cantos Arredondados 8">
            <a:extLst>
              <a:ext uri="{FF2B5EF4-FFF2-40B4-BE49-F238E27FC236}">
                <a16:creationId xmlns:a16="http://schemas.microsoft.com/office/drawing/2014/main" id="{AE54BAEB-42ED-3805-1B17-0590536D20C2}"/>
              </a:ext>
            </a:extLst>
          </p:cNvPr>
          <p:cNvSpPr/>
          <p:nvPr/>
        </p:nvSpPr>
        <p:spPr>
          <a:xfrm>
            <a:off x="5157389" y="1851901"/>
            <a:ext cx="137481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Atribuir responsáveis</a:t>
            </a:r>
          </a:p>
        </p:txBody>
      </p:sp>
      <p:cxnSp>
        <p:nvCxnSpPr>
          <p:cNvPr id="14" name="Conector de Seta Reta 13">
            <a:extLst>
              <a:ext uri="{FF2B5EF4-FFF2-40B4-BE49-F238E27FC236}">
                <a16:creationId xmlns:a16="http://schemas.microsoft.com/office/drawing/2014/main" id="{A185A274-AA09-C8C5-8DAA-8F63D2B2CD00}"/>
              </a:ext>
            </a:extLst>
          </p:cNvPr>
          <p:cNvCxnSpPr>
            <a:cxnSpLocks/>
            <a:stCxn id="7" idx="3"/>
            <a:endCxn id="13" idx="1"/>
          </p:cNvCxnSpPr>
          <p:nvPr/>
        </p:nvCxnSpPr>
        <p:spPr>
          <a:xfrm>
            <a:off x="3156251" y="2114419"/>
            <a:ext cx="2652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A1F10061-5FAC-9687-A834-F369008ED0F8}"/>
              </a:ext>
            </a:extLst>
          </p:cNvPr>
          <p:cNvCxnSpPr>
            <a:cxnSpLocks/>
            <a:stCxn id="9" idx="3"/>
            <a:endCxn id="30" idx="2"/>
          </p:cNvCxnSpPr>
          <p:nvPr/>
        </p:nvCxnSpPr>
        <p:spPr>
          <a:xfrm>
            <a:off x="6532201" y="2114419"/>
            <a:ext cx="35695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CaixaDeTexto 21">
            <a:extLst>
              <a:ext uri="{FF2B5EF4-FFF2-40B4-BE49-F238E27FC236}">
                <a16:creationId xmlns:a16="http://schemas.microsoft.com/office/drawing/2014/main" id="{569FF363-0720-C222-3F9A-8DF0D1425325}"/>
              </a:ext>
            </a:extLst>
          </p:cNvPr>
          <p:cNvSpPr txBox="1"/>
          <p:nvPr/>
        </p:nvSpPr>
        <p:spPr>
          <a:xfrm rot="16200000">
            <a:off x="120405" y="3469802"/>
            <a:ext cx="1282973" cy="276999"/>
          </a:xfrm>
          <a:prstGeom prst="rect">
            <a:avLst/>
          </a:prstGeom>
          <a:noFill/>
        </p:spPr>
        <p:txBody>
          <a:bodyPr wrap="square" rtlCol="0">
            <a:spAutoFit/>
          </a:bodyPr>
          <a:lstStyle/>
          <a:p>
            <a:pPr algn="ctr"/>
            <a:r>
              <a:rPr lang="pt-BR" sz="1200" b="1" dirty="0"/>
              <a:t>Planejamento AT</a:t>
            </a:r>
          </a:p>
        </p:txBody>
      </p:sp>
      <p:sp>
        <p:nvSpPr>
          <p:cNvPr id="13" name="Retângulo: Cantos Arredondados 12">
            <a:extLst>
              <a:ext uri="{FF2B5EF4-FFF2-40B4-BE49-F238E27FC236}">
                <a16:creationId xmlns:a16="http://schemas.microsoft.com/office/drawing/2014/main" id="{7ACFE2F2-775E-24FD-EFE3-1B3DFBF1AF94}"/>
              </a:ext>
            </a:extLst>
          </p:cNvPr>
          <p:cNvSpPr/>
          <p:nvPr/>
        </p:nvSpPr>
        <p:spPr>
          <a:xfrm>
            <a:off x="3421511" y="1851901"/>
            <a:ext cx="1512293"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Definir nível de criticidade dos serviços</a:t>
            </a:r>
          </a:p>
        </p:txBody>
      </p:sp>
      <p:cxnSp>
        <p:nvCxnSpPr>
          <p:cNvPr id="26" name="Conector de Seta Reta 25">
            <a:extLst>
              <a:ext uri="{FF2B5EF4-FFF2-40B4-BE49-F238E27FC236}">
                <a16:creationId xmlns:a16="http://schemas.microsoft.com/office/drawing/2014/main" id="{504F550B-F954-967B-EB31-027355FA8A96}"/>
              </a:ext>
            </a:extLst>
          </p:cNvPr>
          <p:cNvCxnSpPr>
            <a:cxnSpLocks/>
            <a:stCxn id="13" idx="3"/>
            <a:endCxn id="9" idx="1"/>
          </p:cNvCxnSpPr>
          <p:nvPr/>
        </p:nvCxnSpPr>
        <p:spPr>
          <a:xfrm>
            <a:off x="4933804" y="2114419"/>
            <a:ext cx="2235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Elipse 29">
            <a:extLst>
              <a:ext uri="{FF2B5EF4-FFF2-40B4-BE49-F238E27FC236}">
                <a16:creationId xmlns:a16="http://schemas.microsoft.com/office/drawing/2014/main" id="{EF404595-C99B-05BC-666F-B251FB0FB5A4}"/>
              </a:ext>
            </a:extLst>
          </p:cNvPr>
          <p:cNvSpPr/>
          <p:nvPr/>
        </p:nvSpPr>
        <p:spPr>
          <a:xfrm>
            <a:off x="6889154" y="1934399"/>
            <a:ext cx="360040" cy="36004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CaixaDeTexto 31">
            <a:extLst>
              <a:ext uri="{FF2B5EF4-FFF2-40B4-BE49-F238E27FC236}">
                <a16:creationId xmlns:a16="http://schemas.microsoft.com/office/drawing/2014/main" id="{B95A586B-5840-4A74-E628-FB4508ECDFAE}"/>
              </a:ext>
            </a:extLst>
          </p:cNvPr>
          <p:cNvSpPr txBox="1"/>
          <p:nvPr/>
        </p:nvSpPr>
        <p:spPr>
          <a:xfrm>
            <a:off x="6218575" y="1412776"/>
            <a:ext cx="1701196" cy="369332"/>
          </a:xfrm>
          <a:prstGeom prst="rect">
            <a:avLst/>
          </a:prstGeom>
          <a:noFill/>
        </p:spPr>
        <p:txBody>
          <a:bodyPr wrap="square" rtlCol="0">
            <a:spAutoFit/>
          </a:bodyPr>
          <a:lstStyle/>
          <a:p>
            <a:pPr algn="ctr"/>
            <a:r>
              <a:rPr lang="pt-BR" sz="1000" b="1" dirty="0"/>
              <a:t>Reunião de Congelamento </a:t>
            </a:r>
          </a:p>
          <a:p>
            <a:pPr algn="ctr"/>
            <a:r>
              <a:rPr lang="pt-BR" sz="800" dirty="0"/>
              <a:t>(3 meses antes do início da obra)</a:t>
            </a:r>
          </a:p>
        </p:txBody>
      </p:sp>
      <p:sp>
        <p:nvSpPr>
          <p:cNvPr id="35" name="Retângulo: Cantos Arredondados 34">
            <a:extLst>
              <a:ext uri="{FF2B5EF4-FFF2-40B4-BE49-F238E27FC236}">
                <a16:creationId xmlns:a16="http://schemas.microsoft.com/office/drawing/2014/main" id="{2C948B7A-BA4E-104C-DC88-48B81B0A1C43}"/>
              </a:ext>
            </a:extLst>
          </p:cNvPr>
          <p:cNvSpPr/>
          <p:nvPr/>
        </p:nvSpPr>
        <p:spPr>
          <a:xfrm>
            <a:off x="7522078" y="1851901"/>
            <a:ext cx="1249829"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escopo</a:t>
            </a:r>
          </a:p>
        </p:txBody>
      </p:sp>
      <p:cxnSp>
        <p:nvCxnSpPr>
          <p:cNvPr id="36" name="Conector de Seta Reta 35">
            <a:extLst>
              <a:ext uri="{FF2B5EF4-FFF2-40B4-BE49-F238E27FC236}">
                <a16:creationId xmlns:a16="http://schemas.microsoft.com/office/drawing/2014/main" id="{FC33E7E8-340B-8035-08A7-44CFFF608375}"/>
              </a:ext>
            </a:extLst>
          </p:cNvPr>
          <p:cNvCxnSpPr>
            <a:cxnSpLocks/>
            <a:stCxn id="30" idx="6"/>
            <a:endCxn id="35" idx="1"/>
          </p:cNvCxnSpPr>
          <p:nvPr/>
        </p:nvCxnSpPr>
        <p:spPr>
          <a:xfrm>
            <a:off x="7249194" y="2114419"/>
            <a:ext cx="2728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tângulo: Cantos Arredondados 40">
            <a:extLst>
              <a:ext uri="{FF2B5EF4-FFF2-40B4-BE49-F238E27FC236}">
                <a16:creationId xmlns:a16="http://schemas.microsoft.com/office/drawing/2014/main" id="{98F8CCB7-32AE-28BC-9D83-A31E3E9C5B7E}"/>
              </a:ext>
            </a:extLst>
          </p:cNvPr>
          <p:cNvSpPr/>
          <p:nvPr/>
        </p:nvSpPr>
        <p:spPr>
          <a:xfrm>
            <a:off x="9044791" y="1851901"/>
            <a:ext cx="1249829"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responsáveis</a:t>
            </a:r>
          </a:p>
        </p:txBody>
      </p:sp>
      <p:cxnSp>
        <p:nvCxnSpPr>
          <p:cNvPr id="42" name="Conector de Seta Reta 41">
            <a:extLst>
              <a:ext uri="{FF2B5EF4-FFF2-40B4-BE49-F238E27FC236}">
                <a16:creationId xmlns:a16="http://schemas.microsoft.com/office/drawing/2014/main" id="{06C7179E-A117-14D2-891E-B2C03168C06D}"/>
              </a:ext>
            </a:extLst>
          </p:cNvPr>
          <p:cNvCxnSpPr>
            <a:cxnSpLocks/>
            <a:stCxn id="35" idx="3"/>
            <a:endCxn id="41" idx="1"/>
          </p:cNvCxnSpPr>
          <p:nvPr/>
        </p:nvCxnSpPr>
        <p:spPr>
          <a:xfrm>
            <a:off x="8771907" y="2114419"/>
            <a:ext cx="2728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Elipse 47">
            <a:extLst>
              <a:ext uri="{FF2B5EF4-FFF2-40B4-BE49-F238E27FC236}">
                <a16:creationId xmlns:a16="http://schemas.microsoft.com/office/drawing/2014/main" id="{ECA10004-E6CE-8E29-1FD1-5679D023C4EB}"/>
              </a:ext>
            </a:extLst>
          </p:cNvPr>
          <p:cNvSpPr/>
          <p:nvPr/>
        </p:nvSpPr>
        <p:spPr>
          <a:xfrm>
            <a:off x="6875566" y="3152026"/>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 name="CaixaDeTexto 51">
            <a:extLst>
              <a:ext uri="{FF2B5EF4-FFF2-40B4-BE49-F238E27FC236}">
                <a16:creationId xmlns:a16="http://schemas.microsoft.com/office/drawing/2014/main" id="{A7B228CA-27DD-CC70-9794-772CAAED9450}"/>
              </a:ext>
            </a:extLst>
          </p:cNvPr>
          <p:cNvSpPr txBox="1"/>
          <p:nvPr/>
        </p:nvSpPr>
        <p:spPr>
          <a:xfrm>
            <a:off x="6119928" y="3587204"/>
            <a:ext cx="1871316" cy="707886"/>
          </a:xfrm>
          <a:prstGeom prst="rect">
            <a:avLst/>
          </a:prstGeom>
          <a:noFill/>
        </p:spPr>
        <p:txBody>
          <a:bodyPr wrap="square" rtlCol="0">
            <a:spAutoFit/>
          </a:bodyPr>
          <a:lstStyle/>
          <a:p>
            <a:pPr algn="ctr"/>
            <a:r>
              <a:rPr lang="pt-BR" sz="1000" b="1" dirty="0"/>
              <a:t>FEL-3 salvo</a:t>
            </a:r>
          </a:p>
          <a:p>
            <a:pPr algn="ctr"/>
            <a:r>
              <a:rPr lang="pt-BR" sz="1000" dirty="0"/>
              <a:t>Escopo revisado e entregue à Gerência de Obras e</a:t>
            </a:r>
          </a:p>
          <a:p>
            <a:pPr algn="ctr"/>
            <a:r>
              <a:rPr lang="pt-BR" sz="1000" dirty="0"/>
              <a:t>Contingência da Parada definida</a:t>
            </a:r>
          </a:p>
        </p:txBody>
      </p:sp>
      <p:sp>
        <p:nvSpPr>
          <p:cNvPr id="54" name="Elipse 53">
            <a:extLst>
              <a:ext uri="{FF2B5EF4-FFF2-40B4-BE49-F238E27FC236}">
                <a16:creationId xmlns:a16="http://schemas.microsoft.com/office/drawing/2014/main" id="{05BCF11B-A701-08ED-5E65-71AFFD3C3FD8}"/>
              </a:ext>
            </a:extLst>
          </p:cNvPr>
          <p:cNvSpPr/>
          <p:nvPr/>
        </p:nvSpPr>
        <p:spPr>
          <a:xfrm>
            <a:off x="10704512" y="1934399"/>
            <a:ext cx="360040" cy="36004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cxnSp>
        <p:nvCxnSpPr>
          <p:cNvPr id="55" name="Conector de Seta Reta 54">
            <a:extLst>
              <a:ext uri="{FF2B5EF4-FFF2-40B4-BE49-F238E27FC236}">
                <a16:creationId xmlns:a16="http://schemas.microsoft.com/office/drawing/2014/main" id="{DC8AFA27-E6C3-6A6B-2CAE-B5ACFED134B9}"/>
              </a:ext>
            </a:extLst>
          </p:cNvPr>
          <p:cNvCxnSpPr>
            <a:cxnSpLocks/>
            <a:stCxn id="41" idx="3"/>
            <a:endCxn id="54" idx="2"/>
          </p:cNvCxnSpPr>
          <p:nvPr/>
        </p:nvCxnSpPr>
        <p:spPr>
          <a:xfrm>
            <a:off x="10294620" y="2114419"/>
            <a:ext cx="4098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Elipse 57">
            <a:extLst>
              <a:ext uri="{FF2B5EF4-FFF2-40B4-BE49-F238E27FC236}">
                <a16:creationId xmlns:a16="http://schemas.microsoft.com/office/drawing/2014/main" id="{9BBB5EFD-517C-6D2F-1140-19384232629F}"/>
              </a:ext>
            </a:extLst>
          </p:cNvPr>
          <p:cNvSpPr/>
          <p:nvPr/>
        </p:nvSpPr>
        <p:spPr>
          <a:xfrm>
            <a:off x="1452266" y="3152026"/>
            <a:ext cx="360040" cy="36004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1</a:t>
            </a:r>
          </a:p>
        </p:txBody>
      </p:sp>
      <p:sp>
        <p:nvSpPr>
          <p:cNvPr id="59" name="Retângulo: Cantos Arredondados 58">
            <a:extLst>
              <a:ext uri="{FF2B5EF4-FFF2-40B4-BE49-F238E27FC236}">
                <a16:creationId xmlns:a16="http://schemas.microsoft.com/office/drawing/2014/main" id="{1AA3F7ED-2553-F834-D76A-66B2C15FC1B0}"/>
              </a:ext>
            </a:extLst>
          </p:cNvPr>
          <p:cNvSpPr/>
          <p:nvPr/>
        </p:nvSpPr>
        <p:spPr>
          <a:xfrm>
            <a:off x="2114156" y="3069528"/>
            <a:ext cx="163352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Revisar estimativas não comprometidas e saldos</a:t>
            </a:r>
          </a:p>
        </p:txBody>
      </p:sp>
      <p:cxnSp>
        <p:nvCxnSpPr>
          <p:cNvPr id="60" name="Conector de Seta Reta 59">
            <a:extLst>
              <a:ext uri="{FF2B5EF4-FFF2-40B4-BE49-F238E27FC236}">
                <a16:creationId xmlns:a16="http://schemas.microsoft.com/office/drawing/2014/main" id="{0F837DE5-46DB-5445-062B-26C5D90BDD4A}"/>
              </a:ext>
            </a:extLst>
          </p:cNvPr>
          <p:cNvCxnSpPr>
            <a:cxnSpLocks/>
            <a:stCxn id="58" idx="6"/>
            <a:endCxn id="59" idx="1"/>
          </p:cNvCxnSpPr>
          <p:nvPr/>
        </p:nvCxnSpPr>
        <p:spPr>
          <a:xfrm>
            <a:off x="1812306" y="3332046"/>
            <a:ext cx="30185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2" name="Retângulo: Cantos Arredondados 511">
            <a:extLst>
              <a:ext uri="{FF2B5EF4-FFF2-40B4-BE49-F238E27FC236}">
                <a16:creationId xmlns:a16="http://schemas.microsoft.com/office/drawing/2014/main" id="{11DDC1D6-336F-EC12-5525-8B5F78BC6965}"/>
              </a:ext>
            </a:extLst>
          </p:cNvPr>
          <p:cNvSpPr/>
          <p:nvPr/>
        </p:nvSpPr>
        <p:spPr>
          <a:xfrm>
            <a:off x="4284105" y="3069528"/>
            <a:ext cx="163352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Salvar FEL-3</a:t>
            </a:r>
          </a:p>
        </p:txBody>
      </p:sp>
      <p:cxnSp>
        <p:nvCxnSpPr>
          <p:cNvPr id="513" name="Conector de Seta Reta 512">
            <a:extLst>
              <a:ext uri="{FF2B5EF4-FFF2-40B4-BE49-F238E27FC236}">
                <a16:creationId xmlns:a16="http://schemas.microsoft.com/office/drawing/2014/main" id="{EAE65E42-E1E3-0D7C-BD9E-435AF3C19A58}"/>
              </a:ext>
            </a:extLst>
          </p:cNvPr>
          <p:cNvCxnSpPr>
            <a:cxnSpLocks/>
            <a:stCxn id="59" idx="3"/>
            <a:endCxn id="512" idx="1"/>
          </p:cNvCxnSpPr>
          <p:nvPr/>
        </p:nvCxnSpPr>
        <p:spPr>
          <a:xfrm>
            <a:off x="3747680" y="3332046"/>
            <a:ext cx="5364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7" name="Conector de Seta Reta 516">
            <a:extLst>
              <a:ext uri="{FF2B5EF4-FFF2-40B4-BE49-F238E27FC236}">
                <a16:creationId xmlns:a16="http://schemas.microsoft.com/office/drawing/2014/main" id="{480E293B-07C7-3AFF-93AE-E31ACCA1AC19}"/>
              </a:ext>
            </a:extLst>
          </p:cNvPr>
          <p:cNvCxnSpPr>
            <a:cxnSpLocks/>
            <a:stCxn id="512" idx="3"/>
            <a:endCxn id="48" idx="2"/>
          </p:cNvCxnSpPr>
          <p:nvPr/>
        </p:nvCxnSpPr>
        <p:spPr>
          <a:xfrm>
            <a:off x="5917629" y="3332046"/>
            <a:ext cx="9579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3" name="CaixaDeTexto 522">
            <a:extLst>
              <a:ext uri="{FF2B5EF4-FFF2-40B4-BE49-F238E27FC236}">
                <a16:creationId xmlns:a16="http://schemas.microsoft.com/office/drawing/2014/main" id="{0D2620BE-BBF4-7534-A40E-19349FB6D217}"/>
              </a:ext>
            </a:extLst>
          </p:cNvPr>
          <p:cNvSpPr txBox="1"/>
          <p:nvPr/>
        </p:nvSpPr>
        <p:spPr>
          <a:xfrm>
            <a:off x="4297615" y="3709598"/>
            <a:ext cx="1694752" cy="507831"/>
          </a:xfrm>
          <a:prstGeom prst="rect">
            <a:avLst/>
          </a:prstGeom>
          <a:noFill/>
        </p:spPr>
        <p:txBody>
          <a:bodyPr wrap="square" rtlCol="0">
            <a:spAutoFit/>
          </a:bodyPr>
          <a:lstStyle/>
          <a:p>
            <a:pPr algn="ctr"/>
            <a:r>
              <a:rPr lang="pt-BR" sz="900" b="1" i="1" dirty="0"/>
              <a:t>Registro do FEL-3 </a:t>
            </a:r>
            <a:r>
              <a:rPr lang="pt-BR" sz="900" i="1" dirty="0"/>
              <a:t>a partir de ação manual no HUB até 7 dias após o congelamento</a:t>
            </a:r>
          </a:p>
        </p:txBody>
      </p:sp>
      <p:grpSp>
        <p:nvGrpSpPr>
          <p:cNvPr id="525" name="Agrupar 524">
            <a:extLst>
              <a:ext uri="{FF2B5EF4-FFF2-40B4-BE49-F238E27FC236}">
                <a16:creationId xmlns:a16="http://schemas.microsoft.com/office/drawing/2014/main" id="{1917B826-9443-2731-2F0A-82A302EEDAA0}"/>
              </a:ext>
            </a:extLst>
          </p:cNvPr>
          <p:cNvGrpSpPr/>
          <p:nvPr/>
        </p:nvGrpSpPr>
        <p:grpSpPr>
          <a:xfrm>
            <a:off x="4229512" y="3717761"/>
            <a:ext cx="144016" cy="194954"/>
            <a:chOff x="4223792" y="5610310"/>
            <a:chExt cx="144016" cy="194954"/>
          </a:xfrm>
        </p:grpSpPr>
        <p:sp>
          <p:nvSpPr>
            <p:cNvPr id="526" name="Onda 525">
              <a:extLst>
                <a:ext uri="{FF2B5EF4-FFF2-40B4-BE49-F238E27FC236}">
                  <a16:creationId xmlns:a16="http://schemas.microsoft.com/office/drawing/2014/main" id="{B7B8D617-2ABE-94A1-6B6F-E9068FB85804}"/>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27" name="Conector reto 526">
              <a:extLst>
                <a:ext uri="{FF2B5EF4-FFF2-40B4-BE49-F238E27FC236}">
                  <a16:creationId xmlns:a16="http://schemas.microsoft.com/office/drawing/2014/main" id="{50BD1AE7-A7C0-4B85-B78A-C5F9BF34A0E7}"/>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528" name="CaixaDeTexto 527">
            <a:extLst>
              <a:ext uri="{FF2B5EF4-FFF2-40B4-BE49-F238E27FC236}">
                <a16:creationId xmlns:a16="http://schemas.microsoft.com/office/drawing/2014/main" id="{A8578514-376A-EE41-6A78-B7F261FB980E}"/>
              </a:ext>
            </a:extLst>
          </p:cNvPr>
          <p:cNvSpPr txBox="1"/>
          <p:nvPr/>
        </p:nvSpPr>
        <p:spPr>
          <a:xfrm>
            <a:off x="5293942" y="4581128"/>
            <a:ext cx="3034306" cy="1215717"/>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dirty="0"/>
              <a:t>Pré-requisitos mínimos para formalizar o FEL-3: </a:t>
            </a:r>
            <a:endParaRPr lang="pt-BR" b="0" dirty="0"/>
          </a:p>
          <a:p>
            <a:pPr marL="171450" indent="-171450" algn="l">
              <a:spcBef>
                <a:spcPts val="400"/>
              </a:spcBef>
              <a:buFont typeface="Wingdings" panose="05000000000000000000" pitchFamily="2" charset="2"/>
              <a:buChar char="§"/>
            </a:pPr>
            <a:r>
              <a:rPr lang="pt-BR" b="0" dirty="0"/>
              <a:t>Todos os serviços e materiais mapeados devem ter pelo menos a estimativa de custos</a:t>
            </a:r>
          </a:p>
          <a:p>
            <a:pPr marL="171450" indent="-171450" algn="l">
              <a:spcBef>
                <a:spcPts val="400"/>
              </a:spcBef>
              <a:buFont typeface="Wingdings" panose="05000000000000000000" pitchFamily="2" charset="2"/>
              <a:buChar char="§"/>
            </a:pPr>
            <a:r>
              <a:rPr lang="pt-BR" b="0" dirty="0"/>
              <a:t>Todas as demandas devem ter saldos financeiros maiores ou iguais a zero</a:t>
            </a:r>
          </a:p>
          <a:p>
            <a:pPr marL="171450" indent="-171450" algn="l">
              <a:spcBef>
                <a:spcPts val="400"/>
              </a:spcBef>
              <a:buFont typeface="Wingdings" panose="05000000000000000000" pitchFamily="2" charset="2"/>
              <a:buChar char="§"/>
            </a:pPr>
            <a:r>
              <a:rPr lang="pt-BR" b="0" dirty="0"/>
              <a:t>Eventuais cenários alternativos da Parada devem ser descartados</a:t>
            </a:r>
          </a:p>
        </p:txBody>
      </p:sp>
      <p:cxnSp>
        <p:nvCxnSpPr>
          <p:cNvPr id="529" name="Conector: Curvo 528">
            <a:extLst>
              <a:ext uri="{FF2B5EF4-FFF2-40B4-BE49-F238E27FC236}">
                <a16:creationId xmlns:a16="http://schemas.microsoft.com/office/drawing/2014/main" id="{149AB69A-FCCE-BCC9-2790-568AB8829D4E}"/>
              </a:ext>
            </a:extLst>
          </p:cNvPr>
          <p:cNvCxnSpPr>
            <a:cxnSpLocks/>
            <a:stCxn id="523" idx="2"/>
            <a:endCxn id="528" idx="0"/>
          </p:cNvCxnSpPr>
          <p:nvPr/>
        </p:nvCxnSpPr>
        <p:spPr>
          <a:xfrm rot="16200000" flipH="1">
            <a:off x="5796194" y="3566226"/>
            <a:ext cx="363699" cy="16661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68894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F762B-2596-D432-0622-D95818710F5E}"/>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B454FA0B-C8C4-FDF9-78FE-7E0EAFB7DBD9}"/>
              </a:ext>
            </a:extLst>
          </p:cNvPr>
          <p:cNvSpPr/>
          <p:nvPr/>
        </p:nvSpPr>
        <p:spPr>
          <a:xfrm>
            <a:off x="623392" y="1443919"/>
            <a:ext cx="10952113" cy="48240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Elipse 6">
            <a:extLst>
              <a:ext uri="{FF2B5EF4-FFF2-40B4-BE49-F238E27FC236}">
                <a16:creationId xmlns:a16="http://schemas.microsoft.com/office/drawing/2014/main" id="{C684CB1D-A80E-5085-5C16-B7CE8B6AE902}"/>
              </a:ext>
            </a:extLst>
          </p:cNvPr>
          <p:cNvSpPr/>
          <p:nvPr/>
        </p:nvSpPr>
        <p:spPr>
          <a:xfrm>
            <a:off x="1732470" y="1856259"/>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8C86FC6B-CE6A-64F7-E3A5-4B135A41F296}"/>
              </a:ext>
            </a:extLst>
          </p:cNvPr>
          <p:cNvSpPr txBox="1"/>
          <p:nvPr/>
        </p:nvSpPr>
        <p:spPr>
          <a:xfrm>
            <a:off x="1273423" y="2304743"/>
            <a:ext cx="1278134" cy="415498"/>
          </a:xfrm>
          <a:prstGeom prst="rect">
            <a:avLst/>
          </a:prstGeom>
          <a:noFill/>
        </p:spPr>
        <p:txBody>
          <a:bodyPr wrap="square" rtlCol="0">
            <a:spAutoFit/>
          </a:bodyPr>
          <a:lstStyle/>
          <a:p>
            <a:pPr algn="ctr"/>
            <a:r>
              <a:rPr lang="pt-BR" sz="1050" dirty="0"/>
              <a:t>Escopo Congelado</a:t>
            </a:r>
          </a:p>
          <a:p>
            <a:pPr algn="ctr"/>
            <a:r>
              <a:rPr lang="pt-BR" sz="1050" b="1" dirty="0"/>
              <a:t>FEL-3</a:t>
            </a:r>
          </a:p>
        </p:txBody>
      </p:sp>
      <p:cxnSp>
        <p:nvCxnSpPr>
          <p:cNvPr id="11" name="Conector de Seta Reta 10">
            <a:extLst>
              <a:ext uri="{FF2B5EF4-FFF2-40B4-BE49-F238E27FC236}">
                <a16:creationId xmlns:a16="http://schemas.microsoft.com/office/drawing/2014/main" id="{200D0B87-4AAA-BC85-9511-73D50C26E8DA}"/>
              </a:ext>
            </a:extLst>
          </p:cNvPr>
          <p:cNvCxnSpPr>
            <a:cxnSpLocks/>
            <a:stCxn id="7" idx="6"/>
            <a:endCxn id="13" idx="1"/>
          </p:cNvCxnSpPr>
          <p:nvPr/>
        </p:nvCxnSpPr>
        <p:spPr>
          <a:xfrm>
            <a:off x="2092510" y="2036279"/>
            <a:ext cx="28549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ED2C8BBF-D486-1F66-5194-A6AA4D503346}"/>
              </a:ext>
            </a:extLst>
          </p:cNvPr>
          <p:cNvCxnSpPr>
            <a:cxnSpLocks/>
            <a:stCxn id="13" idx="3"/>
            <a:endCxn id="24" idx="1"/>
          </p:cNvCxnSpPr>
          <p:nvPr/>
        </p:nvCxnSpPr>
        <p:spPr>
          <a:xfrm>
            <a:off x="3811613" y="2036279"/>
            <a:ext cx="2681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tângulo: Cantos Arredondados 12">
            <a:extLst>
              <a:ext uri="{FF2B5EF4-FFF2-40B4-BE49-F238E27FC236}">
                <a16:creationId xmlns:a16="http://schemas.microsoft.com/office/drawing/2014/main" id="{EB27422F-57BF-31B6-65EB-FDE2F3A78C23}"/>
              </a:ext>
            </a:extLst>
          </p:cNvPr>
          <p:cNvSpPr/>
          <p:nvPr/>
        </p:nvSpPr>
        <p:spPr>
          <a:xfrm>
            <a:off x="2378002" y="1773761"/>
            <a:ext cx="1433611"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Levar fornecedores a bordo</a:t>
            </a:r>
          </a:p>
        </p:txBody>
      </p:sp>
      <p:sp>
        <p:nvSpPr>
          <p:cNvPr id="17" name="CaixaDeTexto 16">
            <a:extLst>
              <a:ext uri="{FF2B5EF4-FFF2-40B4-BE49-F238E27FC236}">
                <a16:creationId xmlns:a16="http://schemas.microsoft.com/office/drawing/2014/main" id="{12B51381-A7B3-AE65-D601-06FA78BE42F5}"/>
              </a:ext>
            </a:extLst>
          </p:cNvPr>
          <p:cNvSpPr txBox="1"/>
          <p:nvPr/>
        </p:nvSpPr>
        <p:spPr>
          <a:xfrm rot="16200000">
            <a:off x="-641377" y="3625087"/>
            <a:ext cx="3025184" cy="461665"/>
          </a:xfrm>
          <a:prstGeom prst="rect">
            <a:avLst/>
          </a:prstGeom>
          <a:noFill/>
        </p:spPr>
        <p:txBody>
          <a:bodyPr wrap="square" rtlCol="0">
            <a:spAutoFit/>
          </a:bodyPr>
          <a:lstStyle/>
          <a:p>
            <a:pPr algn="ctr"/>
            <a:r>
              <a:rPr lang="pt-BR" sz="1200" b="1" dirty="0"/>
              <a:t>Equipe de Obras / Manutenção Mecânica / Manutenção Elétrica / Telecomunicações</a:t>
            </a:r>
          </a:p>
        </p:txBody>
      </p:sp>
      <p:sp>
        <p:nvSpPr>
          <p:cNvPr id="24" name="Retângulo: Cantos Arredondados 23">
            <a:extLst>
              <a:ext uri="{FF2B5EF4-FFF2-40B4-BE49-F238E27FC236}">
                <a16:creationId xmlns:a16="http://schemas.microsoft.com/office/drawing/2014/main" id="{D7AAD727-F17E-F68F-D0E9-E85247FA57D3}"/>
              </a:ext>
            </a:extLst>
          </p:cNvPr>
          <p:cNvSpPr/>
          <p:nvPr/>
        </p:nvSpPr>
        <p:spPr>
          <a:xfrm>
            <a:off x="4079776" y="1773761"/>
            <a:ext cx="1303283"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Cotar serviços com fornecedores</a:t>
            </a:r>
          </a:p>
        </p:txBody>
      </p:sp>
      <p:sp>
        <p:nvSpPr>
          <p:cNvPr id="27" name="Retângulo: Cantos Arredondados 26">
            <a:extLst>
              <a:ext uri="{FF2B5EF4-FFF2-40B4-BE49-F238E27FC236}">
                <a16:creationId xmlns:a16="http://schemas.microsoft.com/office/drawing/2014/main" id="{5722AA9C-1D84-F7D3-D60A-42BE0DA9CB2B}"/>
              </a:ext>
            </a:extLst>
          </p:cNvPr>
          <p:cNvSpPr/>
          <p:nvPr/>
        </p:nvSpPr>
        <p:spPr>
          <a:xfrm>
            <a:off x="5621971" y="1773761"/>
            <a:ext cx="1433611"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Definir fornecedores e emitir OS via TMM</a:t>
            </a:r>
          </a:p>
        </p:txBody>
      </p:sp>
      <p:cxnSp>
        <p:nvCxnSpPr>
          <p:cNvPr id="28" name="Conector de Seta Reta 27">
            <a:extLst>
              <a:ext uri="{FF2B5EF4-FFF2-40B4-BE49-F238E27FC236}">
                <a16:creationId xmlns:a16="http://schemas.microsoft.com/office/drawing/2014/main" id="{BDA11649-27EC-FD5C-ED6C-382C1381451B}"/>
              </a:ext>
            </a:extLst>
          </p:cNvPr>
          <p:cNvCxnSpPr>
            <a:cxnSpLocks/>
            <a:stCxn id="24" idx="3"/>
            <a:endCxn id="27" idx="1"/>
          </p:cNvCxnSpPr>
          <p:nvPr/>
        </p:nvCxnSpPr>
        <p:spPr>
          <a:xfrm>
            <a:off x="5383059" y="2036279"/>
            <a:ext cx="238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tângulo: Cantos Arredondados 42">
            <a:extLst>
              <a:ext uri="{FF2B5EF4-FFF2-40B4-BE49-F238E27FC236}">
                <a16:creationId xmlns:a16="http://schemas.microsoft.com/office/drawing/2014/main" id="{72174DEC-36D8-6F88-F4B1-D015A47743E0}"/>
              </a:ext>
            </a:extLst>
          </p:cNvPr>
          <p:cNvSpPr/>
          <p:nvPr/>
        </p:nvSpPr>
        <p:spPr>
          <a:xfrm>
            <a:off x="8537795" y="1773761"/>
            <a:ext cx="1734669" cy="525036"/>
          </a:xfrm>
          <a:prstGeom prst="roundRect">
            <a:avLst/>
          </a:prstGeom>
          <a:solidFill>
            <a:schemeClr val="bg1"/>
          </a:solidFill>
          <a:ln w="9525">
            <a:solidFill>
              <a:schemeClr val="accent1">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Registrar fornecedor, nº OS e valor cotado no HUB</a:t>
            </a:r>
          </a:p>
        </p:txBody>
      </p:sp>
      <p:cxnSp>
        <p:nvCxnSpPr>
          <p:cNvPr id="45" name="Conector de Seta Reta 44">
            <a:extLst>
              <a:ext uri="{FF2B5EF4-FFF2-40B4-BE49-F238E27FC236}">
                <a16:creationId xmlns:a16="http://schemas.microsoft.com/office/drawing/2014/main" id="{8934C957-8A56-231E-3BBC-9EA755AA5A89}"/>
              </a:ext>
            </a:extLst>
          </p:cNvPr>
          <p:cNvCxnSpPr>
            <a:cxnSpLocks/>
            <a:stCxn id="27" idx="3"/>
            <a:endCxn id="25" idx="1"/>
          </p:cNvCxnSpPr>
          <p:nvPr/>
        </p:nvCxnSpPr>
        <p:spPr>
          <a:xfrm>
            <a:off x="7055582" y="2036279"/>
            <a:ext cx="408570"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C708E973-0E05-2FB5-AD09-D83A29DDDEE9}"/>
              </a:ext>
            </a:extLst>
          </p:cNvPr>
          <p:cNvCxnSpPr>
            <a:cxnSpLocks/>
            <a:stCxn id="43" idx="3"/>
            <a:endCxn id="78" idx="2"/>
          </p:cNvCxnSpPr>
          <p:nvPr/>
        </p:nvCxnSpPr>
        <p:spPr>
          <a:xfrm>
            <a:off x="10272464" y="2036279"/>
            <a:ext cx="33083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Elipse 76">
            <a:extLst>
              <a:ext uri="{FF2B5EF4-FFF2-40B4-BE49-F238E27FC236}">
                <a16:creationId xmlns:a16="http://schemas.microsoft.com/office/drawing/2014/main" id="{CB6E617D-35F3-C32C-D84B-9B17AD1E807D}"/>
              </a:ext>
            </a:extLst>
          </p:cNvPr>
          <p:cNvSpPr/>
          <p:nvPr/>
        </p:nvSpPr>
        <p:spPr>
          <a:xfrm>
            <a:off x="1732470" y="3826890"/>
            <a:ext cx="360040" cy="36004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1</a:t>
            </a:r>
          </a:p>
        </p:txBody>
      </p:sp>
      <p:sp>
        <p:nvSpPr>
          <p:cNvPr id="78" name="Elipse 77">
            <a:extLst>
              <a:ext uri="{FF2B5EF4-FFF2-40B4-BE49-F238E27FC236}">
                <a16:creationId xmlns:a16="http://schemas.microsoft.com/office/drawing/2014/main" id="{A169D5BE-BF54-1EC0-A521-154D2F6C6DF2}"/>
              </a:ext>
            </a:extLst>
          </p:cNvPr>
          <p:cNvSpPr/>
          <p:nvPr/>
        </p:nvSpPr>
        <p:spPr>
          <a:xfrm>
            <a:off x="10603302" y="1856259"/>
            <a:ext cx="360040" cy="36004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cxnSp>
        <p:nvCxnSpPr>
          <p:cNvPr id="84" name="Conector de Seta Reta 83">
            <a:extLst>
              <a:ext uri="{FF2B5EF4-FFF2-40B4-BE49-F238E27FC236}">
                <a16:creationId xmlns:a16="http://schemas.microsoft.com/office/drawing/2014/main" id="{AEDA87F5-618E-DB6F-281A-27A42C9F6DC5}"/>
              </a:ext>
            </a:extLst>
          </p:cNvPr>
          <p:cNvCxnSpPr>
            <a:cxnSpLocks/>
            <a:stCxn id="77" idx="6"/>
            <a:endCxn id="47" idx="1"/>
          </p:cNvCxnSpPr>
          <p:nvPr/>
        </p:nvCxnSpPr>
        <p:spPr>
          <a:xfrm>
            <a:off x="2092510" y="4006910"/>
            <a:ext cx="34680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ítulo 4">
            <a:extLst>
              <a:ext uri="{FF2B5EF4-FFF2-40B4-BE49-F238E27FC236}">
                <a16:creationId xmlns:a16="http://schemas.microsoft.com/office/drawing/2014/main" id="{1997CEED-DFED-E792-4DF9-BB878F245B40}"/>
              </a:ext>
            </a:extLst>
          </p:cNvPr>
          <p:cNvSpPr>
            <a:spLocks noGrp="1"/>
          </p:cNvSpPr>
          <p:nvPr>
            <p:ph type="title"/>
          </p:nvPr>
        </p:nvSpPr>
        <p:spPr>
          <a:xfrm>
            <a:off x="1089653" y="303578"/>
            <a:ext cx="10485852" cy="645195"/>
          </a:xfrm>
        </p:spPr>
        <p:txBody>
          <a:bodyPr/>
          <a:lstStyle/>
          <a:p>
            <a:pPr lvl="0" defTabSz="1055035">
              <a:lnSpc>
                <a:spcPct val="100000"/>
              </a:lnSpc>
              <a:spcBef>
                <a:spcPts val="0"/>
              </a:spcBef>
              <a:defRPr/>
            </a:pPr>
            <a:r>
              <a:rPr lang="pt-BR" dirty="0"/>
              <a:t>[FEL-3 para FEL-4] Processo de Cotação de Serviços</a:t>
            </a:r>
            <a:endParaRPr lang="pt-BR" b="0" dirty="0"/>
          </a:p>
        </p:txBody>
      </p:sp>
      <p:pic>
        <p:nvPicPr>
          <p:cNvPr id="14" name="Imagem 13" descr="Forma&#10;&#10;O conteúdo gerado por IA pode estar incorreto.">
            <a:extLst>
              <a:ext uri="{FF2B5EF4-FFF2-40B4-BE49-F238E27FC236}">
                <a16:creationId xmlns:a16="http://schemas.microsoft.com/office/drawing/2014/main" id="{5D646A54-505C-C51F-F501-78D909B4755B}"/>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10123923" y="2180788"/>
            <a:ext cx="121379" cy="105309"/>
          </a:xfrm>
          <a:prstGeom prst="rect">
            <a:avLst/>
          </a:prstGeom>
        </p:spPr>
      </p:pic>
      <p:sp>
        <p:nvSpPr>
          <p:cNvPr id="25" name="Losango 24">
            <a:extLst>
              <a:ext uri="{FF2B5EF4-FFF2-40B4-BE49-F238E27FC236}">
                <a16:creationId xmlns:a16="http://schemas.microsoft.com/office/drawing/2014/main" id="{3E742509-11FB-2441-9ED7-CAB1202D47F8}"/>
              </a:ext>
            </a:extLst>
          </p:cNvPr>
          <p:cNvSpPr/>
          <p:nvPr/>
        </p:nvSpPr>
        <p:spPr>
          <a:xfrm>
            <a:off x="7464152" y="1828531"/>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9" name="CaixaDeTexto 28">
            <a:extLst>
              <a:ext uri="{FF2B5EF4-FFF2-40B4-BE49-F238E27FC236}">
                <a16:creationId xmlns:a16="http://schemas.microsoft.com/office/drawing/2014/main" id="{3BD9D3D3-E133-6176-FD7D-FE1AEFA4CFF8}"/>
              </a:ext>
            </a:extLst>
          </p:cNvPr>
          <p:cNvSpPr txBox="1"/>
          <p:nvPr/>
        </p:nvSpPr>
        <p:spPr>
          <a:xfrm>
            <a:off x="7115444" y="1436117"/>
            <a:ext cx="1112911" cy="369332"/>
          </a:xfrm>
          <a:prstGeom prst="rect">
            <a:avLst/>
          </a:prstGeom>
          <a:noFill/>
        </p:spPr>
        <p:txBody>
          <a:bodyPr wrap="square" rtlCol="0">
            <a:spAutoFit/>
          </a:bodyPr>
          <a:lstStyle/>
          <a:p>
            <a:pPr algn="ctr"/>
            <a:r>
              <a:rPr lang="pt-BR" sz="900" i="1" dirty="0"/>
              <a:t>Mudança no escopo?</a:t>
            </a:r>
          </a:p>
        </p:txBody>
      </p:sp>
      <p:cxnSp>
        <p:nvCxnSpPr>
          <p:cNvPr id="31" name="Conector de Seta Reta 30">
            <a:extLst>
              <a:ext uri="{FF2B5EF4-FFF2-40B4-BE49-F238E27FC236}">
                <a16:creationId xmlns:a16="http://schemas.microsoft.com/office/drawing/2014/main" id="{9D15E155-B7F2-C633-F224-F6622C9BAD29}"/>
              </a:ext>
            </a:extLst>
          </p:cNvPr>
          <p:cNvCxnSpPr>
            <a:cxnSpLocks/>
            <a:stCxn id="25" idx="3"/>
            <a:endCxn id="43" idx="1"/>
          </p:cNvCxnSpPr>
          <p:nvPr/>
        </p:nvCxnSpPr>
        <p:spPr>
          <a:xfrm flipV="1">
            <a:off x="7879649" y="2036279"/>
            <a:ext cx="65814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Fluxograma: Processo Predefinido 33">
            <a:extLst>
              <a:ext uri="{FF2B5EF4-FFF2-40B4-BE49-F238E27FC236}">
                <a16:creationId xmlns:a16="http://schemas.microsoft.com/office/drawing/2014/main" id="{E1830F87-B01A-E1B9-D755-872F947F74C4}"/>
              </a:ext>
            </a:extLst>
          </p:cNvPr>
          <p:cNvSpPr/>
          <p:nvPr/>
        </p:nvSpPr>
        <p:spPr>
          <a:xfrm>
            <a:off x="7082697" y="2667717"/>
            <a:ext cx="1178404" cy="496749"/>
          </a:xfrm>
          <a:prstGeom prst="flowChartPredefinedProcess">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Abertura de GMUD</a:t>
            </a:r>
          </a:p>
        </p:txBody>
      </p:sp>
      <p:cxnSp>
        <p:nvCxnSpPr>
          <p:cNvPr id="35" name="Conector de Seta Reta 34">
            <a:extLst>
              <a:ext uri="{FF2B5EF4-FFF2-40B4-BE49-F238E27FC236}">
                <a16:creationId xmlns:a16="http://schemas.microsoft.com/office/drawing/2014/main" id="{1FE09CC4-602C-9635-CA15-EC68CF4B642B}"/>
              </a:ext>
            </a:extLst>
          </p:cNvPr>
          <p:cNvCxnSpPr>
            <a:cxnSpLocks/>
            <a:stCxn id="25" idx="2"/>
            <a:endCxn id="34" idx="0"/>
          </p:cNvCxnSpPr>
          <p:nvPr/>
        </p:nvCxnSpPr>
        <p:spPr>
          <a:xfrm flipH="1">
            <a:off x="7671899" y="2244028"/>
            <a:ext cx="2" cy="4236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ector: Angulado 37">
            <a:extLst>
              <a:ext uri="{FF2B5EF4-FFF2-40B4-BE49-F238E27FC236}">
                <a16:creationId xmlns:a16="http://schemas.microsoft.com/office/drawing/2014/main" id="{0318F934-EDF0-E644-E22B-71FE40C3156A}"/>
              </a:ext>
            </a:extLst>
          </p:cNvPr>
          <p:cNvCxnSpPr>
            <a:cxnSpLocks/>
            <a:stCxn id="34" idx="3"/>
            <a:endCxn id="43" idx="2"/>
          </p:cNvCxnSpPr>
          <p:nvPr/>
        </p:nvCxnSpPr>
        <p:spPr>
          <a:xfrm flipV="1">
            <a:off x="8261101" y="2298797"/>
            <a:ext cx="1144029" cy="61729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Retângulo: Cantos Arredondados 46">
            <a:extLst>
              <a:ext uri="{FF2B5EF4-FFF2-40B4-BE49-F238E27FC236}">
                <a16:creationId xmlns:a16="http://schemas.microsoft.com/office/drawing/2014/main" id="{7BF31221-01CB-799D-A736-055FB3450BBC}"/>
              </a:ext>
            </a:extLst>
          </p:cNvPr>
          <p:cNvSpPr/>
          <p:nvPr/>
        </p:nvSpPr>
        <p:spPr>
          <a:xfrm>
            <a:off x="2439314" y="3744392"/>
            <a:ext cx="164046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Balancear contingências das demandas</a:t>
            </a:r>
          </a:p>
        </p:txBody>
      </p:sp>
      <p:sp>
        <p:nvSpPr>
          <p:cNvPr id="54" name="Retângulo: Cantos Arredondados 53">
            <a:extLst>
              <a:ext uri="{FF2B5EF4-FFF2-40B4-BE49-F238E27FC236}">
                <a16:creationId xmlns:a16="http://schemas.microsoft.com/office/drawing/2014/main" id="{8DAFDC93-D296-AFB7-5960-256E36A7EC4B}"/>
              </a:ext>
            </a:extLst>
          </p:cNvPr>
          <p:cNvSpPr/>
          <p:nvPr/>
        </p:nvSpPr>
        <p:spPr>
          <a:xfrm>
            <a:off x="4519701" y="3744392"/>
            <a:ext cx="1640462"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Salvar FEL-4</a:t>
            </a:r>
          </a:p>
        </p:txBody>
      </p:sp>
      <p:sp>
        <p:nvSpPr>
          <p:cNvPr id="56" name="Elipse 55">
            <a:extLst>
              <a:ext uri="{FF2B5EF4-FFF2-40B4-BE49-F238E27FC236}">
                <a16:creationId xmlns:a16="http://schemas.microsoft.com/office/drawing/2014/main" id="{D217485E-D162-B965-D3AC-985F21BDDA2F}"/>
              </a:ext>
            </a:extLst>
          </p:cNvPr>
          <p:cNvSpPr/>
          <p:nvPr/>
        </p:nvSpPr>
        <p:spPr>
          <a:xfrm>
            <a:off x="7073335" y="3826890"/>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CaixaDeTexto 56">
            <a:extLst>
              <a:ext uri="{FF2B5EF4-FFF2-40B4-BE49-F238E27FC236}">
                <a16:creationId xmlns:a16="http://schemas.microsoft.com/office/drawing/2014/main" id="{73C18805-3745-0BA0-3C41-22480E2FF34F}"/>
              </a:ext>
            </a:extLst>
          </p:cNvPr>
          <p:cNvSpPr txBox="1"/>
          <p:nvPr/>
        </p:nvSpPr>
        <p:spPr>
          <a:xfrm>
            <a:off x="6224131" y="4259188"/>
            <a:ext cx="2058448" cy="553998"/>
          </a:xfrm>
          <a:prstGeom prst="rect">
            <a:avLst/>
          </a:prstGeom>
          <a:noFill/>
        </p:spPr>
        <p:txBody>
          <a:bodyPr wrap="square" rtlCol="0">
            <a:spAutoFit/>
          </a:bodyPr>
          <a:lstStyle/>
          <a:p>
            <a:pPr algn="ctr"/>
            <a:r>
              <a:rPr lang="pt-BR" sz="1000" b="1" dirty="0"/>
              <a:t>FEL-4 salvo</a:t>
            </a:r>
          </a:p>
          <a:p>
            <a:pPr algn="ctr"/>
            <a:r>
              <a:rPr lang="pt-BR" sz="1000" dirty="0"/>
              <a:t>Maior parte dos serviços cotados e fornecedores de serviços definidos</a:t>
            </a:r>
          </a:p>
        </p:txBody>
      </p:sp>
      <p:sp>
        <p:nvSpPr>
          <p:cNvPr id="58" name="CaixaDeTexto 57">
            <a:extLst>
              <a:ext uri="{FF2B5EF4-FFF2-40B4-BE49-F238E27FC236}">
                <a16:creationId xmlns:a16="http://schemas.microsoft.com/office/drawing/2014/main" id="{0899E4B8-BEC8-D24A-92FA-0B7640AE3A56}"/>
              </a:ext>
            </a:extLst>
          </p:cNvPr>
          <p:cNvSpPr txBox="1"/>
          <p:nvPr/>
        </p:nvSpPr>
        <p:spPr>
          <a:xfrm>
            <a:off x="4566472" y="4366310"/>
            <a:ext cx="1694752" cy="507831"/>
          </a:xfrm>
          <a:prstGeom prst="rect">
            <a:avLst/>
          </a:prstGeom>
          <a:noFill/>
        </p:spPr>
        <p:txBody>
          <a:bodyPr wrap="square" rtlCol="0">
            <a:spAutoFit/>
          </a:bodyPr>
          <a:lstStyle/>
          <a:p>
            <a:pPr algn="ctr"/>
            <a:r>
              <a:rPr lang="pt-BR" sz="900" b="1" i="1" dirty="0"/>
              <a:t>Registro do FEL-4 </a:t>
            </a:r>
            <a:r>
              <a:rPr lang="pt-BR" sz="900" i="1" dirty="0"/>
              <a:t>a partir de ação manual no HUB até 3 dias após o início da Parada</a:t>
            </a:r>
          </a:p>
        </p:txBody>
      </p:sp>
      <p:grpSp>
        <p:nvGrpSpPr>
          <p:cNvPr id="64" name="Agrupar 63">
            <a:extLst>
              <a:ext uri="{FF2B5EF4-FFF2-40B4-BE49-F238E27FC236}">
                <a16:creationId xmlns:a16="http://schemas.microsoft.com/office/drawing/2014/main" id="{BA69B6B7-A724-98AD-AE69-3CF5BDD474F0}"/>
              </a:ext>
            </a:extLst>
          </p:cNvPr>
          <p:cNvGrpSpPr/>
          <p:nvPr/>
        </p:nvGrpSpPr>
        <p:grpSpPr>
          <a:xfrm>
            <a:off x="4498369" y="4374473"/>
            <a:ext cx="144016" cy="194954"/>
            <a:chOff x="4223792" y="5610310"/>
            <a:chExt cx="144016" cy="194954"/>
          </a:xfrm>
        </p:grpSpPr>
        <p:sp>
          <p:nvSpPr>
            <p:cNvPr id="66" name="Onda 65">
              <a:extLst>
                <a:ext uri="{FF2B5EF4-FFF2-40B4-BE49-F238E27FC236}">
                  <a16:creationId xmlns:a16="http://schemas.microsoft.com/office/drawing/2014/main" id="{56AB7852-0A48-F5CB-AC63-D701B9F03B4F}"/>
                </a:ext>
              </a:extLst>
            </p:cNvPr>
            <p:cNvSpPr/>
            <p:nvPr/>
          </p:nvSpPr>
          <p:spPr>
            <a:xfrm>
              <a:off x="4223792" y="5610310"/>
              <a:ext cx="144016" cy="122946"/>
            </a:xfrm>
            <a:prstGeom prst="wav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7" name="Conector reto 66">
              <a:extLst>
                <a:ext uri="{FF2B5EF4-FFF2-40B4-BE49-F238E27FC236}">
                  <a16:creationId xmlns:a16="http://schemas.microsoft.com/office/drawing/2014/main" id="{11C85A33-A58C-5DBA-82FA-527A85346B86}"/>
                </a:ext>
              </a:extLst>
            </p:cNvPr>
            <p:cNvCxnSpPr>
              <a:cxnSpLocks/>
            </p:cNvCxnSpPr>
            <p:nvPr/>
          </p:nvCxnSpPr>
          <p:spPr>
            <a:xfrm>
              <a:off x="4223792" y="5610310"/>
              <a:ext cx="0" cy="194954"/>
            </a:xfrm>
            <a:prstGeom prst="line">
              <a:avLst/>
            </a:prstGeom>
          </p:spPr>
          <p:style>
            <a:lnRef idx="1">
              <a:schemeClr val="accent1"/>
            </a:lnRef>
            <a:fillRef idx="0">
              <a:schemeClr val="accent1"/>
            </a:fillRef>
            <a:effectRef idx="0">
              <a:schemeClr val="accent1"/>
            </a:effectRef>
            <a:fontRef idx="minor">
              <a:schemeClr val="tx1"/>
            </a:fontRef>
          </p:style>
        </p:cxnSp>
      </p:grpSp>
      <p:sp>
        <p:nvSpPr>
          <p:cNvPr id="68" name="CaixaDeTexto 67">
            <a:extLst>
              <a:ext uri="{FF2B5EF4-FFF2-40B4-BE49-F238E27FC236}">
                <a16:creationId xmlns:a16="http://schemas.microsoft.com/office/drawing/2014/main" id="{0A715DC5-7424-5A40-FC03-4FE4750F7E76}"/>
              </a:ext>
            </a:extLst>
          </p:cNvPr>
          <p:cNvSpPr txBox="1"/>
          <p:nvPr/>
        </p:nvSpPr>
        <p:spPr>
          <a:xfrm>
            <a:off x="6168883" y="4941168"/>
            <a:ext cx="3160281" cy="887422"/>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dirty="0"/>
              <a:t>Pré-requisitos mínimos para formalizar o FEL-4:</a:t>
            </a:r>
            <a:endParaRPr lang="pt-BR" b="0" dirty="0"/>
          </a:p>
          <a:p>
            <a:pPr marL="171450" indent="-171450" algn="l">
              <a:spcBef>
                <a:spcPts val="400"/>
              </a:spcBef>
              <a:buFont typeface="Wingdings" panose="05000000000000000000" pitchFamily="2" charset="2"/>
              <a:buChar char="§"/>
            </a:pPr>
            <a:r>
              <a:rPr lang="pt-BR" b="0" dirty="0"/>
              <a:t>Todos os serviços e materiais mapeados devem ter pelo menos a estimativa de custos</a:t>
            </a:r>
          </a:p>
          <a:p>
            <a:pPr marL="171450" indent="-171450" algn="l">
              <a:spcBef>
                <a:spcPts val="400"/>
              </a:spcBef>
              <a:buFont typeface="Wingdings" panose="05000000000000000000" pitchFamily="2" charset="2"/>
              <a:buChar char="§"/>
            </a:pPr>
            <a:r>
              <a:rPr lang="pt-BR" b="0" dirty="0"/>
              <a:t>Todas as </a:t>
            </a:r>
            <a:r>
              <a:rPr lang="pt-BR" b="0" dirty="0" err="1"/>
              <a:t>GMUD’s</a:t>
            </a:r>
            <a:r>
              <a:rPr lang="pt-BR" b="0" dirty="0"/>
              <a:t> abertas até o momento devem estar aprovadas e ter valores definidos</a:t>
            </a:r>
          </a:p>
        </p:txBody>
      </p:sp>
      <p:cxnSp>
        <p:nvCxnSpPr>
          <p:cNvPr id="70" name="Conector de Seta Reta 69">
            <a:extLst>
              <a:ext uri="{FF2B5EF4-FFF2-40B4-BE49-F238E27FC236}">
                <a16:creationId xmlns:a16="http://schemas.microsoft.com/office/drawing/2014/main" id="{C8215BB4-3233-0298-2B9B-D2F536259EF3}"/>
              </a:ext>
            </a:extLst>
          </p:cNvPr>
          <p:cNvCxnSpPr>
            <a:cxnSpLocks/>
            <a:stCxn id="47" idx="3"/>
            <a:endCxn id="54" idx="1"/>
          </p:cNvCxnSpPr>
          <p:nvPr/>
        </p:nvCxnSpPr>
        <p:spPr>
          <a:xfrm>
            <a:off x="4079776" y="4006910"/>
            <a:ext cx="43992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ector de Seta Reta 72">
            <a:extLst>
              <a:ext uri="{FF2B5EF4-FFF2-40B4-BE49-F238E27FC236}">
                <a16:creationId xmlns:a16="http://schemas.microsoft.com/office/drawing/2014/main" id="{9D8F320F-7A5B-F894-698D-E8B5E4215C57}"/>
              </a:ext>
            </a:extLst>
          </p:cNvPr>
          <p:cNvCxnSpPr>
            <a:cxnSpLocks/>
            <a:stCxn id="54" idx="3"/>
            <a:endCxn id="56" idx="2"/>
          </p:cNvCxnSpPr>
          <p:nvPr/>
        </p:nvCxnSpPr>
        <p:spPr>
          <a:xfrm>
            <a:off x="6160163" y="4006910"/>
            <a:ext cx="91317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Conector: Curvo 75">
            <a:extLst>
              <a:ext uri="{FF2B5EF4-FFF2-40B4-BE49-F238E27FC236}">
                <a16:creationId xmlns:a16="http://schemas.microsoft.com/office/drawing/2014/main" id="{00CE3F63-DB2B-C5C2-3BB8-D23D7DFD4D2D}"/>
              </a:ext>
            </a:extLst>
          </p:cNvPr>
          <p:cNvCxnSpPr>
            <a:cxnSpLocks/>
            <a:stCxn id="58" idx="2"/>
            <a:endCxn id="68" idx="1"/>
          </p:cNvCxnSpPr>
          <p:nvPr/>
        </p:nvCxnSpPr>
        <p:spPr>
          <a:xfrm rot="16200000" flipH="1">
            <a:off x="5535996" y="4751992"/>
            <a:ext cx="510738" cy="75503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BAF880A3-BA89-40C3-939F-FFCA32A67107}"/>
              </a:ext>
            </a:extLst>
          </p:cNvPr>
          <p:cNvSpPr txBox="1"/>
          <p:nvPr/>
        </p:nvSpPr>
        <p:spPr>
          <a:xfrm>
            <a:off x="2503399" y="4300320"/>
            <a:ext cx="1512292" cy="400110"/>
          </a:xfrm>
          <a:prstGeom prst="rect">
            <a:avLst/>
          </a:prstGeom>
          <a:noFill/>
        </p:spPr>
        <p:txBody>
          <a:bodyPr wrap="square" rtlCol="0">
            <a:spAutoFit/>
          </a:bodyPr>
          <a:lstStyle/>
          <a:p>
            <a:pPr algn="ctr"/>
            <a:r>
              <a:rPr lang="pt-BR" sz="1000" i="1" dirty="0"/>
              <a:t>ver Cap 07 para detalhes do processo de Outlook</a:t>
            </a:r>
          </a:p>
        </p:txBody>
      </p:sp>
      <p:sp>
        <p:nvSpPr>
          <p:cNvPr id="4" name="CaixaDeTexto 56">
            <a:extLst>
              <a:ext uri="{FF2B5EF4-FFF2-40B4-BE49-F238E27FC236}">
                <a16:creationId xmlns:a16="http://schemas.microsoft.com/office/drawing/2014/main" id="{C92F8E3D-82E3-C899-6FCE-C9023C7FA039}"/>
              </a:ext>
            </a:extLst>
          </p:cNvPr>
          <p:cNvSpPr txBox="1"/>
          <p:nvPr/>
        </p:nvSpPr>
        <p:spPr>
          <a:xfrm>
            <a:off x="6918906" y="3197620"/>
            <a:ext cx="1546542" cy="400110"/>
          </a:xfrm>
          <a:prstGeom prst="rect">
            <a:avLst/>
          </a:prstGeom>
          <a:noFill/>
        </p:spPr>
        <p:txBody>
          <a:bodyPr wrap="square" rtlCol="0">
            <a:spAutoFit/>
          </a:bodyPr>
          <a:lstStyle/>
          <a:p>
            <a:pPr algn="ctr"/>
            <a:r>
              <a:rPr lang="pt-BR" sz="1000" i="1" dirty="0"/>
              <a:t>ver Cap 11 para detalhes do processo de GMUD</a:t>
            </a:r>
          </a:p>
        </p:txBody>
      </p:sp>
    </p:spTree>
    <p:extLst>
      <p:ext uri="{BB962C8B-B14F-4D97-AF65-F5344CB8AC3E}">
        <p14:creationId xmlns:p14="http://schemas.microsoft.com/office/powerpoint/2010/main" val="879564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CD3DA-3C24-1159-40F0-4A63257EA738}"/>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5001EA47-2AC0-95E5-1D3C-73B239D08B9D}"/>
              </a:ext>
            </a:extLst>
          </p:cNvPr>
          <p:cNvSpPr>
            <a:spLocks noGrp="1"/>
          </p:cNvSpPr>
          <p:nvPr>
            <p:ph type="title"/>
          </p:nvPr>
        </p:nvSpPr>
        <p:spPr>
          <a:xfrm>
            <a:off x="1089653" y="303578"/>
            <a:ext cx="10485852" cy="645195"/>
          </a:xfrm>
        </p:spPr>
        <p:txBody>
          <a:bodyPr/>
          <a:lstStyle/>
          <a:p>
            <a:pPr marL="0" marR="0" lvl="0" indent="0" algn="l" defTabSz="1055035" rtl="0" eaLnBrk="1" fontAlgn="auto" latinLnBrk="0" hangingPunct="1">
              <a:lnSpc>
                <a:spcPct val="100000"/>
              </a:lnSpc>
              <a:spcBef>
                <a:spcPts val="0"/>
              </a:spcBef>
              <a:spcAft>
                <a:spcPts val="0"/>
              </a:spcAft>
              <a:buClrTx/>
              <a:buSzTx/>
              <a:buFontTx/>
              <a:buNone/>
              <a:tabLst/>
              <a:defRPr/>
            </a:pPr>
            <a:r>
              <a:rPr lang="pt-BR" dirty="0"/>
              <a:t>Detalhes importantes</a:t>
            </a:r>
            <a:endParaRPr lang="pt-BR" b="0" dirty="0"/>
          </a:p>
        </p:txBody>
      </p:sp>
      <p:sp>
        <p:nvSpPr>
          <p:cNvPr id="3" name="CaixaDeTexto 2">
            <a:extLst>
              <a:ext uri="{FF2B5EF4-FFF2-40B4-BE49-F238E27FC236}">
                <a16:creationId xmlns:a16="http://schemas.microsoft.com/office/drawing/2014/main" id="{E6C3DB0F-83C2-279E-AF22-BE5DC568E762}"/>
              </a:ext>
            </a:extLst>
          </p:cNvPr>
          <p:cNvSpPr txBox="1"/>
          <p:nvPr/>
        </p:nvSpPr>
        <p:spPr>
          <a:xfrm>
            <a:off x="695400" y="908720"/>
            <a:ext cx="10801200" cy="5755422"/>
          </a:xfrm>
          <a:prstGeom prst="rect">
            <a:avLst/>
          </a:prstGeom>
          <a:noFill/>
        </p:spPr>
        <p:txBody>
          <a:bodyPr wrap="square" rtlCol="0">
            <a:spAutoFit/>
          </a:bodyPr>
          <a:lstStyle/>
          <a:p>
            <a:pPr marL="285750" indent="-285750">
              <a:buFont typeface="Wingdings" panose="05000000000000000000" pitchFamily="2" charset="2"/>
              <a:buChar char="§"/>
            </a:pPr>
            <a:r>
              <a:rPr lang="pt-BR" sz="1600" dirty="0"/>
              <a:t>No momento da criação no SGO, a Parada é registrada no HUB através de integração (ativa) no status Backlog. O FEL 0 inicia a partir do registro das primeiras estimativas financeiras nas demandas.</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O HUB será capaz de fazer um </a:t>
            </a:r>
            <a:r>
              <a:rPr lang="pt-BR" sz="1600" dirty="0" err="1"/>
              <a:t>check</a:t>
            </a:r>
            <a:r>
              <a:rPr lang="pt-BR" sz="1600" dirty="0"/>
              <a:t> entre os tipos de obras abertas </a:t>
            </a:r>
            <a:r>
              <a:rPr lang="pt-BR" sz="1600" dirty="0" err="1"/>
              <a:t>vs</a:t>
            </a:r>
            <a:r>
              <a:rPr lang="pt-BR" sz="1600" dirty="0"/>
              <a:t> Orçamentos/Coletores abertos no Protheus...</a:t>
            </a:r>
          </a:p>
          <a:p>
            <a:pPr marL="813267" lvl="1" indent="-285750">
              <a:buFont typeface="Wingdings" panose="05000000000000000000" pitchFamily="2" charset="2"/>
              <a:buChar char="§"/>
            </a:pPr>
            <a:r>
              <a:rPr lang="pt-BR" sz="1600" dirty="0"/>
              <a:t>Caso exista alguma divergência, será exibido um alerta no HUB, o botão do FEL-1 não será habilitado e não será possível formalizar essa etapa até que o problema seja normalizado</a:t>
            </a:r>
          </a:p>
          <a:p>
            <a:pPr marL="813267" lvl="1" indent="-285750">
              <a:buFont typeface="Wingdings" panose="05000000000000000000" pitchFamily="2" charset="2"/>
              <a:buChar char="§"/>
            </a:pPr>
            <a:r>
              <a:rPr lang="pt-BR" sz="1600" dirty="0"/>
              <a:t>As obras da parada deverão ser alteradas no SGO e o HUB deverá ser atualizado (</a:t>
            </a:r>
            <a:r>
              <a:rPr lang="pt-BR" sz="1600" dirty="0" err="1"/>
              <a:t>refresh</a:t>
            </a:r>
            <a:r>
              <a:rPr lang="pt-BR" sz="1600" dirty="0"/>
              <a:t>) para que os coletores estejam corretamente refletidos entre HUB e Protheus</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Os </a:t>
            </a:r>
            <a:r>
              <a:rPr lang="pt-BR" sz="1600" dirty="0" err="1"/>
              <a:t>FEL’s</a:t>
            </a:r>
            <a:r>
              <a:rPr lang="pt-BR" sz="1600" dirty="0"/>
              <a:t> 1, 2, 3 e 4 serão formalizados de maneira manual a partir do cumprimento de marcos e pré-requisitos, como demonstrado no slide 06</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O HUB será capaz de salvar versões intermediárias dos </a:t>
            </a:r>
            <a:r>
              <a:rPr lang="pt-BR" sz="1600" dirty="0" err="1"/>
              <a:t>FEL’s</a:t>
            </a:r>
            <a:r>
              <a:rPr lang="pt-BR" sz="1600" dirty="0"/>
              <a:t> em cada data de comitê (1 comitê por mês – limite </a:t>
            </a:r>
            <a:r>
              <a:rPr lang="pt-BR" sz="1600" dirty="0" err="1"/>
              <a:t>máx</a:t>
            </a:r>
            <a:r>
              <a:rPr lang="pt-BR" sz="1600" dirty="0"/>
              <a:t> 25 versões dentro do mesmo FEL, podendo sobrescrever o que não foi pro comitê)</a:t>
            </a:r>
          </a:p>
          <a:p>
            <a:pPr marL="813267" lvl="1" indent="-285750">
              <a:buFont typeface="Wingdings" panose="05000000000000000000" pitchFamily="2" charset="2"/>
              <a:buChar char="§"/>
            </a:pPr>
            <a:r>
              <a:rPr lang="pt-BR" sz="1600" dirty="0" err="1"/>
              <a:t>FEL’s</a:t>
            </a:r>
            <a:r>
              <a:rPr lang="pt-BR" sz="1600" dirty="0"/>
              <a:t> vamos ter sempre a visão por portfolio (várias paradas), por linha de serviço e por linha de material, considerando todas as da esteira financeira (estimado, cotado, empenhado e realizado)</a:t>
            </a:r>
          </a:p>
          <a:p>
            <a:pPr lvl="1"/>
            <a:endParaRPr lang="pt-BR" sz="1600" dirty="0"/>
          </a:p>
          <a:p>
            <a:pPr marL="285750" indent="-285750">
              <a:buFont typeface="Wingdings" panose="05000000000000000000" pitchFamily="2" charset="2"/>
              <a:buChar char="§"/>
            </a:pPr>
            <a:r>
              <a:rPr lang="pt-BR" sz="1600" dirty="0"/>
              <a:t>A Importação da lista de serviços TM Master será feita de maneira manual uma única vez. Outros serviços vindos de qualquer origem deverão ser cadastrados de maneira manual</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Uma vez a lista de serviços consolidada enviada pela área de Manutenção deverá ter uma estimativa de custos para cada serviço. A importação da lista só será possível se todas as linhas de serviço tenham estimativas de custo. Caso contrário não será possível realizar a importação.</a:t>
            </a:r>
          </a:p>
        </p:txBody>
      </p:sp>
      <p:sp>
        <p:nvSpPr>
          <p:cNvPr id="2" name="TextBox 3">
            <a:extLst>
              <a:ext uri="{FF2B5EF4-FFF2-40B4-BE49-F238E27FC236}">
                <a16:creationId xmlns:a16="http://schemas.microsoft.com/office/drawing/2014/main" id="{E9078A26-6A4E-1060-D262-012E8DCB4172}"/>
              </a:ext>
            </a:extLst>
          </p:cNvPr>
          <p:cNvSpPr txBox="1"/>
          <p:nvPr/>
        </p:nvSpPr>
        <p:spPr>
          <a:xfrm rot="823263">
            <a:off x="10045538" y="-1185842"/>
            <a:ext cx="1856985" cy="738664"/>
          </a:xfrm>
          <a:prstGeom prst="rect">
            <a:avLst/>
          </a:prstGeom>
          <a:solidFill>
            <a:srgbClr val="FFFF00"/>
          </a:solidFill>
        </p:spPr>
        <p:txBody>
          <a:bodyPr wrap="square" rtlCol="0">
            <a:spAutoFit/>
          </a:bodyPr>
          <a:lstStyle/>
          <a:p>
            <a:r>
              <a:rPr lang="pt-BR" sz="1400" b="1" dirty="0"/>
              <a:t>@Carlos, avaliar sobreposição com documentação técnica</a:t>
            </a:r>
            <a:endParaRPr lang="en-BR" sz="1400" b="1" dirty="0"/>
          </a:p>
        </p:txBody>
      </p:sp>
    </p:spTree>
    <p:extLst>
      <p:ext uri="{BB962C8B-B14F-4D97-AF65-F5344CB8AC3E}">
        <p14:creationId xmlns:p14="http://schemas.microsoft.com/office/powerpoint/2010/main" val="42575823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B5D37-9A9B-7C02-0A60-EDBAA6A1B756}"/>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F95964AC-24F0-1593-556B-6EEA43C8216B}"/>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1B41DA8C-B35B-2E52-6A12-E21821CBEC79}"/>
              </a:ext>
            </a:extLst>
          </p:cNvPr>
          <p:cNvSpPr/>
          <p:nvPr/>
        </p:nvSpPr>
        <p:spPr>
          <a:xfrm>
            <a:off x="2711624" y="2132856"/>
            <a:ext cx="6552728" cy="4608512"/>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CDADD1F9-F54F-7E10-6FDF-80E1BDFAEC1E}"/>
              </a:ext>
            </a:extLst>
          </p:cNvPr>
          <p:cNvSpPr/>
          <p:nvPr/>
        </p:nvSpPr>
        <p:spPr>
          <a:xfrm>
            <a:off x="2711624" y="369828"/>
            <a:ext cx="6552728" cy="133098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080517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E830D-673A-83C7-2BC3-88B49909A791}"/>
            </a:ext>
          </a:extLst>
        </p:cNvPr>
        <p:cNvGrpSpPr/>
        <p:nvPr/>
      </p:nvGrpSpPr>
      <p:grpSpPr>
        <a:xfrm>
          <a:off x="0" y="0"/>
          <a:ext cx="0" cy="0"/>
          <a:chOff x="0" y="0"/>
          <a:chExt cx="0" cy="0"/>
        </a:xfrm>
      </p:grpSpPr>
      <p:sp>
        <p:nvSpPr>
          <p:cNvPr id="121" name="CaixaDeTexto 21">
            <a:extLst>
              <a:ext uri="{FF2B5EF4-FFF2-40B4-BE49-F238E27FC236}">
                <a16:creationId xmlns:a16="http://schemas.microsoft.com/office/drawing/2014/main" id="{9AE591CC-C125-D113-B652-0FCE8A9388A7}"/>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 Cadastro da Parada</a:t>
            </a:r>
          </a:p>
        </p:txBody>
      </p:sp>
      <p:sp>
        <p:nvSpPr>
          <p:cNvPr id="154" name="CaixaDeTexto 21">
            <a:extLst>
              <a:ext uri="{FF2B5EF4-FFF2-40B4-BE49-F238E27FC236}">
                <a16:creationId xmlns:a16="http://schemas.microsoft.com/office/drawing/2014/main" id="{206BF26F-A5B2-B604-1FCA-AC2F09EC5B68}"/>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5F02296E-7529-457E-1ADA-E240B0BCDF24}"/>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04928269-7CF2-9A90-741D-09F14E7DEF8F}"/>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8970C28D-90B8-A606-55EB-0BAF71EE5D0D}"/>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58" name="CaixaDeTexto 21">
            <a:extLst>
              <a:ext uri="{FF2B5EF4-FFF2-40B4-BE49-F238E27FC236}">
                <a16:creationId xmlns:a16="http://schemas.microsoft.com/office/drawing/2014/main" id="{891C6648-25A6-768E-88FC-BAD08537DB0C}"/>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6B871B00-D2CF-D97D-4074-571B5437DF02}"/>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DC774116-2F7A-9D17-6583-914416ACD519}"/>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07F03DDC-E6DA-3D47-B021-B0DA45B37700}"/>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6E1A8741-5585-C313-097C-10310D5AB06C}"/>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89642A75-4DB2-477F-2D13-DC796F7350AE}"/>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07F6A08F-CD28-C103-7D5F-BE7A64B0E148}"/>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05843E20-4BD6-94D0-C774-870F2B96624E}"/>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1383E122-DC95-D526-0AEE-A685F9ED3F18}"/>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26256906-6BF4-EA51-A4C8-61D68D540D5D}"/>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31" name="CaixaDeTexto 21">
            <a:extLst>
              <a:ext uri="{FF2B5EF4-FFF2-40B4-BE49-F238E27FC236}">
                <a16:creationId xmlns:a16="http://schemas.microsoft.com/office/drawing/2014/main" id="{F2D7B154-52C3-332A-DB04-CFA529F2545B}"/>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 </a:t>
            </a:r>
            <a:r>
              <a:rPr lang="pt-BR" dirty="0" err="1"/>
              <a:t>GMUDs</a:t>
            </a:r>
            <a:endParaRPr lang="pt-BR" dirty="0"/>
          </a:p>
        </p:txBody>
      </p:sp>
      <p:sp>
        <p:nvSpPr>
          <p:cNvPr id="62" name="Title 61">
            <a:extLst>
              <a:ext uri="{FF2B5EF4-FFF2-40B4-BE49-F238E27FC236}">
                <a16:creationId xmlns:a16="http://schemas.microsoft.com/office/drawing/2014/main" id="{3765C6C0-92BD-CFD1-EB90-76F7FBCBED79}"/>
              </a:ext>
            </a:extLst>
          </p:cNvPr>
          <p:cNvSpPr>
            <a:spLocks noGrp="1"/>
          </p:cNvSpPr>
          <p:nvPr>
            <p:ph type="title"/>
          </p:nvPr>
        </p:nvSpPr>
        <p:spPr/>
        <p:txBody>
          <a:bodyPr/>
          <a:lstStyle/>
          <a:p>
            <a:r>
              <a:rPr lang="pt-BR" dirty="0"/>
              <a:t>HUB de Obras</a:t>
            </a:r>
            <a:br>
              <a:rPr lang="pt-BR" dirty="0"/>
            </a:br>
            <a:r>
              <a:rPr lang="pt-BR" sz="1800" b="0" dirty="0"/>
              <a:t>tema 04: Planejamento por Escopo/Demanda</a:t>
            </a:r>
            <a:endParaRPr lang="en-BR" sz="1800" b="0" dirty="0"/>
          </a:p>
        </p:txBody>
      </p:sp>
      <p:sp>
        <p:nvSpPr>
          <p:cNvPr id="116" name="CaixaDeTexto 557">
            <a:extLst>
              <a:ext uri="{FF2B5EF4-FFF2-40B4-BE49-F238E27FC236}">
                <a16:creationId xmlns:a16="http://schemas.microsoft.com/office/drawing/2014/main" id="{C614DE2D-83CF-DCA8-F203-F31FE31E79ED}"/>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C3E16474-8534-4E35-6A2A-6C3D37361964}"/>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E3400F42-6CDC-0794-E9F4-9FE57F03D53A}"/>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C71F89E7-3B8F-AD63-7F1A-BB3CEC256F65}"/>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8F55D72F-11C6-338A-6173-530FD57DC30E}"/>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BC03F7A7-8D1C-8D55-7A7F-9FCDB533B100}"/>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5" name="CaixaDeTexto 21">
            <a:extLst>
              <a:ext uri="{FF2B5EF4-FFF2-40B4-BE49-F238E27FC236}">
                <a16:creationId xmlns:a16="http://schemas.microsoft.com/office/drawing/2014/main" id="{5AF3780E-3DF0-AC93-8218-EF6CEE4B9B3A}"/>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801F679C-B7FF-DB25-47CB-34DCC3781F7F}"/>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1A3B2C3B-85CA-00A2-6006-AA1672C7A435}"/>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D895E0AF-E21C-F177-8E91-557B1314402A}"/>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009D8C89-0029-19E0-96A4-70728FC7E586}"/>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13EFF231-C352-04E9-AE23-0B9EAE434145}"/>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DE2DEF2E-BE80-045F-317D-66AF63C53818}"/>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4D9882B2-B306-FD6F-0492-128C7A7ABB9A}"/>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7B1153BE-D25C-A6B0-0EA2-0CAB1BE05AD8}"/>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0A5ABCFC-FBF6-BD82-A8EB-EB24D88E79AF}"/>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F8EC4A63-AB8C-7DA9-D05D-A4F736FF41FA}"/>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42" name="CaixaDeTexto 21">
            <a:extLst>
              <a:ext uri="{FF2B5EF4-FFF2-40B4-BE49-F238E27FC236}">
                <a16:creationId xmlns:a16="http://schemas.microsoft.com/office/drawing/2014/main" id="{979CEF4C-85F2-88A4-5832-6AD0A4F96BA1}"/>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58E4BF0C-10A1-128E-485C-BD50D7E48591}"/>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1FAF071B-C588-C5F3-3F68-43EDE167BC90}"/>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6EAA5722-905E-C38A-797F-86DBE140FD6D}"/>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DCD2A59B-F149-4186-1191-69CA283CA9B9}"/>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FC77B2CC-B94B-FE40-C876-DC56E253DAD7}"/>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E8D44E1D-D304-4754-69C6-106359EC3C12}"/>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1815D8B4-756B-388A-07A6-61A775C685D6}"/>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150" name="CaixaDeTexto 21">
            <a:extLst>
              <a:ext uri="{FF2B5EF4-FFF2-40B4-BE49-F238E27FC236}">
                <a16:creationId xmlns:a16="http://schemas.microsoft.com/office/drawing/2014/main" id="{2F406E4F-512A-DA73-7184-85443CA48140}"/>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D55A2124-EFED-EBD7-1ED4-95BCB00E6DFF}"/>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5A7ACF98-5CE2-1DC6-D220-490D9D49BD31}"/>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807C98BC-FF4B-0FF5-BE60-C1555B5D70A6}"/>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67" name="CaixaDeTexto 21">
            <a:extLst>
              <a:ext uri="{FF2B5EF4-FFF2-40B4-BE49-F238E27FC236}">
                <a16:creationId xmlns:a16="http://schemas.microsoft.com/office/drawing/2014/main" id="{82800A55-5A10-74C4-071A-0D33EF974A9E}"/>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E637B11C-D896-351A-74AB-7E41A593BFA4}"/>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82339541-BE9B-19FA-86C0-90527067980B}"/>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D2CB04E9-867F-4E93-0364-152983A8A41A}"/>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7DEE92FE-3F2E-F845-BC18-C8878EEE9A33}"/>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4180F4EC-4EF9-DA97-1D9A-DF443A2441B8}"/>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EDDF4DEE-C228-CD6C-46EF-4FB4A4BE2ACF}"/>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2C161434-2247-2A35-F125-9D8AB64052AD}"/>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61DA4B0D-0120-38AF-AD0C-74D196510B94}"/>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C3DF9DEA-CE3E-FF7D-8D85-950810E94AA3}"/>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CA85A188-6CEB-5921-B205-0E1FC766EC38}"/>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3E76A7DD-DB7D-A4CC-9AB2-2BCA98677D9C}"/>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79" name="Agrupar 178">
            <a:extLst>
              <a:ext uri="{FF2B5EF4-FFF2-40B4-BE49-F238E27FC236}">
                <a16:creationId xmlns:a16="http://schemas.microsoft.com/office/drawing/2014/main" id="{85563F1F-970B-B062-5C02-5E24B86D43AA}"/>
              </a:ext>
            </a:extLst>
          </p:cNvPr>
          <p:cNvGrpSpPr/>
          <p:nvPr/>
        </p:nvGrpSpPr>
        <p:grpSpPr>
          <a:xfrm>
            <a:off x="1495995" y="3371835"/>
            <a:ext cx="10696006" cy="3312367"/>
            <a:chOff x="0" y="3356992"/>
            <a:chExt cx="12192001" cy="3312367"/>
          </a:xfrm>
        </p:grpSpPr>
        <p:sp>
          <p:nvSpPr>
            <p:cNvPr id="180" name="Retângulo 179">
              <a:extLst>
                <a:ext uri="{FF2B5EF4-FFF2-40B4-BE49-F238E27FC236}">
                  <a16:creationId xmlns:a16="http://schemas.microsoft.com/office/drawing/2014/main" id="{2C0A1E7B-EF1F-C1A4-116B-5E54C2C962EE}"/>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1" name="Retângulo 180">
              <a:extLst>
                <a:ext uri="{FF2B5EF4-FFF2-40B4-BE49-F238E27FC236}">
                  <a16:creationId xmlns:a16="http://schemas.microsoft.com/office/drawing/2014/main" id="{ADCCEEE7-B5C3-2917-ED66-764250B95DA8}"/>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83" name="Retângulo 182">
            <a:extLst>
              <a:ext uri="{FF2B5EF4-FFF2-40B4-BE49-F238E27FC236}">
                <a16:creationId xmlns:a16="http://schemas.microsoft.com/office/drawing/2014/main" id="{8CE52F43-C125-9541-E911-DD83216D4713}"/>
              </a:ext>
            </a:extLst>
          </p:cNvPr>
          <p:cNvSpPr/>
          <p:nvPr/>
        </p:nvSpPr>
        <p:spPr>
          <a:xfrm>
            <a:off x="1463997" y="1015993"/>
            <a:ext cx="10728003" cy="230784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7" name="CaixaDeTexto 21">
            <a:extLst>
              <a:ext uri="{FF2B5EF4-FFF2-40B4-BE49-F238E27FC236}">
                <a16:creationId xmlns:a16="http://schemas.microsoft.com/office/drawing/2014/main" id="{E753C866-AF9B-6A2B-D31D-EF7B4F7B1BFE}"/>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0826B477-4A75-E0C5-1CCC-083017EAA683}"/>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40E37098-60A6-EB1A-BD8B-C66B2EC405E2}"/>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0D596884-9E6E-DA95-75E9-2A456098CD49}"/>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EDF58C03-8605-F52B-5F93-A09F63D60C57}"/>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24" name="CaixaDeTexto 21">
            <a:extLst>
              <a:ext uri="{FF2B5EF4-FFF2-40B4-BE49-F238E27FC236}">
                <a16:creationId xmlns:a16="http://schemas.microsoft.com/office/drawing/2014/main" id="{ABCE919A-0034-0F53-44BF-6D777FBBB9C6}"/>
              </a:ext>
            </a:extLst>
          </p:cNvPr>
          <p:cNvSpPr txBox="1"/>
          <p:nvPr/>
        </p:nvSpPr>
        <p:spPr>
          <a:xfrm>
            <a:off x="2671180" y="4066007"/>
            <a:ext cx="2890366"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4. </a:t>
            </a:r>
            <a:r>
              <a:rPr lang="pt-BR" dirty="0" err="1"/>
              <a:t>Plan</a:t>
            </a:r>
            <a:r>
              <a:rPr lang="pt-BR" dirty="0"/>
              <a:t> Escopo / Demanda</a:t>
            </a:r>
          </a:p>
        </p:txBody>
      </p:sp>
    </p:spTree>
    <p:extLst>
      <p:ext uri="{BB962C8B-B14F-4D97-AF65-F5344CB8AC3E}">
        <p14:creationId xmlns:p14="http://schemas.microsoft.com/office/powerpoint/2010/main" val="36806147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C294A-F8CF-A3B1-F382-5789BF6E4799}"/>
            </a:ext>
          </a:extLst>
        </p:cNvPr>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D04A4CB6-7E05-7877-6320-C6D8C1011A99}"/>
              </a:ext>
            </a:extLst>
          </p:cNvPr>
          <p:cNvSpPr>
            <a:spLocks noGrp="1"/>
          </p:cNvSpPr>
          <p:nvPr>
            <p:ph idx="1"/>
          </p:nvPr>
        </p:nvSpPr>
        <p:spPr>
          <a:xfrm>
            <a:off x="696000" y="1052736"/>
            <a:ext cx="10800000" cy="1800200"/>
          </a:xfrm>
        </p:spPr>
        <p:txBody>
          <a:bodyPr>
            <a:noAutofit/>
          </a:bodyPr>
          <a:lstStyle/>
          <a:p>
            <a:pPr marL="0" indent="0">
              <a:buNone/>
            </a:pPr>
            <a:r>
              <a:rPr lang="pt-BR" sz="1400" dirty="0"/>
              <a:t>O planejamento financeiro da Parada começa, em média, de 2 a 3 anos antes da execução. </a:t>
            </a:r>
          </a:p>
          <a:p>
            <a:pPr marL="0" indent="0">
              <a:buNone/>
            </a:pPr>
            <a:endParaRPr lang="pt-BR" sz="1400" dirty="0"/>
          </a:p>
          <a:p>
            <a:pPr marL="0" indent="0">
              <a:buNone/>
            </a:pPr>
            <a:r>
              <a:rPr lang="pt-BR" sz="1400" dirty="0"/>
              <a:t>A partir do calendário de Paradas (SGO), o time de Planejamento da Área Técnica (AT) define:</a:t>
            </a:r>
          </a:p>
          <a:p>
            <a:pPr marL="266700" indent="-163513" defTabSz="1055035">
              <a:spcBef>
                <a:spcPts val="600"/>
              </a:spcBef>
              <a:buFont typeface="Wingdings" panose="05000000000000000000" pitchFamily="2" charset="2"/>
              <a:buChar char="§"/>
              <a:defRPr/>
            </a:pPr>
            <a:r>
              <a:rPr lang="pt-BR" sz="1400" dirty="0">
                <a:solidFill>
                  <a:prstClr val="black"/>
                </a:solidFill>
                <a:latin typeface="Calibri"/>
              </a:rPr>
              <a:t>O que será realizado – o </a:t>
            </a:r>
            <a:r>
              <a:rPr lang="pt-BR" sz="1400" b="1" dirty="0">
                <a:solidFill>
                  <a:prstClr val="black"/>
                </a:solidFill>
                <a:latin typeface="Calibri"/>
              </a:rPr>
              <a:t>Escopo</a:t>
            </a:r>
            <a:r>
              <a:rPr lang="pt-BR" sz="1400" dirty="0">
                <a:solidFill>
                  <a:prstClr val="black"/>
                </a:solidFill>
                <a:latin typeface="Calibri"/>
              </a:rPr>
              <a:t> da(</a:t>
            </a:r>
            <a:r>
              <a:rPr lang="pt-BR" sz="1400" dirty="0" err="1">
                <a:solidFill>
                  <a:prstClr val="black"/>
                </a:solidFill>
                <a:latin typeface="Calibri"/>
              </a:rPr>
              <a:t>s</a:t>
            </a:r>
            <a:r>
              <a:rPr lang="pt-BR" sz="1400" dirty="0">
                <a:solidFill>
                  <a:prstClr val="black"/>
                </a:solidFill>
                <a:latin typeface="Calibri"/>
              </a:rPr>
              <a:t>) Obra(</a:t>
            </a:r>
            <a:r>
              <a:rPr lang="pt-BR" sz="1400" dirty="0" err="1">
                <a:solidFill>
                  <a:prstClr val="black"/>
                </a:solidFill>
                <a:latin typeface="Calibri"/>
              </a:rPr>
              <a:t>s</a:t>
            </a:r>
            <a:r>
              <a:rPr lang="pt-BR" sz="1400" dirty="0">
                <a:solidFill>
                  <a:prstClr val="black"/>
                </a:solidFill>
                <a:latin typeface="Calibri"/>
              </a:rPr>
              <a:t>)</a:t>
            </a:r>
          </a:p>
          <a:p>
            <a:pPr marL="266700" indent="-163513" defTabSz="1055035">
              <a:spcBef>
                <a:spcPts val="600"/>
              </a:spcBef>
              <a:buFont typeface="Wingdings" panose="05000000000000000000" pitchFamily="2" charset="2"/>
              <a:buChar char="§"/>
              <a:defRPr/>
            </a:pPr>
            <a:r>
              <a:rPr lang="pt-BR" sz="1400" dirty="0">
                <a:solidFill>
                  <a:prstClr val="black"/>
                </a:solidFill>
                <a:latin typeface="Calibri"/>
              </a:rPr>
              <a:t>Como será realizado – tanto em termos de </a:t>
            </a:r>
            <a:r>
              <a:rPr lang="pt-BR" sz="1400" b="1" dirty="0">
                <a:solidFill>
                  <a:prstClr val="black"/>
                </a:solidFill>
                <a:latin typeface="Calibri"/>
              </a:rPr>
              <a:t>Serviços</a:t>
            </a:r>
            <a:r>
              <a:rPr lang="pt-BR" sz="1400" dirty="0">
                <a:solidFill>
                  <a:prstClr val="black"/>
                </a:solidFill>
                <a:latin typeface="Calibri"/>
              </a:rPr>
              <a:t> de </a:t>
            </a:r>
            <a:r>
              <a:rPr lang="pt-BR" sz="1400" b="1" dirty="0">
                <a:solidFill>
                  <a:prstClr val="black"/>
                </a:solidFill>
                <a:latin typeface="Calibri"/>
              </a:rPr>
              <a:t>Estaleiros</a:t>
            </a:r>
            <a:r>
              <a:rPr lang="pt-BR" sz="1400" dirty="0">
                <a:solidFill>
                  <a:prstClr val="black"/>
                </a:solidFill>
                <a:latin typeface="Calibri"/>
              </a:rPr>
              <a:t> e </a:t>
            </a:r>
            <a:r>
              <a:rPr lang="pt-BR" sz="1400" b="1" dirty="0">
                <a:solidFill>
                  <a:prstClr val="black"/>
                </a:solidFill>
                <a:latin typeface="Calibri"/>
              </a:rPr>
              <a:t>Oficinas</a:t>
            </a:r>
            <a:r>
              <a:rPr lang="pt-BR" sz="1400" dirty="0">
                <a:solidFill>
                  <a:prstClr val="black"/>
                </a:solidFill>
                <a:latin typeface="Calibri"/>
              </a:rPr>
              <a:t> quanto </a:t>
            </a:r>
            <a:r>
              <a:rPr lang="pt-BR" sz="1400" b="1" dirty="0">
                <a:solidFill>
                  <a:prstClr val="black"/>
                </a:solidFill>
                <a:latin typeface="Calibri"/>
              </a:rPr>
              <a:t>Materiais</a:t>
            </a:r>
            <a:r>
              <a:rPr lang="pt-BR" sz="1400" dirty="0">
                <a:solidFill>
                  <a:prstClr val="black"/>
                </a:solidFill>
                <a:latin typeface="Calibri"/>
              </a:rPr>
              <a:t> </a:t>
            </a:r>
            <a:r>
              <a:rPr lang="pt-BR" sz="1400" b="1" dirty="0">
                <a:solidFill>
                  <a:prstClr val="black"/>
                </a:solidFill>
                <a:latin typeface="Calibri"/>
              </a:rPr>
              <a:t>Nacionais</a:t>
            </a:r>
            <a:r>
              <a:rPr lang="pt-BR" sz="1400" dirty="0">
                <a:solidFill>
                  <a:prstClr val="black"/>
                </a:solidFill>
                <a:latin typeface="Calibri"/>
              </a:rPr>
              <a:t> e </a:t>
            </a:r>
            <a:r>
              <a:rPr lang="pt-BR" sz="1400" b="1" dirty="0">
                <a:solidFill>
                  <a:prstClr val="black"/>
                </a:solidFill>
                <a:latin typeface="Calibri"/>
              </a:rPr>
              <a:t>Importados</a:t>
            </a:r>
          </a:p>
          <a:p>
            <a:pPr marL="266700" indent="-163513" defTabSz="1055035">
              <a:spcBef>
                <a:spcPts val="600"/>
              </a:spcBef>
              <a:buFont typeface="Wingdings" panose="05000000000000000000" pitchFamily="2" charset="2"/>
              <a:buChar char="§"/>
              <a:defRPr/>
            </a:pPr>
            <a:r>
              <a:rPr lang="pt-BR" sz="1400" dirty="0">
                <a:solidFill>
                  <a:prstClr val="black"/>
                </a:solidFill>
                <a:latin typeface="Calibri"/>
              </a:rPr>
              <a:t>O custo estimado – em </a:t>
            </a:r>
            <a:r>
              <a:rPr lang="pt-BR" sz="1400" b="1" dirty="0">
                <a:solidFill>
                  <a:prstClr val="black"/>
                </a:solidFill>
                <a:latin typeface="Calibri"/>
              </a:rPr>
              <a:t>USD </a:t>
            </a:r>
            <a:r>
              <a:rPr lang="pt-BR" sz="1400" dirty="0">
                <a:solidFill>
                  <a:prstClr val="black"/>
                </a:solidFill>
                <a:latin typeface="Calibri"/>
              </a:rPr>
              <a:t>(dólar dos Estados Unidos) e </a:t>
            </a:r>
            <a:r>
              <a:rPr lang="pt-BR" sz="1400" b="1" dirty="0" err="1">
                <a:solidFill>
                  <a:prstClr val="black"/>
                </a:solidFill>
                <a:latin typeface="Calibri"/>
              </a:rPr>
              <a:t>mensalizado</a:t>
            </a:r>
            <a:r>
              <a:rPr lang="pt-BR" sz="1400" dirty="0">
                <a:solidFill>
                  <a:prstClr val="black"/>
                </a:solidFill>
                <a:latin typeface="Calibri"/>
              </a:rPr>
              <a:t> conforme premissas / históricos</a:t>
            </a:r>
          </a:p>
        </p:txBody>
      </p:sp>
      <p:sp>
        <p:nvSpPr>
          <p:cNvPr id="5" name="Título 4">
            <a:extLst>
              <a:ext uri="{FF2B5EF4-FFF2-40B4-BE49-F238E27FC236}">
                <a16:creationId xmlns:a16="http://schemas.microsoft.com/office/drawing/2014/main" id="{D19EF5A0-46AA-F165-DE24-5179CA8705DB}"/>
              </a:ext>
            </a:extLst>
          </p:cNvPr>
          <p:cNvSpPr>
            <a:spLocks noGrp="1"/>
          </p:cNvSpPr>
          <p:nvPr>
            <p:ph type="title"/>
          </p:nvPr>
        </p:nvSpPr>
        <p:spPr/>
        <p:txBody>
          <a:bodyPr/>
          <a:lstStyle/>
          <a:p>
            <a:r>
              <a:rPr lang="pt-BR" dirty="0"/>
              <a:t>Planejamento por Escopo/Demanda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Estrutura de Dados – Modelo Atual</a:t>
            </a:r>
            <a:endParaRPr lang="pt-BR" dirty="0"/>
          </a:p>
        </p:txBody>
      </p:sp>
      <p:sp>
        <p:nvSpPr>
          <p:cNvPr id="423" name="CaixaDeTexto 422">
            <a:extLst>
              <a:ext uri="{FF2B5EF4-FFF2-40B4-BE49-F238E27FC236}">
                <a16:creationId xmlns:a16="http://schemas.microsoft.com/office/drawing/2014/main" id="{CB0B883F-EE03-EAC6-A365-9B1606BD457F}"/>
              </a:ext>
            </a:extLst>
          </p:cNvPr>
          <p:cNvSpPr txBox="1"/>
          <p:nvPr/>
        </p:nvSpPr>
        <p:spPr>
          <a:xfrm>
            <a:off x="1983691" y="2996952"/>
            <a:ext cx="1281469" cy="432000"/>
          </a:xfrm>
          <a:prstGeom prst="rect">
            <a:avLst/>
          </a:prstGeom>
          <a:noFill/>
        </p:spPr>
        <p:txBody>
          <a:bodyPr wrap="square" lIns="90000" rtlCol="0">
            <a:noAutofit/>
          </a:bodyPr>
          <a:lstStyle/>
          <a:p>
            <a:pPr algn="ctr"/>
            <a:r>
              <a:rPr lang="pt-BR" sz="1100" b="1" dirty="0"/>
              <a:t>Calendário de Paradas SGO</a:t>
            </a:r>
          </a:p>
        </p:txBody>
      </p:sp>
      <p:grpSp>
        <p:nvGrpSpPr>
          <p:cNvPr id="12" name="Group 11">
            <a:extLst>
              <a:ext uri="{FF2B5EF4-FFF2-40B4-BE49-F238E27FC236}">
                <a16:creationId xmlns:a16="http://schemas.microsoft.com/office/drawing/2014/main" id="{C4A16FFD-3BEC-53AD-F74C-D795DCCDDD26}"/>
              </a:ext>
            </a:extLst>
          </p:cNvPr>
          <p:cNvGrpSpPr/>
          <p:nvPr/>
        </p:nvGrpSpPr>
        <p:grpSpPr>
          <a:xfrm>
            <a:off x="1013338" y="3610327"/>
            <a:ext cx="3222175" cy="2067072"/>
            <a:chOff x="846440" y="3717032"/>
            <a:chExt cx="3222175" cy="2067072"/>
          </a:xfrm>
        </p:grpSpPr>
        <p:pic>
          <p:nvPicPr>
            <p:cNvPr id="6" name="Imagem 25">
              <a:extLst>
                <a:ext uri="{FF2B5EF4-FFF2-40B4-BE49-F238E27FC236}">
                  <a16:creationId xmlns:a16="http://schemas.microsoft.com/office/drawing/2014/main" id="{696F754A-F7FF-111C-AC4C-D99788B2FD79}"/>
                </a:ext>
              </a:extLst>
            </p:cNvPr>
            <p:cNvPicPr>
              <a:picLocks noChangeAspect="1"/>
            </p:cNvPicPr>
            <p:nvPr/>
          </p:nvPicPr>
          <p:blipFill>
            <a:blip r:embed="rId2"/>
            <a:stretch>
              <a:fillRect/>
            </a:stretch>
          </p:blipFill>
          <p:spPr>
            <a:xfrm>
              <a:off x="846440" y="3717032"/>
              <a:ext cx="2880000" cy="1591509"/>
            </a:xfrm>
            <a:prstGeom prst="rect">
              <a:avLst/>
            </a:prstGeom>
            <a:effectLst>
              <a:outerShdw blurRad="50800" dist="38100" dir="8100000" algn="tr" rotWithShape="0">
                <a:prstClr val="black">
                  <a:alpha val="40000"/>
                </a:prstClr>
              </a:outerShdw>
            </a:effectLst>
          </p:spPr>
        </p:pic>
        <p:pic>
          <p:nvPicPr>
            <p:cNvPr id="4" name="Imagem 5">
              <a:extLst>
                <a:ext uri="{FF2B5EF4-FFF2-40B4-BE49-F238E27FC236}">
                  <a16:creationId xmlns:a16="http://schemas.microsoft.com/office/drawing/2014/main" id="{DF523947-59B7-E59E-1972-7ED10AF5CCB8}"/>
                </a:ext>
              </a:extLst>
            </p:cNvPr>
            <p:cNvPicPr>
              <a:picLocks noChangeAspect="1"/>
            </p:cNvPicPr>
            <p:nvPr/>
          </p:nvPicPr>
          <p:blipFill>
            <a:blip r:embed="rId3"/>
            <a:srcRect l="11019" t="7421" r="11019"/>
            <a:stretch>
              <a:fillRect/>
            </a:stretch>
          </p:blipFill>
          <p:spPr>
            <a:xfrm>
              <a:off x="1188615" y="4150116"/>
              <a:ext cx="2880000" cy="1633988"/>
            </a:xfrm>
            <a:prstGeom prst="rect">
              <a:avLst/>
            </a:prstGeom>
            <a:effectLst>
              <a:outerShdw blurRad="50800" dist="38100" dir="8100000" algn="tr" rotWithShape="0">
                <a:prstClr val="black">
                  <a:alpha val="40000"/>
                </a:prstClr>
              </a:outerShdw>
            </a:effectLst>
          </p:spPr>
        </p:pic>
      </p:grpSp>
      <p:pic>
        <p:nvPicPr>
          <p:cNvPr id="10" name="Picture 9" descr="A close-up of a document&#10;&#10;AI-generated content may be incorrect.">
            <a:extLst>
              <a:ext uri="{FF2B5EF4-FFF2-40B4-BE49-F238E27FC236}">
                <a16:creationId xmlns:a16="http://schemas.microsoft.com/office/drawing/2014/main" id="{52E91DFF-860A-14A0-CD71-E4EDDE99829B}"/>
              </a:ext>
            </a:extLst>
          </p:cNvPr>
          <p:cNvPicPr>
            <a:picLocks noChangeAspect="1"/>
          </p:cNvPicPr>
          <p:nvPr/>
        </p:nvPicPr>
        <p:blipFill>
          <a:blip r:embed="rId4" cstate="print">
            <a:extLst>
              <a:ext uri="{28A0092B-C50C-407E-A947-70E740481C1C}">
                <a14:useLocalDpi xmlns:a14="http://schemas.microsoft.com/office/drawing/2010/main" val="0"/>
              </a:ext>
            </a:extLst>
          </a:blip>
          <a:srcRect l="28735" t="5321" r="28854" b="1774"/>
          <a:stretch>
            <a:fillRect/>
          </a:stretch>
        </p:blipFill>
        <p:spPr>
          <a:xfrm>
            <a:off x="5268667" y="3610327"/>
            <a:ext cx="1436894" cy="2037725"/>
          </a:xfrm>
          <a:prstGeom prst="rect">
            <a:avLst/>
          </a:prstGeom>
          <a:effectLst>
            <a:outerShdw blurRad="50800" dist="38100" dir="8100000" algn="tr" rotWithShape="0">
              <a:prstClr val="black">
                <a:alpha val="40000"/>
              </a:prstClr>
            </a:outerShdw>
          </a:effectLst>
        </p:spPr>
      </p:pic>
      <p:sp>
        <p:nvSpPr>
          <p:cNvPr id="11" name="CaixaDeTexto 422">
            <a:extLst>
              <a:ext uri="{FF2B5EF4-FFF2-40B4-BE49-F238E27FC236}">
                <a16:creationId xmlns:a16="http://schemas.microsoft.com/office/drawing/2014/main" id="{FDB16D6D-3591-447A-E6C2-3B6E49B39F67}"/>
              </a:ext>
            </a:extLst>
          </p:cNvPr>
          <p:cNvSpPr txBox="1"/>
          <p:nvPr/>
        </p:nvSpPr>
        <p:spPr>
          <a:xfrm>
            <a:off x="5505721" y="2996952"/>
            <a:ext cx="962786" cy="432000"/>
          </a:xfrm>
          <a:prstGeom prst="rect">
            <a:avLst/>
          </a:prstGeom>
          <a:noFill/>
        </p:spPr>
        <p:txBody>
          <a:bodyPr wrap="square" lIns="90000" rtlCol="0">
            <a:noAutofit/>
          </a:bodyPr>
          <a:lstStyle/>
          <a:p>
            <a:pPr algn="ctr"/>
            <a:r>
              <a:rPr lang="pt-BR" sz="1100" b="1" dirty="0"/>
              <a:t>Escopo das Obras</a:t>
            </a:r>
          </a:p>
        </p:txBody>
      </p:sp>
      <p:grpSp>
        <p:nvGrpSpPr>
          <p:cNvPr id="26" name="Group 25">
            <a:extLst>
              <a:ext uri="{FF2B5EF4-FFF2-40B4-BE49-F238E27FC236}">
                <a16:creationId xmlns:a16="http://schemas.microsoft.com/office/drawing/2014/main" id="{AE59B99D-F979-D3A4-788B-2768129AA02C}"/>
              </a:ext>
            </a:extLst>
          </p:cNvPr>
          <p:cNvGrpSpPr/>
          <p:nvPr/>
        </p:nvGrpSpPr>
        <p:grpSpPr>
          <a:xfrm>
            <a:off x="1277901" y="5976164"/>
            <a:ext cx="307102" cy="294670"/>
            <a:chOff x="1031971" y="6010072"/>
            <a:chExt cx="307102" cy="294670"/>
          </a:xfrm>
        </p:grpSpPr>
        <p:sp>
          <p:nvSpPr>
            <p:cNvPr id="14" name="Elipse 6">
              <a:extLst>
                <a:ext uri="{FF2B5EF4-FFF2-40B4-BE49-F238E27FC236}">
                  <a16:creationId xmlns:a16="http://schemas.microsoft.com/office/drawing/2014/main" id="{6BFC4A48-D82E-5E88-3895-55648909817D}"/>
                </a:ext>
              </a:extLst>
            </p:cNvPr>
            <p:cNvSpPr/>
            <p:nvPr/>
          </p:nvSpPr>
          <p:spPr>
            <a:xfrm>
              <a:off x="1031971" y="6010072"/>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5" name="Imagem 7" descr="Uma imagem contendo Ícone&#10;&#10;O conteúdo gerado por IA pode estar incorreto.">
              <a:extLst>
                <a:ext uri="{FF2B5EF4-FFF2-40B4-BE49-F238E27FC236}">
                  <a16:creationId xmlns:a16="http://schemas.microsoft.com/office/drawing/2014/main" id="{8E061D03-76AA-7C04-4BD0-23AEAE59D41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4787" y="6026672"/>
              <a:ext cx="261470" cy="261470"/>
            </a:xfrm>
            <a:prstGeom prst="rect">
              <a:avLst/>
            </a:prstGeom>
          </p:spPr>
        </p:pic>
      </p:grpSp>
      <p:sp>
        <p:nvSpPr>
          <p:cNvPr id="16" name="CaixaDeTexto 12">
            <a:extLst>
              <a:ext uri="{FF2B5EF4-FFF2-40B4-BE49-F238E27FC236}">
                <a16:creationId xmlns:a16="http://schemas.microsoft.com/office/drawing/2014/main" id="{91EAF087-7279-DC2B-2D2F-3EE539385733}"/>
              </a:ext>
            </a:extLst>
          </p:cNvPr>
          <p:cNvSpPr txBox="1"/>
          <p:nvPr/>
        </p:nvSpPr>
        <p:spPr>
          <a:xfrm>
            <a:off x="1656609" y="5907499"/>
            <a:ext cx="2268000" cy="432000"/>
          </a:xfrm>
          <a:prstGeom prst="rect">
            <a:avLst/>
          </a:prstGeom>
          <a:solidFill>
            <a:schemeClr val="bg1"/>
          </a:solidFill>
        </p:spPr>
        <p:txBody>
          <a:bodyPr wrap="square" lIns="90000">
            <a:noAutofit/>
          </a:bodyPr>
          <a:lstStyle/>
          <a:p>
            <a:r>
              <a:rPr lang="pt-BR" sz="1100" dirty="0"/>
              <a:t>SGO</a:t>
            </a:r>
            <a:br>
              <a:rPr lang="pt-BR" sz="1100" dirty="0"/>
            </a:br>
            <a:r>
              <a:rPr lang="pt-BR" sz="1100" dirty="0"/>
              <a:t>Sistema de Gestão de Obras</a:t>
            </a:r>
          </a:p>
        </p:txBody>
      </p:sp>
      <p:sp>
        <p:nvSpPr>
          <p:cNvPr id="21" name="CaixaDeTexto 12">
            <a:extLst>
              <a:ext uri="{FF2B5EF4-FFF2-40B4-BE49-F238E27FC236}">
                <a16:creationId xmlns:a16="http://schemas.microsoft.com/office/drawing/2014/main" id="{20030CA6-8C27-0668-3B9E-7792AFD166F1}"/>
              </a:ext>
            </a:extLst>
          </p:cNvPr>
          <p:cNvSpPr txBox="1"/>
          <p:nvPr/>
        </p:nvSpPr>
        <p:spPr>
          <a:xfrm>
            <a:off x="5208470" y="5907498"/>
            <a:ext cx="2268000" cy="646923"/>
          </a:xfrm>
          <a:prstGeom prst="rect">
            <a:avLst/>
          </a:prstGeom>
          <a:solidFill>
            <a:schemeClr val="bg1"/>
          </a:solidFill>
        </p:spPr>
        <p:txBody>
          <a:bodyPr wrap="square" lIns="90000">
            <a:noAutofit/>
          </a:bodyPr>
          <a:lstStyle/>
          <a:p>
            <a:r>
              <a:rPr lang="pt-BR" sz="1100" dirty="0"/>
              <a:t>Exemplo de Escopo (ID-83) em</a:t>
            </a:r>
            <a:br>
              <a:rPr lang="pt-BR" sz="1100" dirty="0"/>
            </a:br>
            <a:r>
              <a:rPr lang="pt-BR" sz="1100" dirty="0"/>
              <a:t>Ficha de Abertura de Parada Técnica</a:t>
            </a:r>
          </a:p>
        </p:txBody>
      </p:sp>
      <p:grpSp>
        <p:nvGrpSpPr>
          <p:cNvPr id="27" name="Group 26">
            <a:extLst>
              <a:ext uri="{FF2B5EF4-FFF2-40B4-BE49-F238E27FC236}">
                <a16:creationId xmlns:a16="http://schemas.microsoft.com/office/drawing/2014/main" id="{10CC0C42-FC9B-6B52-986B-B493ED299D30}"/>
              </a:ext>
            </a:extLst>
          </p:cNvPr>
          <p:cNvGrpSpPr/>
          <p:nvPr/>
        </p:nvGrpSpPr>
        <p:grpSpPr>
          <a:xfrm>
            <a:off x="4829762" y="5976164"/>
            <a:ext cx="307102" cy="294670"/>
            <a:chOff x="4583832" y="6010072"/>
            <a:chExt cx="307102" cy="294670"/>
          </a:xfrm>
        </p:grpSpPr>
        <p:sp>
          <p:nvSpPr>
            <p:cNvPr id="19" name="Elipse 6">
              <a:extLst>
                <a:ext uri="{FF2B5EF4-FFF2-40B4-BE49-F238E27FC236}">
                  <a16:creationId xmlns:a16="http://schemas.microsoft.com/office/drawing/2014/main" id="{35CE692B-8696-4911-84EF-A5FF3D976164}"/>
                </a:ext>
              </a:extLst>
            </p:cNvPr>
            <p:cNvSpPr/>
            <p:nvPr/>
          </p:nvSpPr>
          <p:spPr>
            <a:xfrm>
              <a:off x="4583832" y="6010072"/>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5" name="Picture 24" descr="A blue and white logo&#10;&#10;AI-generated content may be incorrect.">
              <a:extLst>
                <a:ext uri="{FF2B5EF4-FFF2-40B4-BE49-F238E27FC236}">
                  <a16:creationId xmlns:a16="http://schemas.microsoft.com/office/drawing/2014/main" id="{D6E123B7-6FAD-E733-6449-A16A5A1CBBB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641376" y="6068151"/>
              <a:ext cx="192014" cy="178513"/>
            </a:xfrm>
            <a:prstGeom prst="rect">
              <a:avLst/>
            </a:prstGeom>
          </p:spPr>
        </p:pic>
      </p:grpSp>
      <p:grpSp>
        <p:nvGrpSpPr>
          <p:cNvPr id="31" name="Group 30">
            <a:extLst>
              <a:ext uri="{FF2B5EF4-FFF2-40B4-BE49-F238E27FC236}">
                <a16:creationId xmlns:a16="http://schemas.microsoft.com/office/drawing/2014/main" id="{997A115B-E617-F54A-6EA0-20C873708B54}"/>
              </a:ext>
            </a:extLst>
          </p:cNvPr>
          <p:cNvGrpSpPr/>
          <p:nvPr/>
        </p:nvGrpSpPr>
        <p:grpSpPr>
          <a:xfrm>
            <a:off x="8397404" y="5976164"/>
            <a:ext cx="307102" cy="294670"/>
            <a:chOff x="8151474" y="4721101"/>
            <a:chExt cx="307102" cy="294670"/>
          </a:xfrm>
        </p:grpSpPr>
        <p:sp>
          <p:nvSpPr>
            <p:cNvPr id="29" name="Elipse 6">
              <a:extLst>
                <a:ext uri="{FF2B5EF4-FFF2-40B4-BE49-F238E27FC236}">
                  <a16:creationId xmlns:a16="http://schemas.microsoft.com/office/drawing/2014/main" id="{AD05CD95-9CF3-7941-C939-7DE66A856EC2}"/>
                </a:ext>
              </a:extLst>
            </p:cNvPr>
            <p:cNvSpPr/>
            <p:nvPr/>
          </p:nvSpPr>
          <p:spPr>
            <a:xfrm>
              <a:off x="8151474" y="4721101"/>
              <a:ext cx="307102" cy="294670"/>
            </a:xfrm>
            <a:prstGeom prst="ellipse">
              <a:avLst/>
            </a:prstGeom>
            <a:solidFill>
              <a:schemeClr val="bg1"/>
            </a:solidFill>
            <a:ln w="952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2" name="Imagem 79" descr="Interface gráfica do usuário, Ícone&#10;&#10;O conteúdo gerado por IA pode estar incorreto.">
              <a:extLst>
                <a:ext uri="{FF2B5EF4-FFF2-40B4-BE49-F238E27FC236}">
                  <a16:creationId xmlns:a16="http://schemas.microsoft.com/office/drawing/2014/main" id="{0849E48F-BFB6-DC11-1EDC-CEE5149FD535}"/>
                </a:ext>
              </a:extLst>
            </p:cNvPr>
            <p:cNvPicPr>
              <a:picLocks noChangeAspect="1"/>
            </p:cNvPicPr>
            <p:nvPr/>
          </p:nvPicPr>
          <p:blipFill>
            <a:blip r:embed="rId7" cstate="print">
              <a:extLst>
                <a:ext uri="{28A0092B-C50C-407E-A947-70E740481C1C}">
                  <a14:useLocalDpi xmlns:a14="http://schemas.microsoft.com/office/drawing/2010/main" val="0"/>
                </a:ext>
              </a:extLst>
            </a:blip>
            <a:srcRect l="22495" t="13116" r="21924" b="12416"/>
            <a:stretch/>
          </p:blipFill>
          <p:spPr>
            <a:xfrm>
              <a:off x="8195436" y="4770549"/>
              <a:ext cx="219179" cy="195775"/>
            </a:xfrm>
            <a:prstGeom prst="rect">
              <a:avLst/>
            </a:prstGeom>
          </p:spPr>
        </p:pic>
      </p:grpSp>
      <p:pic>
        <p:nvPicPr>
          <p:cNvPr id="33" name="Picture 32" descr="A screenshot of a computer&#10;&#10;AI-generated content may be incorrect.">
            <a:extLst>
              <a:ext uri="{FF2B5EF4-FFF2-40B4-BE49-F238E27FC236}">
                <a16:creationId xmlns:a16="http://schemas.microsoft.com/office/drawing/2014/main" id="{14421DC6-9ABC-AF60-0202-2B8693551BC4}"/>
              </a:ext>
            </a:extLst>
          </p:cNvPr>
          <p:cNvPicPr>
            <a:picLocks noChangeAspect="1"/>
          </p:cNvPicPr>
          <p:nvPr/>
        </p:nvPicPr>
        <p:blipFill>
          <a:blip r:embed="rId8" cstate="print">
            <a:extLst>
              <a:ext uri="{28A0092B-C50C-407E-A947-70E740481C1C}">
                <a14:useLocalDpi xmlns:a14="http://schemas.microsoft.com/office/drawing/2010/main" val="0"/>
              </a:ext>
            </a:extLst>
          </a:blip>
          <a:srcRect t="3991"/>
          <a:stretch>
            <a:fillRect/>
          </a:stretch>
        </p:blipFill>
        <p:spPr>
          <a:xfrm>
            <a:off x="8178568" y="3720053"/>
            <a:ext cx="3102008" cy="1927998"/>
          </a:xfrm>
          <a:prstGeom prst="rect">
            <a:avLst/>
          </a:prstGeom>
          <a:effectLst>
            <a:outerShdw blurRad="50800" dist="38100" dir="8100000" algn="tr" rotWithShape="0">
              <a:prstClr val="black">
                <a:alpha val="40000"/>
              </a:prstClr>
            </a:outerShdw>
          </a:effectLst>
        </p:spPr>
      </p:pic>
      <p:sp>
        <p:nvSpPr>
          <p:cNvPr id="34" name="CaixaDeTexto 422">
            <a:extLst>
              <a:ext uri="{FF2B5EF4-FFF2-40B4-BE49-F238E27FC236}">
                <a16:creationId xmlns:a16="http://schemas.microsoft.com/office/drawing/2014/main" id="{F22F8FD3-24FD-A91C-4AF4-726615578631}"/>
              </a:ext>
            </a:extLst>
          </p:cNvPr>
          <p:cNvSpPr txBox="1"/>
          <p:nvPr/>
        </p:nvSpPr>
        <p:spPr>
          <a:xfrm>
            <a:off x="9144378" y="2996952"/>
            <a:ext cx="1550578" cy="432000"/>
          </a:xfrm>
          <a:prstGeom prst="rect">
            <a:avLst/>
          </a:prstGeom>
          <a:noFill/>
        </p:spPr>
        <p:txBody>
          <a:bodyPr wrap="square" lIns="90000" rtlCol="0">
            <a:noAutofit/>
          </a:bodyPr>
          <a:lstStyle/>
          <a:p>
            <a:pPr algn="ctr"/>
            <a:r>
              <a:rPr lang="pt-BR" sz="1100" b="1" dirty="0"/>
              <a:t>Custo Estimado em USD e </a:t>
            </a:r>
            <a:r>
              <a:rPr lang="pt-BR" sz="1100" b="1" dirty="0" err="1"/>
              <a:t>Mensalizado</a:t>
            </a:r>
            <a:r>
              <a:rPr lang="pt-BR" sz="1100" b="1" dirty="0"/>
              <a:t> </a:t>
            </a:r>
          </a:p>
        </p:txBody>
      </p:sp>
      <p:sp>
        <p:nvSpPr>
          <p:cNvPr id="36" name="CaixaDeTexto 12">
            <a:extLst>
              <a:ext uri="{FF2B5EF4-FFF2-40B4-BE49-F238E27FC236}">
                <a16:creationId xmlns:a16="http://schemas.microsoft.com/office/drawing/2014/main" id="{A7BFB84F-876C-2970-05FB-40EA651ABBA0}"/>
              </a:ext>
            </a:extLst>
          </p:cNvPr>
          <p:cNvSpPr txBox="1"/>
          <p:nvPr/>
        </p:nvSpPr>
        <p:spPr>
          <a:xfrm>
            <a:off x="8759253" y="5907499"/>
            <a:ext cx="2340000" cy="646922"/>
          </a:xfrm>
          <a:prstGeom prst="rect">
            <a:avLst/>
          </a:prstGeom>
          <a:solidFill>
            <a:schemeClr val="bg1"/>
          </a:solidFill>
        </p:spPr>
        <p:txBody>
          <a:bodyPr wrap="square" lIns="90000">
            <a:noAutofit/>
          </a:bodyPr>
          <a:lstStyle/>
          <a:p>
            <a:r>
              <a:rPr lang="pt-BR" sz="1100" dirty="0"/>
              <a:t>Exemplo de Detalhamento (ID-83) em Executável Orçamento 24-28 – V3.2</a:t>
            </a:r>
          </a:p>
        </p:txBody>
      </p:sp>
      <p:sp>
        <p:nvSpPr>
          <p:cNvPr id="37" name="Triangle 12">
            <a:extLst>
              <a:ext uri="{FF2B5EF4-FFF2-40B4-BE49-F238E27FC236}">
                <a16:creationId xmlns:a16="http://schemas.microsoft.com/office/drawing/2014/main" id="{ACF7FDAE-11F6-DD53-71BC-1EE852E2C08B}"/>
              </a:ext>
            </a:extLst>
          </p:cNvPr>
          <p:cNvSpPr/>
          <p:nvPr/>
        </p:nvSpPr>
        <p:spPr>
          <a:xfrm rot="5400000">
            <a:off x="4258933" y="4586032"/>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8" name="Triangle 12">
            <a:extLst>
              <a:ext uri="{FF2B5EF4-FFF2-40B4-BE49-F238E27FC236}">
                <a16:creationId xmlns:a16="http://schemas.microsoft.com/office/drawing/2014/main" id="{BA02BAA4-9315-569F-8D8E-19D58CE2FA0E}"/>
              </a:ext>
            </a:extLst>
          </p:cNvPr>
          <p:cNvSpPr/>
          <p:nvPr/>
        </p:nvSpPr>
        <p:spPr>
          <a:xfrm rot="5400000">
            <a:off x="7044138" y="4586033"/>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722366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0BD4F-C8F4-C018-3C52-1000F7C7CA9F}"/>
            </a:ext>
          </a:extLst>
        </p:cNvPr>
        <p:cNvGrpSpPr/>
        <p:nvPr/>
      </p:nvGrpSpPr>
      <p:grpSpPr>
        <a:xfrm>
          <a:off x="0" y="0"/>
          <a:ext cx="0" cy="0"/>
          <a:chOff x="0" y="0"/>
          <a:chExt cx="0" cy="0"/>
        </a:xfrm>
      </p:grpSpPr>
      <p:pic>
        <p:nvPicPr>
          <p:cNvPr id="6" name="Picture 5" descr="A close-up of a document&#10;&#10;AI-generated content may be incorrect.">
            <a:extLst>
              <a:ext uri="{FF2B5EF4-FFF2-40B4-BE49-F238E27FC236}">
                <a16:creationId xmlns:a16="http://schemas.microsoft.com/office/drawing/2014/main" id="{D1FC5A22-5302-08B9-28F1-9DF19396224B}"/>
              </a:ext>
            </a:extLst>
          </p:cNvPr>
          <p:cNvPicPr>
            <a:picLocks noChangeAspect="1"/>
          </p:cNvPicPr>
          <p:nvPr/>
        </p:nvPicPr>
        <p:blipFill>
          <a:blip r:embed="rId2" cstate="print">
            <a:extLst>
              <a:ext uri="{28A0092B-C50C-407E-A947-70E740481C1C}">
                <a14:useLocalDpi xmlns:a14="http://schemas.microsoft.com/office/drawing/2010/main" val="0"/>
              </a:ext>
            </a:extLst>
          </a:blip>
          <a:srcRect l="28698" t="5233" r="28711" b="1729"/>
          <a:stretch>
            <a:fillRect/>
          </a:stretch>
        </p:blipFill>
        <p:spPr>
          <a:xfrm>
            <a:off x="633466" y="1340768"/>
            <a:ext cx="3485187" cy="4928575"/>
          </a:xfrm>
          <a:prstGeom prst="rect">
            <a:avLst/>
          </a:prstGeom>
          <a:effectLst>
            <a:outerShdw blurRad="50800" dist="38100" dir="8100000" algn="tr" rotWithShape="0">
              <a:prstClr val="black">
                <a:alpha val="40000"/>
              </a:prstClr>
            </a:outerShdw>
          </a:effectLst>
        </p:spPr>
      </p:pic>
      <p:sp>
        <p:nvSpPr>
          <p:cNvPr id="3" name="Title 61">
            <a:extLst>
              <a:ext uri="{FF2B5EF4-FFF2-40B4-BE49-F238E27FC236}">
                <a16:creationId xmlns:a16="http://schemas.microsoft.com/office/drawing/2014/main" id="{1E7DA4FA-7F77-A48D-2F90-04F735AB19B5}"/>
              </a:ext>
            </a:extLst>
          </p:cNvPr>
          <p:cNvSpPr>
            <a:spLocks noGrp="1"/>
          </p:cNvSpPr>
          <p:nvPr>
            <p:ph type="title"/>
          </p:nvPr>
        </p:nvSpPr>
        <p:spPr>
          <a:xfrm>
            <a:off x="1089653" y="303578"/>
            <a:ext cx="10485852" cy="645195"/>
          </a:xfrm>
        </p:spPr>
        <p:txBody>
          <a:bodyPr/>
          <a:lstStyle/>
          <a:p>
            <a:r>
              <a:rPr lang="pt-BR" dirty="0"/>
              <a:t>HUB de Obras</a:t>
            </a:r>
            <a:br>
              <a:rPr lang="pt-BR" dirty="0"/>
            </a:br>
            <a:r>
              <a:rPr lang="pt-BR" sz="1800" b="0" u="sng" dirty="0"/>
              <a:t>Exemplo</a:t>
            </a:r>
            <a:r>
              <a:rPr lang="pt-BR" sz="1800" b="0" dirty="0"/>
              <a:t> de Descrição de Escopo em Ficha de Abertura/Atualização de Paradas Técnicas</a:t>
            </a:r>
            <a:endParaRPr lang="en-BR" sz="1800" b="0" dirty="0"/>
          </a:p>
        </p:txBody>
      </p:sp>
      <p:sp>
        <p:nvSpPr>
          <p:cNvPr id="5" name="CaixaDeTexto 422">
            <a:extLst>
              <a:ext uri="{FF2B5EF4-FFF2-40B4-BE49-F238E27FC236}">
                <a16:creationId xmlns:a16="http://schemas.microsoft.com/office/drawing/2014/main" id="{9E4E727F-92EB-ADC3-B3DB-017C0E3CC20E}"/>
              </a:ext>
            </a:extLst>
          </p:cNvPr>
          <p:cNvSpPr txBox="1"/>
          <p:nvPr/>
        </p:nvSpPr>
        <p:spPr>
          <a:xfrm>
            <a:off x="1127448" y="6406891"/>
            <a:ext cx="2497222" cy="295062"/>
          </a:xfrm>
          <a:prstGeom prst="rect">
            <a:avLst/>
          </a:prstGeom>
          <a:noFill/>
        </p:spPr>
        <p:txBody>
          <a:bodyPr wrap="square" lIns="90000" rtlCol="0">
            <a:noAutofit/>
          </a:bodyPr>
          <a:lstStyle/>
          <a:p>
            <a:pPr algn="ctr"/>
            <a:r>
              <a:rPr lang="pt-BR" sz="1400" b="1" i="1" dirty="0"/>
              <a:t>ID-83 Parcel do Bandolim</a:t>
            </a:r>
          </a:p>
        </p:txBody>
      </p:sp>
      <p:pic>
        <p:nvPicPr>
          <p:cNvPr id="7" name="Picture 6" descr="A close-up of a document&#10;&#10;AI-generated content may be incorrect.">
            <a:extLst>
              <a:ext uri="{FF2B5EF4-FFF2-40B4-BE49-F238E27FC236}">
                <a16:creationId xmlns:a16="http://schemas.microsoft.com/office/drawing/2014/main" id="{A818B3F9-1E7A-775F-D5DF-080E683A0567}"/>
              </a:ext>
            </a:extLst>
          </p:cNvPr>
          <p:cNvPicPr>
            <a:picLocks noChangeAspect="1"/>
          </p:cNvPicPr>
          <p:nvPr/>
        </p:nvPicPr>
        <p:blipFill>
          <a:blip r:embed="rId3">
            <a:extLst>
              <a:ext uri="{28A0092B-C50C-407E-A947-70E740481C1C}">
                <a14:useLocalDpi xmlns:a14="http://schemas.microsoft.com/office/drawing/2010/main" val="0"/>
              </a:ext>
            </a:extLst>
          </a:blip>
          <a:srcRect l="30458" t="12029" r="30823" b="53988"/>
          <a:stretch>
            <a:fillRect/>
          </a:stretch>
        </p:blipFill>
        <p:spPr>
          <a:xfrm>
            <a:off x="4687525" y="1340768"/>
            <a:ext cx="7097107" cy="4032448"/>
          </a:xfrm>
          <a:prstGeom prst="rect">
            <a:avLst/>
          </a:prstGeom>
          <a:effectLst>
            <a:outerShdw blurRad="50800" dist="38100" dir="8100000" algn="tr" rotWithShape="0">
              <a:prstClr val="black">
                <a:alpha val="40000"/>
              </a:prstClr>
            </a:outerShdw>
          </a:effectLst>
        </p:spPr>
      </p:pic>
      <p:sp>
        <p:nvSpPr>
          <p:cNvPr id="8" name="Rounded Rectangle 7">
            <a:extLst>
              <a:ext uri="{FF2B5EF4-FFF2-40B4-BE49-F238E27FC236}">
                <a16:creationId xmlns:a16="http://schemas.microsoft.com/office/drawing/2014/main" id="{0EAC8059-82B0-BB5A-4D95-7656A1CB6DDB}"/>
              </a:ext>
            </a:extLst>
          </p:cNvPr>
          <p:cNvSpPr/>
          <p:nvPr/>
        </p:nvSpPr>
        <p:spPr>
          <a:xfrm>
            <a:off x="521861" y="2096016"/>
            <a:ext cx="3659447" cy="1440160"/>
          </a:xfrm>
          <a:prstGeom prst="roundRect">
            <a:avLst>
              <a:gd name="adj" fmla="val 9341"/>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9" name="Triangle 12">
            <a:extLst>
              <a:ext uri="{FF2B5EF4-FFF2-40B4-BE49-F238E27FC236}">
                <a16:creationId xmlns:a16="http://schemas.microsoft.com/office/drawing/2014/main" id="{088A5CF8-A44B-CB60-C902-EEFE0DA8D596}"/>
              </a:ext>
            </a:extLst>
          </p:cNvPr>
          <p:cNvSpPr/>
          <p:nvPr/>
        </p:nvSpPr>
        <p:spPr>
          <a:xfrm rot="5400000">
            <a:off x="3887225" y="2718076"/>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4209251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C54A0-0524-BD6A-B28D-65B57D4C1BDC}"/>
            </a:ext>
          </a:extLst>
        </p:cNvPr>
        <p:cNvGrpSpPr/>
        <p:nvPr/>
      </p:nvGrpSpPr>
      <p:grpSpPr>
        <a:xfrm>
          <a:off x="0" y="0"/>
          <a:ext cx="0" cy="0"/>
          <a:chOff x="0" y="0"/>
          <a:chExt cx="0" cy="0"/>
        </a:xfrm>
      </p:grpSpPr>
      <p:sp>
        <p:nvSpPr>
          <p:cNvPr id="3" name="Title 61">
            <a:extLst>
              <a:ext uri="{FF2B5EF4-FFF2-40B4-BE49-F238E27FC236}">
                <a16:creationId xmlns:a16="http://schemas.microsoft.com/office/drawing/2014/main" id="{5C8B65B3-24E8-A911-198A-639D506D7454}"/>
              </a:ext>
            </a:extLst>
          </p:cNvPr>
          <p:cNvSpPr>
            <a:spLocks noGrp="1"/>
          </p:cNvSpPr>
          <p:nvPr>
            <p:ph type="title"/>
          </p:nvPr>
        </p:nvSpPr>
        <p:spPr>
          <a:xfrm>
            <a:off x="1089653" y="303578"/>
            <a:ext cx="10485852" cy="645195"/>
          </a:xfrm>
        </p:spPr>
        <p:txBody>
          <a:bodyPr/>
          <a:lstStyle/>
          <a:p>
            <a:r>
              <a:rPr lang="pt-BR" dirty="0"/>
              <a:t>HUB de Obras</a:t>
            </a:r>
            <a:br>
              <a:rPr lang="pt-BR" dirty="0"/>
            </a:br>
            <a:r>
              <a:rPr lang="pt-BR" sz="1800" b="0" u="sng" dirty="0"/>
              <a:t>Exemplo</a:t>
            </a:r>
            <a:r>
              <a:rPr lang="pt-BR" sz="1800" b="0" dirty="0"/>
              <a:t> de Detalhamento (ID-83) em Executável Orçamento 24-28 – V3.2</a:t>
            </a:r>
            <a:endParaRPr lang="en-BR" sz="1800" b="0" dirty="0"/>
          </a:p>
        </p:txBody>
      </p:sp>
      <p:pic>
        <p:nvPicPr>
          <p:cNvPr id="2" name="Picture 1" descr="A screenshot of a computer&#10;&#10;AI-generated content may be incorrect.">
            <a:extLst>
              <a:ext uri="{FF2B5EF4-FFF2-40B4-BE49-F238E27FC236}">
                <a16:creationId xmlns:a16="http://schemas.microsoft.com/office/drawing/2014/main" id="{A372566E-B46E-8A1F-7FFA-0ED942AD44CD}"/>
              </a:ext>
            </a:extLst>
          </p:cNvPr>
          <p:cNvPicPr>
            <a:picLocks noChangeAspect="1"/>
          </p:cNvPicPr>
          <p:nvPr/>
        </p:nvPicPr>
        <p:blipFill>
          <a:blip r:embed="rId2" cstate="print">
            <a:extLst>
              <a:ext uri="{28A0092B-C50C-407E-A947-70E740481C1C}">
                <a14:useLocalDpi xmlns:a14="http://schemas.microsoft.com/office/drawing/2010/main" val="0"/>
              </a:ext>
            </a:extLst>
          </a:blip>
          <a:srcRect t="3991"/>
          <a:stretch>
            <a:fillRect/>
          </a:stretch>
        </p:blipFill>
        <p:spPr>
          <a:xfrm>
            <a:off x="1505763" y="1035408"/>
            <a:ext cx="9180474" cy="570596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592800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85BF-557C-7F6A-732C-B0712E3912AD}"/>
            </a:ext>
          </a:extLst>
        </p:cNvPr>
        <p:cNvGrpSpPr/>
        <p:nvPr/>
      </p:nvGrpSpPr>
      <p:grpSpPr>
        <a:xfrm>
          <a:off x="0" y="0"/>
          <a:ext cx="0" cy="0"/>
          <a:chOff x="0" y="0"/>
          <a:chExt cx="0" cy="0"/>
        </a:xfrm>
      </p:grpSpPr>
      <p:pic>
        <p:nvPicPr>
          <p:cNvPr id="24" name="Picture 23" descr="A screenshot of a computer&#10;&#10;AI-generated content may be incorrect.">
            <a:extLst>
              <a:ext uri="{FF2B5EF4-FFF2-40B4-BE49-F238E27FC236}">
                <a16:creationId xmlns:a16="http://schemas.microsoft.com/office/drawing/2014/main" id="{B15E2248-89ED-597C-1885-20AE84EAB7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52184" y="560543"/>
            <a:ext cx="4147045" cy="6234545"/>
          </a:xfrm>
          <a:prstGeom prst="rect">
            <a:avLst/>
          </a:prstGeom>
        </p:spPr>
      </p:pic>
      <p:sp>
        <p:nvSpPr>
          <p:cNvPr id="43" name="Rectangle 42">
            <a:extLst>
              <a:ext uri="{FF2B5EF4-FFF2-40B4-BE49-F238E27FC236}">
                <a16:creationId xmlns:a16="http://schemas.microsoft.com/office/drawing/2014/main" id="{2FB9DE34-FFF4-31A9-77F2-F886A12AA309}"/>
              </a:ext>
            </a:extLst>
          </p:cNvPr>
          <p:cNvSpPr/>
          <p:nvPr/>
        </p:nvSpPr>
        <p:spPr>
          <a:xfrm>
            <a:off x="10992544" y="6212805"/>
            <a:ext cx="1199456" cy="6451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28" name="Picture 27" descr="A close-up of a document&#10;&#10;AI-generated content may be incorrect.">
            <a:extLst>
              <a:ext uri="{FF2B5EF4-FFF2-40B4-BE49-F238E27FC236}">
                <a16:creationId xmlns:a16="http://schemas.microsoft.com/office/drawing/2014/main" id="{1A1B5202-2F39-E20C-7E12-27DC683D6F21}"/>
              </a:ext>
            </a:extLst>
          </p:cNvPr>
          <p:cNvPicPr>
            <a:picLocks noChangeAspect="1"/>
          </p:cNvPicPr>
          <p:nvPr/>
        </p:nvPicPr>
        <p:blipFill>
          <a:blip r:embed="rId3" cstate="print">
            <a:extLst>
              <a:ext uri="{28A0092B-C50C-407E-A947-70E740481C1C}">
                <a14:useLocalDpi xmlns:a14="http://schemas.microsoft.com/office/drawing/2010/main" val="0"/>
              </a:ext>
            </a:extLst>
          </a:blip>
          <a:srcRect l="30458" t="12029" r="30823" b="53988"/>
          <a:stretch>
            <a:fillRect/>
          </a:stretch>
        </p:blipFill>
        <p:spPr>
          <a:xfrm>
            <a:off x="335360" y="2551325"/>
            <a:ext cx="4690336" cy="2664964"/>
          </a:xfrm>
          <a:prstGeom prst="rect">
            <a:avLst/>
          </a:prstGeom>
          <a:effectLst>
            <a:outerShdw blurRad="50800" dist="38100" dir="8100000" algn="tr" rotWithShape="0">
              <a:prstClr val="black">
                <a:alpha val="40000"/>
              </a:prstClr>
            </a:outerShdw>
          </a:effectLst>
        </p:spPr>
      </p:pic>
      <p:sp>
        <p:nvSpPr>
          <p:cNvPr id="2" name="Espaço Reservado para Conteúdo 1">
            <a:extLst>
              <a:ext uri="{FF2B5EF4-FFF2-40B4-BE49-F238E27FC236}">
                <a16:creationId xmlns:a16="http://schemas.microsoft.com/office/drawing/2014/main" id="{F54E89BE-6178-E539-5AE8-69119F11B56D}"/>
              </a:ext>
            </a:extLst>
          </p:cNvPr>
          <p:cNvSpPr>
            <a:spLocks noGrp="1"/>
          </p:cNvSpPr>
          <p:nvPr>
            <p:ph idx="1"/>
          </p:nvPr>
        </p:nvSpPr>
        <p:spPr>
          <a:xfrm>
            <a:off x="696000" y="1052736"/>
            <a:ext cx="6696144" cy="779177"/>
          </a:xfrm>
        </p:spPr>
        <p:txBody>
          <a:bodyPr>
            <a:noAutofit/>
          </a:bodyPr>
          <a:lstStyle/>
          <a:p>
            <a:pPr marL="0" indent="0">
              <a:buNone/>
            </a:pPr>
            <a:r>
              <a:rPr lang="pt-BR" sz="1400" dirty="0"/>
              <a:t>Embora o planejamento financeiro da Parada inicie a partir das demandas, as estimativas são registradas em uma estrutura de coletores, fazendo com que a </a:t>
            </a:r>
            <a:r>
              <a:rPr lang="pt-BR" sz="1400" b="1" dirty="0"/>
              <a:t>conexão entre demanda e custos estimados das Obras seja “perdida” ao longo do processo</a:t>
            </a:r>
          </a:p>
        </p:txBody>
      </p:sp>
      <p:sp>
        <p:nvSpPr>
          <p:cNvPr id="5" name="Título 4">
            <a:extLst>
              <a:ext uri="{FF2B5EF4-FFF2-40B4-BE49-F238E27FC236}">
                <a16:creationId xmlns:a16="http://schemas.microsoft.com/office/drawing/2014/main" id="{D217A088-7631-B74A-66B6-1CF1AB19546B}"/>
              </a:ext>
            </a:extLst>
          </p:cNvPr>
          <p:cNvSpPr>
            <a:spLocks noGrp="1"/>
          </p:cNvSpPr>
          <p:nvPr>
            <p:ph type="title"/>
          </p:nvPr>
        </p:nvSpPr>
        <p:spPr/>
        <p:txBody>
          <a:bodyPr/>
          <a:lstStyle/>
          <a:p>
            <a:r>
              <a:rPr lang="pt-BR" dirty="0"/>
              <a:t>Planejamento por Escopo/Demanda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Estrutura de Dados – Gaps do Modelo Atual</a:t>
            </a:r>
            <a:endParaRPr lang="pt-BR" dirty="0"/>
          </a:p>
        </p:txBody>
      </p:sp>
      <p:pic>
        <p:nvPicPr>
          <p:cNvPr id="3" name="Picture 2" descr="A close-up of a document&#10;&#10;AI-generated content may be incorrect.">
            <a:extLst>
              <a:ext uri="{FF2B5EF4-FFF2-40B4-BE49-F238E27FC236}">
                <a16:creationId xmlns:a16="http://schemas.microsoft.com/office/drawing/2014/main" id="{7189FED8-B86E-8BB1-CE95-2BD19D68BAE1}"/>
              </a:ext>
            </a:extLst>
          </p:cNvPr>
          <p:cNvPicPr>
            <a:picLocks noChangeAspect="1"/>
          </p:cNvPicPr>
          <p:nvPr/>
        </p:nvPicPr>
        <p:blipFill>
          <a:blip r:embed="rId4">
            <a:extLst>
              <a:ext uri="{28A0092B-C50C-407E-A947-70E740481C1C}">
                <a14:useLocalDpi xmlns:a14="http://schemas.microsoft.com/office/drawing/2010/main" val="0"/>
              </a:ext>
            </a:extLst>
          </a:blip>
          <a:srcRect l="43122" t="37545" r="33009" b="60175"/>
          <a:stretch>
            <a:fillRect/>
          </a:stretch>
        </p:blipFill>
        <p:spPr>
          <a:xfrm>
            <a:off x="510741" y="5691954"/>
            <a:ext cx="6489458" cy="401342"/>
          </a:xfrm>
          <a:prstGeom prst="rect">
            <a:avLst/>
          </a:prstGeom>
          <a:effectLst>
            <a:outerShdw blurRad="50800" dist="38100" dir="8100000" algn="tr" rotWithShape="0">
              <a:prstClr val="black">
                <a:alpha val="40000"/>
              </a:prstClr>
            </a:outerShdw>
          </a:effectLst>
        </p:spPr>
      </p:pic>
      <p:sp>
        <p:nvSpPr>
          <p:cNvPr id="13" name="Rounded Rectangle 12">
            <a:extLst>
              <a:ext uri="{FF2B5EF4-FFF2-40B4-BE49-F238E27FC236}">
                <a16:creationId xmlns:a16="http://schemas.microsoft.com/office/drawing/2014/main" id="{595155DC-6A04-9951-16AE-C71A330790AE}"/>
              </a:ext>
            </a:extLst>
          </p:cNvPr>
          <p:cNvSpPr/>
          <p:nvPr/>
        </p:nvSpPr>
        <p:spPr>
          <a:xfrm>
            <a:off x="1873433" y="4550363"/>
            <a:ext cx="3152263" cy="172124"/>
          </a:xfrm>
          <a:prstGeom prst="roundRect">
            <a:avLst>
              <a:gd name="adj" fmla="val 9341"/>
            </a:avLst>
          </a:prstGeom>
          <a:no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dirty="0"/>
          </a:p>
        </p:txBody>
      </p:sp>
      <p:cxnSp>
        <p:nvCxnSpPr>
          <p:cNvPr id="32" name="Straight Connector 31">
            <a:extLst>
              <a:ext uri="{FF2B5EF4-FFF2-40B4-BE49-F238E27FC236}">
                <a16:creationId xmlns:a16="http://schemas.microsoft.com/office/drawing/2014/main" id="{BF77E2E4-4594-6B16-974A-564E3FF54F7D}"/>
              </a:ext>
            </a:extLst>
          </p:cNvPr>
          <p:cNvCxnSpPr>
            <a:stCxn id="13" idx="1"/>
          </p:cNvCxnSpPr>
          <p:nvPr/>
        </p:nvCxnSpPr>
        <p:spPr>
          <a:xfrm flipH="1">
            <a:off x="519479" y="4636425"/>
            <a:ext cx="1353954" cy="1083252"/>
          </a:xfrm>
          <a:prstGeom prst="line">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FCC78EEF-345E-C49E-7929-5D69845BB519}"/>
              </a:ext>
            </a:extLst>
          </p:cNvPr>
          <p:cNvCxnSpPr>
            <a:cxnSpLocks/>
          </p:cNvCxnSpPr>
          <p:nvPr/>
        </p:nvCxnSpPr>
        <p:spPr>
          <a:xfrm>
            <a:off x="5025696" y="4636425"/>
            <a:ext cx="1983241" cy="1055529"/>
          </a:xfrm>
          <a:prstGeom prst="line">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44" name="Rectangle 43">
            <a:extLst>
              <a:ext uri="{FF2B5EF4-FFF2-40B4-BE49-F238E27FC236}">
                <a16:creationId xmlns:a16="http://schemas.microsoft.com/office/drawing/2014/main" id="{293DA154-3D64-3253-354A-2E07C5298A4E}"/>
              </a:ext>
            </a:extLst>
          </p:cNvPr>
          <p:cNvSpPr/>
          <p:nvPr/>
        </p:nvSpPr>
        <p:spPr>
          <a:xfrm>
            <a:off x="1873433" y="3373134"/>
            <a:ext cx="3070439" cy="1165607"/>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5" name="Rectangle 44">
            <a:extLst>
              <a:ext uri="{FF2B5EF4-FFF2-40B4-BE49-F238E27FC236}">
                <a16:creationId xmlns:a16="http://schemas.microsoft.com/office/drawing/2014/main" id="{107C9105-DB12-3A26-AFE8-E66C5F84B554}"/>
              </a:ext>
            </a:extLst>
          </p:cNvPr>
          <p:cNvSpPr/>
          <p:nvPr/>
        </p:nvSpPr>
        <p:spPr>
          <a:xfrm>
            <a:off x="1873433" y="4738703"/>
            <a:ext cx="3070439" cy="459449"/>
          </a:xfrm>
          <a:prstGeom prst="rect">
            <a:avLst/>
          </a:prstGeom>
          <a:solidFill>
            <a:srgbClr val="FFFFFF">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6" name="Rectangle 45">
            <a:extLst>
              <a:ext uri="{FF2B5EF4-FFF2-40B4-BE49-F238E27FC236}">
                <a16:creationId xmlns:a16="http://schemas.microsoft.com/office/drawing/2014/main" id="{CB248BEB-DD40-4050-AB9A-F14D4E376D66}"/>
              </a:ext>
            </a:extLst>
          </p:cNvPr>
          <p:cNvSpPr/>
          <p:nvPr/>
        </p:nvSpPr>
        <p:spPr>
          <a:xfrm>
            <a:off x="8899154" y="4924294"/>
            <a:ext cx="3000075" cy="1584000"/>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7" name="Oval 46">
            <a:extLst>
              <a:ext uri="{FF2B5EF4-FFF2-40B4-BE49-F238E27FC236}">
                <a16:creationId xmlns:a16="http://schemas.microsoft.com/office/drawing/2014/main" id="{AA69507D-7156-8F21-0E15-F481CBB478E1}"/>
              </a:ext>
            </a:extLst>
          </p:cNvPr>
          <p:cNvSpPr/>
          <p:nvPr/>
        </p:nvSpPr>
        <p:spPr>
          <a:xfrm>
            <a:off x="7729320" y="4789491"/>
            <a:ext cx="144016" cy="14401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49" name="Elbow Connector 48">
            <a:extLst>
              <a:ext uri="{FF2B5EF4-FFF2-40B4-BE49-F238E27FC236}">
                <a16:creationId xmlns:a16="http://schemas.microsoft.com/office/drawing/2014/main" id="{FF5503B8-3807-E497-41E7-393CDA6D71FC}"/>
              </a:ext>
            </a:extLst>
          </p:cNvPr>
          <p:cNvCxnSpPr>
            <a:stCxn id="3" idx="3"/>
            <a:endCxn id="47" idx="2"/>
          </p:cNvCxnSpPr>
          <p:nvPr/>
        </p:nvCxnSpPr>
        <p:spPr>
          <a:xfrm flipV="1">
            <a:off x="7000199" y="4861499"/>
            <a:ext cx="729121" cy="1031126"/>
          </a:xfrm>
          <a:prstGeom prst="bentConnector3">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pic>
        <p:nvPicPr>
          <p:cNvPr id="42" name="Picture 2">
            <a:extLst>
              <a:ext uri="{FF2B5EF4-FFF2-40B4-BE49-F238E27FC236}">
                <a16:creationId xmlns:a16="http://schemas.microsoft.com/office/drawing/2014/main" id="{46E47EC3-6817-BA6F-0F8F-29A357EB04C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3" name="Oval 52">
            <a:extLst>
              <a:ext uri="{FF2B5EF4-FFF2-40B4-BE49-F238E27FC236}">
                <a16:creationId xmlns:a16="http://schemas.microsoft.com/office/drawing/2014/main" id="{85915276-B995-4566-86F2-68D4FF4B4294}"/>
              </a:ext>
            </a:extLst>
          </p:cNvPr>
          <p:cNvSpPr/>
          <p:nvPr/>
        </p:nvSpPr>
        <p:spPr>
          <a:xfrm>
            <a:off x="7729320" y="3752250"/>
            <a:ext cx="144016" cy="14401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54" name="Elbow Connector 53">
            <a:extLst>
              <a:ext uri="{FF2B5EF4-FFF2-40B4-BE49-F238E27FC236}">
                <a16:creationId xmlns:a16="http://schemas.microsoft.com/office/drawing/2014/main" id="{F0D20CF7-23EF-5FD7-1DBB-B387EFA5DE51}"/>
              </a:ext>
            </a:extLst>
          </p:cNvPr>
          <p:cNvCxnSpPr>
            <a:cxnSpLocks/>
            <a:stCxn id="3" idx="3"/>
            <a:endCxn id="53" idx="2"/>
          </p:cNvCxnSpPr>
          <p:nvPr/>
        </p:nvCxnSpPr>
        <p:spPr>
          <a:xfrm flipV="1">
            <a:off x="7000199" y="3824258"/>
            <a:ext cx="729121" cy="2068367"/>
          </a:xfrm>
          <a:prstGeom prst="bentConnector3">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57" name="Rectangle 56">
            <a:extLst>
              <a:ext uri="{FF2B5EF4-FFF2-40B4-BE49-F238E27FC236}">
                <a16:creationId xmlns:a16="http://schemas.microsoft.com/office/drawing/2014/main" id="{F01B925E-CC01-0BCF-0ED3-E4A7531A623E}"/>
              </a:ext>
            </a:extLst>
          </p:cNvPr>
          <p:cNvSpPr/>
          <p:nvPr/>
        </p:nvSpPr>
        <p:spPr>
          <a:xfrm>
            <a:off x="8899154" y="3887122"/>
            <a:ext cx="3000075" cy="900000"/>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59" name="Oval 58">
            <a:extLst>
              <a:ext uri="{FF2B5EF4-FFF2-40B4-BE49-F238E27FC236}">
                <a16:creationId xmlns:a16="http://schemas.microsoft.com/office/drawing/2014/main" id="{C4867EAA-C388-CD6F-5FBE-90791131E9CE}"/>
              </a:ext>
            </a:extLst>
          </p:cNvPr>
          <p:cNvSpPr/>
          <p:nvPr/>
        </p:nvSpPr>
        <p:spPr>
          <a:xfrm>
            <a:off x="7729320" y="2060855"/>
            <a:ext cx="144016" cy="144016"/>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60" name="Elbow Connector 59">
            <a:extLst>
              <a:ext uri="{FF2B5EF4-FFF2-40B4-BE49-F238E27FC236}">
                <a16:creationId xmlns:a16="http://schemas.microsoft.com/office/drawing/2014/main" id="{F02E806E-AE31-19D8-EB15-5D3D4389A061}"/>
              </a:ext>
            </a:extLst>
          </p:cNvPr>
          <p:cNvCxnSpPr>
            <a:cxnSpLocks/>
            <a:stCxn id="3" idx="3"/>
            <a:endCxn id="59" idx="2"/>
          </p:cNvCxnSpPr>
          <p:nvPr/>
        </p:nvCxnSpPr>
        <p:spPr>
          <a:xfrm flipV="1">
            <a:off x="7000199" y="2132863"/>
            <a:ext cx="729121" cy="3759762"/>
          </a:xfrm>
          <a:prstGeom prst="bentConnector3">
            <a:avLst>
              <a:gd name="adj1" fmla="val 50000"/>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63" name="Rectangle 62">
            <a:extLst>
              <a:ext uri="{FF2B5EF4-FFF2-40B4-BE49-F238E27FC236}">
                <a16:creationId xmlns:a16="http://schemas.microsoft.com/office/drawing/2014/main" id="{B0102508-AED7-6395-FEE4-6B0DB8EEC6C0}"/>
              </a:ext>
            </a:extLst>
          </p:cNvPr>
          <p:cNvSpPr/>
          <p:nvPr/>
        </p:nvSpPr>
        <p:spPr>
          <a:xfrm>
            <a:off x="8899154" y="2204871"/>
            <a:ext cx="3000075" cy="1548810"/>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84" name="Rectangle 383">
            <a:extLst>
              <a:ext uri="{FF2B5EF4-FFF2-40B4-BE49-F238E27FC236}">
                <a16:creationId xmlns:a16="http://schemas.microsoft.com/office/drawing/2014/main" id="{D0A49674-C8D9-E17A-0311-1C802CAC3C2C}"/>
              </a:ext>
            </a:extLst>
          </p:cNvPr>
          <p:cNvSpPr/>
          <p:nvPr/>
        </p:nvSpPr>
        <p:spPr>
          <a:xfrm>
            <a:off x="8899154" y="1791277"/>
            <a:ext cx="3000075" cy="255577"/>
          </a:xfrm>
          <a:prstGeom prst="rect">
            <a:avLst/>
          </a:prstGeom>
          <a:solidFill>
            <a:srgbClr val="FFFFFF">
              <a:alpha val="7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86" name="CaixaDeTexto 422">
            <a:extLst>
              <a:ext uri="{FF2B5EF4-FFF2-40B4-BE49-F238E27FC236}">
                <a16:creationId xmlns:a16="http://schemas.microsoft.com/office/drawing/2014/main" id="{D4894DA6-06FE-C140-F4F0-F1CFF057AEF9}"/>
              </a:ext>
            </a:extLst>
          </p:cNvPr>
          <p:cNvSpPr txBox="1"/>
          <p:nvPr/>
        </p:nvSpPr>
        <p:spPr>
          <a:xfrm>
            <a:off x="7752184" y="225216"/>
            <a:ext cx="4147044" cy="268238"/>
          </a:xfrm>
          <a:prstGeom prst="rect">
            <a:avLst/>
          </a:prstGeom>
          <a:solidFill>
            <a:schemeClr val="tx1">
              <a:lumMod val="50000"/>
              <a:lumOff val="50000"/>
            </a:schemeClr>
          </a:solidFill>
        </p:spPr>
        <p:txBody>
          <a:bodyPr wrap="square" lIns="90000" rtlCol="0">
            <a:noAutofit/>
          </a:bodyPr>
          <a:lstStyle>
            <a:defPPr>
              <a:defRPr lang="pt-BR"/>
            </a:defPPr>
            <a:lvl1pPr algn="ctr">
              <a:defRPr sz="1100" b="1">
                <a:solidFill>
                  <a:schemeClr val="bg1"/>
                </a:solidFill>
              </a:defRPr>
            </a:lvl1pPr>
          </a:lstStyle>
          <a:p>
            <a:r>
              <a:rPr lang="pt-BR" dirty="0"/>
              <a:t>VISÃO COLETORES FINANCEIROS</a:t>
            </a:r>
          </a:p>
        </p:txBody>
      </p:sp>
      <p:sp>
        <p:nvSpPr>
          <p:cNvPr id="387" name="CaixaDeTexto 422">
            <a:extLst>
              <a:ext uri="{FF2B5EF4-FFF2-40B4-BE49-F238E27FC236}">
                <a16:creationId xmlns:a16="http://schemas.microsoft.com/office/drawing/2014/main" id="{45132CD1-F6CE-0459-6BD5-DBAEB890B3C8}"/>
              </a:ext>
            </a:extLst>
          </p:cNvPr>
          <p:cNvSpPr txBox="1"/>
          <p:nvPr/>
        </p:nvSpPr>
        <p:spPr>
          <a:xfrm>
            <a:off x="335360" y="2206370"/>
            <a:ext cx="4690336" cy="268238"/>
          </a:xfrm>
          <a:prstGeom prst="rect">
            <a:avLst/>
          </a:prstGeom>
          <a:solidFill>
            <a:schemeClr val="tx1">
              <a:lumMod val="50000"/>
              <a:lumOff val="50000"/>
            </a:schemeClr>
          </a:solidFill>
        </p:spPr>
        <p:txBody>
          <a:bodyPr wrap="square" lIns="90000" rtlCol="0">
            <a:noAutofit/>
          </a:bodyPr>
          <a:lstStyle/>
          <a:p>
            <a:pPr algn="ctr"/>
            <a:r>
              <a:rPr lang="pt-BR" sz="1100" b="1" dirty="0">
                <a:solidFill>
                  <a:schemeClr val="bg1"/>
                </a:solidFill>
              </a:rPr>
              <a:t>VISÃO ESCOPO / DEMANDAS</a:t>
            </a:r>
          </a:p>
        </p:txBody>
      </p:sp>
    </p:spTree>
    <p:extLst>
      <p:ext uri="{BB962C8B-B14F-4D97-AF65-F5344CB8AC3E}">
        <p14:creationId xmlns:p14="http://schemas.microsoft.com/office/powerpoint/2010/main" val="30057298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ítulo 4">
            <a:extLst>
              <a:ext uri="{FF2B5EF4-FFF2-40B4-BE49-F238E27FC236}">
                <a16:creationId xmlns:a16="http://schemas.microsoft.com/office/drawing/2014/main" id="{AFACECB8-66AA-0557-D024-0EF92819A1B8}"/>
              </a:ext>
            </a:extLst>
          </p:cNvPr>
          <p:cNvSpPr>
            <a:spLocks noGrp="1"/>
          </p:cNvSpPr>
          <p:nvPr>
            <p:ph type="title"/>
          </p:nvPr>
        </p:nvSpPr>
        <p:spPr>
          <a:xfrm>
            <a:off x="1089653" y="303578"/>
            <a:ext cx="10485852" cy="645195"/>
          </a:xfrm>
        </p:spPr>
        <p:txBody>
          <a:bodyPr/>
          <a:lstStyle/>
          <a:p>
            <a:r>
              <a:rPr lang="pt-BR" dirty="0"/>
              <a:t>Planejamento por Escopo/Demanda</a:t>
            </a:r>
            <a:br>
              <a:rPr lang="pt-BR" dirty="0"/>
            </a:br>
            <a:r>
              <a:rPr lang="pt-BR" sz="1600" b="0" dirty="0">
                <a:solidFill>
                  <a:prstClr val="black"/>
                </a:solidFill>
                <a:latin typeface="Calibri"/>
              </a:rPr>
              <a:t>Coletores Financeiros Analíticos Categorizados em Materiais, Oficinas e Estaleiro</a:t>
            </a:r>
            <a:endParaRPr lang="pt-BR" dirty="0"/>
          </a:p>
        </p:txBody>
      </p:sp>
      <p:sp>
        <p:nvSpPr>
          <p:cNvPr id="9" name="CaixaDeTexto 8">
            <a:extLst>
              <a:ext uri="{FF2B5EF4-FFF2-40B4-BE49-F238E27FC236}">
                <a16:creationId xmlns:a16="http://schemas.microsoft.com/office/drawing/2014/main" id="{C763248A-A876-9760-019F-D1234AA2E14F}"/>
              </a:ext>
            </a:extLst>
          </p:cNvPr>
          <p:cNvSpPr txBox="1"/>
          <p:nvPr/>
        </p:nvSpPr>
        <p:spPr>
          <a:xfrm>
            <a:off x="119336" y="6593718"/>
            <a:ext cx="5793627" cy="230832"/>
          </a:xfrm>
          <a:prstGeom prst="rect">
            <a:avLst/>
          </a:prstGeom>
          <a:noFill/>
        </p:spPr>
        <p:txBody>
          <a:bodyPr wrap="square" rtlCol="0">
            <a:spAutoFit/>
          </a:bodyPr>
          <a:lstStyle/>
          <a:p>
            <a:r>
              <a:rPr lang="pt-BR" sz="900" i="1" dirty="0"/>
              <a:t>Fonte: Treinamento Operação V6 - Controladoria</a:t>
            </a:r>
          </a:p>
        </p:txBody>
      </p:sp>
      <p:pic>
        <p:nvPicPr>
          <p:cNvPr id="3" name="Picture 2" descr="A screenshot of a computer&#10;&#10;AI-generated content may be incorrect.">
            <a:extLst>
              <a:ext uri="{FF2B5EF4-FFF2-40B4-BE49-F238E27FC236}">
                <a16:creationId xmlns:a16="http://schemas.microsoft.com/office/drawing/2014/main" id="{5AA44D73-DBA4-82EA-5FA8-E9ED527E29EA}"/>
              </a:ext>
            </a:extLst>
          </p:cNvPr>
          <p:cNvPicPr>
            <a:picLocks noChangeAspect="1"/>
          </p:cNvPicPr>
          <p:nvPr/>
        </p:nvPicPr>
        <p:blipFill>
          <a:blip r:embed="rId2" cstate="print">
            <a:extLst>
              <a:ext uri="{28A0092B-C50C-407E-A947-70E740481C1C}">
                <a14:useLocalDpi xmlns:a14="http://schemas.microsoft.com/office/drawing/2010/main" val="0"/>
              </a:ext>
            </a:extLst>
          </a:blip>
          <a:srcRect l="1800" t="10040" r="1829" b="6899"/>
          <a:stretch>
            <a:fillRect/>
          </a:stretch>
        </p:blipFill>
        <p:spPr>
          <a:xfrm>
            <a:off x="263353" y="1238603"/>
            <a:ext cx="9217024" cy="5142725"/>
          </a:xfrm>
          <a:prstGeom prst="rect">
            <a:avLst/>
          </a:prstGeom>
          <a:effectLst>
            <a:outerShdw blurRad="50800" dist="38100" dir="8100000" algn="tr" rotWithShape="0">
              <a:prstClr val="black">
                <a:alpha val="40000"/>
              </a:prstClr>
            </a:outerShdw>
          </a:effectLst>
        </p:spPr>
      </p:pic>
      <p:cxnSp>
        <p:nvCxnSpPr>
          <p:cNvPr id="11" name="Elbow Connector 10">
            <a:extLst>
              <a:ext uri="{FF2B5EF4-FFF2-40B4-BE49-F238E27FC236}">
                <a16:creationId xmlns:a16="http://schemas.microsoft.com/office/drawing/2014/main" id="{7AC8A7B6-3928-C876-E43C-5D0311A0E2A6}"/>
              </a:ext>
            </a:extLst>
          </p:cNvPr>
          <p:cNvCxnSpPr>
            <a:cxnSpLocks/>
          </p:cNvCxnSpPr>
          <p:nvPr/>
        </p:nvCxnSpPr>
        <p:spPr>
          <a:xfrm flipV="1">
            <a:off x="7295815" y="1515340"/>
            <a:ext cx="4632833" cy="685759"/>
          </a:xfrm>
          <a:prstGeom prst="bentConnector2">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sp>
        <p:nvSpPr>
          <p:cNvPr id="16" name="Espaço Reservado para Conteúdo 1">
            <a:extLst>
              <a:ext uri="{FF2B5EF4-FFF2-40B4-BE49-F238E27FC236}">
                <a16:creationId xmlns:a16="http://schemas.microsoft.com/office/drawing/2014/main" id="{EBE50428-9B2B-A615-F0A4-F98446B34E28}"/>
              </a:ext>
            </a:extLst>
          </p:cNvPr>
          <p:cNvSpPr>
            <a:spLocks noGrp="1"/>
          </p:cNvSpPr>
          <p:nvPr>
            <p:ph idx="1"/>
          </p:nvPr>
        </p:nvSpPr>
        <p:spPr>
          <a:xfrm>
            <a:off x="9800743" y="1610512"/>
            <a:ext cx="2052000" cy="540506"/>
          </a:xfrm>
        </p:spPr>
        <p:txBody>
          <a:bodyPr>
            <a:noAutofit/>
          </a:bodyPr>
          <a:lstStyle/>
          <a:p>
            <a:pPr marL="0" indent="0" algn="r">
              <a:buNone/>
            </a:pPr>
            <a:r>
              <a:rPr lang="pt-BR" sz="1400" b="1" i="1" dirty="0"/>
              <a:t>Coletores Sintéticos</a:t>
            </a:r>
            <a:br>
              <a:rPr lang="pt-BR" sz="1400" b="1" i="1" dirty="0"/>
            </a:br>
            <a:r>
              <a:rPr lang="pt-BR" sz="1400" i="1" dirty="0">
                <a:solidFill>
                  <a:prstClr val="black"/>
                </a:solidFill>
                <a:latin typeface="Calibri"/>
              </a:rPr>
              <a:t>Identificam o tipo de Obra</a:t>
            </a:r>
          </a:p>
        </p:txBody>
      </p:sp>
      <p:sp>
        <p:nvSpPr>
          <p:cNvPr id="17" name="Espaço Reservado para Conteúdo 1">
            <a:extLst>
              <a:ext uri="{FF2B5EF4-FFF2-40B4-BE49-F238E27FC236}">
                <a16:creationId xmlns:a16="http://schemas.microsoft.com/office/drawing/2014/main" id="{E8777A29-CE84-A8A2-F6B4-209A05D5A558}"/>
              </a:ext>
            </a:extLst>
          </p:cNvPr>
          <p:cNvSpPr txBox="1">
            <a:spLocks/>
          </p:cNvSpPr>
          <p:nvPr/>
        </p:nvSpPr>
        <p:spPr>
          <a:xfrm>
            <a:off x="9800743" y="2348880"/>
            <a:ext cx="2052000" cy="540506"/>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lgn="r">
              <a:buFont typeface="Arial" panose="020B0604020202020204" pitchFamily="34" charset="0"/>
              <a:buNone/>
            </a:pPr>
            <a:r>
              <a:rPr lang="pt-BR" sz="1400" b="1" i="1" dirty="0"/>
              <a:t>Coletores Analíticos</a:t>
            </a:r>
            <a:br>
              <a:rPr lang="pt-BR" sz="1400" b="1" i="1" dirty="0"/>
            </a:br>
            <a:r>
              <a:rPr lang="pt-BR" sz="1400" i="1" dirty="0">
                <a:solidFill>
                  <a:prstClr val="black"/>
                </a:solidFill>
                <a:latin typeface="Calibri"/>
              </a:rPr>
              <a:t>Identificam o tipo de Custo</a:t>
            </a:r>
          </a:p>
        </p:txBody>
      </p:sp>
      <p:cxnSp>
        <p:nvCxnSpPr>
          <p:cNvPr id="18" name="Elbow Connector 17">
            <a:extLst>
              <a:ext uri="{FF2B5EF4-FFF2-40B4-BE49-F238E27FC236}">
                <a16:creationId xmlns:a16="http://schemas.microsoft.com/office/drawing/2014/main" id="{EBBC69E0-8D52-F6AB-C0F7-42EDC4DFC355}"/>
              </a:ext>
            </a:extLst>
          </p:cNvPr>
          <p:cNvCxnSpPr>
            <a:cxnSpLocks/>
          </p:cNvCxnSpPr>
          <p:nvPr/>
        </p:nvCxnSpPr>
        <p:spPr>
          <a:xfrm>
            <a:off x="7295815" y="2276872"/>
            <a:ext cx="4632833" cy="685759"/>
          </a:xfrm>
          <a:prstGeom prst="bentConnector2">
            <a:avLst/>
          </a:prstGeom>
          <a:noFill/>
          <a:ln w="12700">
            <a:solidFill>
              <a:srgbClr val="FF0000"/>
            </a:solidFill>
            <a:prstDash val="dash"/>
            <a:tailEnd type="triangle"/>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2446330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E0D95-D08D-AE88-4231-886506BF660C}"/>
            </a:ext>
          </a:extLst>
        </p:cNvPr>
        <p:cNvGrpSpPr/>
        <p:nvPr/>
      </p:nvGrpSpPr>
      <p:grpSpPr>
        <a:xfrm>
          <a:off x="0" y="0"/>
          <a:ext cx="0" cy="0"/>
          <a:chOff x="0" y="0"/>
          <a:chExt cx="0" cy="0"/>
        </a:xfrm>
      </p:grpSpPr>
      <p:sp>
        <p:nvSpPr>
          <p:cNvPr id="347" name="Retângulo: Cantos Arredondados 346">
            <a:extLst>
              <a:ext uri="{FF2B5EF4-FFF2-40B4-BE49-F238E27FC236}">
                <a16:creationId xmlns:a16="http://schemas.microsoft.com/office/drawing/2014/main" id="{F9083EB5-6843-4448-63FC-F2A79CD6ECE3}"/>
              </a:ext>
            </a:extLst>
          </p:cNvPr>
          <p:cNvSpPr/>
          <p:nvPr/>
        </p:nvSpPr>
        <p:spPr>
          <a:xfrm>
            <a:off x="4928217" y="3578747"/>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2</a:t>
            </a:r>
          </a:p>
        </p:txBody>
      </p:sp>
      <p:cxnSp>
        <p:nvCxnSpPr>
          <p:cNvPr id="440" name="Conector: Angulado 439">
            <a:extLst>
              <a:ext uri="{FF2B5EF4-FFF2-40B4-BE49-F238E27FC236}">
                <a16:creationId xmlns:a16="http://schemas.microsoft.com/office/drawing/2014/main" id="{21BB1D47-B3E0-E93C-C836-7BB6CF55941C}"/>
              </a:ext>
            </a:extLst>
          </p:cNvPr>
          <p:cNvCxnSpPr>
            <a:cxnSpLocks/>
            <a:stCxn id="341" idx="3"/>
            <a:endCxn id="347" idx="1"/>
          </p:cNvCxnSpPr>
          <p:nvPr/>
        </p:nvCxnSpPr>
        <p:spPr>
          <a:xfrm>
            <a:off x="4391574" y="3266370"/>
            <a:ext cx="536643" cy="552562"/>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6" name="Conector: Angulado 565">
            <a:extLst>
              <a:ext uri="{FF2B5EF4-FFF2-40B4-BE49-F238E27FC236}">
                <a16:creationId xmlns:a16="http://schemas.microsoft.com/office/drawing/2014/main" id="{8B1C5B01-B4FD-4ED2-2460-4986388363C3}"/>
              </a:ext>
            </a:extLst>
          </p:cNvPr>
          <p:cNvCxnSpPr>
            <a:cxnSpLocks/>
            <a:stCxn id="347" idx="3"/>
            <a:endCxn id="534" idx="1"/>
          </p:cNvCxnSpPr>
          <p:nvPr/>
        </p:nvCxnSpPr>
        <p:spPr>
          <a:xfrm flipV="1">
            <a:off x="6622649" y="3483497"/>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42" name="Conector de Seta Reta 641">
            <a:extLst>
              <a:ext uri="{FF2B5EF4-FFF2-40B4-BE49-F238E27FC236}">
                <a16:creationId xmlns:a16="http://schemas.microsoft.com/office/drawing/2014/main" id="{F1DCE943-43F2-EEF0-C9E8-C85CA723CAD0}"/>
              </a:ext>
            </a:extLst>
          </p:cNvPr>
          <p:cNvCxnSpPr>
            <a:cxnSpLocks/>
            <a:stCxn id="534" idx="3"/>
            <a:endCxn id="634" idx="1"/>
          </p:cNvCxnSpPr>
          <p:nvPr/>
        </p:nvCxnSpPr>
        <p:spPr>
          <a:xfrm>
            <a:off x="9082010" y="3483497"/>
            <a:ext cx="175281" cy="2037"/>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2" name="Espaço Reservado para Conteúdo 1">
            <a:extLst>
              <a:ext uri="{FF2B5EF4-FFF2-40B4-BE49-F238E27FC236}">
                <a16:creationId xmlns:a16="http://schemas.microsoft.com/office/drawing/2014/main" id="{EA8C8048-25C8-9376-CAD5-1F38DF7DC4E4}"/>
              </a:ext>
            </a:extLst>
          </p:cNvPr>
          <p:cNvSpPr>
            <a:spLocks noGrp="1"/>
          </p:cNvSpPr>
          <p:nvPr>
            <p:ph idx="1"/>
          </p:nvPr>
        </p:nvSpPr>
        <p:spPr>
          <a:xfrm>
            <a:off x="696000" y="1052736"/>
            <a:ext cx="10800000" cy="556377"/>
          </a:xfrm>
        </p:spPr>
        <p:txBody>
          <a:bodyPr>
            <a:normAutofit/>
          </a:bodyPr>
          <a:lstStyle/>
          <a:p>
            <a:pPr marL="0" indent="0">
              <a:buNone/>
            </a:pPr>
            <a:r>
              <a:rPr lang="pt-BR" sz="1400" dirty="0"/>
              <a:t>O </a:t>
            </a:r>
            <a:r>
              <a:rPr lang="pt-BR" sz="1400" b="1" dirty="0"/>
              <a:t>novo modelo do HUB </a:t>
            </a:r>
            <a:r>
              <a:rPr lang="pt-BR" sz="1400" dirty="0"/>
              <a:t>prevê que o planejamento financeiro seja feito a partir das </a:t>
            </a:r>
            <a:r>
              <a:rPr lang="pt-BR" sz="1400" b="1" dirty="0"/>
              <a:t>Demandas</a:t>
            </a:r>
            <a:r>
              <a:rPr lang="pt-BR" sz="1400" dirty="0"/>
              <a:t> previstas e as estimativas de </a:t>
            </a:r>
            <a:r>
              <a:rPr lang="pt-BR" sz="1400" b="1" dirty="0"/>
              <a:t>custos de Materiais</a:t>
            </a:r>
            <a:r>
              <a:rPr lang="pt-BR" sz="1400" dirty="0"/>
              <a:t>, </a:t>
            </a:r>
            <a:r>
              <a:rPr lang="pt-BR" sz="1400" b="1" dirty="0"/>
              <a:t>Oficinas</a:t>
            </a:r>
            <a:r>
              <a:rPr lang="pt-BR" sz="1400" dirty="0"/>
              <a:t> e </a:t>
            </a:r>
            <a:r>
              <a:rPr lang="pt-BR" sz="1400" b="1" dirty="0"/>
              <a:t>Estaleiro</a:t>
            </a:r>
            <a:r>
              <a:rPr lang="pt-BR" sz="1400" dirty="0"/>
              <a:t> </a:t>
            </a:r>
            <a:r>
              <a:rPr lang="pt-BR" sz="1400" b="1" dirty="0" err="1"/>
              <a:t>mensalizados</a:t>
            </a:r>
            <a:r>
              <a:rPr lang="pt-BR" sz="1400" dirty="0"/>
              <a:t>.</a:t>
            </a:r>
          </a:p>
        </p:txBody>
      </p:sp>
      <p:sp>
        <p:nvSpPr>
          <p:cNvPr id="5" name="Título 4">
            <a:extLst>
              <a:ext uri="{FF2B5EF4-FFF2-40B4-BE49-F238E27FC236}">
                <a16:creationId xmlns:a16="http://schemas.microsoft.com/office/drawing/2014/main" id="{40ECE05C-61EC-9BE8-0397-6DAB19750591}"/>
              </a:ext>
            </a:extLst>
          </p:cNvPr>
          <p:cNvSpPr>
            <a:spLocks noGrp="1"/>
          </p:cNvSpPr>
          <p:nvPr>
            <p:ph type="title"/>
          </p:nvPr>
        </p:nvSpPr>
        <p:spPr/>
        <p:txBody>
          <a:bodyPr/>
          <a:lstStyle/>
          <a:p>
            <a:r>
              <a:rPr lang="pt-BR" dirty="0"/>
              <a:t>Planejamento por Escopo/Demanda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Estrutura de Dados – </a:t>
            </a:r>
            <a:r>
              <a:rPr kumimoji="0" lang="pt-BR" sz="1600" b="0" i="0" u="sng" strike="noStrike" kern="1200" cap="none" spc="0" normalizeH="0" baseline="0" noProof="0" dirty="0">
                <a:ln>
                  <a:noFill/>
                </a:ln>
                <a:solidFill>
                  <a:prstClr val="black"/>
                </a:solidFill>
                <a:effectLst/>
                <a:uLnTx/>
                <a:uFillTx/>
                <a:latin typeface="Calibri"/>
                <a:ea typeface="+mj-ea"/>
                <a:cs typeface="+mj-cs"/>
              </a:rPr>
              <a:t>Novo Modelo</a:t>
            </a:r>
            <a:endParaRPr lang="pt-BR" u="sng" dirty="0"/>
          </a:p>
        </p:txBody>
      </p:sp>
      <p:sp>
        <p:nvSpPr>
          <p:cNvPr id="343" name="Retângulo: Cantos Arredondados 342">
            <a:extLst>
              <a:ext uri="{FF2B5EF4-FFF2-40B4-BE49-F238E27FC236}">
                <a16:creationId xmlns:a16="http://schemas.microsoft.com/office/drawing/2014/main" id="{17CF695C-11CB-EA2E-40B6-F41F0453116B}"/>
              </a:ext>
            </a:extLst>
          </p:cNvPr>
          <p:cNvSpPr/>
          <p:nvPr/>
        </p:nvSpPr>
        <p:spPr>
          <a:xfrm>
            <a:off x="2167436" y="5812444"/>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103 - Parada Programada</a:t>
            </a:r>
          </a:p>
        </p:txBody>
      </p:sp>
      <p:cxnSp>
        <p:nvCxnSpPr>
          <p:cNvPr id="344" name="Conector de Seta Reta 343">
            <a:extLst>
              <a:ext uri="{FF2B5EF4-FFF2-40B4-BE49-F238E27FC236}">
                <a16:creationId xmlns:a16="http://schemas.microsoft.com/office/drawing/2014/main" id="{D310C5C3-9766-A74B-C7C3-963EBDE004F4}"/>
              </a:ext>
            </a:extLst>
          </p:cNvPr>
          <p:cNvCxnSpPr>
            <a:cxnSpLocks/>
            <a:stCxn id="342" idx="3"/>
            <a:endCxn id="348" idx="1"/>
          </p:cNvCxnSpPr>
          <p:nvPr/>
        </p:nvCxnSpPr>
        <p:spPr>
          <a:xfrm>
            <a:off x="4391574" y="4935781"/>
            <a:ext cx="536643"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40" name="Retângulo: Cantos Arredondados 339">
            <a:extLst>
              <a:ext uri="{FF2B5EF4-FFF2-40B4-BE49-F238E27FC236}">
                <a16:creationId xmlns:a16="http://schemas.microsoft.com/office/drawing/2014/main" id="{DB62FED3-7673-5189-AA6E-8C3CA36BFCA4}"/>
              </a:ext>
            </a:extLst>
          </p:cNvPr>
          <p:cNvSpPr/>
          <p:nvPr/>
        </p:nvSpPr>
        <p:spPr>
          <a:xfrm>
            <a:off x="776278" y="4616095"/>
            <a:ext cx="864096" cy="639373"/>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ID-XX</a:t>
            </a:r>
          </a:p>
        </p:txBody>
      </p:sp>
      <p:sp>
        <p:nvSpPr>
          <p:cNvPr id="342" name="Retângulo: Cantos Arredondados 341">
            <a:extLst>
              <a:ext uri="{FF2B5EF4-FFF2-40B4-BE49-F238E27FC236}">
                <a16:creationId xmlns:a16="http://schemas.microsoft.com/office/drawing/2014/main" id="{467DCA2D-16CA-FB67-2866-1F1F35D3FE1E}"/>
              </a:ext>
            </a:extLst>
          </p:cNvPr>
          <p:cNvSpPr/>
          <p:nvPr/>
        </p:nvSpPr>
        <p:spPr>
          <a:xfrm>
            <a:off x="2167436" y="4695596"/>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101 - Parada Especial</a:t>
            </a:r>
          </a:p>
        </p:txBody>
      </p:sp>
      <p:sp>
        <p:nvSpPr>
          <p:cNvPr id="348" name="Retângulo: Cantos Arredondados 347">
            <a:extLst>
              <a:ext uri="{FF2B5EF4-FFF2-40B4-BE49-F238E27FC236}">
                <a16:creationId xmlns:a16="http://schemas.microsoft.com/office/drawing/2014/main" id="{78102EF3-B671-44EE-FA82-055BFF365691}"/>
              </a:ext>
            </a:extLst>
          </p:cNvPr>
          <p:cNvSpPr/>
          <p:nvPr/>
        </p:nvSpPr>
        <p:spPr>
          <a:xfrm>
            <a:off x="4928217" y="4695596"/>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3</a:t>
            </a:r>
          </a:p>
        </p:txBody>
      </p:sp>
      <p:sp>
        <p:nvSpPr>
          <p:cNvPr id="349" name="Retângulo: Cantos Arredondados 348">
            <a:extLst>
              <a:ext uri="{FF2B5EF4-FFF2-40B4-BE49-F238E27FC236}">
                <a16:creationId xmlns:a16="http://schemas.microsoft.com/office/drawing/2014/main" id="{67CDB201-532D-645D-695C-8DB8EA631369}"/>
              </a:ext>
            </a:extLst>
          </p:cNvPr>
          <p:cNvSpPr/>
          <p:nvPr/>
        </p:nvSpPr>
        <p:spPr>
          <a:xfrm>
            <a:off x="4928217" y="5812444"/>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4</a:t>
            </a:r>
          </a:p>
        </p:txBody>
      </p:sp>
      <p:cxnSp>
        <p:nvCxnSpPr>
          <p:cNvPr id="350" name="Conector: Angulado 349">
            <a:extLst>
              <a:ext uri="{FF2B5EF4-FFF2-40B4-BE49-F238E27FC236}">
                <a16:creationId xmlns:a16="http://schemas.microsoft.com/office/drawing/2014/main" id="{998E6DC4-5CE4-D4AB-E658-95B32237CC7D}"/>
              </a:ext>
            </a:extLst>
          </p:cNvPr>
          <p:cNvCxnSpPr>
            <a:cxnSpLocks/>
            <a:stCxn id="340" idx="3"/>
            <a:endCxn id="341" idx="1"/>
          </p:cNvCxnSpPr>
          <p:nvPr/>
        </p:nvCxnSpPr>
        <p:spPr>
          <a:xfrm flipV="1">
            <a:off x="1640374" y="3266370"/>
            <a:ext cx="527062" cy="1669412"/>
          </a:xfrm>
          <a:prstGeom prst="bentConnector3">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351" name="Conector: Angulado 350">
            <a:extLst>
              <a:ext uri="{FF2B5EF4-FFF2-40B4-BE49-F238E27FC236}">
                <a16:creationId xmlns:a16="http://schemas.microsoft.com/office/drawing/2014/main" id="{A5BCC3B7-64F8-A7FC-24A2-DC25D0CC14A1}"/>
              </a:ext>
            </a:extLst>
          </p:cNvPr>
          <p:cNvCxnSpPr>
            <a:cxnSpLocks/>
            <a:stCxn id="340" idx="3"/>
            <a:endCxn id="343" idx="1"/>
          </p:cNvCxnSpPr>
          <p:nvPr/>
        </p:nvCxnSpPr>
        <p:spPr>
          <a:xfrm>
            <a:off x="1640374" y="4935782"/>
            <a:ext cx="527062" cy="1116847"/>
          </a:xfrm>
          <a:prstGeom prst="bentConnector3">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354" name="Conector de Seta Reta 353">
            <a:extLst>
              <a:ext uri="{FF2B5EF4-FFF2-40B4-BE49-F238E27FC236}">
                <a16:creationId xmlns:a16="http://schemas.microsoft.com/office/drawing/2014/main" id="{3D2B8764-8F35-ED99-C447-7EEDF57C842C}"/>
              </a:ext>
            </a:extLst>
          </p:cNvPr>
          <p:cNvCxnSpPr>
            <a:cxnSpLocks/>
            <a:stCxn id="340" idx="3"/>
            <a:endCxn id="342" idx="1"/>
          </p:cNvCxnSpPr>
          <p:nvPr/>
        </p:nvCxnSpPr>
        <p:spPr>
          <a:xfrm flipV="1">
            <a:off x="1640374" y="4935781"/>
            <a:ext cx="527062" cy="1"/>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66" name="CaixaDeTexto 365">
            <a:extLst>
              <a:ext uri="{FF2B5EF4-FFF2-40B4-BE49-F238E27FC236}">
                <a16:creationId xmlns:a16="http://schemas.microsoft.com/office/drawing/2014/main" id="{53D756FB-BD0C-202D-356F-48ACCB999B53}"/>
              </a:ext>
            </a:extLst>
          </p:cNvPr>
          <p:cNvSpPr txBox="1"/>
          <p:nvPr/>
        </p:nvSpPr>
        <p:spPr>
          <a:xfrm>
            <a:off x="776278" y="1700808"/>
            <a:ext cx="85843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ID da Parada</a:t>
            </a:r>
          </a:p>
        </p:txBody>
      </p:sp>
      <p:cxnSp>
        <p:nvCxnSpPr>
          <p:cNvPr id="436" name="Conector de Seta Reta 435">
            <a:extLst>
              <a:ext uri="{FF2B5EF4-FFF2-40B4-BE49-F238E27FC236}">
                <a16:creationId xmlns:a16="http://schemas.microsoft.com/office/drawing/2014/main" id="{F06FC99F-068D-6524-442B-E3C13EE740E5}"/>
              </a:ext>
            </a:extLst>
          </p:cNvPr>
          <p:cNvCxnSpPr>
            <a:cxnSpLocks/>
            <a:stCxn id="343" idx="3"/>
            <a:endCxn id="349" idx="1"/>
          </p:cNvCxnSpPr>
          <p:nvPr/>
        </p:nvCxnSpPr>
        <p:spPr>
          <a:xfrm>
            <a:off x="4391574" y="6052629"/>
            <a:ext cx="536643"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534" name="Retângulo 533">
            <a:extLst>
              <a:ext uri="{FF2B5EF4-FFF2-40B4-BE49-F238E27FC236}">
                <a16:creationId xmlns:a16="http://schemas.microsoft.com/office/drawing/2014/main" id="{68438F15-B670-4B53-3A8E-63FD7648F4F1}"/>
              </a:ext>
            </a:extLst>
          </p:cNvPr>
          <p:cNvSpPr/>
          <p:nvPr/>
        </p:nvSpPr>
        <p:spPr>
          <a:xfrm>
            <a:off x="7353818" y="3348260"/>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35" name="Retângulo 534">
            <a:extLst>
              <a:ext uri="{FF2B5EF4-FFF2-40B4-BE49-F238E27FC236}">
                <a16:creationId xmlns:a16="http://schemas.microsoft.com/office/drawing/2014/main" id="{B6B39515-48CD-D7EA-C62B-00A413A19505}"/>
              </a:ext>
            </a:extLst>
          </p:cNvPr>
          <p:cNvSpPr/>
          <p:nvPr/>
        </p:nvSpPr>
        <p:spPr>
          <a:xfrm>
            <a:off x="7353818" y="3683695"/>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36" name="Retângulo 535">
            <a:extLst>
              <a:ext uri="{FF2B5EF4-FFF2-40B4-BE49-F238E27FC236}">
                <a16:creationId xmlns:a16="http://schemas.microsoft.com/office/drawing/2014/main" id="{F318A477-A51A-156F-7B56-8ADEC80356E3}"/>
              </a:ext>
            </a:extLst>
          </p:cNvPr>
          <p:cNvSpPr/>
          <p:nvPr/>
        </p:nvSpPr>
        <p:spPr>
          <a:xfrm>
            <a:off x="7353818" y="4019130"/>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sp>
        <p:nvSpPr>
          <p:cNvPr id="538" name="Retângulo 537">
            <a:extLst>
              <a:ext uri="{FF2B5EF4-FFF2-40B4-BE49-F238E27FC236}">
                <a16:creationId xmlns:a16="http://schemas.microsoft.com/office/drawing/2014/main" id="{7CFBD294-9177-3C7D-99BE-F310264C4843}"/>
              </a:ext>
            </a:extLst>
          </p:cNvPr>
          <p:cNvSpPr/>
          <p:nvPr/>
        </p:nvSpPr>
        <p:spPr>
          <a:xfrm>
            <a:off x="7353818" y="4465109"/>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39" name="Retângulo 538">
            <a:extLst>
              <a:ext uri="{FF2B5EF4-FFF2-40B4-BE49-F238E27FC236}">
                <a16:creationId xmlns:a16="http://schemas.microsoft.com/office/drawing/2014/main" id="{DF6F859B-78F5-EE17-B6F3-9BF2427E04EB}"/>
              </a:ext>
            </a:extLst>
          </p:cNvPr>
          <p:cNvSpPr/>
          <p:nvPr/>
        </p:nvSpPr>
        <p:spPr>
          <a:xfrm>
            <a:off x="7353818" y="4800544"/>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40" name="Retângulo 539">
            <a:extLst>
              <a:ext uri="{FF2B5EF4-FFF2-40B4-BE49-F238E27FC236}">
                <a16:creationId xmlns:a16="http://schemas.microsoft.com/office/drawing/2014/main" id="{C93A3859-4938-7590-EBFE-E1D6E1FFB22A}"/>
              </a:ext>
            </a:extLst>
          </p:cNvPr>
          <p:cNvSpPr/>
          <p:nvPr/>
        </p:nvSpPr>
        <p:spPr>
          <a:xfrm>
            <a:off x="7353818" y="5135979"/>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sp>
        <p:nvSpPr>
          <p:cNvPr id="542" name="Retângulo 541">
            <a:extLst>
              <a:ext uri="{FF2B5EF4-FFF2-40B4-BE49-F238E27FC236}">
                <a16:creationId xmlns:a16="http://schemas.microsoft.com/office/drawing/2014/main" id="{8BAA2BA8-7B60-ED0D-D36E-580B9F20E7C2}"/>
              </a:ext>
            </a:extLst>
          </p:cNvPr>
          <p:cNvSpPr/>
          <p:nvPr/>
        </p:nvSpPr>
        <p:spPr>
          <a:xfrm>
            <a:off x="7353818" y="5581957"/>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43" name="Retângulo 542">
            <a:extLst>
              <a:ext uri="{FF2B5EF4-FFF2-40B4-BE49-F238E27FC236}">
                <a16:creationId xmlns:a16="http://schemas.microsoft.com/office/drawing/2014/main" id="{58EFC436-23D6-9F86-5006-B9C81309918C}"/>
              </a:ext>
            </a:extLst>
          </p:cNvPr>
          <p:cNvSpPr/>
          <p:nvPr/>
        </p:nvSpPr>
        <p:spPr>
          <a:xfrm>
            <a:off x="7353818" y="5917392"/>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44" name="Retângulo 543">
            <a:extLst>
              <a:ext uri="{FF2B5EF4-FFF2-40B4-BE49-F238E27FC236}">
                <a16:creationId xmlns:a16="http://schemas.microsoft.com/office/drawing/2014/main" id="{165BD630-77F8-98B9-3048-5B6F7F454AC1}"/>
              </a:ext>
            </a:extLst>
          </p:cNvPr>
          <p:cNvSpPr/>
          <p:nvPr/>
        </p:nvSpPr>
        <p:spPr>
          <a:xfrm>
            <a:off x="7353818" y="6252827"/>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cxnSp>
        <p:nvCxnSpPr>
          <p:cNvPr id="554" name="Conector de Seta Reta 553">
            <a:extLst>
              <a:ext uri="{FF2B5EF4-FFF2-40B4-BE49-F238E27FC236}">
                <a16:creationId xmlns:a16="http://schemas.microsoft.com/office/drawing/2014/main" id="{81BA40EB-4834-35C2-91F1-47F589DA338F}"/>
              </a:ext>
            </a:extLst>
          </p:cNvPr>
          <p:cNvCxnSpPr>
            <a:cxnSpLocks/>
            <a:stCxn id="347" idx="3"/>
            <a:endCxn id="535" idx="1"/>
          </p:cNvCxnSpPr>
          <p:nvPr/>
        </p:nvCxnSpPr>
        <p:spPr>
          <a:xfrm>
            <a:off x="6622649" y="3818932"/>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57" name="Conector de Seta Reta 556">
            <a:extLst>
              <a:ext uri="{FF2B5EF4-FFF2-40B4-BE49-F238E27FC236}">
                <a16:creationId xmlns:a16="http://schemas.microsoft.com/office/drawing/2014/main" id="{6C66993E-9A95-69FD-A96A-24F32F89F287}"/>
              </a:ext>
            </a:extLst>
          </p:cNvPr>
          <p:cNvCxnSpPr>
            <a:cxnSpLocks/>
            <a:stCxn id="348" idx="3"/>
            <a:endCxn id="539" idx="1"/>
          </p:cNvCxnSpPr>
          <p:nvPr/>
        </p:nvCxnSpPr>
        <p:spPr>
          <a:xfrm>
            <a:off x="6622649" y="4935781"/>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0" name="Conector de Seta Reta 559">
            <a:extLst>
              <a:ext uri="{FF2B5EF4-FFF2-40B4-BE49-F238E27FC236}">
                <a16:creationId xmlns:a16="http://schemas.microsoft.com/office/drawing/2014/main" id="{DBD8FED1-DFFF-84F2-8643-833C98BBD303}"/>
              </a:ext>
            </a:extLst>
          </p:cNvPr>
          <p:cNvCxnSpPr>
            <a:cxnSpLocks/>
            <a:stCxn id="349" idx="3"/>
            <a:endCxn id="543" idx="1"/>
          </p:cNvCxnSpPr>
          <p:nvPr/>
        </p:nvCxnSpPr>
        <p:spPr>
          <a:xfrm>
            <a:off x="6622649" y="6052629"/>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3" name="Conector: Angulado 562">
            <a:extLst>
              <a:ext uri="{FF2B5EF4-FFF2-40B4-BE49-F238E27FC236}">
                <a16:creationId xmlns:a16="http://schemas.microsoft.com/office/drawing/2014/main" id="{DA226FCB-6466-8E69-1F12-5D1BE2F73349}"/>
              </a:ext>
            </a:extLst>
          </p:cNvPr>
          <p:cNvCxnSpPr>
            <a:cxnSpLocks/>
            <a:stCxn id="347" idx="3"/>
            <a:endCxn id="536" idx="1"/>
          </p:cNvCxnSpPr>
          <p:nvPr/>
        </p:nvCxnSpPr>
        <p:spPr>
          <a:xfrm>
            <a:off x="6622649" y="3818932"/>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9" name="Conector: Angulado 568">
            <a:extLst>
              <a:ext uri="{FF2B5EF4-FFF2-40B4-BE49-F238E27FC236}">
                <a16:creationId xmlns:a16="http://schemas.microsoft.com/office/drawing/2014/main" id="{C7DC8676-4027-F85E-1903-2AD810022068}"/>
              </a:ext>
            </a:extLst>
          </p:cNvPr>
          <p:cNvCxnSpPr>
            <a:cxnSpLocks/>
            <a:stCxn id="348" idx="3"/>
            <a:endCxn id="538" idx="1"/>
          </p:cNvCxnSpPr>
          <p:nvPr/>
        </p:nvCxnSpPr>
        <p:spPr>
          <a:xfrm flipV="1">
            <a:off x="6622649" y="4600346"/>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2" name="Conector: Angulado 571">
            <a:extLst>
              <a:ext uri="{FF2B5EF4-FFF2-40B4-BE49-F238E27FC236}">
                <a16:creationId xmlns:a16="http://schemas.microsoft.com/office/drawing/2014/main" id="{108E048D-A4BF-9273-6CBD-C6460724405E}"/>
              </a:ext>
            </a:extLst>
          </p:cNvPr>
          <p:cNvCxnSpPr>
            <a:cxnSpLocks/>
            <a:stCxn id="348" idx="3"/>
            <a:endCxn id="540" idx="1"/>
          </p:cNvCxnSpPr>
          <p:nvPr/>
        </p:nvCxnSpPr>
        <p:spPr>
          <a:xfrm>
            <a:off x="6622649" y="4935781"/>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6" name="Conector: Angulado 575">
            <a:extLst>
              <a:ext uri="{FF2B5EF4-FFF2-40B4-BE49-F238E27FC236}">
                <a16:creationId xmlns:a16="http://schemas.microsoft.com/office/drawing/2014/main" id="{D67593F9-DCD0-22AE-5356-45918844BE5D}"/>
              </a:ext>
            </a:extLst>
          </p:cNvPr>
          <p:cNvCxnSpPr>
            <a:cxnSpLocks/>
            <a:stCxn id="349" idx="3"/>
            <a:endCxn id="542" idx="1"/>
          </p:cNvCxnSpPr>
          <p:nvPr/>
        </p:nvCxnSpPr>
        <p:spPr>
          <a:xfrm flipV="1">
            <a:off x="6622649" y="5717194"/>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9" name="Conector: Angulado 578">
            <a:extLst>
              <a:ext uri="{FF2B5EF4-FFF2-40B4-BE49-F238E27FC236}">
                <a16:creationId xmlns:a16="http://schemas.microsoft.com/office/drawing/2014/main" id="{FFA2E2BB-E17B-A7EE-45EA-0F50ED73F0F0}"/>
              </a:ext>
            </a:extLst>
          </p:cNvPr>
          <p:cNvCxnSpPr>
            <a:cxnSpLocks/>
            <a:stCxn id="349" idx="3"/>
            <a:endCxn id="544" idx="1"/>
          </p:cNvCxnSpPr>
          <p:nvPr/>
        </p:nvCxnSpPr>
        <p:spPr>
          <a:xfrm>
            <a:off x="6622649" y="6052629"/>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grpSp>
        <p:nvGrpSpPr>
          <p:cNvPr id="617" name="Agrupar 616">
            <a:extLst>
              <a:ext uri="{FF2B5EF4-FFF2-40B4-BE49-F238E27FC236}">
                <a16:creationId xmlns:a16="http://schemas.microsoft.com/office/drawing/2014/main" id="{282C8470-53B0-02E4-F19C-FF364DF210A0}"/>
              </a:ext>
            </a:extLst>
          </p:cNvPr>
          <p:cNvGrpSpPr/>
          <p:nvPr/>
        </p:nvGrpSpPr>
        <p:grpSpPr>
          <a:xfrm>
            <a:off x="9257291" y="3267827"/>
            <a:ext cx="1591237" cy="394472"/>
            <a:chOff x="8390231" y="2244009"/>
            <a:chExt cx="1591237" cy="394472"/>
          </a:xfrm>
        </p:grpSpPr>
        <p:sp>
          <p:nvSpPr>
            <p:cNvPr id="634" name="Retângulo 633">
              <a:extLst>
                <a:ext uri="{FF2B5EF4-FFF2-40B4-BE49-F238E27FC236}">
                  <a16:creationId xmlns:a16="http://schemas.microsoft.com/office/drawing/2014/main" id="{8B371DCA-75C0-DC42-F453-D0E1BAACEB94}"/>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35" name="CaixaDeTexto 634">
              <a:extLst>
                <a:ext uri="{FF2B5EF4-FFF2-40B4-BE49-F238E27FC236}">
                  <a16:creationId xmlns:a16="http://schemas.microsoft.com/office/drawing/2014/main" id="{094B1688-1F10-0F97-B6F5-668D212B1BA0}"/>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636" name="CaixaDeTexto 635">
              <a:extLst>
                <a:ext uri="{FF2B5EF4-FFF2-40B4-BE49-F238E27FC236}">
                  <a16:creationId xmlns:a16="http://schemas.microsoft.com/office/drawing/2014/main" id="{89C070D4-362F-01DC-3045-CE73412F733E}"/>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7" name="CaixaDeTexto 636">
              <a:extLst>
                <a:ext uri="{FF2B5EF4-FFF2-40B4-BE49-F238E27FC236}">
                  <a16:creationId xmlns:a16="http://schemas.microsoft.com/office/drawing/2014/main" id="{C814540D-A2B6-F7E4-495A-0E2CD5ED3B53}"/>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38" name="CaixaDeTexto 637">
              <a:extLst>
                <a:ext uri="{FF2B5EF4-FFF2-40B4-BE49-F238E27FC236}">
                  <a16:creationId xmlns:a16="http://schemas.microsoft.com/office/drawing/2014/main" id="{0B37BB29-038D-2649-1E70-1491D0FA4E37}"/>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639" name="CaixaDeTexto 638">
              <a:extLst>
                <a:ext uri="{FF2B5EF4-FFF2-40B4-BE49-F238E27FC236}">
                  <a16:creationId xmlns:a16="http://schemas.microsoft.com/office/drawing/2014/main" id="{32E4A40F-A5F4-57A7-6029-F518E81746CE}"/>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40" name="CaixaDeTexto 639">
              <a:extLst>
                <a:ext uri="{FF2B5EF4-FFF2-40B4-BE49-F238E27FC236}">
                  <a16:creationId xmlns:a16="http://schemas.microsoft.com/office/drawing/2014/main" id="{86452FB8-6AF7-FFC3-BDBB-88A6FF207251}"/>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grpSp>
        <p:nvGrpSpPr>
          <p:cNvPr id="618" name="Agrupar 617">
            <a:extLst>
              <a:ext uri="{FF2B5EF4-FFF2-40B4-BE49-F238E27FC236}">
                <a16:creationId xmlns:a16="http://schemas.microsoft.com/office/drawing/2014/main" id="{CA56A5D1-00EA-FE29-602A-F0F942797B84}"/>
              </a:ext>
            </a:extLst>
          </p:cNvPr>
          <p:cNvGrpSpPr/>
          <p:nvPr/>
        </p:nvGrpSpPr>
        <p:grpSpPr>
          <a:xfrm>
            <a:off x="9257291" y="3601685"/>
            <a:ext cx="1591237" cy="394472"/>
            <a:chOff x="8390231" y="2244009"/>
            <a:chExt cx="1591237" cy="394472"/>
          </a:xfrm>
        </p:grpSpPr>
        <p:sp>
          <p:nvSpPr>
            <p:cNvPr id="627" name="Retângulo 626">
              <a:extLst>
                <a:ext uri="{FF2B5EF4-FFF2-40B4-BE49-F238E27FC236}">
                  <a16:creationId xmlns:a16="http://schemas.microsoft.com/office/drawing/2014/main" id="{8D7696D8-145C-98AA-9E31-B03E6FB69CDE}"/>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28" name="CaixaDeTexto 627">
              <a:extLst>
                <a:ext uri="{FF2B5EF4-FFF2-40B4-BE49-F238E27FC236}">
                  <a16:creationId xmlns:a16="http://schemas.microsoft.com/office/drawing/2014/main" id="{3B06AFBB-9858-6D4D-911B-237909B133E8}"/>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629" name="CaixaDeTexto 628">
              <a:extLst>
                <a:ext uri="{FF2B5EF4-FFF2-40B4-BE49-F238E27FC236}">
                  <a16:creationId xmlns:a16="http://schemas.microsoft.com/office/drawing/2014/main" id="{86AE4D2D-B6E8-7513-6CFD-D9D1F98DF54F}"/>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0" name="CaixaDeTexto 629">
              <a:extLst>
                <a:ext uri="{FF2B5EF4-FFF2-40B4-BE49-F238E27FC236}">
                  <a16:creationId xmlns:a16="http://schemas.microsoft.com/office/drawing/2014/main" id="{E78A597F-B3B9-1DA2-B3B6-41F20B297BA2}"/>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31" name="CaixaDeTexto 630">
              <a:extLst>
                <a:ext uri="{FF2B5EF4-FFF2-40B4-BE49-F238E27FC236}">
                  <a16:creationId xmlns:a16="http://schemas.microsoft.com/office/drawing/2014/main" id="{A2F228DD-C83F-EC4C-F0EF-1E9A306AEB1B}"/>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632" name="CaixaDeTexto 631">
              <a:extLst>
                <a:ext uri="{FF2B5EF4-FFF2-40B4-BE49-F238E27FC236}">
                  <a16:creationId xmlns:a16="http://schemas.microsoft.com/office/drawing/2014/main" id="{D5121162-70FA-F613-47BF-FBA0569CE796}"/>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3" name="CaixaDeTexto 632">
              <a:extLst>
                <a:ext uri="{FF2B5EF4-FFF2-40B4-BE49-F238E27FC236}">
                  <a16:creationId xmlns:a16="http://schemas.microsoft.com/office/drawing/2014/main" id="{A5B51908-6143-5153-7E63-6C926C5ABF15}"/>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sp>
        <p:nvSpPr>
          <p:cNvPr id="620" name="Retângulo 619">
            <a:extLst>
              <a:ext uri="{FF2B5EF4-FFF2-40B4-BE49-F238E27FC236}">
                <a16:creationId xmlns:a16="http://schemas.microsoft.com/office/drawing/2014/main" id="{22E70492-79CE-06B1-A154-A99271336389}"/>
              </a:ext>
            </a:extLst>
          </p:cNvPr>
          <p:cNvSpPr/>
          <p:nvPr/>
        </p:nvSpPr>
        <p:spPr>
          <a:xfrm>
            <a:off x="9257292" y="4021167"/>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21" name="CaixaDeTexto 620">
            <a:extLst>
              <a:ext uri="{FF2B5EF4-FFF2-40B4-BE49-F238E27FC236}">
                <a16:creationId xmlns:a16="http://schemas.microsoft.com/office/drawing/2014/main" id="{76663579-BF80-DB27-CB46-72BF0279D455}"/>
              </a:ext>
            </a:extLst>
          </p:cNvPr>
          <p:cNvSpPr txBox="1"/>
          <p:nvPr/>
        </p:nvSpPr>
        <p:spPr>
          <a:xfrm>
            <a:off x="9257291" y="3981105"/>
            <a:ext cx="543468" cy="173427"/>
          </a:xfrm>
          <a:prstGeom prst="rect">
            <a:avLst/>
          </a:prstGeom>
          <a:noFill/>
        </p:spPr>
        <p:txBody>
          <a:bodyPr wrap="square" rtlCol="0">
            <a:spAutoFit/>
          </a:bodyPr>
          <a:lstStyle/>
          <a:p>
            <a:pPr algn="ctr"/>
            <a:r>
              <a:rPr lang="pt-BR" sz="900" b="1" i="1" dirty="0"/>
              <a:t>Mês 1</a:t>
            </a:r>
          </a:p>
        </p:txBody>
      </p:sp>
      <p:sp>
        <p:nvSpPr>
          <p:cNvPr id="622" name="CaixaDeTexto 621">
            <a:extLst>
              <a:ext uri="{FF2B5EF4-FFF2-40B4-BE49-F238E27FC236}">
                <a16:creationId xmlns:a16="http://schemas.microsoft.com/office/drawing/2014/main" id="{4D6AD861-421F-F316-73A4-66623AD7B9AA}"/>
              </a:ext>
            </a:extLst>
          </p:cNvPr>
          <p:cNvSpPr txBox="1"/>
          <p:nvPr/>
        </p:nvSpPr>
        <p:spPr>
          <a:xfrm>
            <a:off x="9257291" y="4127270"/>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23" name="CaixaDeTexto 622">
            <a:extLst>
              <a:ext uri="{FF2B5EF4-FFF2-40B4-BE49-F238E27FC236}">
                <a16:creationId xmlns:a16="http://schemas.microsoft.com/office/drawing/2014/main" id="{EFDD3DCA-54B3-2B08-6BBC-1E5BD0EF549F}"/>
              </a:ext>
            </a:extLst>
          </p:cNvPr>
          <p:cNvSpPr txBox="1"/>
          <p:nvPr/>
        </p:nvSpPr>
        <p:spPr>
          <a:xfrm>
            <a:off x="9655063" y="3948242"/>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24" name="CaixaDeTexto 623">
            <a:extLst>
              <a:ext uri="{FF2B5EF4-FFF2-40B4-BE49-F238E27FC236}">
                <a16:creationId xmlns:a16="http://schemas.microsoft.com/office/drawing/2014/main" id="{DA55BF41-F0BB-C5FD-EB9E-7C8D9F908B70}"/>
              </a:ext>
            </a:extLst>
          </p:cNvPr>
          <p:cNvSpPr txBox="1"/>
          <p:nvPr/>
        </p:nvSpPr>
        <p:spPr>
          <a:xfrm>
            <a:off x="10305060" y="3981105"/>
            <a:ext cx="543468" cy="230832"/>
          </a:xfrm>
          <a:prstGeom prst="rect">
            <a:avLst/>
          </a:prstGeom>
          <a:noFill/>
        </p:spPr>
        <p:txBody>
          <a:bodyPr wrap="square" rtlCol="0">
            <a:spAutoFit/>
          </a:bodyPr>
          <a:lstStyle/>
          <a:p>
            <a:pPr algn="ctr"/>
            <a:r>
              <a:rPr lang="pt-BR" sz="900" b="1" i="1" dirty="0"/>
              <a:t>Mês n</a:t>
            </a:r>
          </a:p>
        </p:txBody>
      </p:sp>
      <p:sp>
        <p:nvSpPr>
          <p:cNvPr id="625" name="CaixaDeTexto 624">
            <a:extLst>
              <a:ext uri="{FF2B5EF4-FFF2-40B4-BE49-F238E27FC236}">
                <a16:creationId xmlns:a16="http://schemas.microsoft.com/office/drawing/2014/main" id="{34D71D61-CA8D-BFE7-2D0C-07A4098EFC7F}"/>
              </a:ext>
            </a:extLst>
          </p:cNvPr>
          <p:cNvSpPr txBox="1"/>
          <p:nvPr/>
        </p:nvSpPr>
        <p:spPr>
          <a:xfrm>
            <a:off x="10305060" y="4127270"/>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26" name="CaixaDeTexto 625">
            <a:extLst>
              <a:ext uri="{FF2B5EF4-FFF2-40B4-BE49-F238E27FC236}">
                <a16:creationId xmlns:a16="http://schemas.microsoft.com/office/drawing/2014/main" id="{96C9232D-D228-F999-AF5B-74D30EFE658C}"/>
              </a:ext>
            </a:extLst>
          </p:cNvPr>
          <p:cNvSpPr txBox="1"/>
          <p:nvPr/>
        </p:nvSpPr>
        <p:spPr>
          <a:xfrm>
            <a:off x="9655063" y="406989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41" name="Conector de Seta Reta 640">
            <a:extLst>
              <a:ext uri="{FF2B5EF4-FFF2-40B4-BE49-F238E27FC236}">
                <a16:creationId xmlns:a16="http://schemas.microsoft.com/office/drawing/2014/main" id="{DFD870E6-EA26-D4FF-AE74-2E9E28D8400E}"/>
              </a:ext>
            </a:extLst>
          </p:cNvPr>
          <p:cNvCxnSpPr>
            <a:cxnSpLocks/>
            <a:stCxn id="535" idx="3"/>
            <a:endCxn id="627" idx="1"/>
          </p:cNvCxnSpPr>
          <p:nvPr/>
        </p:nvCxnSpPr>
        <p:spPr>
          <a:xfrm>
            <a:off x="9082010" y="3818932"/>
            <a:ext cx="175281" cy="46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43" name="Conector de Seta Reta 642">
            <a:extLst>
              <a:ext uri="{FF2B5EF4-FFF2-40B4-BE49-F238E27FC236}">
                <a16:creationId xmlns:a16="http://schemas.microsoft.com/office/drawing/2014/main" id="{8C2B928E-AECE-0400-528F-172F70B9C629}"/>
              </a:ext>
            </a:extLst>
          </p:cNvPr>
          <p:cNvCxnSpPr>
            <a:cxnSpLocks/>
            <a:stCxn id="536" idx="3"/>
            <a:endCxn id="620" idx="1"/>
          </p:cNvCxnSpPr>
          <p:nvPr/>
        </p:nvCxnSpPr>
        <p:spPr>
          <a:xfrm>
            <a:off x="9082010" y="4154367"/>
            <a:ext cx="175282" cy="2037"/>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662" name="Retângulo 661">
            <a:extLst>
              <a:ext uri="{FF2B5EF4-FFF2-40B4-BE49-F238E27FC236}">
                <a16:creationId xmlns:a16="http://schemas.microsoft.com/office/drawing/2014/main" id="{AB049303-17B6-898E-504C-05B94CCC35B6}"/>
              </a:ext>
            </a:extLst>
          </p:cNvPr>
          <p:cNvSpPr/>
          <p:nvPr/>
        </p:nvSpPr>
        <p:spPr>
          <a:xfrm>
            <a:off x="9257291" y="4475568"/>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63" name="CaixaDeTexto 662">
            <a:extLst>
              <a:ext uri="{FF2B5EF4-FFF2-40B4-BE49-F238E27FC236}">
                <a16:creationId xmlns:a16="http://schemas.microsoft.com/office/drawing/2014/main" id="{50AA1511-F9BE-F692-955E-611FDC9F058F}"/>
              </a:ext>
            </a:extLst>
          </p:cNvPr>
          <p:cNvSpPr txBox="1"/>
          <p:nvPr/>
        </p:nvSpPr>
        <p:spPr>
          <a:xfrm>
            <a:off x="9257291" y="4425961"/>
            <a:ext cx="543468" cy="173427"/>
          </a:xfrm>
          <a:prstGeom prst="rect">
            <a:avLst/>
          </a:prstGeom>
          <a:noFill/>
        </p:spPr>
        <p:txBody>
          <a:bodyPr wrap="square" rtlCol="0">
            <a:spAutoFit/>
          </a:bodyPr>
          <a:lstStyle/>
          <a:p>
            <a:pPr algn="ctr"/>
            <a:r>
              <a:rPr lang="pt-BR" sz="900" b="1" i="1" dirty="0"/>
              <a:t>Mês 1</a:t>
            </a:r>
          </a:p>
        </p:txBody>
      </p:sp>
      <p:sp>
        <p:nvSpPr>
          <p:cNvPr id="664" name="CaixaDeTexto 663">
            <a:extLst>
              <a:ext uri="{FF2B5EF4-FFF2-40B4-BE49-F238E27FC236}">
                <a16:creationId xmlns:a16="http://schemas.microsoft.com/office/drawing/2014/main" id="{4AB9FD22-8489-E22B-422B-8CFEDDA3CD08}"/>
              </a:ext>
            </a:extLst>
          </p:cNvPr>
          <p:cNvSpPr txBox="1"/>
          <p:nvPr/>
        </p:nvSpPr>
        <p:spPr>
          <a:xfrm>
            <a:off x="9257291" y="4572126"/>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5" name="CaixaDeTexto 664">
            <a:extLst>
              <a:ext uri="{FF2B5EF4-FFF2-40B4-BE49-F238E27FC236}">
                <a16:creationId xmlns:a16="http://schemas.microsoft.com/office/drawing/2014/main" id="{7D6EC49F-1709-4341-39B1-3688247F9C29}"/>
              </a:ext>
            </a:extLst>
          </p:cNvPr>
          <p:cNvSpPr txBox="1"/>
          <p:nvPr/>
        </p:nvSpPr>
        <p:spPr>
          <a:xfrm>
            <a:off x="9655063" y="439309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66" name="CaixaDeTexto 665">
            <a:extLst>
              <a:ext uri="{FF2B5EF4-FFF2-40B4-BE49-F238E27FC236}">
                <a16:creationId xmlns:a16="http://schemas.microsoft.com/office/drawing/2014/main" id="{D21C6C02-D8BE-88AB-F94B-A162A3EC8816}"/>
              </a:ext>
            </a:extLst>
          </p:cNvPr>
          <p:cNvSpPr txBox="1"/>
          <p:nvPr/>
        </p:nvSpPr>
        <p:spPr>
          <a:xfrm>
            <a:off x="10305060" y="4425961"/>
            <a:ext cx="543468" cy="230832"/>
          </a:xfrm>
          <a:prstGeom prst="rect">
            <a:avLst/>
          </a:prstGeom>
          <a:noFill/>
        </p:spPr>
        <p:txBody>
          <a:bodyPr wrap="square" rtlCol="0">
            <a:spAutoFit/>
          </a:bodyPr>
          <a:lstStyle/>
          <a:p>
            <a:pPr algn="ctr"/>
            <a:r>
              <a:rPr lang="pt-BR" sz="900" b="1" i="1" dirty="0"/>
              <a:t>Mês n</a:t>
            </a:r>
          </a:p>
        </p:txBody>
      </p:sp>
      <p:sp>
        <p:nvSpPr>
          <p:cNvPr id="667" name="CaixaDeTexto 666">
            <a:extLst>
              <a:ext uri="{FF2B5EF4-FFF2-40B4-BE49-F238E27FC236}">
                <a16:creationId xmlns:a16="http://schemas.microsoft.com/office/drawing/2014/main" id="{9B93E60D-B12F-84C3-AE77-C321C483E198}"/>
              </a:ext>
            </a:extLst>
          </p:cNvPr>
          <p:cNvSpPr txBox="1"/>
          <p:nvPr/>
        </p:nvSpPr>
        <p:spPr>
          <a:xfrm>
            <a:off x="10305060" y="4572126"/>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8" name="CaixaDeTexto 667">
            <a:extLst>
              <a:ext uri="{FF2B5EF4-FFF2-40B4-BE49-F238E27FC236}">
                <a16:creationId xmlns:a16="http://schemas.microsoft.com/office/drawing/2014/main" id="{7771284D-9D52-A503-0A18-3AF3D41EA028}"/>
              </a:ext>
            </a:extLst>
          </p:cNvPr>
          <p:cNvSpPr txBox="1"/>
          <p:nvPr/>
        </p:nvSpPr>
        <p:spPr>
          <a:xfrm>
            <a:off x="9655063" y="4514747"/>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5" name="Retângulo 654">
            <a:extLst>
              <a:ext uri="{FF2B5EF4-FFF2-40B4-BE49-F238E27FC236}">
                <a16:creationId xmlns:a16="http://schemas.microsoft.com/office/drawing/2014/main" id="{2ABC7D0C-B495-CE8D-E882-1947297F70F3}"/>
              </a:ext>
            </a:extLst>
          </p:cNvPr>
          <p:cNvSpPr/>
          <p:nvPr/>
        </p:nvSpPr>
        <p:spPr>
          <a:xfrm>
            <a:off x="9257291" y="480307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56" name="CaixaDeTexto 655">
            <a:extLst>
              <a:ext uri="{FF2B5EF4-FFF2-40B4-BE49-F238E27FC236}">
                <a16:creationId xmlns:a16="http://schemas.microsoft.com/office/drawing/2014/main" id="{78D03A4D-9788-EE50-6610-8BF1904CEEDD}"/>
              </a:ext>
            </a:extLst>
          </p:cNvPr>
          <p:cNvSpPr txBox="1"/>
          <p:nvPr/>
        </p:nvSpPr>
        <p:spPr>
          <a:xfrm>
            <a:off x="9257291" y="4766169"/>
            <a:ext cx="543468" cy="173427"/>
          </a:xfrm>
          <a:prstGeom prst="rect">
            <a:avLst/>
          </a:prstGeom>
          <a:noFill/>
        </p:spPr>
        <p:txBody>
          <a:bodyPr wrap="square" rtlCol="0">
            <a:spAutoFit/>
          </a:bodyPr>
          <a:lstStyle/>
          <a:p>
            <a:pPr algn="ctr"/>
            <a:r>
              <a:rPr lang="pt-BR" sz="900" b="1" i="1" dirty="0"/>
              <a:t>Mês 1</a:t>
            </a:r>
          </a:p>
        </p:txBody>
      </p:sp>
      <p:sp>
        <p:nvSpPr>
          <p:cNvPr id="657" name="CaixaDeTexto 656">
            <a:extLst>
              <a:ext uri="{FF2B5EF4-FFF2-40B4-BE49-F238E27FC236}">
                <a16:creationId xmlns:a16="http://schemas.microsoft.com/office/drawing/2014/main" id="{D8B18299-3899-BADA-02C3-62157DCDC9C1}"/>
              </a:ext>
            </a:extLst>
          </p:cNvPr>
          <p:cNvSpPr txBox="1"/>
          <p:nvPr/>
        </p:nvSpPr>
        <p:spPr>
          <a:xfrm>
            <a:off x="9257291" y="491233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8" name="CaixaDeTexto 657">
            <a:extLst>
              <a:ext uri="{FF2B5EF4-FFF2-40B4-BE49-F238E27FC236}">
                <a16:creationId xmlns:a16="http://schemas.microsoft.com/office/drawing/2014/main" id="{DE26D041-9852-6B7D-320A-5D3413C5DBFD}"/>
              </a:ext>
            </a:extLst>
          </p:cNvPr>
          <p:cNvSpPr txBox="1"/>
          <p:nvPr/>
        </p:nvSpPr>
        <p:spPr>
          <a:xfrm>
            <a:off x="9655063" y="4733306"/>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9" name="CaixaDeTexto 658">
            <a:extLst>
              <a:ext uri="{FF2B5EF4-FFF2-40B4-BE49-F238E27FC236}">
                <a16:creationId xmlns:a16="http://schemas.microsoft.com/office/drawing/2014/main" id="{C37A144D-BCAE-4EF7-4118-E22EB4EF65F3}"/>
              </a:ext>
            </a:extLst>
          </p:cNvPr>
          <p:cNvSpPr txBox="1"/>
          <p:nvPr/>
        </p:nvSpPr>
        <p:spPr>
          <a:xfrm>
            <a:off x="10305060" y="4766169"/>
            <a:ext cx="543468" cy="230832"/>
          </a:xfrm>
          <a:prstGeom prst="rect">
            <a:avLst/>
          </a:prstGeom>
          <a:noFill/>
        </p:spPr>
        <p:txBody>
          <a:bodyPr wrap="square" rtlCol="0">
            <a:spAutoFit/>
          </a:bodyPr>
          <a:lstStyle/>
          <a:p>
            <a:pPr algn="ctr"/>
            <a:r>
              <a:rPr lang="pt-BR" sz="900" b="1" i="1" dirty="0"/>
              <a:t>Mês n</a:t>
            </a:r>
          </a:p>
        </p:txBody>
      </p:sp>
      <p:sp>
        <p:nvSpPr>
          <p:cNvPr id="660" name="CaixaDeTexto 659">
            <a:extLst>
              <a:ext uri="{FF2B5EF4-FFF2-40B4-BE49-F238E27FC236}">
                <a16:creationId xmlns:a16="http://schemas.microsoft.com/office/drawing/2014/main" id="{C077C27D-CAFA-2BC5-5B8F-9459E7BF8B95}"/>
              </a:ext>
            </a:extLst>
          </p:cNvPr>
          <p:cNvSpPr txBox="1"/>
          <p:nvPr/>
        </p:nvSpPr>
        <p:spPr>
          <a:xfrm>
            <a:off x="10305060" y="491233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1" name="CaixaDeTexto 660">
            <a:extLst>
              <a:ext uri="{FF2B5EF4-FFF2-40B4-BE49-F238E27FC236}">
                <a16:creationId xmlns:a16="http://schemas.microsoft.com/office/drawing/2014/main" id="{1DC42347-3F65-583F-F694-985BBDD81BFC}"/>
              </a:ext>
            </a:extLst>
          </p:cNvPr>
          <p:cNvSpPr txBox="1"/>
          <p:nvPr/>
        </p:nvSpPr>
        <p:spPr>
          <a:xfrm>
            <a:off x="9655063" y="485495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48" name="Retângulo 647">
            <a:extLst>
              <a:ext uri="{FF2B5EF4-FFF2-40B4-BE49-F238E27FC236}">
                <a16:creationId xmlns:a16="http://schemas.microsoft.com/office/drawing/2014/main" id="{83056F5F-ECC1-E45B-C710-EEA64E120DE8}"/>
              </a:ext>
            </a:extLst>
          </p:cNvPr>
          <p:cNvSpPr/>
          <p:nvPr/>
        </p:nvSpPr>
        <p:spPr>
          <a:xfrm>
            <a:off x="9257292" y="5136814"/>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49" name="CaixaDeTexto 648">
            <a:extLst>
              <a:ext uri="{FF2B5EF4-FFF2-40B4-BE49-F238E27FC236}">
                <a16:creationId xmlns:a16="http://schemas.microsoft.com/office/drawing/2014/main" id="{E9FADB0E-E9D6-9670-232C-A9B712035C5F}"/>
              </a:ext>
            </a:extLst>
          </p:cNvPr>
          <p:cNvSpPr txBox="1"/>
          <p:nvPr/>
        </p:nvSpPr>
        <p:spPr>
          <a:xfrm>
            <a:off x="9257291" y="5096752"/>
            <a:ext cx="543468" cy="173427"/>
          </a:xfrm>
          <a:prstGeom prst="rect">
            <a:avLst/>
          </a:prstGeom>
          <a:noFill/>
        </p:spPr>
        <p:txBody>
          <a:bodyPr wrap="square" rtlCol="0">
            <a:spAutoFit/>
          </a:bodyPr>
          <a:lstStyle/>
          <a:p>
            <a:pPr algn="ctr"/>
            <a:r>
              <a:rPr lang="pt-BR" sz="900" b="1" i="1" dirty="0"/>
              <a:t>Mês 1</a:t>
            </a:r>
          </a:p>
        </p:txBody>
      </p:sp>
      <p:sp>
        <p:nvSpPr>
          <p:cNvPr id="650" name="CaixaDeTexto 649">
            <a:extLst>
              <a:ext uri="{FF2B5EF4-FFF2-40B4-BE49-F238E27FC236}">
                <a16:creationId xmlns:a16="http://schemas.microsoft.com/office/drawing/2014/main" id="{27DC441F-6428-ADA2-DBA1-AF2ACF5FFBD8}"/>
              </a:ext>
            </a:extLst>
          </p:cNvPr>
          <p:cNvSpPr txBox="1"/>
          <p:nvPr/>
        </p:nvSpPr>
        <p:spPr>
          <a:xfrm>
            <a:off x="9257291" y="524291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1" name="CaixaDeTexto 650">
            <a:extLst>
              <a:ext uri="{FF2B5EF4-FFF2-40B4-BE49-F238E27FC236}">
                <a16:creationId xmlns:a16="http://schemas.microsoft.com/office/drawing/2014/main" id="{9083712E-42DD-DA65-772B-D966B6E09B42}"/>
              </a:ext>
            </a:extLst>
          </p:cNvPr>
          <p:cNvSpPr txBox="1"/>
          <p:nvPr/>
        </p:nvSpPr>
        <p:spPr>
          <a:xfrm>
            <a:off x="9655063" y="5073513"/>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2" name="CaixaDeTexto 651">
            <a:extLst>
              <a:ext uri="{FF2B5EF4-FFF2-40B4-BE49-F238E27FC236}">
                <a16:creationId xmlns:a16="http://schemas.microsoft.com/office/drawing/2014/main" id="{4F711C65-4587-CF48-C706-A10FA468D4D5}"/>
              </a:ext>
            </a:extLst>
          </p:cNvPr>
          <p:cNvSpPr txBox="1"/>
          <p:nvPr/>
        </p:nvSpPr>
        <p:spPr>
          <a:xfrm>
            <a:off x="10305060" y="5096752"/>
            <a:ext cx="543468" cy="230832"/>
          </a:xfrm>
          <a:prstGeom prst="rect">
            <a:avLst/>
          </a:prstGeom>
          <a:noFill/>
        </p:spPr>
        <p:txBody>
          <a:bodyPr wrap="square" rtlCol="0">
            <a:spAutoFit/>
          </a:bodyPr>
          <a:lstStyle/>
          <a:p>
            <a:pPr algn="ctr"/>
            <a:r>
              <a:rPr lang="pt-BR" sz="900" b="1" i="1" dirty="0"/>
              <a:t>Mês n</a:t>
            </a:r>
          </a:p>
        </p:txBody>
      </p:sp>
      <p:sp>
        <p:nvSpPr>
          <p:cNvPr id="653" name="CaixaDeTexto 652">
            <a:extLst>
              <a:ext uri="{FF2B5EF4-FFF2-40B4-BE49-F238E27FC236}">
                <a16:creationId xmlns:a16="http://schemas.microsoft.com/office/drawing/2014/main" id="{419155C3-05B4-8E8D-F241-CCA69234B5D7}"/>
              </a:ext>
            </a:extLst>
          </p:cNvPr>
          <p:cNvSpPr txBox="1"/>
          <p:nvPr/>
        </p:nvSpPr>
        <p:spPr>
          <a:xfrm>
            <a:off x="10305060" y="524291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4" name="CaixaDeTexto 653">
            <a:extLst>
              <a:ext uri="{FF2B5EF4-FFF2-40B4-BE49-F238E27FC236}">
                <a16:creationId xmlns:a16="http://schemas.microsoft.com/office/drawing/2014/main" id="{DA270FC3-25BB-7096-7DC7-F11764F405D8}"/>
              </a:ext>
            </a:extLst>
          </p:cNvPr>
          <p:cNvSpPr txBox="1"/>
          <p:nvPr/>
        </p:nvSpPr>
        <p:spPr>
          <a:xfrm>
            <a:off x="9655063" y="518553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69" name="Conector de Seta Reta 668">
            <a:extLst>
              <a:ext uri="{FF2B5EF4-FFF2-40B4-BE49-F238E27FC236}">
                <a16:creationId xmlns:a16="http://schemas.microsoft.com/office/drawing/2014/main" id="{40C46243-FF1A-03FF-EFCC-2D7B1E735762}"/>
              </a:ext>
            </a:extLst>
          </p:cNvPr>
          <p:cNvCxnSpPr>
            <a:cxnSpLocks/>
            <a:stCxn id="539" idx="3"/>
            <a:endCxn id="655" idx="1"/>
          </p:cNvCxnSpPr>
          <p:nvPr/>
        </p:nvCxnSpPr>
        <p:spPr>
          <a:xfrm>
            <a:off x="9082010" y="4935781"/>
            <a:ext cx="175281" cy="2532"/>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70" name="Conector de Seta Reta 669">
            <a:extLst>
              <a:ext uri="{FF2B5EF4-FFF2-40B4-BE49-F238E27FC236}">
                <a16:creationId xmlns:a16="http://schemas.microsoft.com/office/drawing/2014/main" id="{E38D7559-423C-5FD7-4E78-6B7CC304FB4C}"/>
              </a:ext>
            </a:extLst>
          </p:cNvPr>
          <p:cNvCxnSpPr>
            <a:cxnSpLocks/>
            <a:endCxn id="664" idx="1"/>
          </p:cNvCxnSpPr>
          <p:nvPr/>
        </p:nvCxnSpPr>
        <p:spPr>
          <a:xfrm>
            <a:off x="9082010" y="4610805"/>
            <a:ext cx="175281"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71" name="Conector de Seta Reta 670">
            <a:extLst>
              <a:ext uri="{FF2B5EF4-FFF2-40B4-BE49-F238E27FC236}">
                <a16:creationId xmlns:a16="http://schemas.microsoft.com/office/drawing/2014/main" id="{E291F063-7E29-0DF1-F6EC-4922B2EE9134}"/>
              </a:ext>
            </a:extLst>
          </p:cNvPr>
          <p:cNvCxnSpPr>
            <a:cxnSpLocks/>
            <a:stCxn id="540" idx="3"/>
            <a:endCxn id="648" idx="1"/>
          </p:cNvCxnSpPr>
          <p:nvPr/>
        </p:nvCxnSpPr>
        <p:spPr>
          <a:xfrm>
            <a:off x="9082010" y="5271216"/>
            <a:ext cx="175282" cy="835"/>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690" name="Retângulo 689">
            <a:extLst>
              <a:ext uri="{FF2B5EF4-FFF2-40B4-BE49-F238E27FC236}">
                <a16:creationId xmlns:a16="http://schemas.microsoft.com/office/drawing/2014/main" id="{7EFD3B95-4C3B-9FC1-FA7A-B6E641671863}"/>
              </a:ext>
            </a:extLst>
          </p:cNvPr>
          <p:cNvSpPr/>
          <p:nvPr/>
        </p:nvSpPr>
        <p:spPr>
          <a:xfrm>
            <a:off x="9257291" y="558231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91" name="CaixaDeTexto 690">
            <a:extLst>
              <a:ext uri="{FF2B5EF4-FFF2-40B4-BE49-F238E27FC236}">
                <a16:creationId xmlns:a16="http://schemas.microsoft.com/office/drawing/2014/main" id="{BEACEE8E-6B46-7F70-0FC5-536F72BD7D83}"/>
              </a:ext>
            </a:extLst>
          </p:cNvPr>
          <p:cNvSpPr txBox="1"/>
          <p:nvPr/>
        </p:nvSpPr>
        <p:spPr>
          <a:xfrm>
            <a:off x="9257291" y="5548749"/>
            <a:ext cx="543468" cy="173427"/>
          </a:xfrm>
          <a:prstGeom prst="rect">
            <a:avLst/>
          </a:prstGeom>
          <a:noFill/>
        </p:spPr>
        <p:txBody>
          <a:bodyPr wrap="square" rtlCol="0">
            <a:spAutoFit/>
          </a:bodyPr>
          <a:lstStyle/>
          <a:p>
            <a:pPr algn="ctr"/>
            <a:r>
              <a:rPr lang="pt-BR" sz="900" b="1" i="1" dirty="0"/>
              <a:t>Mês 1</a:t>
            </a:r>
          </a:p>
        </p:txBody>
      </p:sp>
      <p:sp>
        <p:nvSpPr>
          <p:cNvPr id="692" name="CaixaDeTexto 691">
            <a:extLst>
              <a:ext uri="{FF2B5EF4-FFF2-40B4-BE49-F238E27FC236}">
                <a16:creationId xmlns:a16="http://schemas.microsoft.com/office/drawing/2014/main" id="{3552BD1D-4822-8DB1-47D7-5A6043EF1F65}"/>
              </a:ext>
            </a:extLst>
          </p:cNvPr>
          <p:cNvSpPr txBox="1"/>
          <p:nvPr/>
        </p:nvSpPr>
        <p:spPr>
          <a:xfrm>
            <a:off x="9257291" y="5678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93" name="CaixaDeTexto 692">
            <a:extLst>
              <a:ext uri="{FF2B5EF4-FFF2-40B4-BE49-F238E27FC236}">
                <a16:creationId xmlns:a16="http://schemas.microsoft.com/office/drawing/2014/main" id="{102B0FD2-7B43-292C-F857-3FD0C4C777E2}"/>
              </a:ext>
            </a:extLst>
          </p:cNvPr>
          <p:cNvSpPr txBox="1"/>
          <p:nvPr/>
        </p:nvSpPr>
        <p:spPr>
          <a:xfrm>
            <a:off x="9655063" y="5515886"/>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94" name="CaixaDeTexto 693">
            <a:extLst>
              <a:ext uri="{FF2B5EF4-FFF2-40B4-BE49-F238E27FC236}">
                <a16:creationId xmlns:a16="http://schemas.microsoft.com/office/drawing/2014/main" id="{B1526B7C-2C5E-0974-BD62-15B3ED1275F6}"/>
              </a:ext>
            </a:extLst>
          </p:cNvPr>
          <p:cNvSpPr txBox="1"/>
          <p:nvPr/>
        </p:nvSpPr>
        <p:spPr>
          <a:xfrm>
            <a:off x="10305060" y="5548749"/>
            <a:ext cx="543468" cy="230832"/>
          </a:xfrm>
          <a:prstGeom prst="rect">
            <a:avLst/>
          </a:prstGeom>
          <a:noFill/>
        </p:spPr>
        <p:txBody>
          <a:bodyPr wrap="square" rtlCol="0">
            <a:spAutoFit/>
          </a:bodyPr>
          <a:lstStyle/>
          <a:p>
            <a:pPr algn="ctr"/>
            <a:r>
              <a:rPr lang="pt-BR" sz="900" b="1" i="1" dirty="0"/>
              <a:t>Mês n</a:t>
            </a:r>
          </a:p>
        </p:txBody>
      </p:sp>
      <p:sp>
        <p:nvSpPr>
          <p:cNvPr id="695" name="CaixaDeTexto 694">
            <a:extLst>
              <a:ext uri="{FF2B5EF4-FFF2-40B4-BE49-F238E27FC236}">
                <a16:creationId xmlns:a16="http://schemas.microsoft.com/office/drawing/2014/main" id="{FB52A5DD-17C7-8361-A0A5-AA87698DD067}"/>
              </a:ext>
            </a:extLst>
          </p:cNvPr>
          <p:cNvSpPr txBox="1"/>
          <p:nvPr/>
        </p:nvSpPr>
        <p:spPr>
          <a:xfrm>
            <a:off x="10305060" y="5678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96" name="CaixaDeTexto 695">
            <a:extLst>
              <a:ext uri="{FF2B5EF4-FFF2-40B4-BE49-F238E27FC236}">
                <a16:creationId xmlns:a16="http://schemas.microsoft.com/office/drawing/2014/main" id="{A01C364D-F777-BCF4-BFE8-456FCFD12561}"/>
              </a:ext>
            </a:extLst>
          </p:cNvPr>
          <p:cNvSpPr txBox="1"/>
          <p:nvPr/>
        </p:nvSpPr>
        <p:spPr>
          <a:xfrm>
            <a:off x="9655063" y="562149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3" name="Retângulo 682">
            <a:extLst>
              <a:ext uri="{FF2B5EF4-FFF2-40B4-BE49-F238E27FC236}">
                <a16:creationId xmlns:a16="http://schemas.microsoft.com/office/drawing/2014/main" id="{5C82EF42-2375-6A47-DC1F-2371546D88FB}"/>
              </a:ext>
            </a:extLst>
          </p:cNvPr>
          <p:cNvSpPr/>
          <p:nvPr/>
        </p:nvSpPr>
        <p:spPr>
          <a:xfrm>
            <a:off x="9257291" y="591931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84" name="CaixaDeTexto 683">
            <a:extLst>
              <a:ext uri="{FF2B5EF4-FFF2-40B4-BE49-F238E27FC236}">
                <a16:creationId xmlns:a16="http://schemas.microsoft.com/office/drawing/2014/main" id="{D3023A27-CCF4-8F6B-4337-F430336740DE}"/>
              </a:ext>
            </a:extLst>
          </p:cNvPr>
          <p:cNvSpPr txBox="1"/>
          <p:nvPr/>
        </p:nvSpPr>
        <p:spPr>
          <a:xfrm>
            <a:off x="9257291" y="5872917"/>
            <a:ext cx="543468" cy="173427"/>
          </a:xfrm>
          <a:prstGeom prst="rect">
            <a:avLst/>
          </a:prstGeom>
          <a:noFill/>
        </p:spPr>
        <p:txBody>
          <a:bodyPr wrap="square" rtlCol="0">
            <a:spAutoFit/>
          </a:bodyPr>
          <a:lstStyle/>
          <a:p>
            <a:pPr algn="ctr"/>
            <a:r>
              <a:rPr lang="pt-BR" sz="900" b="1" i="1" dirty="0"/>
              <a:t>Mês 1</a:t>
            </a:r>
          </a:p>
        </p:txBody>
      </p:sp>
      <p:sp>
        <p:nvSpPr>
          <p:cNvPr id="685" name="CaixaDeTexto 684">
            <a:extLst>
              <a:ext uri="{FF2B5EF4-FFF2-40B4-BE49-F238E27FC236}">
                <a16:creationId xmlns:a16="http://schemas.microsoft.com/office/drawing/2014/main" id="{CA7F443E-2C50-0190-7797-DFD764B3892B}"/>
              </a:ext>
            </a:extLst>
          </p:cNvPr>
          <p:cNvSpPr txBox="1"/>
          <p:nvPr/>
        </p:nvSpPr>
        <p:spPr>
          <a:xfrm>
            <a:off x="9257291" y="6015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6" name="CaixaDeTexto 685">
            <a:extLst>
              <a:ext uri="{FF2B5EF4-FFF2-40B4-BE49-F238E27FC236}">
                <a16:creationId xmlns:a16="http://schemas.microsoft.com/office/drawing/2014/main" id="{ECD13988-4860-F822-D5FB-47EB96567E39}"/>
              </a:ext>
            </a:extLst>
          </p:cNvPr>
          <p:cNvSpPr txBox="1"/>
          <p:nvPr/>
        </p:nvSpPr>
        <p:spPr>
          <a:xfrm>
            <a:off x="9655063" y="5840054"/>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7" name="CaixaDeTexto 686">
            <a:extLst>
              <a:ext uri="{FF2B5EF4-FFF2-40B4-BE49-F238E27FC236}">
                <a16:creationId xmlns:a16="http://schemas.microsoft.com/office/drawing/2014/main" id="{4E5B74C6-B0B3-9C27-C99F-AF9EFB494B41}"/>
              </a:ext>
            </a:extLst>
          </p:cNvPr>
          <p:cNvSpPr txBox="1"/>
          <p:nvPr/>
        </p:nvSpPr>
        <p:spPr>
          <a:xfrm>
            <a:off x="10305060" y="5872917"/>
            <a:ext cx="543468" cy="230832"/>
          </a:xfrm>
          <a:prstGeom prst="rect">
            <a:avLst/>
          </a:prstGeom>
          <a:noFill/>
        </p:spPr>
        <p:txBody>
          <a:bodyPr wrap="square" rtlCol="0">
            <a:spAutoFit/>
          </a:bodyPr>
          <a:lstStyle/>
          <a:p>
            <a:pPr algn="ctr"/>
            <a:r>
              <a:rPr lang="pt-BR" sz="900" b="1" i="1" dirty="0"/>
              <a:t>Mês n</a:t>
            </a:r>
          </a:p>
        </p:txBody>
      </p:sp>
      <p:sp>
        <p:nvSpPr>
          <p:cNvPr id="688" name="CaixaDeTexto 687">
            <a:extLst>
              <a:ext uri="{FF2B5EF4-FFF2-40B4-BE49-F238E27FC236}">
                <a16:creationId xmlns:a16="http://schemas.microsoft.com/office/drawing/2014/main" id="{CE42CC35-ACD2-AAF0-154C-630AA00437CA}"/>
              </a:ext>
            </a:extLst>
          </p:cNvPr>
          <p:cNvSpPr txBox="1"/>
          <p:nvPr/>
        </p:nvSpPr>
        <p:spPr>
          <a:xfrm>
            <a:off x="10305060" y="6015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9" name="CaixaDeTexto 688">
            <a:extLst>
              <a:ext uri="{FF2B5EF4-FFF2-40B4-BE49-F238E27FC236}">
                <a16:creationId xmlns:a16="http://schemas.microsoft.com/office/drawing/2014/main" id="{EA4675DF-623B-0734-281F-A6BB19AA2395}"/>
              </a:ext>
            </a:extLst>
          </p:cNvPr>
          <p:cNvSpPr txBox="1"/>
          <p:nvPr/>
        </p:nvSpPr>
        <p:spPr>
          <a:xfrm>
            <a:off x="9655063" y="595849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76" name="Retângulo 675">
            <a:extLst>
              <a:ext uri="{FF2B5EF4-FFF2-40B4-BE49-F238E27FC236}">
                <a16:creationId xmlns:a16="http://schemas.microsoft.com/office/drawing/2014/main" id="{E3AD72C8-AA90-2CF0-6125-7E2D0A64FC41}"/>
              </a:ext>
            </a:extLst>
          </p:cNvPr>
          <p:cNvSpPr/>
          <p:nvPr/>
        </p:nvSpPr>
        <p:spPr>
          <a:xfrm>
            <a:off x="9257292" y="6253186"/>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77" name="CaixaDeTexto 676">
            <a:extLst>
              <a:ext uri="{FF2B5EF4-FFF2-40B4-BE49-F238E27FC236}">
                <a16:creationId xmlns:a16="http://schemas.microsoft.com/office/drawing/2014/main" id="{A4A48044-FA00-1EA1-0442-1F76C8F551E4}"/>
              </a:ext>
            </a:extLst>
          </p:cNvPr>
          <p:cNvSpPr txBox="1"/>
          <p:nvPr/>
        </p:nvSpPr>
        <p:spPr>
          <a:xfrm>
            <a:off x="9257291" y="6213124"/>
            <a:ext cx="543468" cy="173427"/>
          </a:xfrm>
          <a:prstGeom prst="rect">
            <a:avLst/>
          </a:prstGeom>
          <a:noFill/>
        </p:spPr>
        <p:txBody>
          <a:bodyPr wrap="square" rtlCol="0">
            <a:spAutoFit/>
          </a:bodyPr>
          <a:lstStyle/>
          <a:p>
            <a:pPr algn="ctr"/>
            <a:r>
              <a:rPr lang="pt-BR" sz="900" b="1" i="1" dirty="0"/>
              <a:t>Mês 1</a:t>
            </a:r>
          </a:p>
        </p:txBody>
      </p:sp>
      <p:sp>
        <p:nvSpPr>
          <p:cNvPr id="678" name="CaixaDeTexto 677">
            <a:extLst>
              <a:ext uri="{FF2B5EF4-FFF2-40B4-BE49-F238E27FC236}">
                <a16:creationId xmlns:a16="http://schemas.microsoft.com/office/drawing/2014/main" id="{16670484-B842-1DF5-71AC-E83B2EDAF55F}"/>
              </a:ext>
            </a:extLst>
          </p:cNvPr>
          <p:cNvSpPr txBox="1"/>
          <p:nvPr/>
        </p:nvSpPr>
        <p:spPr>
          <a:xfrm>
            <a:off x="9257291" y="635928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79" name="CaixaDeTexto 678">
            <a:extLst>
              <a:ext uri="{FF2B5EF4-FFF2-40B4-BE49-F238E27FC236}">
                <a16:creationId xmlns:a16="http://schemas.microsoft.com/office/drawing/2014/main" id="{42047765-4881-FC75-7D18-DEFACD861CE3}"/>
              </a:ext>
            </a:extLst>
          </p:cNvPr>
          <p:cNvSpPr txBox="1"/>
          <p:nvPr/>
        </p:nvSpPr>
        <p:spPr>
          <a:xfrm>
            <a:off x="9655063" y="618026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0" name="CaixaDeTexto 679">
            <a:extLst>
              <a:ext uri="{FF2B5EF4-FFF2-40B4-BE49-F238E27FC236}">
                <a16:creationId xmlns:a16="http://schemas.microsoft.com/office/drawing/2014/main" id="{4C40A510-6FF8-CC8A-1929-40FAAC0242FF}"/>
              </a:ext>
            </a:extLst>
          </p:cNvPr>
          <p:cNvSpPr txBox="1"/>
          <p:nvPr/>
        </p:nvSpPr>
        <p:spPr>
          <a:xfrm>
            <a:off x="10305060" y="6213124"/>
            <a:ext cx="543468" cy="230832"/>
          </a:xfrm>
          <a:prstGeom prst="rect">
            <a:avLst/>
          </a:prstGeom>
          <a:noFill/>
        </p:spPr>
        <p:txBody>
          <a:bodyPr wrap="square" rtlCol="0">
            <a:spAutoFit/>
          </a:bodyPr>
          <a:lstStyle/>
          <a:p>
            <a:pPr algn="ctr"/>
            <a:r>
              <a:rPr lang="pt-BR" sz="900" b="1" i="1" dirty="0"/>
              <a:t>Mês n</a:t>
            </a:r>
          </a:p>
        </p:txBody>
      </p:sp>
      <p:sp>
        <p:nvSpPr>
          <p:cNvPr id="681" name="CaixaDeTexto 680">
            <a:extLst>
              <a:ext uri="{FF2B5EF4-FFF2-40B4-BE49-F238E27FC236}">
                <a16:creationId xmlns:a16="http://schemas.microsoft.com/office/drawing/2014/main" id="{577F85E6-4E6C-3C6D-E27E-E625938CB979}"/>
              </a:ext>
            </a:extLst>
          </p:cNvPr>
          <p:cNvSpPr txBox="1"/>
          <p:nvPr/>
        </p:nvSpPr>
        <p:spPr>
          <a:xfrm>
            <a:off x="10305060" y="635928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2" name="CaixaDeTexto 681">
            <a:extLst>
              <a:ext uri="{FF2B5EF4-FFF2-40B4-BE49-F238E27FC236}">
                <a16:creationId xmlns:a16="http://schemas.microsoft.com/office/drawing/2014/main" id="{8F1E8194-DB22-66C2-1BFC-C35D046B7491}"/>
              </a:ext>
            </a:extLst>
          </p:cNvPr>
          <p:cNvSpPr txBox="1"/>
          <p:nvPr/>
        </p:nvSpPr>
        <p:spPr>
          <a:xfrm>
            <a:off x="9655063" y="6301910"/>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97" name="Conector de Seta Reta 696">
            <a:extLst>
              <a:ext uri="{FF2B5EF4-FFF2-40B4-BE49-F238E27FC236}">
                <a16:creationId xmlns:a16="http://schemas.microsoft.com/office/drawing/2014/main" id="{1F3C528C-38A4-0169-2682-31C9FFE70515}"/>
              </a:ext>
            </a:extLst>
          </p:cNvPr>
          <p:cNvCxnSpPr>
            <a:cxnSpLocks/>
            <a:stCxn id="543" idx="3"/>
            <a:endCxn id="683" idx="1"/>
          </p:cNvCxnSpPr>
          <p:nvPr/>
        </p:nvCxnSpPr>
        <p:spPr>
          <a:xfrm>
            <a:off x="9082010" y="6052629"/>
            <a:ext cx="175281" cy="1924"/>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98" name="Conector de Seta Reta 697">
            <a:extLst>
              <a:ext uri="{FF2B5EF4-FFF2-40B4-BE49-F238E27FC236}">
                <a16:creationId xmlns:a16="http://schemas.microsoft.com/office/drawing/2014/main" id="{6DED3D95-A29B-70C1-864D-ABD97C185DA9}"/>
              </a:ext>
            </a:extLst>
          </p:cNvPr>
          <p:cNvCxnSpPr>
            <a:cxnSpLocks/>
            <a:stCxn id="542" idx="3"/>
            <a:endCxn id="690" idx="1"/>
          </p:cNvCxnSpPr>
          <p:nvPr/>
        </p:nvCxnSpPr>
        <p:spPr>
          <a:xfrm>
            <a:off x="9082010" y="5717194"/>
            <a:ext cx="175281" cy="359"/>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99" name="Conector de Seta Reta 698">
            <a:extLst>
              <a:ext uri="{FF2B5EF4-FFF2-40B4-BE49-F238E27FC236}">
                <a16:creationId xmlns:a16="http://schemas.microsoft.com/office/drawing/2014/main" id="{8D729FBD-4AF8-6BEF-FA18-5818733BD39C}"/>
              </a:ext>
            </a:extLst>
          </p:cNvPr>
          <p:cNvCxnSpPr>
            <a:cxnSpLocks/>
            <a:stCxn id="544" idx="3"/>
            <a:endCxn id="676" idx="1"/>
          </p:cNvCxnSpPr>
          <p:nvPr/>
        </p:nvCxnSpPr>
        <p:spPr>
          <a:xfrm>
            <a:off x="9082010" y="6388064"/>
            <a:ext cx="175282" cy="359"/>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41" name="Retângulo: Cantos Arredondados 340">
            <a:extLst>
              <a:ext uri="{FF2B5EF4-FFF2-40B4-BE49-F238E27FC236}">
                <a16:creationId xmlns:a16="http://schemas.microsoft.com/office/drawing/2014/main" id="{2B2DF7B2-1FB7-BECE-7593-E4F761531785}"/>
              </a:ext>
            </a:extLst>
          </p:cNvPr>
          <p:cNvSpPr/>
          <p:nvPr/>
        </p:nvSpPr>
        <p:spPr>
          <a:xfrm>
            <a:off x="2167436" y="3026185"/>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100 - Upgrade – Ativo/Contrato</a:t>
            </a:r>
          </a:p>
        </p:txBody>
      </p:sp>
      <p:sp>
        <p:nvSpPr>
          <p:cNvPr id="346" name="Retângulo: Cantos Arredondados 345">
            <a:extLst>
              <a:ext uri="{FF2B5EF4-FFF2-40B4-BE49-F238E27FC236}">
                <a16:creationId xmlns:a16="http://schemas.microsoft.com/office/drawing/2014/main" id="{488A4FA9-85ED-FF28-4D6F-82CF93A6170E}"/>
              </a:ext>
            </a:extLst>
          </p:cNvPr>
          <p:cNvSpPr/>
          <p:nvPr/>
        </p:nvSpPr>
        <p:spPr>
          <a:xfrm>
            <a:off x="4928217" y="2461898"/>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1</a:t>
            </a:r>
          </a:p>
        </p:txBody>
      </p:sp>
      <p:cxnSp>
        <p:nvCxnSpPr>
          <p:cNvPr id="352" name="Conector: Angulado 351">
            <a:extLst>
              <a:ext uri="{FF2B5EF4-FFF2-40B4-BE49-F238E27FC236}">
                <a16:creationId xmlns:a16="http://schemas.microsoft.com/office/drawing/2014/main" id="{9524BAB2-AC7B-BC0E-9E4A-4F69E3AD72F3}"/>
              </a:ext>
            </a:extLst>
          </p:cNvPr>
          <p:cNvCxnSpPr>
            <a:cxnSpLocks/>
            <a:stCxn id="341" idx="3"/>
            <a:endCxn id="346" idx="1"/>
          </p:cNvCxnSpPr>
          <p:nvPr/>
        </p:nvCxnSpPr>
        <p:spPr>
          <a:xfrm flipV="1">
            <a:off x="4391574" y="2702083"/>
            <a:ext cx="536643" cy="564287"/>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64" name="CaixaDeTexto 363">
            <a:extLst>
              <a:ext uri="{FF2B5EF4-FFF2-40B4-BE49-F238E27FC236}">
                <a16:creationId xmlns:a16="http://schemas.microsoft.com/office/drawing/2014/main" id="{26E45648-9DC9-4753-25B8-B208D9B865D4}"/>
              </a:ext>
            </a:extLst>
          </p:cNvPr>
          <p:cNvSpPr txBox="1"/>
          <p:nvPr/>
        </p:nvSpPr>
        <p:spPr>
          <a:xfrm>
            <a:off x="4924301" y="1700808"/>
            <a:ext cx="1698347"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Demandas</a:t>
            </a:r>
            <a:br>
              <a:rPr lang="pt-BR" dirty="0"/>
            </a:br>
            <a:r>
              <a:rPr lang="pt-BR" dirty="0"/>
              <a:t>Planejadas</a:t>
            </a:r>
          </a:p>
        </p:txBody>
      </p:sp>
      <p:sp>
        <p:nvSpPr>
          <p:cNvPr id="365" name="CaixaDeTexto 364">
            <a:extLst>
              <a:ext uri="{FF2B5EF4-FFF2-40B4-BE49-F238E27FC236}">
                <a16:creationId xmlns:a16="http://schemas.microsoft.com/office/drawing/2014/main" id="{834851EC-1542-6ABE-E07A-0D9F91039F1D}"/>
              </a:ext>
            </a:extLst>
          </p:cNvPr>
          <p:cNvSpPr txBox="1"/>
          <p:nvPr/>
        </p:nvSpPr>
        <p:spPr>
          <a:xfrm>
            <a:off x="2167436" y="1700808"/>
            <a:ext cx="2224137"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Obras</a:t>
            </a:r>
            <a:br>
              <a:rPr lang="pt-BR" dirty="0"/>
            </a:br>
            <a:r>
              <a:rPr lang="pt-BR" dirty="0"/>
              <a:t>Planejadas</a:t>
            </a:r>
          </a:p>
        </p:txBody>
      </p:sp>
      <p:sp>
        <p:nvSpPr>
          <p:cNvPr id="368" name="Retângulo 367">
            <a:extLst>
              <a:ext uri="{FF2B5EF4-FFF2-40B4-BE49-F238E27FC236}">
                <a16:creationId xmlns:a16="http://schemas.microsoft.com/office/drawing/2014/main" id="{E2857AA2-5B85-44D9-A009-BC560ABC5A8D}"/>
              </a:ext>
            </a:extLst>
          </p:cNvPr>
          <p:cNvSpPr/>
          <p:nvPr/>
        </p:nvSpPr>
        <p:spPr>
          <a:xfrm>
            <a:off x="7353818" y="2231411"/>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378" name="Retângulo 377">
            <a:extLst>
              <a:ext uri="{FF2B5EF4-FFF2-40B4-BE49-F238E27FC236}">
                <a16:creationId xmlns:a16="http://schemas.microsoft.com/office/drawing/2014/main" id="{74724977-F299-EF61-16BE-95F0DA6B7A65}"/>
              </a:ext>
            </a:extLst>
          </p:cNvPr>
          <p:cNvSpPr/>
          <p:nvPr/>
        </p:nvSpPr>
        <p:spPr>
          <a:xfrm>
            <a:off x="7353818" y="2566846"/>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388" name="Retângulo 387">
            <a:extLst>
              <a:ext uri="{FF2B5EF4-FFF2-40B4-BE49-F238E27FC236}">
                <a16:creationId xmlns:a16="http://schemas.microsoft.com/office/drawing/2014/main" id="{341D81CC-7EB8-C653-98E4-1A4DC06A98C3}"/>
              </a:ext>
            </a:extLst>
          </p:cNvPr>
          <p:cNvSpPr/>
          <p:nvPr/>
        </p:nvSpPr>
        <p:spPr>
          <a:xfrm>
            <a:off x="7353818" y="2902281"/>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sp>
        <p:nvSpPr>
          <p:cNvPr id="425" name="CaixaDeTexto 424">
            <a:extLst>
              <a:ext uri="{FF2B5EF4-FFF2-40B4-BE49-F238E27FC236}">
                <a16:creationId xmlns:a16="http://schemas.microsoft.com/office/drawing/2014/main" id="{B1C1942C-1727-CD9E-9311-F59A9566CAE4}"/>
              </a:ext>
            </a:extLst>
          </p:cNvPr>
          <p:cNvSpPr txBox="1"/>
          <p:nvPr/>
        </p:nvSpPr>
        <p:spPr>
          <a:xfrm>
            <a:off x="7353818" y="1700808"/>
            <a:ext cx="1728192"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Grupos</a:t>
            </a:r>
            <a:br>
              <a:rPr lang="pt-BR" dirty="0"/>
            </a:br>
            <a:r>
              <a:rPr lang="pt-BR" dirty="0"/>
              <a:t>de Custo</a:t>
            </a:r>
          </a:p>
        </p:txBody>
      </p:sp>
      <p:sp>
        <p:nvSpPr>
          <p:cNvPr id="426" name="CaixaDeTexto 425">
            <a:extLst>
              <a:ext uri="{FF2B5EF4-FFF2-40B4-BE49-F238E27FC236}">
                <a16:creationId xmlns:a16="http://schemas.microsoft.com/office/drawing/2014/main" id="{E6C58E7C-9365-1F20-6422-50C7D5EA67D4}"/>
              </a:ext>
            </a:extLst>
          </p:cNvPr>
          <p:cNvSpPr txBox="1"/>
          <p:nvPr/>
        </p:nvSpPr>
        <p:spPr>
          <a:xfrm>
            <a:off x="9257291" y="1700808"/>
            <a:ext cx="1584176"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Custo Estimado </a:t>
            </a:r>
            <a:r>
              <a:rPr lang="pt-BR" dirty="0" err="1"/>
              <a:t>Mensalizado</a:t>
            </a:r>
            <a:endParaRPr lang="pt-BR" dirty="0"/>
          </a:p>
        </p:txBody>
      </p:sp>
      <p:cxnSp>
        <p:nvCxnSpPr>
          <p:cNvPr id="545" name="Conector: Angulado 544">
            <a:extLst>
              <a:ext uri="{FF2B5EF4-FFF2-40B4-BE49-F238E27FC236}">
                <a16:creationId xmlns:a16="http://schemas.microsoft.com/office/drawing/2014/main" id="{4A1ADB1B-F34B-948F-9467-A5E70A3776FF}"/>
              </a:ext>
            </a:extLst>
          </p:cNvPr>
          <p:cNvCxnSpPr>
            <a:cxnSpLocks/>
            <a:stCxn id="346" idx="3"/>
            <a:endCxn id="368" idx="1"/>
          </p:cNvCxnSpPr>
          <p:nvPr/>
        </p:nvCxnSpPr>
        <p:spPr>
          <a:xfrm flipV="1">
            <a:off x="6622649" y="2366648"/>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48" name="Conector: Angulado 547">
            <a:extLst>
              <a:ext uri="{FF2B5EF4-FFF2-40B4-BE49-F238E27FC236}">
                <a16:creationId xmlns:a16="http://schemas.microsoft.com/office/drawing/2014/main" id="{5E0DE4F8-EFA7-467D-217D-94D16AE168F2}"/>
              </a:ext>
            </a:extLst>
          </p:cNvPr>
          <p:cNvCxnSpPr>
            <a:cxnSpLocks/>
            <a:stCxn id="346" idx="3"/>
            <a:endCxn id="388" idx="1"/>
          </p:cNvCxnSpPr>
          <p:nvPr/>
        </p:nvCxnSpPr>
        <p:spPr>
          <a:xfrm>
            <a:off x="6622649" y="2702083"/>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51" name="Conector de Seta Reta 550">
            <a:extLst>
              <a:ext uri="{FF2B5EF4-FFF2-40B4-BE49-F238E27FC236}">
                <a16:creationId xmlns:a16="http://schemas.microsoft.com/office/drawing/2014/main" id="{203AD699-DA8F-182F-D640-0F4330795A3A}"/>
              </a:ext>
            </a:extLst>
          </p:cNvPr>
          <p:cNvCxnSpPr>
            <a:cxnSpLocks/>
            <a:stCxn id="346" idx="3"/>
            <a:endCxn id="378" idx="1"/>
          </p:cNvCxnSpPr>
          <p:nvPr/>
        </p:nvCxnSpPr>
        <p:spPr>
          <a:xfrm>
            <a:off x="6622649" y="2702083"/>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70" name="Retângulo 369">
            <a:extLst>
              <a:ext uri="{FF2B5EF4-FFF2-40B4-BE49-F238E27FC236}">
                <a16:creationId xmlns:a16="http://schemas.microsoft.com/office/drawing/2014/main" id="{2A08C181-3AC5-AD46-09A1-DD4046604A75}"/>
              </a:ext>
            </a:extLst>
          </p:cNvPr>
          <p:cNvSpPr/>
          <p:nvPr/>
        </p:nvSpPr>
        <p:spPr>
          <a:xfrm>
            <a:off x="9257291" y="2231411"/>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371" name="CaixaDeTexto 370">
            <a:extLst>
              <a:ext uri="{FF2B5EF4-FFF2-40B4-BE49-F238E27FC236}">
                <a16:creationId xmlns:a16="http://schemas.microsoft.com/office/drawing/2014/main" id="{92F0D1CF-2EE3-6F32-0527-7F3E2A915F44}"/>
              </a:ext>
            </a:extLst>
          </p:cNvPr>
          <p:cNvSpPr txBox="1"/>
          <p:nvPr/>
        </p:nvSpPr>
        <p:spPr>
          <a:xfrm>
            <a:off x="9257861" y="2181804"/>
            <a:ext cx="543468" cy="173427"/>
          </a:xfrm>
          <a:prstGeom prst="rect">
            <a:avLst/>
          </a:prstGeom>
          <a:noFill/>
        </p:spPr>
        <p:txBody>
          <a:bodyPr wrap="square" rtlCol="0">
            <a:spAutoFit/>
          </a:bodyPr>
          <a:lstStyle/>
          <a:p>
            <a:pPr algn="ctr"/>
            <a:r>
              <a:rPr lang="pt-BR" sz="900" b="1" i="1" dirty="0"/>
              <a:t>Mês 1</a:t>
            </a:r>
          </a:p>
        </p:txBody>
      </p:sp>
      <p:sp>
        <p:nvSpPr>
          <p:cNvPr id="372" name="CaixaDeTexto 371">
            <a:extLst>
              <a:ext uri="{FF2B5EF4-FFF2-40B4-BE49-F238E27FC236}">
                <a16:creationId xmlns:a16="http://schemas.microsoft.com/office/drawing/2014/main" id="{3BF886AE-336C-2C62-2064-B91725B3460E}"/>
              </a:ext>
            </a:extLst>
          </p:cNvPr>
          <p:cNvSpPr txBox="1"/>
          <p:nvPr/>
        </p:nvSpPr>
        <p:spPr>
          <a:xfrm>
            <a:off x="9257291" y="232796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376" name="CaixaDeTexto 375">
            <a:extLst>
              <a:ext uri="{FF2B5EF4-FFF2-40B4-BE49-F238E27FC236}">
                <a16:creationId xmlns:a16="http://schemas.microsoft.com/office/drawing/2014/main" id="{C107854B-5684-15BD-41F6-B8FCC5223AF8}"/>
              </a:ext>
            </a:extLst>
          </p:cNvPr>
          <p:cNvSpPr txBox="1"/>
          <p:nvPr/>
        </p:nvSpPr>
        <p:spPr>
          <a:xfrm>
            <a:off x="9655063" y="214894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82" name="CaixaDeTexto 581">
            <a:extLst>
              <a:ext uri="{FF2B5EF4-FFF2-40B4-BE49-F238E27FC236}">
                <a16:creationId xmlns:a16="http://schemas.microsoft.com/office/drawing/2014/main" id="{C7C68952-924F-9D9B-3DCB-B95883C32B57}"/>
              </a:ext>
            </a:extLst>
          </p:cNvPr>
          <p:cNvSpPr txBox="1"/>
          <p:nvPr/>
        </p:nvSpPr>
        <p:spPr>
          <a:xfrm>
            <a:off x="10305060" y="2181804"/>
            <a:ext cx="543468" cy="230832"/>
          </a:xfrm>
          <a:prstGeom prst="rect">
            <a:avLst/>
          </a:prstGeom>
          <a:noFill/>
        </p:spPr>
        <p:txBody>
          <a:bodyPr wrap="square" rtlCol="0">
            <a:spAutoFit/>
          </a:bodyPr>
          <a:lstStyle/>
          <a:p>
            <a:pPr algn="ctr"/>
            <a:r>
              <a:rPr lang="pt-BR" sz="900" b="1" i="1" dirty="0"/>
              <a:t>Mês n</a:t>
            </a:r>
          </a:p>
        </p:txBody>
      </p:sp>
      <p:sp>
        <p:nvSpPr>
          <p:cNvPr id="583" name="CaixaDeTexto 582">
            <a:extLst>
              <a:ext uri="{FF2B5EF4-FFF2-40B4-BE49-F238E27FC236}">
                <a16:creationId xmlns:a16="http://schemas.microsoft.com/office/drawing/2014/main" id="{0E68AB21-BA1C-77D1-C298-8E4004F76F31}"/>
              </a:ext>
            </a:extLst>
          </p:cNvPr>
          <p:cNvSpPr txBox="1"/>
          <p:nvPr/>
        </p:nvSpPr>
        <p:spPr>
          <a:xfrm>
            <a:off x="10305060" y="232796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84" name="CaixaDeTexto 583">
            <a:extLst>
              <a:ext uri="{FF2B5EF4-FFF2-40B4-BE49-F238E27FC236}">
                <a16:creationId xmlns:a16="http://schemas.microsoft.com/office/drawing/2014/main" id="{4BD12C86-95EF-1F58-A889-E4F7C657899C}"/>
              </a:ext>
            </a:extLst>
          </p:cNvPr>
          <p:cNvSpPr txBox="1"/>
          <p:nvPr/>
        </p:nvSpPr>
        <p:spPr>
          <a:xfrm>
            <a:off x="9655063" y="2270590"/>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nvGrpSpPr>
          <p:cNvPr id="586" name="Agrupar 585">
            <a:extLst>
              <a:ext uri="{FF2B5EF4-FFF2-40B4-BE49-F238E27FC236}">
                <a16:creationId xmlns:a16="http://schemas.microsoft.com/office/drawing/2014/main" id="{266F349B-F718-5CF7-0D51-13179DB031FA}"/>
              </a:ext>
            </a:extLst>
          </p:cNvPr>
          <p:cNvGrpSpPr/>
          <p:nvPr/>
        </p:nvGrpSpPr>
        <p:grpSpPr>
          <a:xfrm>
            <a:off x="9257291" y="2489149"/>
            <a:ext cx="1591237" cy="394472"/>
            <a:chOff x="8390231" y="2244009"/>
            <a:chExt cx="1591237" cy="394472"/>
          </a:xfrm>
        </p:grpSpPr>
        <p:sp>
          <p:nvSpPr>
            <p:cNvPr id="587" name="Retângulo 586">
              <a:extLst>
                <a:ext uri="{FF2B5EF4-FFF2-40B4-BE49-F238E27FC236}">
                  <a16:creationId xmlns:a16="http://schemas.microsoft.com/office/drawing/2014/main" id="{327AD27C-4BA3-0889-8331-301DA9DD8C34}"/>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588" name="CaixaDeTexto 587">
              <a:extLst>
                <a:ext uri="{FF2B5EF4-FFF2-40B4-BE49-F238E27FC236}">
                  <a16:creationId xmlns:a16="http://schemas.microsoft.com/office/drawing/2014/main" id="{07723F41-51F5-C8C6-9E3F-6BC3CC1E2A91}"/>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589" name="CaixaDeTexto 588">
              <a:extLst>
                <a:ext uri="{FF2B5EF4-FFF2-40B4-BE49-F238E27FC236}">
                  <a16:creationId xmlns:a16="http://schemas.microsoft.com/office/drawing/2014/main" id="{B4DFC77A-9CA5-796E-4D97-9EB5F7276F2A}"/>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0" name="CaixaDeTexto 589">
              <a:extLst>
                <a:ext uri="{FF2B5EF4-FFF2-40B4-BE49-F238E27FC236}">
                  <a16:creationId xmlns:a16="http://schemas.microsoft.com/office/drawing/2014/main" id="{FA93D903-3A7B-9769-425F-8263A913047A}"/>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91" name="CaixaDeTexto 590">
              <a:extLst>
                <a:ext uri="{FF2B5EF4-FFF2-40B4-BE49-F238E27FC236}">
                  <a16:creationId xmlns:a16="http://schemas.microsoft.com/office/drawing/2014/main" id="{93548757-ED81-86AD-8C68-A230FAE6CDE1}"/>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592" name="CaixaDeTexto 591">
              <a:extLst>
                <a:ext uri="{FF2B5EF4-FFF2-40B4-BE49-F238E27FC236}">
                  <a16:creationId xmlns:a16="http://schemas.microsoft.com/office/drawing/2014/main" id="{649717E4-A0AF-83F7-0316-CE196F243FE7}"/>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3" name="CaixaDeTexto 592">
              <a:extLst>
                <a:ext uri="{FF2B5EF4-FFF2-40B4-BE49-F238E27FC236}">
                  <a16:creationId xmlns:a16="http://schemas.microsoft.com/office/drawing/2014/main" id="{8DBCE738-43F1-A893-A823-53AA8A617493}"/>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grpSp>
        <p:nvGrpSpPr>
          <p:cNvPr id="602" name="Agrupar 601">
            <a:extLst>
              <a:ext uri="{FF2B5EF4-FFF2-40B4-BE49-F238E27FC236}">
                <a16:creationId xmlns:a16="http://schemas.microsoft.com/office/drawing/2014/main" id="{D0239F8F-EAB8-F2B1-5095-B61547DC50D5}"/>
              </a:ext>
            </a:extLst>
          </p:cNvPr>
          <p:cNvGrpSpPr/>
          <p:nvPr/>
        </p:nvGrpSpPr>
        <p:grpSpPr>
          <a:xfrm>
            <a:off x="9257291" y="2829356"/>
            <a:ext cx="1591237" cy="394472"/>
            <a:chOff x="8390231" y="2924424"/>
            <a:chExt cx="1591237" cy="394472"/>
          </a:xfrm>
        </p:grpSpPr>
        <p:sp>
          <p:nvSpPr>
            <p:cNvPr id="595" name="Retângulo 594">
              <a:extLst>
                <a:ext uri="{FF2B5EF4-FFF2-40B4-BE49-F238E27FC236}">
                  <a16:creationId xmlns:a16="http://schemas.microsoft.com/office/drawing/2014/main" id="{3E7102E4-D449-5054-9E7B-719FFF845AC6}"/>
                </a:ext>
              </a:extLst>
            </p:cNvPr>
            <p:cNvSpPr/>
            <p:nvPr/>
          </p:nvSpPr>
          <p:spPr>
            <a:xfrm>
              <a:off x="8390232" y="2997349"/>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596" name="CaixaDeTexto 595">
              <a:extLst>
                <a:ext uri="{FF2B5EF4-FFF2-40B4-BE49-F238E27FC236}">
                  <a16:creationId xmlns:a16="http://schemas.microsoft.com/office/drawing/2014/main" id="{4ED6661D-7AAB-3E58-E80F-056C3C289D60}"/>
                </a:ext>
              </a:extLst>
            </p:cNvPr>
            <p:cNvSpPr txBox="1"/>
            <p:nvPr/>
          </p:nvSpPr>
          <p:spPr>
            <a:xfrm>
              <a:off x="8390231" y="2957287"/>
              <a:ext cx="543468" cy="173427"/>
            </a:xfrm>
            <a:prstGeom prst="rect">
              <a:avLst/>
            </a:prstGeom>
            <a:noFill/>
          </p:spPr>
          <p:txBody>
            <a:bodyPr wrap="square" rtlCol="0">
              <a:spAutoFit/>
            </a:bodyPr>
            <a:lstStyle/>
            <a:p>
              <a:pPr algn="ctr"/>
              <a:r>
                <a:rPr lang="pt-BR" sz="900" b="1" i="1" dirty="0"/>
                <a:t>Mês 1</a:t>
              </a:r>
            </a:p>
          </p:txBody>
        </p:sp>
        <p:sp>
          <p:nvSpPr>
            <p:cNvPr id="597" name="CaixaDeTexto 596">
              <a:extLst>
                <a:ext uri="{FF2B5EF4-FFF2-40B4-BE49-F238E27FC236}">
                  <a16:creationId xmlns:a16="http://schemas.microsoft.com/office/drawing/2014/main" id="{8DC94BA9-9A53-27C2-E4FE-EFF72ECEF733}"/>
                </a:ext>
              </a:extLst>
            </p:cNvPr>
            <p:cNvSpPr txBox="1"/>
            <p:nvPr/>
          </p:nvSpPr>
          <p:spPr>
            <a:xfrm>
              <a:off x="8390231" y="3103452"/>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8" name="CaixaDeTexto 597">
              <a:extLst>
                <a:ext uri="{FF2B5EF4-FFF2-40B4-BE49-F238E27FC236}">
                  <a16:creationId xmlns:a16="http://schemas.microsoft.com/office/drawing/2014/main" id="{845F2A0E-41D8-ECF3-CBB4-B6BFE4B3FADE}"/>
                </a:ext>
              </a:extLst>
            </p:cNvPr>
            <p:cNvSpPr txBox="1"/>
            <p:nvPr/>
          </p:nvSpPr>
          <p:spPr>
            <a:xfrm>
              <a:off x="8788003" y="2924424"/>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99" name="CaixaDeTexto 598">
              <a:extLst>
                <a:ext uri="{FF2B5EF4-FFF2-40B4-BE49-F238E27FC236}">
                  <a16:creationId xmlns:a16="http://schemas.microsoft.com/office/drawing/2014/main" id="{184FBBA4-498B-638C-1D36-E1CF9211C8F1}"/>
                </a:ext>
              </a:extLst>
            </p:cNvPr>
            <p:cNvSpPr txBox="1"/>
            <p:nvPr/>
          </p:nvSpPr>
          <p:spPr>
            <a:xfrm>
              <a:off x="9438000" y="2957287"/>
              <a:ext cx="543468" cy="230832"/>
            </a:xfrm>
            <a:prstGeom prst="rect">
              <a:avLst/>
            </a:prstGeom>
            <a:noFill/>
          </p:spPr>
          <p:txBody>
            <a:bodyPr wrap="square" rtlCol="0">
              <a:spAutoFit/>
            </a:bodyPr>
            <a:lstStyle/>
            <a:p>
              <a:pPr algn="ctr"/>
              <a:r>
                <a:rPr lang="pt-BR" sz="900" b="1" i="1" dirty="0"/>
                <a:t>Mês n</a:t>
              </a:r>
            </a:p>
          </p:txBody>
        </p:sp>
        <p:sp>
          <p:nvSpPr>
            <p:cNvPr id="600" name="CaixaDeTexto 599">
              <a:extLst>
                <a:ext uri="{FF2B5EF4-FFF2-40B4-BE49-F238E27FC236}">
                  <a16:creationId xmlns:a16="http://schemas.microsoft.com/office/drawing/2014/main" id="{8B615C2A-40A4-E636-823B-6256A69FC1E8}"/>
                </a:ext>
              </a:extLst>
            </p:cNvPr>
            <p:cNvSpPr txBox="1"/>
            <p:nvPr/>
          </p:nvSpPr>
          <p:spPr>
            <a:xfrm>
              <a:off x="9438000" y="3103452"/>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01" name="CaixaDeTexto 600">
              <a:extLst>
                <a:ext uri="{FF2B5EF4-FFF2-40B4-BE49-F238E27FC236}">
                  <a16:creationId xmlns:a16="http://schemas.microsoft.com/office/drawing/2014/main" id="{3471A04A-5505-2A2A-0F09-2E764E92CC55}"/>
                </a:ext>
              </a:extLst>
            </p:cNvPr>
            <p:cNvSpPr txBox="1"/>
            <p:nvPr/>
          </p:nvSpPr>
          <p:spPr>
            <a:xfrm>
              <a:off x="8788003" y="3046073"/>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cxnSp>
        <p:nvCxnSpPr>
          <p:cNvPr id="604" name="Conector de Seta Reta 603">
            <a:extLst>
              <a:ext uri="{FF2B5EF4-FFF2-40B4-BE49-F238E27FC236}">
                <a16:creationId xmlns:a16="http://schemas.microsoft.com/office/drawing/2014/main" id="{5C2B6673-FA98-5FBA-0404-E98BEBFBF966}"/>
              </a:ext>
            </a:extLst>
          </p:cNvPr>
          <p:cNvCxnSpPr>
            <a:cxnSpLocks/>
            <a:stCxn id="378" idx="3"/>
            <a:endCxn id="587" idx="1"/>
          </p:cNvCxnSpPr>
          <p:nvPr/>
        </p:nvCxnSpPr>
        <p:spPr>
          <a:xfrm>
            <a:off x="9082010" y="2702083"/>
            <a:ext cx="175281" cy="4773"/>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12" name="Conector de Seta Reta 611">
            <a:extLst>
              <a:ext uri="{FF2B5EF4-FFF2-40B4-BE49-F238E27FC236}">
                <a16:creationId xmlns:a16="http://schemas.microsoft.com/office/drawing/2014/main" id="{4326DE37-B93C-E621-93C4-9921DAB4309A}"/>
              </a:ext>
            </a:extLst>
          </p:cNvPr>
          <p:cNvCxnSpPr>
            <a:cxnSpLocks/>
            <a:stCxn id="388" idx="3"/>
            <a:endCxn id="595" idx="1"/>
          </p:cNvCxnSpPr>
          <p:nvPr/>
        </p:nvCxnSpPr>
        <p:spPr>
          <a:xfrm>
            <a:off x="9082010" y="3037518"/>
            <a:ext cx="175282"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 name="Conector de Seta Reta 603">
            <a:extLst>
              <a:ext uri="{FF2B5EF4-FFF2-40B4-BE49-F238E27FC236}">
                <a16:creationId xmlns:a16="http://schemas.microsoft.com/office/drawing/2014/main" id="{140AB728-BBC9-17B9-35C6-646B49CE8263}"/>
              </a:ext>
            </a:extLst>
          </p:cNvPr>
          <p:cNvCxnSpPr>
            <a:cxnSpLocks/>
            <a:stCxn id="368" idx="3"/>
            <a:endCxn id="370" idx="1"/>
          </p:cNvCxnSpPr>
          <p:nvPr/>
        </p:nvCxnSpPr>
        <p:spPr>
          <a:xfrm>
            <a:off x="9082010" y="2366648"/>
            <a:ext cx="175281"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97734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FFDF-DB4E-382C-9138-727E9BB58307}"/>
            </a:ext>
          </a:extLst>
        </p:cNvPr>
        <p:cNvGrpSpPr/>
        <p:nvPr/>
      </p:nvGrpSpPr>
      <p:grpSpPr>
        <a:xfrm>
          <a:off x="0" y="0"/>
          <a:ext cx="0" cy="0"/>
          <a:chOff x="0" y="0"/>
          <a:chExt cx="0" cy="0"/>
        </a:xfrm>
      </p:grpSpPr>
      <p:sp>
        <p:nvSpPr>
          <p:cNvPr id="347" name="Retângulo: Cantos Arredondados 346">
            <a:extLst>
              <a:ext uri="{FF2B5EF4-FFF2-40B4-BE49-F238E27FC236}">
                <a16:creationId xmlns:a16="http://schemas.microsoft.com/office/drawing/2014/main" id="{8EF2C68E-7A45-FB7E-FFC2-68C0C54D9AD4}"/>
              </a:ext>
            </a:extLst>
          </p:cNvPr>
          <p:cNvSpPr/>
          <p:nvPr/>
        </p:nvSpPr>
        <p:spPr>
          <a:xfrm>
            <a:off x="4928217" y="3578747"/>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2</a:t>
            </a:r>
          </a:p>
        </p:txBody>
      </p:sp>
      <p:cxnSp>
        <p:nvCxnSpPr>
          <p:cNvPr id="440" name="Conector: Angulado 439">
            <a:extLst>
              <a:ext uri="{FF2B5EF4-FFF2-40B4-BE49-F238E27FC236}">
                <a16:creationId xmlns:a16="http://schemas.microsoft.com/office/drawing/2014/main" id="{0AFDA1E4-8E26-EA33-B612-BBB00C267EAA}"/>
              </a:ext>
            </a:extLst>
          </p:cNvPr>
          <p:cNvCxnSpPr>
            <a:cxnSpLocks/>
            <a:stCxn id="341" idx="3"/>
            <a:endCxn id="347" idx="1"/>
          </p:cNvCxnSpPr>
          <p:nvPr/>
        </p:nvCxnSpPr>
        <p:spPr>
          <a:xfrm>
            <a:off x="4391574" y="3266370"/>
            <a:ext cx="536643" cy="552562"/>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6" name="Conector: Angulado 565">
            <a:extLst>
              <a:ext uri="{FF2B5EF4-FFF2-40B4-BE49-F238E27FC236}">
                <a16:creationId xmlns:a16="http://schemas.microsoft.com/office/drawing/2014/main" id="{87A366C4-D6F7-EF8D-3C6E-172CA62A05E5}"/>
              </a:ext>
            </a:extLst>
          </p:cNvPr>
          <p:cNvCxnSpPr>
            <a:cxnSpLocks/>
            <a:stCxn id="347" idx="3"/>
            <a:endCxn id="534" idx="1"/>
          </p:cNvCxnSpPr>
          <p:nvPr/>
        </p:nvCxnSpPr>
        <p:spPr>
          <a:xfrm flipV="1">
            <a:off x="6622649" y="3483497"/>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42" name="Conector de Seta Reta 641">
            <a:extLst>
              <a:ext uri="{FF2B5EF4-FFF2-40B4-BE49-F238E27FC236}">
                <a16:creationId xmlns:a16="http://schemas.microsoft.com/office/drawing/2014/main" id="{D64BFE59-F091-0984-2C2E-C9FC92BC3CB4}"/>
              </a:ext>
            </a:extLst>
          </p:cNvPr>
          <p:cNvCxnSpPr>
            <a:cxnSpLocks/>
            <a:stCxn id="534" idx="3"/>
            <a:endCxn id="634" idx="1"/>
          </p:cNvCxnSpPr>
          <p:nvPr/>
        </p:nvCxnSpPr>
        <p:spPr>
          <a:xfrm>
            <a:off x="9082010" y="3483497"/>
            <a:ext cx="175281" cy="2037"/>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2" name="Espaço Reservado para Conteúdo 1">
            <a:extLst>
              <a:ext uri="{FF2B5EF4-FFF2-40B4-BE49-F238E27FC236}">
                <a16:creationId xmlns:a16="http://schemas.microsoft.com/office/drawing/2014/main" id="{2FDF0D1C-830D-8BA0-CDC0-67275538F448}"/>
              </a:ext>
            </a:extLst>
          </p:cNvPr>
          <p:cNvSpPr>
            <a:spLocks noGrp="1"/>
          </p:cNvSpPr>
          <p:nvPr>
            <p:ph idx="1"/>
          </p:nvPr>
        </p:nvSpPr>
        <p:spPr>
          <a:xfrm>
            <a:off x="696000" y="1052736"/>
            <a:ext cx="10800000" cy="556377"/>
          </a:xfrm>
        </p:spPr>
        <p:txBody>
          <a:bodyPr>
            <a:normAutofit/>
          </a:bodyPr>
          <a:lstStyle/>
          <a:p>
            <a:pPr marL="0" indent="0">
              <a:buNone/>
            </a:pPr>
            <a:r>
              <a:rPr lang="pt-BR" sz="1400" dirty="0"/>
              <a:t>Dessa forma, temos a </a:t>
            </a:r>
            <a:r>
              <a:rPr lang="pt-BR" sz="1400" b="1" dirty="0"/>
              <a:t>visão executiva dos das grandes linhas de custos </a:t>
            </a:r>
            <a:r>
              <a:rPr lang="pt-BR" sz="1400" dirty="0"/>
              <a:t>e conseguimos rastrear as </a:t>
            </a:r>
            <a:r>
              <a:rPr lang="pt-BR" sz="1400" b="1" dirty="0"/>
              <a:t>estimativas por Demandas e Obra</a:t>
            </a:r>
          </a:p>
        </p:txBody>
      </p:sp>
      <p:sp>
        <p:nvSpPr>
          <p:cNvPr id="5" name="Título 4">
            <a:extLst>
              <a:ext uri="{FF2B5EF4-FFF2-40B4-BE49-F238E27FC236}">
                <a16:creationId xmlns:a16="http://schemas.microsoft.com/office/drawing/2014/main" id="{FC9BFC7A-42EB-3AD2-36A2-E9C6DB215E25}"/>
              </a:ext>
            </a:extLst>
          </p:cNvPr>
          <p:cNvSpPr>
            <a:spLocks noGrp="1"/>
          </p:cNvSpPr>
          <p:nvPr>
            <p:ph type="title"/>
          </p:nvPr>
        </p:nvSpPr>
        <p:spPr/>
        <p:txBody>
          <a:bodyPr/>
          <a:lstStyle/>
          <a:p>
            <a:r>
              <a:rPr lang="pt-BR" dirty="0"/>
              <a:t>Planejamento por Escopo/Demanda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Estrutura de Dados – </a:t>
            </a:r>
            <a:r>
              <a:rPr kumimoji="0" lang="pt-BR" sz="1600" b="0" i="0" u="sng" strike="noStrike" kern="1200" cap="none" spc="0" normalizeH="0" baseline="0" noProof="0" dirty="0">
                <a:ln>
                  <a:noFill/>
                </a:ln>
                <a:solidFill>
                  <a:prstClr val="black"/>
                </a:solidFill>
                <a:effectLst/>
                <a:uLnTx/>
                <a:uFillTx/>
                <a:latin typeface="Calibri"/>
                <a:ea typeface="+mj-ea"/>
                <a:cs typeface="+mj-cs"/>
              </a:rPr>
              <a:t>Novo Modelo</a:t>
            </a:r>
            <a:endParaRPr lang="pt-BR" u="sng" dirty="0"/>
          </a:p>
        </p:txBody>
      </p:sp>
      <p:sp>
        <p:nvSpPr>
          <p:cNvPr id="343" name="Retângulo: Cantos Arredondados 342">
            <a:extLst>
              <a:ext uri="{FF2B5EF4-FFF2-40B4-BE49-F238E27FC236}">
                <a16:creationId xmlns:a16="http://schemas.microsoft.com/office/drawing/2014/main" id="{3E96A363-565E-7443-9AA7-77D63D025C4E}"/>
              </a:ext>
            </a:extLst>
          </p:cNvPr>
          <p:cNvSpPr/>
          <p:nvPr/>
        </p:nvSpPr>
        <p:spPr>
          <a:xfrm>
            <a:off x="2167436" y="5812444"/>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103 - Parada Programada</a:t>
            </a:r>
          </a:p>
        </p:txBody>
      </p:sp>
      <p:cxnSp>
        <p:nvCxnSpPr>
          <p:cNvPr id="344" name="Conector de Seta Reta 343">
            <a:extLst>
              <a:ext uri="{FF2B5EF4-FFF2-40B4-BE49-F238E27FC236}">
                <a16:creationId xmlns:a16="http://schemas.microsoft.com/office/drawing/2014/main" id="{492A7C1D-D2BB-9644-FCFB-3A18EA636420}"/>
              </a:ext>
            </a:extLst>
          </p:cNvPr>
          <p:cNvCxnSpPr>
            <a:cxnSpLocks/>
            <a:stCxn id="342" idx="3"/>
            <a:endCxn id="348" idx="1"/>
          </p:cNvCxnSpPr>
          <p:nvPr/>
        </p:nvCxnSpPr>
        <p:spPr>
          <a:xfrm>
            <a:off x="4391574" y="4935781"/>
            <a:ext cx="536643"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42" name="Retângulo: Cantos Arredondados 341">
            <a:extLst>
              <a:ext uri="{FF2B5EF4-FFF2-40B4-BE49-F238E27FC236}">
                <a16:creationId xmlns:a16="http://schemas.microsoft.com/office/drawing/2014/main" id="{E0652549-C62A-0D89-0679-A0F38350C6B8}"/>
              </a:ext>
            </a:extLst>
          </p:cNvPr>
          <p:cNvSpPr/>
          <p:nvPr/>
        </p:nvSpPr>
        <p:spPr>
          <a:xfrm>
            <a:off x="2167436" y="4695596"/>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101 - Parada Especial</a:t>
            </a:r>
          </a:p>
        </p:txBody>
      </p:sp>
      <p:sp>
        <p:nvSpPr>
          <p:cNvPr id="348" name="Retângulo: Cantos Arredondados 347">
            <a:extLst>
              <a:ext uri="{FF2B5EF4-FFF2-40B4-BE49-F238E27FC236}">
                <a16:creationId xmlns:a16="http://schemas.microsoft.com/office/drawing/2014/main" id="{B984B848-7FB9-4A25-CF9A-C6EA7963DA94}"/>
              </a:ext>
            </a:extLst>
          </p:cNvPr>
          <p:cNvSpPr/>
          <p:nvPr/>
        </p:nvSpPr>
        <p:spPr>
          <a:xfrm>
            <a:off x="4928217" y="4695596"/>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3</a:t>
            </a:r>
          </a:p>
        </p:txBody>
      </p:sp>
      <p:sp>
        <p:nvSpPr>
          <p:cNvPr id="349" name="Retângulo: Cantos Arredondados 348">
            <a:extLst>
              <a:ext uri="{FF2B5EF4-FFF2-40B4-BE49-F238E27FC236}">
                <a16:creationId xmlns:a16="http://schemas.microsoft.com/office/drawing/2014/main" id="{448BE4F7-C561-1AD8-AA7F-AD68B5B51C22}"/>
              </a:ext>
            </a:extLst>
          </p:cNvPr>
          <p:cNvSpPr/>
          <p:nvPr/>
        </p:nvSpPr>
        <p:spPr>
          <a:xfrm>
            <a:off x="4928217" y="5812444"/>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4</a:t>
            </a:r>
          </a:p>
        </p:txBody>
      </p:sp>
      <p:cxnSp>
        <p:nvCxnSpPr>
          <p:cNvPr id="351" name="Conector: Angulado 350">
            <a:extLst>
              <a:ext uri="{FF2B5EF4-FFF2-40B4-BE49-F238E27FC236}">
                <a16:creationId xmlns:a16="http://schemas.microsoft.com/office/drawing/2014/main" id="{B4FCF464-6019-8682-A2CE-03182FB63136}"/>
              </a:ext>
            </a:extLst>
          </p:cNvPr>
          <p:cNvCxnSpPr>
            <a:cxnSpLocks/>
            <a:stCxn id="340" idx="3"/>
            <a:endCxn id="343" idx="1"/>
          </p:cNvCxnSpPr>
          <p:nvPr/>
        </p:nvCxnSpPr>
        <p:spPr>
          <a:xfrm>
            <a:off x="1640374" y="4935782"/>
            <a:ext cx="527062" cy="1116847"/>
          </a:xfrm>
          <a:prstGeom prst="bentConnector3">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354" name="Conector de Seta Reta 353">
            <a:extLst>
              <a:ext uri="{FF2B5EF4-FFF2-40B4-BE49-F238E27FC236}">
                <a16:creationId xmlns:a16="http://schemas.microsoft.com/office/drawing/2014/main" id="{4373DFD5-1C0A-AA2B-4CEF-746737879E39}"/>
              </a:ext>
            </a:extLst>
          </p:cNvPr>
          <p:cNvCxnSpPr>
            <a:cxnSpLocks/>
            <a:stCxn id="340" idx="3"/>
            <a:endCxn id="342" idx="1"/>
          </p:cNvCxnSpPr>
          <p:nvPr/>
        </p:nvCxnSpPr>
        <p:spPr>
          <a:xfrm flipV="1">
            <a:off x="1640374" y="4935781"/>
            <a:ext cx="527062" cy="1"/>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66" name="CaixaDeTexto 365">
            <a:extLst>
              <a:ext uri="{FF2B5EF4-FFF2-40B4-BE49-F238E27FC236}">
                <a16:creationId xmlns:a16="http://schemas.microsoft.com/office/drawing/2014/main" id="{4D106E71-8031-E4F7-1DC0-15720C04E93F}"/>
              </a:ext>
            </a:extLst>
          </p:cNvPr>
          <p:cNvSpPr txBox="1"/>
          <p:nvPr/>
        </p:nvSpPr>
        <p:spPr>
          <a:xfrm>
            <a:off x="776278" y="1700808"/>
            <a:ext cx="85843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ID da Parada</a:t>
            </a:r>
          </a:p>
        </p:txBody>
      </p:sp>
      <p:cxnSp>
        <p:nvCxnSpPr>
          <p:cNvPr id="436" name="Conector de Seta Reta 435">
            <a:extLst>
              <a:ext uri="{FF2B5EF4-FFF2-40B4-BE49-F238E27FC236}">
                <a16:creationId xmlns:a16="http://schemas.microsoft.com/office/drawing/2014/main" id="{0DF312BB-F874-AEB8-8AB6-9C707DA4CA8F}"/>
              </a:ext>
            </a:extLst>
          </p:cNvPr>
          <p:cNvCxnSpPr>
            <a:cxnSpLocks/>
            <a:stCxn id="343" idx="3"/>
            <a:endCxn id="349" idx="1"/>
          </p:cNvCxnSpPr>
          <p:nvPr/>
        </p:nvCxnSpPr>
        <p:spPr>
          <a:xfrm>
            <a:off x="4391574" y="6052629"/>
            <a:ext cx="536643"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534" name="Retângulo 533">
            <a:extLst>
              <a:ext uri="{FF2B5EF4-FFF2-40B4-BE49-F238E27FC236}">
                <a16:creationId xmlns:a16="http://schemas.microsoft.com/office/drawing/2014/main" id="{DDFA5256-DCD9-D1F5-1A90-B875A2F8DF14}"/>
              </a:ext>
            </a:extLst>
          </p:cNvPr>
          <p:cNvSpPr/>
          <p:nvPr/>
        </p:nvSpPr>
        <p:spPr>
          <a:xfrm>
            <a:off x="7353818" y="3348260"/>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35" name="Retângulo 534">
            <a:extLst>
              <a:ext uri="{FF2B5EF4-FFF2-40B4-BE49-F238E27FC236}">
                <a16:creationId xmlns:a16="http://schemas.microsoft.com/office/drawing/2014/main" id="{02F177FD-D901-1C7A-B44D-C4E6020CEC1F}"/>
              </a:ext>
            </a:extLst>
          </p:cNvPr>
          <p:cNvSpPr/>
          <p:nvPr/>
        </p:nvSpPr>
        <p:spPr>
          <a:xfrm>
            <a:off x="7353818" y="3683695"/>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36" name="Retângulo 535">
            <a:extLst>
              <a:ext uri="{FF2B5EF4-FFF2-40B4-BE49-F238E27FC236}">
                <a16:creationId xmlns:a16="http://schemas.microsoft.com/office/drawing/2014/main" id="{95D10402-313A-CF9B-3C31-522742545CEA}"/>
              </a:ext>
            </a:extLst>
          </p:cNvPr>
          <p:cNvSpPr/>
          <p:nvPr/>
        </p:nvSpPr>
        <p:spPr>
          <a:xfrm>
            <a:off x="7353818" y="4019130"/>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sp>
        <p:nvSpPr>
          <p:cNvPr id="538" name="Retângulo 537">
            <a:extLst>
              <a:ext uri="{FF2B5EF4-FFF2-40B4-BE49-F238E27FC236}">
                <a16:creationId xmlns:a16="http://schemas.microsoft.com/office/drawing/2014/main" id="{262B46DC-CAC3-10AD-1269-15AF5708CD4F}"/>
              </a:ext>
            </a:extLst>
          </p:cNvPr>
          <p:cNvSpPr/>
          <p:nvPr/>
        </p:nvSpPr>
        <p:spPr>
          <a:xfrm>
            <a:off x="7353818" y="4465109"/>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39" name="Retângulo 538">
            <a:extLst>
              <a:ext uri="{FF2B5EF4-FFF2-40B4-BE49-F238E27FC236}">
                <a16:creationId xmlns:a16="http://schemas.microsoft.com/office/drawing/2014/main" id="{83813858-4244-A829-991C-9A15D595AA53}"/>
              </a:ext>
            </a:extLst>
          </p:cNvPr>
          <p:cNvSpPr/>
          <p:nvPr/>
        </p:nvSpPr>
        <p:spPr>
          <a:xfrm>
            <a:off x="7353818" y="4800544"/>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40" name="Retângulo 539">
            <a:extLst>
              <a:ext uri="{FF2B5EF4-FFF2-40B4-BE49-F238E27FC236}">
                <a16:creationId xmlns:a16="http://schemas.microsoft.com/office/drawing/2014/main" id="{0D793E1E-6EBE-5333-CA08-2B6C1878BA68}"/>
              </a:ext>
            </a:extLst>
          </p:cNvPr>
          <p:cNvSpPr/>
          <p:nvPr/>
        </p:nvSpPr>
        <p:spPr>
          <a:xfrm>
            <a:off x="7353818" y="5135979"/>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sp>
        <p:nvSpPr>
          <p:cNvPr id="542" name="Retângulo 541">
            <a:extLst>
              <a:ext uri="{FF2B5EF4-FFF2-40B4-BE49-F238E27FC236}">
                <a16:creationId xmlns:a16="http://schemas.microsoft.com/office/drawing/2014/main" id="{2C0D4906-7DCA-28B7-7A69-085318E3BBEB}"/>
              </a:ext>
            </a:extLst>
          </p:cNvPr>
          <p:cNvSpPr/>
          <p:nvPr/>
        </p:nvSpPr>
        <p:spPr>
          <a:xfrm>
            <a:off x="7353818" y="5581957"/>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543" name="Retângulo 542">
            <a:extLst>
              <a:ext uri="{FF2B5EF4-FFF2-40B4-BE49-F238E27FC236}">
                <a16:creationId xmlns:a16="http://schemas.microsoft.com/office/drawing/2014/main" id="{0E4A5501-9872-D943-29CE-5799ECC80740}"/>
              </a:ext>
            </a:extLst>
          </p:cNvPr>
          <p:cNvSpPr/>
          <p:nvPr/>
        </p:nvSpPr>
        <p:spPr>
          <a:xfrm>
            <a:off x="7353818" y="5917392"/>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544" name="Retângulo 543">
            <a:extLst>
              <a:ext uri="{FF2B5EF4-FFF2-40B4-BE49-F238E27FC236}">
                <a16:creationId xmlns:a16="http://schemas.microsoft.com/office/drawing/2014/main" id="{0D5A12C0-366F-F222-7200-35ADEB94106E}"/>
              </a:ext>
            </a:extLst>
          </p:cNvPr>
          <p:cNvSpPr/>
          <p:nvPr/>
        </p:nvSpPr>
        <p:spPr>
          <a:xfrm>
            <a:off x="7353818" y="6252827"/>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cxnSp>
        <p:nvCxnSpPr>
          <p:cNvPr id="554" name="Conector de Seta Reta 553">
            <a:extLst>
              <a:ext uri="{FF2B5EF4-FFF2-40B4-BE49-F238E27FC236}">
                <a16:creationId xmlns:a16="http://schemas.microsoft.com/office/drawing/2014/main" id="{B38AFF74-5E95-6D86-1E67-56063FA60293}"/>
              </a:ext>
            </a:extLst>
          </p:cNvPr>
          <p:cNvCxnSpPr>
            <a:cxnSpLocks/>
            <a:stCxn id="347" idx="3"/>
            <a:endCxn id="535" idx="1"/>
          </p:cNvCxnSpPr>
          <p:nvPr/>
        </p:nvCxnSpPr>
        <p:spPr>
          <a:xfrm>
            <a:off x="6622649" y="3818932"/>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57" name="Conector de Seta Reta 556">
            <a:extLst>
              <a:ext uri="{FF2B5EF4-FFF2-40B4-BE49-F238E27FC236}">
                <a16:creationId xmlns:a16="http://schemas.microsoft.com/office/drawing/2014/main" id="{BB795930-11C5-85CA-3B15-C15B5DB95C9D}"/>
              </a:ext>
            </a:extLst>
          </p:cNvPr>
          <p:cNvCxnSpPr>
            <a:cxnSpLocks/>
            <a:stCxn id="348" idx="3"/>
            <a:endCxn id="539" idx="1"/>
          </p:cNvCxnSpPr>
          <p:nvPr/>
        </p:nvCxnSpPr>
        <p:spPr>
          <a:xfrm>
            <a:off x="6622649" y="4935781"/>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0" name="Conector de Seta Reta 559">
            <a:extLst>
              <a:ext uri="{FF2B5EF4-FFF2-40B4-BE49-F238E27FC236}">
                <a16:creationId xmlns:a16="http://schemas.microsoft.com/office/drawing/2014/main" id="{99D825D6-31C9-B6DB-0BE4-E10EF123661C}"/>
              </a:ext>
            </a:extLst>
          </p:cNvPr>
          <p:cNvCxnSpPr>
            <a:cxnSpLocks/>
            <a:stCxn id="349" idx="3"/>
            <a:endCxn id="543" idx="1"/>
          </p:cNvCxnSpPr>
          <p:nvPr/>
        </p:nvCxnSpPr>
        <p:spPr>
          <a:xfrm>
            <a:off x="6622649" y="6052629"/>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3" name="Conector: Angulado 562">
            <a:extLst>
              <a:ext uri="{FF2B5EF4-FFF2-40B4-BE49-F238E27FC236}">
                <a16:creationId xmlns:a16="http://schemas.microsoft.com/office/drawing/2014/main" id="{54E8D9CE-3945-4E13-59B7-681718150373}"/>
              </a:ext>
            </a:extLst>
          </p:cNvPr>
          <p:cNvCxnSpPr>
            <a:cxnSpLocks/>
            <a:stCxn id="347" idx="3"/>
            <a:endCxn id="536" idx="1"/>
          </p:cNvCxnSpPr>
          <p:nvPr/>
        </p:nvCxnSpPr>
        <p:spPr>
          <a:xfrm>
            <a:off x="6622649" y="3818932"/>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69" name="Conector: Angulado 568">
            <a:extLst>
              <a:ext uri="{FF2B5EF4-FFF2-40B4-BE49-F238E27FC236}">
                <a16:creationId xmlns:a16="http://schemas.microsoft.com/office/drawing/2014/main" id="{7F68CC5B-183A-78C3-9968-E70C0FB80A90}"/>
              </a:ext>
            </a:extLst>
          </p:cNvPr>
          <p:cNvCxnSpPr>
            <a:cxnSpLocks/>
            <a:stCxn id="348" idx="3"/>
            <a:endCxn id="538" idx="1"/>
          </p:cNvCxnSpPr>
          <p:nvPr/>
        </p:nvCxnSpPr>
        <p:spPr>
          <a:xfrm flipV="1">
            <a:off x="6622649" y="4600346"/>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2" name="Conector: Angulado 571">
            <a:extLst>
              <a:ext uri="{FF2B5EF4-FFF2-40B4-BE49-F238E27FC236}">
                <a16:creationId xmlns:a16="http://schemas.microsoft.com/office/drawing/2014/main" id="{D4AB0FD1-6A36-2B7B-DDD5-4AE17EED72A9}"/>
              </a:ext>
            </a:extLst>
          </p:cNvPr>
          <p:cNvCxnSpPr>
            <a:cxnSpLocks/>
            <a:stCxn id="348" idx="3"/>
            <a:endCxn id="540" idx="1"/>
          </p:cNvCxnSpPr>
          <p:nvPr/>
        </p:nvCxnSpPr>
        <p:spPr>
          <a:xfrm>
            <a:off x="6622649" y="4935781"/>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6" name="Conector: Angulado 575">
            <a:extLst>
              <a:ext uri="{FF2B5EF4-FFF2-40B4-BE49-F238E27FC236}">
                <a16:creationId xmlns:a16="http://schemas.microsoft.com/office/drawing/2014/main" id="{0F3C5D1D-3ECC-6693-EE7F-B0D5E0787700}"/>
              </a:ext>
            </a:extLst>
          </p:cNvPr>
          <p:cNvCxnSpPr>
            <a:cxnSpLocks/>
            <a:stCxn id="349" idx="3"/>
            <a:endCxn id="542" idx="1"/>
          </p:cNvCxnSpPr>
          <p:nvPr/>
        </p:nvCxnSpPr>
        <p:spPr>
          <a:xfrm flipV="1">
            <a:off x="6622649" y="5717194"/>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79" name="Conector: Angulado 578">
            <a:extLst>
              <a:ext uri="{FF2B5EF4-FFF2-40B4-BE49-F238E27FC236}">
                <a16:creationId xmlns:a16="http://schemas.microsoft.com/office/drawing/2014/main" id="{E8F51C8C-6E69-6EE2-9334-9961D63D136D}"/>
              </a:ext>
            </a:extLst>
          </p:cNvPr>
          <p:cNvCxnSpPr>
            <a:cxnSpLocks/>
            <a:stCxn id="349" idx="3"/>
            <a:endCxn id="544" idx="1"/>
          </p:cNvCxnSpPr>
          <p:nvPr/>
        </p:nvCxnSpPr>
        <p:spPr>
          <a:xfrm>
            <a:off x="6622649" y="6052629"/>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grpSp>
        <p:nvGrpSpPr>
          <p:cNvPr id="617" name="Agrupar 616">
            <a:extLst>
              <a:ext uri="{FF2B5EF4-FFF2-40B4-BE49-F238E27FC236}">
                <a16:creationId xmlns:a16="http://schemas.microsoft.com/office/drawing/2014/main" id="{E90EA739-0134-3D58-659D-A8E171217718}"/>
              </a:ext>
            </a:extLst>
          </p:cNvPr>
          <p:cNvGrpSpPr/>
          <p:nvPr/>
        </p:nvGrpSpPr>
        <p:grpSpPr>
          <a:xfrm>
            <a:off x="9257291" y="3267827"/>
            <a:ext cx="1591237" cy="394472"/>
            <a:chOff x="8390231" y="2244009"/>
            <a:chExt cx="1591237" cy="394472"/>
          </a:xfrm>
        </p:grpSpPr>
        <p:sp>
          <p:nvSpPr>
            <p:cNvPr id="634" name="Retângulo 633">
              <a:extLst>
                <a:ext uri="{FF2B5EF4-FFF2-40B4-BE49-F238E27FC236}">
                  <a16:creationId xmlns:a16="http://schemas.microsoft.com/office/drawing/2014/main" id="{CD1B378A-CD1C-CCFB-C7E6-D0DAF04F5B2F}"/>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35" name="CaixaDeTexto 634">
              <a:extLst>
                <a:ext uri="{FF2B5EF4-FFF2-40B4-BE49-F238E27FC236}">
                  <a16:creationId xmlns:a16="http://schemas.microsoft.com/office/drawing/2014/main" id="{857FA696-ED8B-3A41-41FE-06BE420CB1B7}"/>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636" name="CaixaDeTexto 635">
              <a:extLst>
                <a:ext uri="{FF2B5EF4-FFF2-40B4-BE49-F238E27FC236}">
                  <a16:creationId xmlns:a16="http://schemas.microsoft.com/office/drawing/2014/main" id="{7DDBF1A7-C18E-9035-CDEA-2F4A1A322A9E}"/>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7" name="CaixaDeTexto 636">
              <a:extLst>
                <a:ext uri="{FF2B5EF4-FFF2-40B4-BE49-F238E27FC236}">
                  <a16:creationId xmlns:a16="http://schemas.microsoft.com/office/drawing/2014/main" id="{F9E4F9FF-B88A-3C4B-A60A-BC87B90B08E7}"/>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38" name="CaixaDeTexto 637">
              <a:extLst>
                <a:ext uri="{FF2B5EF4-FFF2-40B4-BE49-F238E27FC236}">
                  <a16:creationId xmlns:a16="http://schemas.microsoft.com/office/drawing/2014/main" id="{89F2C3E8-F475-5263-D927-B94DB9676154}"/>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639" name="CaixaDeTexto 638">
              <a:extLst>
                <a:ext uri="{FF2B5EF4-FFF2-40B4-BE49-F238E27FC236}">
                  <a16:creationId xmlns:a16="http://schemas.microsoft.com/office/drawing/2014/main" id="{78FCAB47-E7B5-75B4-9FAE-3AE3D1D330BD}"/>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40" name="CaixaDeTexto 639">
              <a:extLst>
                <a:ext uri="{FF2B5EF4-FFF2-40B4-BE49-F238E27FC236}">
                  <a16:creationId xmlns:a16="http://schemas.microsoft.com/office/drawing/2014/main" id="{1EBBF5D8-D52C-3373-DCC8-3118CDF845DE}"/>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grpSp>
        <p:nvGrpSpPr>
          <p:cNvPr id="618" name="Agrupar 617">
            <a:extLst>
              <a:ext uri="{FF2B5EF4-FFF2-40B4-BE49-F238E27FC236}">
                <a16:creationId xmlns:a16="http://schemas.microsoft.com/office/drawing/2014/main" id="{83D29000-2F76-852E-3404-AE50F3D7E8D5}"/>
              </a:ext>
            </a:extLst>
          </p:cNvPr>
          <p:cNvGrpSpPr/>
          <p:nvPr/>
        </p:nvGrpSpPr>
        <p:grpSpPr>
          <a:xfrm>
            <a:off x="9257291" y="3601685"/>
            <a:ext cx="1591237" cy="394472"/>
            <a:chOff x="8390231" y="2244009"/>
            <a:chExt cx="1591237" cy="394472"/>
          </a:xfrm>
        </p:grpSpPr>
        <p:sp>
          <p:nvSpPr>
            <p:cNvPr id="627" name="Retângulo 626">
              <a:extLst>
                <a:ext uri="{FF2B5EF4-FFF2-40B4-BE49-F238E27FC236}">
                  <a16:creationId xmlns:a16="http://schemas.microsoft.com/office/drawing/2014/main" id="{E0AE9A8A-4483-BB2E-314E-EDF0F130857E}"/>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28" name="CaixaDeTexto 627">
              <a:extLst>
                <a:ext uri="{FF2B5EF4-FFF2-40B4-BE49-F238E27FC236}">
                  <a16:creationId xmlns:a16="http://schemas.microsoft.com/office/drawing/2014/main" id="{39D7FE5F-EB23-012D-EA1D-641DD9D8A0EB}"/>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629" name="CaixaDeTexto 628">
              <a:extLst>
                <a:ext uri="{FF2B5EF4-FFF2-40B4-BE49-F238E27FC236}">
                  <a16:creationId xmlns:a16="http://schemas.microsoft.com/office/drawing/2014/main" id="{3973E081-07DB-D5C0-97CF-CD0CBC0AEACA}"/>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0" name="CaixaDeTexto 629">
              <a:extLst>
                <a:ext uri="{FF2B5EF4-FFF2-40B4-BE49-F238E27FC236}">
                  <a16:creationId xmlns:a16="http://schemas.microsoft.com/office/drawing/2014/main" id="{EC169EBD-E33F-2955-FD59-14436800EC6E}"/>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31" name="CaixaDeTexto 630">
              <a:extLst>
                <a:ext uri="{FF2B5EF4-FFF2-40B4-BE49-F238E27FC236}">
                  <a16:creationId xmlns:a16="http://schemas.microsoft.com/office/drawing/2014/main" id="{861C8DE5-05EB-8237-1639-A0010972F5D9}"/>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632" name="CaixaDeTexto 631">
              <a:extLst>
                <a:ext uri="{FF2B5EF4-FFF2-40B4-BE49-F238E27FC236}">
                  <a16:creationId xmlns:a16="http://schemas.microsoft.com/office/drawing/2014/main" id="{4817C776-75BB-9DA2-790C-ED50A4A841EC}"/>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33" name="CaixaDeTexto 632">
              <a:extLst>
                <a:ext uri="{FF2B5EF4-FFF2-40B4-BE49-F238E27FC236}">
                  <a16:creationId xmlns:a16="http://schemas.microsoft.com/office/drawing/2014/main" id="{3276964E-A331-DFDE-0F73-1C38C5294CDF}"/>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sp>
        <p:nvSpPr>
          <p:cNvPr id="620" name="Retângulo 619">
            <a:extLst>
              <a:ext uri="{FF2B5EF4-FFF2-40B4-BE49-F238E27FC236}">
                <a16:creationId xmlns:a16="http://schemas.microsoft.com/office/drawing/2014/main" id="{ED3B4BA1-04B0-43D5-5B08-8A6EF1055B39}"/>
              </a:ext>
            </a:extLst>
          </p:cNvPr>
          <p:cNvSpPr/>
          <p:nvPr/>
        </p:nvSpPr>
        <p:spPr>
          <a:xfrm>
            <a:off x="9257292" y="4021167"/>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21" name="CaixaDeTexto 620">
            <a:extLst>
              <a:ext uri="{FF2B5EF4-FFF2-40B4-BE49-F238E27FC236}">
                <a16:creationId xmlns:a16="http://schemas.microsoft.com/office/drawing/2014/main" id="{4C408B7E-EC7D-656D-16AD-1C9FC54DDA45}"/>
              </a:ext>
            </a:extLst>
          </p:cNvPr>
          <p:cNvSpPr txBox="1"/>
          <p:nvPr/>
        </p:nvSpPr>
        <p:spPr>
          <a:xfrm>
            <a:off x="9257291" y="3981105"/>
            <a:ext cx="543468" cy="173427"/>
          </a:xfrm>
          <a:prstGeom prst="rect">
            <a:avLst/>
          </a:prstGeom>
          <a:noFill/>
        </p:spPr>
        <p:txBody>
          <a:bodyPr wrap="square" rtlCol="0">
            <a:spAutoFit/>
          </a:bodyPr>
          <a:lstStyle/>
          <a:p>
            <a:pPr algn="ctr"/>
            <a:r>
              <a:rPr lang="pt-BR" sz="900" b="1" i="1" dirty="0"/>
              <a:t>Mês 1</a:t>
            </a:r>
          </a:p>
        </p:txBody>
      </p:sp>
      <p:sp>
        <p:nvSpPr>
          <p:cNvPr id="622" name="CaixaDeTexto 621">
            <a:extLst>
              <a:ext uri="{FF2B5EF4-FFF2-40B4-BE49-F238E27FC236}">
                <a16:creationId xmlns:a16="http://schemas.microsoft.com/office/drawing/2014/main" id="{3DE72B7B-B9BC-C86D-EF3F-03A0260105A4}"/>
              </a:ext>
            </a:extLst>
          </p:cNvPr>
          <p:cNvSpPr txBox="1"/>
          <p:nvPr/>
        </p:nvSpPr>
        <p:spPr>
          <a:xfrm>
            <a:off x="9257291" y="4127270"/>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23" name="CaixaDeTexto 622">
            <a:extLst>
              <a:ext uri="{FF2B5EF4-FFF2-40B4-BE49-F238E27FC236}">
                <a16:creationId xmlns:a16="http://schemas.microsoft.com/office/drawing/2014/main" id="{C767AA98-D7EE-FDB3-3F5B-F3FDE5CDEF45}"/>
              </a:ext>
            </a:extLst>
          </p:cNvPr>
          <p:cNvSpPr txBox="1"/>
          <p:nvPr/>
        </p:nvSpPr>
        <p:spPr>
          <a:xfrm>
            <a:off x="9655063" y="3948242"/>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24" name="CaixaDeTexto 623">
            <a:extLst>
              <a:ext uri="{FF2B5EF4-FFF2-40B4-BE49-F238E27FC236}">
                <a16:creationId xmlns:a16="http://schemas.microsoft.com/office/drawing/2014/main" id="{59AEC687-4B94-B2EF-C091-D8222116C60A}"/>
              </a:ext>
            </a:extLst>
          </p:cNvPr>
          <p:cNvSpPr txBox="1"/>
          <p:nvPr/>
        </p:nvSpPr>
        <p:spPr>
          <a:xfrm>
            <a:off x="10305060" y="3981105"/>
            <a:ext cx="543468" cy="230832"/>
          </a:xfrm>
          <a:prstGeom prst="rect">
            <a:avLst/>
          </a:prstGeom>
          <a:noFill/>
        </p:spPr>
        <p:txBody>
          <a:bodyPr wrap="square" rtlCol="0">
            <a:spAutoFit/>
          </a:bodyPr>
          <a:lstStyle/>
          <a:p>
            <a:pPr algn="ctr"/>
            <a:r>
              <a:rPr lang="pt-BR" sz="900" b="1" i="1" dirty="0"/>
              <a:t>Mês n</a:t>
            </a:r>
          </a:p>
        </p:txBody>
      </p:sp>
      <p:sp>
        <p:nvSpPr>
          <p:cNvPr id="625" name="CaixaDeTexto 624">
            <a:extLst>
              <a:ext uri="{FF2B5EF4-FFF2-40B4-BE49-F238E27FC236}">
                <a16:creationId xmlns:a16="http://schemas.microsoft.com/office/drawing/2014/main" id="{420AF2B7-C147-9FAF-975B-1B40F9FF5975}"/>
              </a:ext>
            </a:extLst>
          </p:cNvPr>
          <p:cNvSpPr txBox="1"/>
          <p:nvPr/>
        </p:nvSpPr>
        <p:spPr>
          <a:xfrm>
            <a:off x="10305060" y="4127270"/>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26" name="CaixaDeTexto 625">
            <a:extLst>
              <a:ext uri="{FF2B5EF4-FFF2-40B4-BE49-F238E27FC236}">
                <a16:creationId xmlns:a16="http://schemas.microsoft.com/office/drawing/2014/main" id="{7336CEC8-F1C7-8B66-2613-F284E0260C44}"/>
              </a:ext>
            </a:extLst>
          </p:cNvPr>
          <p:cNvSpPr txBox="1"/>
          <p:nvPr/>
        </p:nvSpPr>
        <p:spPr>
          <a:xfrm>
            <a:off x="9655063" y="406989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41" name="Conector de Seta Reta 640">
            <a:extLst>
              <a:ext uri="{FF2B5EF4-FFF2-40B4-BE49-F238E27FC236}">
                <a16:creationId xmlns:a16="http://schemas.microsoft.com/office/drawing/2014/main" id="{8CEACD3A-1499-3D45-AEB0-BBB9C948FD63}"/>
              </a:ext>
            </a:extLst>
          </p:cNvPr>
          <p:cNvCxnSpPr>
            <a:cxnSpLocks/>
            <a:stCxn id="535" idx="3"/>
            <a:endCxn id="627" idx="1"/>
          </p:cNvCxnSpPr>
          <p:nvPr/>
        </p:nvCxnSpPr>
        <p:spPr>
          <a:xfrm>
            <a:off x="9082010" y="3818932"/>
            <a:ext cx="175281" cy="46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43" name="Conector de Seta Reta 642">
            <a:extLst>
              <a:ext uri="{FF2B5EF4-FFF2-40B4-BE49-F238E27FC236}">
                <a16:creationId xmlns:a16="http://schemas.microsoft.com/office/drawing/2014/main" id="{47654F5C-6B6F-93D8-E0B5-B40E12EA07B7}"/>
              </a:ext>
            </a:extLst>
          </p:cNvPr>
          <p:cNvCxnSpPr>
            <a:cxnSpLocks/>
            <a:stCxn id="536" idx="3"/>
            <a:endCxn id="620" idx="1"/>
          </p:cNvCxnSpPr>
          <p:nvPr/>
        </p:nvCxnSpPr>
        <p:spPr>
          <a:xfrm>
            <a:off x="9082010" y="4154367"/>
            <a:ext cx="175282" cy="2037"/>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662" name="Retângulo 661">
            <a:extLst>
              <a:ext uri="{FF2B5EF4-FFF2-40B4-BE49-F238E27FC236}">
                <a16:creationId xmlns:a16="http://schemas.microsoft.com/office/drawing/2014/main" id="{37C194B8-B33E-5313-A8AD-207FBF34EBBD}"/>
              </a:ext>
            </a:extLst>
          </p:cNvPr>
          <p:cNvSpPr/>
          <p:nvPr/>
        </p:nvSpPr>
        <p:spPr>
          <a:xfrm>
            <a:off x="9257291" y="4475568"/>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63" name="CaixaDeTexto 662">
            <a:extLst>
              <a:ext uri="{FF2B5EF4-FFF2-40B4-BE49-F238E27FC236}">
                <a16:creationId xmlns:a16="http://schemas.microsoft.com/office/drawing/2014/main" id="{37D0AC4D-B0FA-343A-5A8C-6CAB1E70B3A3}"/>
              </a:ext>
            </a:extLst>
          </p:cNvPr>
          <p:cNvSpPr txBox="1"/>
          <p:nvPr/>
        </p:nvSpPr>
        <p:spPr>
          <a:xfrm>
            <a:off x="9257291" y="4425961"/>
            <a:ext cx="543468" cy="173427"/>
          </a:xfrm>
          <a:prstGeom prst="rect">
            <a:avLst/>
          </a:prstGeom>
          <a:noFill/>
        </p:spPr>
        <p:txBody>
          <a:bodyPr wrap="square" rtlCol="0">
            <a:spAutoFit/>
          </a:bodyPr>
          <a:lstStyle/>
          <a:p>
            <a:pPr algn="ctr"/>
            <a:r>
              <a:rPr lang="pt-BR" sz="900" b="1" i="1" dirty="0"/>
              <a:t>Mês 1</a:t>
            </a:r>
          </a:p>
        </p:txBody>
      </p:sp>
      <p:sp>
        <p:nvSpPr>
          <p:cNvPr id="664" name="CaixaDeTexto 663">
            <a:extLst>
              <a:ext uri="{FF2B5EF4-FFF2-40B4-BE49-F238E27FC236}">
                <a16:creationId xmlns:a16="http://schemas.microsoft.com/office/drawing/2014/main" id="{4BD0DE3F-8199-8D8E-77CD-7C2307070F31}"/>
              </a:ext>
            </a:extLst>
          </p:cNvPr>
          <p:cNvSpPr txBox="1"/>
          <p:nvPr/>
        </p:nvSpPr>
        <p:spPr>
          <a:xfrm>
            <a:off x="9257291" y="4572126"/>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5" name="CaixaDeTexto 664">
            <a:extLst>
              <a:ext uri="{FF2B5EF4-FFF2-40B4-BE49-F238E27FC236}">
                <a16:creationId xmlns:a16="http://schemas.microsoft.com/office/drawing/2014/main" id="{28AD23C6-B942-C7EB-82B4-C95B4F45127A}"/>
              </a:ext>
            </a:extLst>
          </p:cNvPr>
          <p:cNvSpPr txBox="1"/>
          <p:nvPr/>
        </p:nvSpPr>
        <p:spPr>
          <a:xfrm>
            <a:off x="9655063" y="439309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66" name="CaixaDeTexto 665">
            <a:extLst>
              <a:ext uri="{FF2B5EF4-FFF2-40B4-BE49-F238E27FC236}">
                <a16:creationId xmlns:a16="http://schemas.microsoft.com/office/drawing/2014/main" id="{5C3EA7A3-BE87-C279-ACA5-B45D3940748E}"/>
              </a:ext>
            </a:extLst>
          </p:cNvPr>
          <p:cNvSpPr txBox="1"/>
          <p:nvPr/>
        </p:nvSpPr>
        <p:spPr>
          <a:xfrm>
            <a:off x="10305060" y="4425961"/>
            <a:ext cx="543468" cy="230832"/>
          </a:xfrm>
          <a:prstGeom prst="rect">
            <a:avLst/>
          </a:prstGeom>
          <a:noFill/>
        </p:spPr>
        <p:txBody>
          <a:bodyPr wrap="square" rtlCol="0">
            <a:spAutoFit/>
          </a:bodyPr>
          <a:lstStyle/>
          <a:p>
            <a:pPr algn="ctr"/>
            <a:r>
              <a:rPr lang="pt-BR" sz="900" b="1" i="1" dirty="0"/>
              <a:t>Mês n</a:t>
            </a:r>
          </a:p>
        </p:txBody>
      </p:sp>
      <p:sp>
        <p:nvSpPr>
          <p:cNvPr id="667" name="CaixaDeTexto 666">
            <a:extLst>
              <a:ext uri="{FF2B5EF4-FFF2-40B4-BE49-F238E27FC236}">
                <a16:creationId xmlns:a16="http://schemas.microsoft.com/office/drawing/2014/main" id="{CD57DF8C-2E14-79D2-4D1D-CCFEEC9A34F1}"/>
              </a:ext>
            </a:extLst>
          </p:cNvPr>
          <p:cNvSpPr txBox="1"/>
          <p:nvPr/>
        </p:nvSpPr>
        <p:spPr>
          <a:xfrm>
            <a:off x="10305060" y="4572126"/>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8" name="CaixaDeTexto 667">
            <a:extLst>
              <a:ext uri="{FF2B5EF4-FFF2-40B4-BE49-F238E27FC236}">
                <a16:creationId xmlns:a16="http://schemas.microsoft.com/office/drawing/2014/main" id="{3F4ACED8-850B-FE23-8CC2-804C1385D3ED}"/>
              </a:ext>
            </a:extLst>
          </p:cNvPr>
          <p:cNvSpPr txBox="1"/>
          <p:nvPr/>
        </p:nvSpPr>
        <p:spPr>
          <a:xfrm>
            <a:off x="9655063" y="4514747"/>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5" name="Retângulo 654">
            <a:extLst>
              <a:ext uri="{FF2B5EF4-FFF2-40B4-BE49-F238E27FC236}">
                <a16:creationId xmlns:a16="http://schemas.microsoft.com/office/drawing/2014/main" id="{1570CA0A-2C61-5325-8F4E-8A26A706197F}"/>
              </a:ext>
            </a:extLst>
          </p:cNvPr>
          <p:cNvSpPr/>
          <p:nvPr/>
        </p:nvSpPr>
        <p:spPr>
          <a:xfrm>
            <a:off x="9257291" y="480307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56" name="CaixaDeTexto 655">
            <a:extLst>
              <a:ext uri="{FF2B5EF4-FFF2-40B4-BE49-F238E27FC236}">
                <a16:creationId xmlns:a16="http://schemas.microsoft.com/office/drawing/2014/main" id="{6B6DFC60-75A0-1CFD-8A52-CBC687B27F63}"/>
              </a:ext>
            </a:extLst>
          </p:cNvPr>
          <p:cNvSpPr txBox="1"/>
          <p:nvPr/>
        </p:nvSpPr>
        <p:spPr>
          <a:xfrm>
            <a:off x="9257291" y="4766169"/>
            <a:ext cx="543468" cy="173427"/>
          </a:xfrm>
          <a:prstGeom prst="rect">
            <a:avLst/>
          </a:prstGeom>
          <a:noFill/>
        </p:spPr>
        <p:txBody>
          <a:bodyPr wrap="square" rtlCol="0">
            <a:spAutoFit/>
          </a:bodyPr>
          <a:lstStyle/>
          <a:p>
            <a:pPr algn="ctr"/>
            <a:r>
              <a:rPr lang="pt-BR" sz="900" b="1" i="1" dirty="0"/>
              <a:t>Mês 1</a:t>
            </a:r>
          </a:p>
        </p:txBody>
      </p:sp>
      <p:sp>
        <p:nvSpPr>
          <p:cNvPr id="657" name="CaixaDeTexto 656">
            <a:extLst>
              <a:ext uri="{FF2B5EF4-FFF2-40B4-BE49-F238E27FC236}">
                <a16:creationId xmlns:a16="http://schemas.microsoft.com/office/drawing/2014/main" id="{C3ED43F2-F481-6BA0-0F3C-E710CA68F668}"/>
              </a:ext>
            </a:extLst>
          </p:cNvPr>
          <p:cNvSpPr txBox="1"/>
          <p:nvPr/>
        </p:nvSpPr>
        <p:spPr>
          <a:xfrm>
            <a:off x="9257291" y="491233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8" name="CaixaDeTexto 657">
            <a:extLst>
              <a:ext uri="{FF2B5EF4-FFF2-40B4-BE49-F238E27FC236}">
                <a16:creationId xmlns:a16="http://schemas.microsoft.com/office/drawing/2014/main" id="{4F4FCB42-276D-8788-9F79-493B37F2E212}"/>
              </a:ext>
            </a:extLst>
          </p:cNvPr>
          <p:cNvSpPr txBox="1"/>
          <p:nvPr/>
        </p:nvSpPr>
        <p:spPr>
          <a:xfrm>
            <a:off x="9655063" y="4733306"/>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9" name="CaixaDeTexto 658">
            <a:extLst>
              <a:ext uri="{FF2B5EF4-FFF2-40B4-BE49-F238E27FC236}">
                <a16:creationId xmlns:a16="http://schemas.microsoft.com/office/drawing/2014/main" id="{4C23DA83-9E71-C7FE-37EE-F2F9A672FCE9}"/>
              </a:ext>
            </a:extLst>
          </p:cNvPr>
          <p:cNvSpPr txBox="1"/>
          <p:nvPr/>
        </p:nvSpPr>
        <p:spPr>
          <a:xfrm>
            <a:off x="10305060" y="4766169"/>
            <a:ext cx="543468" cy="230832"/>
          </a:xfrm>
          <a:prstGeom prst="rect">
            <a:avLst/>
          </a:prstGeom>
          <a:noFill/>
        </p:spPr>
        <p:txBody>
          <a:bodyPr wrap="square" rtlCol="0">
            <a:spAutoFit/>
          </a:bodyPr>
          <a:lstStyle/>
          <a:p>
            <a:pPr algn="ctr"/>
            <a:r>
              <a:rPr lang="pt-BR" sz="900" b="1" i="1" dirty="0"/>
              <a:t>Mês n</a:t>
            </a:r>
          </a:p>
        </p:txBody>
      </p:sp>
      <p:sp>
        <p:nvSpPr>
          <p:cNvPr id="660" name="CaixaDeTexto 659">
            <a:extLst>
              <a:ext uri="{FF2B5EF4-FFF2-40B4-BE49-F238E27FC236}">
                <a16:creationId xmlns:a16="http://schemas.microsoft.com/office/drawing/2014/main" id="{07F604CE-C2E3-0AD5-8790-BE399ADB6F0A}"/>
              </a:ext>
            </a:extLst>
          </p:cNvPr>
          <p:cNvSpPr txBox="1"/>
          <p:nvPr/>
        </p:nvSpPr>
        <p:spPr>
          <a:xfrm>
            <a:off x="10305060" y="491233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61" name="CaixaDeTexto 660">
            <a:extLst>
              <a:ext uri="{FF2B5EF4-FFF2-40B4-BE49-F238E27FC236}">
                <a16:creationId xmlns:a16="http://schemas.microsoft.com/office/drawing/2014/main" id="{25201FFF-5721-873F-2EB4-E773A595CD91}"/>
              </a:ext>
            </a:extLst>
          </p:cNvPr>
          <p:cNvSpPr txBox="1"/>
          <p:nvPr/>
        </p:nvSpPr>
        <p:spPr>
          <a:xfrm>
            <a:off x="9655063" y="485495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48" name="Retângulo 647">
            <a:extLst>
              <a:ext uri="{FF2B5EF4-FFF2-40B4-BE49-F238E27FC236}">
                <a16:creationId xmlns:a16="http://schemas.microsoft.com/office/drawing/2014/main" id="{9AAC5776-1479-1FF2-72E0-050AFED4013D}"/>
              </a:ext>
            </a:extLst>
          </p:cNvPr>
          <p:cNvSpPr/>
          <p:nvPr/>
        </p:nvSpPr>
        <p:spPr>
          <a:xfrm>
            <a:off x="9257292" y="5136814"/>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49" name="CaixaDeTexto 648">
            <a:extLst>
              <a:ext uri="{FF2B5EF4-FFF2-40B4-BE49-F238E27FC236}">
                <a16:creationId xmlns:a16="http://schemas.microsoft.com/office/drawing/2014/main" id="{81BB8BA0-7000-DC6C-31D6-6C202EF812D4}"/>
              </a:ext>
            </a:extLst>
          </p:cNvPr>
          <p:cNvSpPr txBox="1"/>
          <p:nvPr/>
        </p:nvSpPr>
        <p:spPr>
          <a:xfrm>
            <a:off x="9257291" y="5096752"/>
            <a:ext cx="543468" cy="173427"/>
          </a:xfrm>
          <a:prstGeom prst="rect">
            <a:avLst/>
          </a:prstGeom>
          <a:noFill/>
        </p:spPr>
        <p:txBody>
          <a:bodyPr wrap="square" rtlCol="0">
            <a:spAutoFit/>
          </a:bodyPr>
          <a:lstStyle/>
          <a:p>
            <a:pPr algn="ctr"/>
            <a:r>
              <a:rPr lang="pt-BR" sz="900" b="1" i="1" dirty="0"/>
              <a:t>Mês 1</a:t>
            </a:r>
          </a:p>
        </p:txBody>
      </p:sp>
      <p:sp>
        <p:nvSpPr>
          <p:cNvPr id="650" name="CaixaDeTexto 649">
            <a:extLst>
              <a:ext uri="{FF2B5EF4-FFF2-40B4-BE49-F238E27FC236}">
                <a16:creationId xmlns:a16="http://schemas.microsoft.com/office/drawing/2014/main" id="{B3591359-61DE-FB0D-0C49-6AA210036270}"/>
              </a:ext>
            </a:extLst>
          </p:cNvPr>
          <p:cNvSpPr txBox="1"/>
          <p:nvPr/>
        </p:nvSpPr>
        <p:spPr>
          <a:xfrm>
            <a:off x="9257291" y="524291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1" name="CaixaDeTexto 650">
            <a:extLst>
              <a:ext uri="{FF2B5EF4-FFF2-40B4-BE49-F238E27FC236}">
                <a16:creationId xmlns:a16="http://schemas.microsoft.com/office/drawing/2014/main" id="{03870977-9B57-102B-BBC6-3E72AECF2BEA}"/>
              </a:ext>
            </a:extLst>
          </p:cNvPr>
          <p:cNvSpPr txBox="1"/>
          <p:nvPr/>
        </p:nvSpPr>
        <p:spPr>
          <a:xfrm>
            <a:off x="9655063" y="5073513"/>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52" name="CaixaDeTexto 651">
            <a:extLst>
              <a:ext uri="{FF2B5EF4-FFF2-40B4-BE49-F238E27FC236}">
                <a16:creationId xmlns:a16="http://schemas.microsoft.com/office/drawing/2014/main" id="{3D6B2488-B6A3-9161-2891-ED0E8C5152C9}"/>
              </a:ext>
            </a:extLst>
          </p:cNvPr>
          <p:cNvSpPr txBox="1"/>
          <p:nvPr/>
        </p:nvSpPr>
        <p:spPr>
          <a:xfrm>
            <a:off x="10305060" y="5096752"/>
            <a:ext cx="543468" cy="230832"/>
          </a:xfrm>
          <a:prstGeom prst="rect">
            <a:avLst/>
          </a:prstGeom>
          <a:noFill/>
        </p:spPr>
        <p:txBody>
          <a:bodyPr wrap="square" rtlCol="0">
            <a:spAutoFit/>
          </a:bodyPr>
          <a:lstStyle/>
          <a:p>
            <a:pPr algn="ctr"/>
            <a:r>
              <a:rPr lang="pt-BR" sz="900" b="1" i="1" dirty="0"/>
              <a:t>Mês n</a:t>
            </a:r>
          </a:p>
        </p:txBody>
      </p:sp>
      <p:sp>
        <p:nvSpPr>
          <p:cNvPr id="653" name="CaixaDeTexto 652">
            <a:extLst>
              <a:ext uri="{FF2B5EF4-FFF2-40B4-BE49-F238E27FC236}">
                <a16:creationId xmlns:a16="http://schemas.microsoft.com/office/drawing/2014/main" id="{BAAC9B27-F015-4A27-182C-809E3FAA2FD0}"/>
              </a:ext>
            </a:extLst>
          </p:cNvPr>
          <p:cNvSpPr txBox="1"/>
          <p:nvPr/>
        </p:nvSpPr>
        <p:spPr>
          <a:xfrm>
            <a:off x="10305060" y="524291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54" name="CaixaDeTexto 653">
            <a:extLst>
              <a:ext uri="{FF2B5EF4-FFF2-40B4-BE49-F238E27FC236}">
                <a16:creationId xmlns:a16="http://schemas.microsoft.com/office/drawing/2014/main" id="{200E3352-0D1C-CC29-FB38-1293502CF460}"/>
              </a:ext>
            </a:extLst>
          </p:cNvPr>
          <p:cNvSpPr txBox="1"/>
          <p:nvPr/>
        </p:nvSpPr>
        <p:spPr>
          <a:xfrm>
            <a:off x="9655063" y="518553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69" name="Conector de Seta Reta 668">
            <a:extLst>
              <a:ext uri="{FF2B5EF4-FFF2-40B4-BE49-F238E27FC236}">
                <a16:creationId xmlns:a16="http://schemas.microsoft.com/office/drawing/2014/main" id="{F36DFDCF-9ED1-8240-A53F-85FF46CB86BD}"/>
              </a:ext>
            </a:extLst>
          </p:cNvPr>
          <p:cNvCxnSpPr>
            <a:cxnSpLocks/>
            <a:stCxn id="539" idx="3"/>
            <a:endCxn id="655" idx="1"/>
          </p:cNvCxnSpPr>
          <p:nvPr/>
        </p:nvCxnSpPr>
        <p:spPr>
          <a:xfrm>
            <a:off x="9082010" y="4935781"/>
            <a:ext cx="175281" cy="2532"/>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70" name="Conector de Seta Reta 669">
            <a:extLst>
              <a:ext uri="{FF2B5EF4-FFF2-40B4-BE49-F238E27FC236}">
                <a16:creationId xmlns:a16="http://schemas.microsoft.com/office/drawing/2014/main" id="{436AC058-AA3F-FEEA-E8FF-7287E4E0FB1B}"/>
              </a:ext>
            </a:extLst>
          </p:cNvPr>
          <p:cNvCxnSpPr>
            <a:cxnSpLocks/>
            <a:endCxn id="664" idx="1"/>
          </p:cNvCxnSpPr>
          <p:nvPr/>
        </p:nvCxnSpPr>
        <p:spPr>
          <a:xfrm>
            <a:off x="9082010" y="4610805"/>
            <a:ext cx="175281"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71" name="Conector de Seta Reta 670">
            <a:extLst>
              <a:ext uri="{FF2B5EF4-FFF2-40B4-BE49-F238E27FC236}">
                <a16:creationId xmlns:a16="http://schemas.microsoft.com/office/drawing/2014/main" id="{E5F6CFF5-8A83-18E9-68D5-7404AE0DACD8}"/>
              </a:ext>
            </a:extLst>
          </p:cNvPr>
          <p:cNvCxnSpPr>
            <a:cxnSpLocks/>
            <a:stCxn id="540" idx="3"/>
            <a:endCxn id="648" idx="1"/>
          </p:cNvCxnSpPr>
          <p:nvPr/>
        </p:nvCxnSpPr>
        <p:spPr>
          <a:xfrm>
            <a:off x="9082010" y="5271216"/>
            <a:ext cx="175282" cy="835"/>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690" name="Retângulo 689">
            <a:extLst>
              <a:ext uri="{FF2B5EF4-FFF2-40B4-BE49-F238E27FC236}">
                <a16:creationId xmlns:a16="http://schemas.microsoft.com/office/drawing/2014/main" id="{850F6913-7572-417E-4EDC-D02C6CB7FD47}"/>
              </a:ext>
            </a:extLst>
          </p:cNvPr>
          <p:cNvSpPr/>
          <p:nvPr/>
        </p:nvSpPr>
        <p:spPr>
          <a:xfrm>
            <a:off x="9257291" y="558231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91" name="CaixaDeTexto 690">
            <a:extLst>
              <a:ext uri="{FF2B5EF4-FFF2-40B4-BE49-F238E27FC236}">
                <a16:creationId xmlns:a16="http://schemas.microsoft.com/office/drawing/2014/main" id="{57F47B56-4D9E-30DE-C405-7DDA8FF66278}"/>
              </a:ext>
            </a:extLst>
          </p:cNvPr>
          <p:cNvSpPr txBox="1"/>
          <p:nvPr/>
        </p:nvSpPr>
        <p:spPr>
          <a:xfrm>
            <a:off x="9257291" y="5548749"/>
            <a:ext cx="543468" cy="173427"/>
          </a:xfrm>
          <a:prstGeom prst="rect">
            <a:avLst/>
          </a:prstGeom>
          <a:noFill/>
        </p:spPr>
        <p:txBody>
          <a:bodyPr wrap="square" rtlCol="0">
            <a:spAutoFit/>
          </a:bodyPr>
          <a:lstStyle/>
          <a:p>
            <a:pPr algn="ctr"/>
            <a:r>
              <a:rPr lang="pt-BR" sz="900" b="1" i="1" dirty="0"/>
              <a:t>Mês 1</a:t>
            </a:r>
          </a:p>
        </p:txBody>
      </p:sp>
      <p:sp>
        <p:nvSpPr>
          <p:cNvPr id="692" name="CaixaDeTexto 691">
            <a:extLst>
              <a:ext uri="{FF2B5EF4-FFF2-40B4-BE49-F238E27FC236}">
                <a16:creationId xmlns:a16="http://schemas.microsoft.com/office/drawing/2014/main" id="{EBADF5AF-37C8-31AD-D016-5B981ED15B52}"/>
              </a:ext>
            </a:extLst>
          </p:cNvPr>
          <p:cNvSpPr txBox="1"/>
          <p:nvPr/>
        </p:nvSpPr>
        <p:spPr>
          <a:xfrm>
            <a:off x="9257291" y="5678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93" name="CaixaDeTexto 692">
            <a:extLst>
              <a:ext uri="{FF2B5EF4-FFF2-40B4-BE49-F238E27FC236}">
                <a16:creationId xmlns:a16="http://schemas.microsoft.com/office/drawing/2014/main" id="{2AA71440-2C6A-0C48-A90D-651A8123AA72}"/>
              </a:ext>
            </a:extLst>
          </p:cNvPr>
          <p:cNvSpPr txBox="1"/>
          <p:nvPr/>
        </p:nvSpPr>
        <p:spPr>
          <a:xfrm>
            <a:off x="9655063" y="5515886"/>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94" name="CaixaDeTexto 693">
            <a:extLst>
              <a:ext uri="{FF2B5EF4-FFF2-40B4-BE49-F238E27FC236}">
                <a16:creationId xmlns:a16="http://schemas.microsoft.com/office/drawing/2014/main" id="{43C26046-E020-33D3-59A7-DDFEED11B955}"/>
              </a:ext>
            </a:extLst>
          </p:cNvPr>
          <p:cNvSpPr txBox="1"/>
          <p:nvPr/>
        </p:nvSpPr>
        <p:spPr>
          <a:xfrm>
            <a:off x="10305060" y="5548749"/>
            <a:ext cx="543468" cy="230832"/>
          </a:xfrm>
          <a:prstGeom prst="rect">
            <a:avLst/>
          </a:prstGeom>
          <a:noFill/>
        </p:spPr>
        <p:txBody>
          <a:bodyPr wrap="square" rtlCol="0">
            <a:spAutoFit/>
          </a:bodyPr>
          <a:lstStyle/>
          <a:p>
            <a:pPr algn="ctr"/>
            <a:r>
              <a:rPr lang="pt-BR" sz="900" b="1" i="1" dirty="0"/>
              <a:t>Mês n</a:t>
            </a:r>
          </a:p>
        </p:txBody>
      </p:sp>
      <p:sp>
        <p:nvSpPr>
          <p:cNvPr id="695" name="CaixaDeTexto 694">
            <a:extLst>
              <a:ext uri="{FF2B5EF4-FFF2-40B4-BE49-F238E27FC236}">
                <a16:creationId xmlns:a16="http://schemas.microsoft.com/office/drawing/2014/main" id="{C254246D-5489-FA33-C99B-2F6CE89AB9E0}"/>
              </a:ext>
            </a:extLst>
          </p:cNvPr>
          <p:cNvSpPr txBox="1"/>
          <p:nvPr/>
        </p:nvSpPr>
        <p:spPr>
          <a:xfrm>
            <a:off x="10305060" y="5678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96" name="CaixaDeTexto 695">
            <a:extLst>
              <a:ext uri="{FF2B5EF4-FFF2-40B4-BE49-F238E27FC236}">
                <a16:creationId xmlns:a16="http://schemas.microsoft.com/office/drawing/2014/main" id="{4AC935FC-D25C-F63B-B58C-077715FA0843}"/>
              </a:ext>
            </a:extLst>
          </p:cNvPr>
          <p:cNvSpPr txBox="1"/>
          <p:nvPr/>
        </p:nvSpPr>
        <p:spPr>
          <a:xfrm>
            <a:off x="9655063" y="562149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3" name="Retângulo 682">
            <a:extLst>
              <a:ext uri="{FF2B5EF4-FFF2-40B4-BE49-F238E27FC236}">
                <a16:creationId xmlns:a16="http://schemas.microsoft.com/office/drawing/2014/main" id="{4E574FC4-C7C9-7EC8-B861-5155EEE7D5B7}"/>
              </a:ext>
            </a:extLst>
          </p:cNvPr>
          <p:cNvSpPr/>
          <p:nvPr/>
        </p:nvSpPr>
        <p:spPr>
          <a:xfrm>
            <a:off x="9257291" y="5919316"/>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84" name="CaixaDeTexto 683">
            <a:extLst>
              <a:ext uri="{FF2B5EF4-FFF2-40B4-BE49-F238E27FC236}">
                <a16:creationId xmlns:a16="http://schemas.microsoft.com/office/drawing/2014/main" id="{85B4C0BB-7053-6BAF-2DCE-A619D75282EA}"/>
              </a:ext>
            </a:extLst>
          </p:cNvPr>
          <p:cNvSpPr txBox="1"/>
          <p:nvPr/>
        </p:nvSpPr>
        <p:spPr>
          <a:xfrm>
            <a:off x="9257291" y="5872917"/>
            <a:ext cx="543468" cy="173427"/>
          </a:xfrm>
          <a:prstGeom prst="rect">
            <a:avLst/>
          </a:prstGeom>
          <a:noFill/>
        </p:spPr>
        <p:txBody>
          <a:bodyPr wrap="square" rtlCol="0">
            <a:spAutoFit/>
          </a:bodyPr>
          <a:lstStyle/>
          <a:p>
            <a:pPr algn="ctr"/>
            <a:r>
              <a:rPr lang="pt-BR" sz="900" b="1" i="1" dirty="0"/>
              <a:t>Mês 1</a:t>
            </a:r>
          </a:p>
        </p:txBody>
      </p:sp>
      <p:sp>
        <p:nvSpPr>
          <p:cNvPr id="685" name="CaixaDeTexto 684">
            <a:extLst>
              <a:ext uri="{FF2B5EF4-FFF2-40B4-BE49-F238E27FC236}">
                <a16:creationId xmlns:a16="http://schemas.microsoft.com/office/drawing/2014/main" id="{051359E2-91A3-F4DB-21F5-03A246601420}"/>
              </a:ext>
            </a:extLst>
          </p:cNvPr>
          <p:cNvSpPr txBox="1"/>
          <p:nvPr/>
        </p:nvSpPr>
        <p:spPr>
          <a:xfrm>
            <a:off x="9257291" y="6015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6" name="CaixaDeTexto 685">
            <a:extLst>
              <a:ext uri="{FF2B5EF4-FFF2-40B4-BE49-F238E27FC236}">
                <a16:creationId xmlns:a16="http://schemas.microsoft.com/office/drawing/2014/main" id="{0C0719B9-C405-333A-85E8-DDA70B683E4C}"/>
              </a:ext>
            </a:extLst>
          </p:cNvPr>
          <p:cNvSpPr txBox="1"/>
          <p:nvPr/>
        </p:nvSpPr>
        <p:spPr>
          <a:xfrm>
            <a:off x="9655063" y="5840054"/>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7" name="CaixaDeTexto 686">
            <a:extLst>
              <a:ext uri="{FF2B5EF4-FFF2-40B4-BE49-F238E27FC236}">
                <a16:creationId xmlns:a16="http://schemas.microsoft.com/office/drawing/2014/main" id="{BCEBEDE3-829D-72C1-E30B-F469C71CA4F3}"/>
              </a:ext>
            </a:extLst>
          </p:cNvPr>
          <p:cNvSpPr txBox="1"/>
          <p:nvPr/>
        </p:nvSpPr>
        <p:spPr>
          <a:xfrm>
            <a:off x="10305060" y="5872917"/>
            <a:ext cx="543468" cy="230832"/>
          </a:xfrm>
          <a:prstGeom prst="rect">
            <a:avLst/>
          </a:prstGeom>
          <a:noFill/>
        </p:spPr>
        <p:txBody>
          <a:bodyPr wrap="square" rtlCol="0">
            <a:spAutoFit/>
          </a:bodyPr>
          <a:lstStyle/>
          <a:p>
            <a:pPr algn="ctr"/>
            <a:r>
              <a:rPr lang="pt-BR" sz="900" b="1" i="1" dirty="0"/>
              <a:t>Mês n</a:t>
            </a:r>
          </a:p>
        </p:txBody>
      </p:sp>
      <p:sp>
        <p:nvSpPr>
          <p:cNvPr id="688" name="CaixaDeTexto 687">
            <a:extLst>
              <a:ext uri="{FF2B5EF4-FFF2-40B4-BE49-F238E27FC236}">
                <a16:creationId xmlns:a16="http://schemas.microsoft.com/office/drawing/2014/main" id="{B8958561-902D-5599-C244-1532A76F92BC}"/>
              </a:ext>
            </a:extLst>
          </p:cNvPr>
          <p:cNvSpPr txBox="1"/>
          <p:nvPr/>
        </p:nvSpPr>
        <p:spPr>
          <a:xfrm>
            <a:off x="10305060" y="6015874"/>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9" name="CaixaDeTexto 688">
            <a:extLst>
              <a:ext uri="{FF2B5EF4-FFF2-40B4-BE49-F238E27FC236}">
                <a16:creationId xmlns:a16="http://schemas.microsoft.com/office/drawing/2014/main" id="{552DEF12-F590-176C-1545-69CC837FB773}"/>
              </a:ext>
            </a:extLst>
          </p:cNvPr>
          <p:cNvSpPr txBox="1"/>
          <p:nvPr/>
        </p:nvSpPr>
        <p:spPr>
          <a:xfrm>
            <a:off x="9655063" y="5958495"/>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76" name="Retângulo 675">
            <a:extLst>
              <a:ext uri="{FF2B5EF4-FFF2-40B4-BE49-F238E27FC236}">
                <a16:creationId xmlns:a16="http://schemas.microsoft.com/office/drawing/2014/main" id="{76E6220B-8841-BD0D-0D1B-DE8C0F36735E}"/>
              </a:ext>
            </a:extLst>
          </p:cNvPr>
          <p:cNvSpPr/>
          <p:nvPr/>
        </p:nvSpPr>
        <p:spPr>
          <a:xfrm>
            <a:off x="9257292" y="6253186"/>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677" name="CaixaDeTexto 676">
            <a:extLst>
              <a:ext uri="{FF2B5EF4-FFF2-40B4-BE49-F238E27FC236}">
                <a16:creationId xmlns:a16="http://schemas.microsoft.com/office/drawing/2014/main" id="{C6B0A0E5-F48A-9C66-209D-73B6FBBF589A}"/>
              </a:ext>
            </a:extLst>
          </p:cNvPr>
          <p:cNvSpPr txBox="1"/>
          <p:nvPr/>
        </p:nvSpPr>
        <p:spPr>
          <a:xfrm>
            <a:off x="9257291" y="6213124"/>
            <a:ext cx="543468" cy="173427"/>
          </a:xfrm>
          <a:prstGeom prst="rect">
            <a:avLst/>
          </a:prstGeom>
          <a:noFill/>
        </p:spPr>
        <p:txBody>
          <a:bodyPr wrap="square" rtlCol="0">
            <a:spAutoFit/>
          </a:bodyPr>
          <a:lstStyle/>
          <a:p>
            <a:pPr algn="ctr"/>
            <a:r>
              <a:rPr lang="pt-BR" sz="900" b="1" i="1" dirty="0"/>
              <a:t>Mês 1</a:t>
            </a:r>
          </a:p>
        </p:txBody>
      </p:sp>
      <p:sp>
        <p:nvSpPr>
          <p:cNvPr id="678" name="CaixaDeTexto 677">
            <a:extLst>
              <a:ext uri="{FF2B5EF4-FFF2-40B4-BE49-F238E27FC236}">
                <a16:creationId xmlns:a16="http://schemas.microsoft.com/office/drawing/2014/main" id="{4C233288-3FA0-FBAF-6B65-38B7239240E2}"/>
              </a:ext>
            </a:extLst>
          </p:cNvPr>
          <p:cNvSpPr txBox="1"/>
          <p:nvPr/>
        </p:nvSpPr>
        <p:spPr>
          <a:xfrm>
            <a:off x="9257291" y="635928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79" name="CaixaDeTexto 678">
            <a:extLst>
              <a:ext uri="{FF2B5EF4-FFF2-40B4-BE49-F238E27FC236}">
                <a16:creationId xmlns:a16="http://schemas.microsoft.com/office/drawing/2014/main" id="{67DEA957-D653-AE86-B96B-89BA0BE91C47}"/>
              </a:ext>
            </a:extLst>
          </p:cNvPr>
          <p:cNvSpPr txBox="1"/>
          <p:nvPr/>
        </p:nvSpPr>
        <p:spPr>
          <a:xfrm>
            <a:off x="9655063" y="618026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680" name="CaixaDeTexto 679">
            <a:extLst>
              <a:ext uri="{FF2B5EF4-FFF2-40B4-BE49-F238E27FC236}">
                <a16:creationId xmlns:a16="http://schemas.microsoft.com/office/drawing/2014/main" id="{0A8399F8-C85D-6137-277C-437DA8E4EF58}"/>
              </a:ext>
            </a:extLst>
          </p:cNvPr>
          <p:cNvSpPr txBox="1"/>
          <p:nvPr/>
        </p:nvSpPr>
        <p:spPr>
          <a:xfrm>
            <a:off x="10305060" y="6213124"/>
            <a:ext cx="543468" cy="230832"/>
          </a:xfrm>
          <a:prstGeom prst="rect">
            <a:avLst/>
          </a:prstGeom>
          <a:noFill/>
        </p:spPr>
        <p:txBody>
          <a:bodyPr wrap="square" rtlCol="0">
            <a:spAutoFit/>
          </a:bodyPr>
          <a:lstStyle/>
          <a:p>
            <a:pPr algn="ctr"/>
            <a:r>
              <a:rPr lang="pt-BR" sz="900" b="1" i="1" dirty="0"/>
              <a:t>Mês n</a:t>
            </a:r>
          </a:p>
        </p:txBody>
      </p:sp>
      <p:sp>
        <p:nvSpPr>
          <p:cNvPr id="681" name="CaixaDeTexto 680">
            <a:extLst>
              <a:ext uri="{FF2B5EF4-FFF2-40B4-BE49-F238E27FC236}">
                <a16:creationId xmlns:a16="http://schemas.microsoft.com/office/drawing/2014/main" id="{2F8D1E29-6F2D-594D-E577-3B74259F2F1E}"/>
              </a:ext>
            </a:extLst>
          </p:cNvPr>
          <p:cNvSpPr txBox="1"/>
          <p:nvPr/>
        </p:nvSpPr>
        <p:spPr>
          <a:xfrm>
            <a:off x="10305060" y="635928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82" name="CaixaDeTexto 681">
            <a:extLst>
              <a:ext uri="{FF2B5EF4-FFF2-40B4-BE49-F238E27FC236}">
                <a16:creationId xmlns:a16="http://schemas.microsoft.com/office/drawing/2014/main" id="{477A21E5-360D-5DA8-0F4C-0F0A4AE49174}"/>
              </a:ext>
            </a:extLst>
          </p:cNvPr>
          <p:cNvSpPr txBox="1"/>
          <p:nvPr/>
        </p:nvSpPr>
        <p:spPr>
          <a:xfrm>
            <a:off x="9655063" y="6301910"/>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cxnSp>
        <p:nvCxnSpPr>
          <p:cNvPr id="697" name="Conector de Seta Reta 696">
            <a:extLst>
              <a:ext uri="{FF2B5EF4-FFF2-40B4-BE49-F238E27FC236}">
                <a16:creationId xmlns:a16="http://schemas.microsoft.com/office/drawing/2014/main" id="{94AB1629-5600-6BA3-B3D9-278230DE889A}"/>
              </a:ext>
            </a:extLst>
          </p:cNvPr>
          <p:cNvCxnSpPr>
            <a:cxnSpLocks/>
            <a:stCxn id="543" idx="3"/>
            <a:endCxn id="683" idx="1"/>
          </p:cNvCxnSpPr>
          <p:nvPr/>
        </p:nvCxnSpPr>
        <p:spPr>
          <a:xfrm>
            <a:off x="9082010" y="6052629"/>
            <a:ext cx="175281" cy="1924"/>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98" name="Conector de Seta Reta 697">
            <a:extLst>
              <a:ext uri="{FF2B5EF4-FFF2-40B4-BE49-F238E27FC236}">
                <a16:creationId xmlns:a16="http://schemas.microsoft.com/office/drawing/2014/main" id="{C350E184-622B-5A97-FCBB-C2A5F3BC9A13}"/>
              </a:ext>
            </a:extLst>
          </p:cNvPr>
          <p:cNvCxnSpPr>
            <a:cxnSpLocks/>
            <a:stCxn id="542" idx="3"/>
            <a:endCxn id="690" idx="1"/>
          </p:cNvCxnSpPr>
          <p:nvPr/>
        </p:nvCxnSpPr>
        <p:spPr>
          <a:xfrm>
            <a:off x="9082010" y="5717194"/>
            <a:ext cx="175281" cy="359"/>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99" name="Conector de Seta Reta 698">
            <a:extLst>
              <a:ext uri="{FF2B5EF4-FFF2-40B4-BE49-F238E27FC236}">
                <a16:creationId xmlns:a16="http://schemas.microsoft.com/office/drawing/2014/main" id="{BB98EB20-2805-D7E8-BF1C-A21B15EC6DC9}"/>
              </a:ext>
            </a:extLst>
          </p:cNvPr>
          <p:cNvCxnSpPr>
            <a:cxnSpLocks/>
            <a:stCxn id="544" idx="3"/>
            <a:endCxn id="676" idx="1"/>
          </p:cNvCxnSpPr>
          <p:nvPr/>
        </p:nvCxnSpPr>
        <p:spPr>
          <a:xfrm>
            <a:off x="9082010" y="6388064"/>
            <a:ext cx="175282" cy="359"/>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64" name="CaixaDeTexto 363">
            <a:extLst>
              <a:ext uri="{FF2B5EF4-FFF2-40B4-BE49-F238E27FC236}">
                <a16:creationId xmlns:a16="http://schemas.microsoft.com/office/drawing/2014/main" id="{243705BB-C554-D0B5-67DD-0F6CB38B81FB}"/>
              </a:ext>
            </a:extLst>
          </p:cNvPr>
          <p:cNvSpPr txBox="1"/>
          <p:nvPr/>
        </p:nvSpPr>
        <p:spPr>
          <a:xfrm>
            <a:off x="4924301" y="1700808"/>
            <a:ext cx="1698347"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Demandas</a:t>
            </a:r>
            <a:br>
              <a:rPr lang="pt-BR" dirty="0"/>
            </a:br>
            <a:r>
              <a:rPr lang="pt-BR" dirty="0"/>
              <a:t>Planejadas</a:t>
            </a:r>
          </a:p>
        </p:txBody>
      </p:sp>
      <p:sp>
        <p:nvSpPr>
          <p:cNvPr id="365" name="CaixaDeTexto 364">
            <a:extLst>
              <a:ext uri="{FF2B5EF4-FFF2-40B4-BE49-F238E27FC236}">
                <a16:creationId xmlns:a16="http://schemas.microsoft.com/office/drawing/2014/main" id="{4812D366-1A09-C74F-D64A-A5777BEE0A15}"/>
              </a:ext>
            </a:extLst>
          </p:cNvPr>
          <p:cNvSpPr txBox="1"/>
          <p:nvPr/>
        </p:nvSpPr>
        <p:spPr>
          <a:xfrm>
            <a:off x="2167436" y="1700808"/>
            <a:ext cx="2224137"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Obras</a:t>
            </a:r>
            <a:br>
              <a:rPr lang="pt-BR" dirty="0"/>
            </a:br>
            <a:r>
              <a:rPr lang="pt-BR" dirty="0"/>
              <a:t>Planejadas</a:t>
            </a:r>
          </a:p>
        </p:txBody>
      </p:sp>
      <p:sp>
        <p:nvSpPr>
          <p:cNvPr id="425" name="CaixaDeTexto 424">
            <a:extLst>
              <a:ext uri="{FF2B5EF4-FFF2-40B4-BE49-F238E27FC236}">
                <a16:creationId xmlns:a16="http://schemas.microsoft.com/office/drawing/2014/main" id="{D3B62F2D-84B1-242A-5FDB-CE24A35E4974}"/>
              </a:ext>
            </a:extLst>
          </p:cNvPr>
          <p:cNvSpPr txBox="1"/>
          <p:nvPr/>
        </p:nvSpPr>
        <p:spPr>
          <a:xfrm>
            <a:off x="7353818" y="1700808"/>
            <a:ext cx="1728192"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Grupos</a:t>
            </a:r>
            <a:br>
              <a:rPr lang="pt-BR" dirty="0"/>
            </a:br>
            <a:r>
              <a:rPr lang="pt-BR" dirty="0"/>
              <a:t>de Custo</a:t>
            </a:r>
          </a:p>
        </p:txBody>
      </p:sp>
      <p:sp>
        <p:nvSpPr>
          <p:cNvPr id="426" name="CaixaDeTexto 425">
            <a:extLst>
              <a:ext uri="{FF2B5EF4-FFF2-40B4-BE49-F238E27FC236}">
                <a16:creationId xmlns:a16="http://schemas.microsoft.com/office/drawing/2014/main" id="{F75F883E-DFBA-ED41-869D-6CEC4303F4FD}"/>
              </a:ext>
            </a:extLst>
          </p:cNvPr>
          <p:cNvSpPr txBox="1"/>
          <p:nvPr/>
        </p:nvSpPr>
        <p:spPr>
          <a:xfrm>
            <a:off x="9257291" y="1700808"/>
            <a:ext cx="1584176"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Custo Estimado </a:t>
            </a:r>
            <a:r>
              <a:rPr lang="pt-BR" dirty="0" err="1"/>
              <a:t>Mensalizado</a:t>
            </a:r>
            <a:endParaRPr lang="pt-BR" dirty="0"/>
          </a:p>
        </p:txBody>
      </p:sp>
      <p:sp>
        <p:nvSpPr>
          <p:cNvPr id="3" name="Retângulo 702">
            <a:extLst>
              <a:ext uri="{FF2B5EF4-FFF2-40B4-BE49-F238E27FC236}">
                <a16:creationId xmlns:a16="http://schemas.microsoft.com/office/drawing/2014/main" id="{E6C511B4-1493-E049-A313-8EFE856F319A}"/>
              </a:ext>
            </a:extLst>
          </p:cNvPr>
          <p:cNvSpPr/>
          <p:nvPr/>
        </p:nvSpPr>
        <p:spPr>
          <a:xfrm>
            <a:off x="0" y="2157999"/>
            <a:ext cx="12192000" cy="4633496"/>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0" name="Retângulo: Cantos Arredondados 339">
            <a:extLst>
              <a:ext uri="{FF2B5EF4-FFF2-40B4-BE49-F238E27FC236}">
                <a16:creationId xmlns:a16="http://schemas.microsoft.com/office/drawing/2014/main" id="{19198ECC-F4C4-729A-BCFE-482C34911C95}"/>
              </a:ext>
            </a:extLst>
          </p:cNvPr>
          <p:cNvSpPr/>
          <p:nvPr/>
        </p:nvSpPr>
        <p:spPr>
          <a:xfrm>
            <a:off x="776278" y="4616095"/>
            <a:ext cx="864096" cy="639373"/>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ID-XX</a:t>
            </a:r>
          </a:p>
        </p:txBody>
      </p:sp>
      <p:cxnSp>
        <p:nvCxnSpPr>
          <p:cNvPr id="350" name="Conector: Angulado 349">
            <a:extLst>
              <a:ext uri="{FF2B5EF4-FFF2-40B4-BE49-F238E27FC236}">
                <a16:creationId xmlns:a16="http://schemas.microsoft.com/office/drawing/2014/main" id="{44BE4A94-99EE-0620-E03C-54154F66D122}"/>
              </a:ext>
            </a:extLst>
          </p:cNvPr>
          <p:cNvCxnSpPr>
            <a:cxnSpLocks/>
            <a:stCxn id="340" idx="3"/>
            <a:endCxn id="341" idx="1"/>
          </p:cNvCxnSpPr>
          <p:nvPr/>
        </p:nvCxnSpPr>
        <p:spPr>
          <a:xfrm flipV="1">
            <a:off x="1640374" y="3266370"/>
            <a:ext cx="527062" cy="1669412"/>
          </a:xfrm>
          <a:prstGeom prst="bentConnector3">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41" name="Retângulo: Cantos Arredondados 340">
            <a:extLst>
              <a:ext uri="{FF2B5EF4-FFF2-40B4-BE49-F238E27FC236}">
                <a16:creationId xmlns:a16="http://schemas.microsoft.com/office/drawing/2014/main" id="{2905DB66-789C-647D-77AE-BED25F799E36}"/>
              </a:ext>
            </a:extLst>
          </p:cNvPr>
          <p:cNvSpPr/>
          <p:nvPr/>
        </p:nvSpPr>
        <p:spPr>
          <a:xfrm>
            <a:off x="2167436" y="3026185"/>
            <a:ext cx="2224138"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l-GR" sz="1100" dirty="0">
                <a:solidFill>
                  <a:schemeClr val="tx1"/>
                </a:solidFill>
                <a:latin typeface="Aptos" panose="020B0004020202020204" pitchFamily="34" charset="0"/>
              </a:rPr>
              <a:t>Σ</a:t>
            </a:r>
            <a:r>
              <a:rPr lang="pt-BR" sz="1100" dirty="0">
                <a:solidFill>
                  <a:schemeClr val="tx1"/>
                </a:solidFill>
                <a:latin typeface="Aptos" panose="020B0004020202020204" pitchFamily="34" charset="0"/>
              </a:rPr>
              <a:t> </a:t>
            </a:r>
            <a:r>
              <a:rPr lang="pt-BR" sz="1100" dirty="0">
                <a:solidFill>
                  <a:schemeClr val="tx1"/>
                </a:solidFill>
              </a:rPr>
              <a:t>Valor total estimado </a:t>
            </a:r>
          </a:p>
          <a:p>
            <a:pPr algn="ctr"/>
            <a:r>
              <a:rPr lang="pt-BR" sz="1100" dirty="0">
                <a:solidFill>
                  <a:schemeClr val="tx1"/>
                </a:solidFill>
              </a:rPr>
              <a:t>100 - Upgrade – Ativo/Contrato</a:t>
            </a:r>
          </a:p>
        </p:txBody>
      </p:sp>
      <p:sp>
        <p:nvSpPr>
          <p:cNvPr id="346" name="Retângulo: Cantos Arredondados 345">
            <a:extLst>
              <a:ext uri="{FF2B5EF4-FFF2-40B4-BE49-F238E27FC236}">
                <a16:creationId xmlns:a16="http://schemas.microsoft.com/office/drawing/2014/main" id="{7C0B7179-EBF4-026A-BC51-216B6830FA35}"/>
              </a:ext>
            </a:extLst>
          </p:cNvPr>
          <p:cNvSpPr/>
          <p:nvPr/>
        </p:nvSpPr>
        <p:spPr>
          <a:xfrm>
            <a:off x="4928217" y="2461898"/>
            <a:ext cx="1694432"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Demanda 1</a:t>
            </a:r>
          </a:p>
        </p:txBody>
      </p:sp>
      <p:cxnSp>
        <p:nvCxnSpPr>
          <p:cNvPr id="352" name="Conector: Angulado 351">
            <a:extLst>
              <a:ext uri="{FF2B5EF4-FFF2-40B4-BE49-F238E27FC236}">
                <a16:creationId xmlns:a16="http://schemas.microsoft.com/office/drawing/2014/main" id="{87429334-F0D0-530F-4F66-E5197591ACBF}"/>
              </a:ext>
            </a:extLst>
          </p:cNvPr>
          <p:cNvCxnSpPr>
            <a:cxnSpLocks/>
            <a:stCxn id="341" idx="3"/>
            <a:endCxn id="346" idx="1"/>
          </p:cNvCxnSpPr>
          <p:nvPr/>
        </p:nvCxnSpPr>
        <p:spPr>
          <a:xfrm flipV="1">
            <a:off x="4391574" y="2702083"/>
            <a:ext cx="536643" cy="564287"/>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68" name="Retângulo 367">
            <a:extLst>
              <a:ext uri="{FF2B5EF4-FFF2-40B4-BE49-F238E27FC236}">
                <a16:creationId xmlns:a16="http://schemas.microsoft.com/office/drawing/2014/main" id="{8A9B4992-2EC6-5716-A3FF-7020A5178143}"/>
              </a:ext>
            </a:extLst>
          </p:cNvPr>
          <p:cNvSpPr/>
          <p:nvPr/>
        </p:nvSpPr>
        <p:spPr>
          <a:xfrm>
            <a:off x="7353818" y="2231411"/>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Material</a:t>
            </a:r>
          </a:p>
        </p:txBody>
      </p:sp>
      <p:sp>
        <p:nvSpPr>
          <p:cNvPr id="378" name="Retângulo 377">
            <a:extLst>
              <a:ext uri="{FF2B5EF4-FFF2-40B4-BE49-F238E27FC236}">
                <a16:creationId xmlns:a16="http://schemas.microsoft.com/office/drawing/2014/main" id="{92D757BC-8435-B78F-8B28-24D05F64237C}"/>
              </a:ext>
            </a:extLst>
          </p:cNvPr>
          <p:cNvSpPr/>
          <p:nvPr/>
        </p:nvSpPr>
        <p:spPr>
          <a:xfrm>
            <a:off x="7353818" y="2566846"/>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Oficina</a:t>
            </a:r>
          </a:p>
        </p:txBody>
      </p:sp>
      <p:sp>
        <p:nvSpPr>
          <p:cNvPr id="388" name="Retângulo 387">
            <a:extLst>
              <a:ext uri="{FF2B5EF4-FFF2-40B4-BE49-F238E27FC236}">
                <a16:creationId xmlns:a16="http://schemas.microsoft.com/office/drawing/2014/main" id="{8805D06C-C1C0-F160-6721-4CD67789D548}"/>
              </a:ext>
            </a:extLst>
          </p:cNvPr>
          <p:cNvSpPr/>
          <p:nvPr/>
        </p:nvSpPr>
        <p:spPr>
          <a:xfrm>
            <a:off x="7353818" y="2902281"/>
            <a:ext cx="1728192"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algn="ctr"/>
            <a:r>
              <a:rPr lang="pt-BR" sz="1100" dirty="0">
                <a:solidFill>
                  <a:schemeClr val="tx1"/>
                </a:solidFill>
              </a:rPr>
              <a:t>Estaleiro</a:t>
            </a:r>
          </a:p>
        </p:txBody>
      </p:sp>
      <p:cxnSp>
        <p:nvCxnSpPr>
          <p:cNvPr id="545" name="Conector: Angulado 544">
            <a:extLst>
              <a:ext uri="{FF2B5EF4-FFF2-40B4-BE49-F238E27FC236}">
                <a16:creationId xmlns:a16="http://schemas.microsoft.com/office/drawing/2014/main" id="{58B3BE15-DDBC-49B7-86DA-264E1EC1D4C9}"/>
              </a:ext>
            </a:extLst>
          </p:cNvPr>
          <p:cNvCxnSpPr>
            <a:cxnSpLocks/>
            <a:stCxn id="346" idx="3"/>
            <a:endCxn id="368" idx="1"/>
          </p:cNvCxnSpPr>
          <p:nvPr/>
        </p:nvCxnSpPr>
        <p:spPr>
          <a:xfrm flipV="1">
            <a:off x="6622649" y="2366648"/>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48" name="Conector: Angulado 547">
            <a:extLst>
              <a:ext uri="{FF2B5EF4-FFF2-40B4-BE49-F238E27FC236}">
                <a16:creationId xmlns:a16="http://schemas.microsoft.com/office/drawing/2014/main" id="{32BF6E6A-E5B8-EC62-EC88-D515F1B8023D}"/>
              </a:ext>
            </a:extLst>
          </p:cNvPr>
          <p:cNvCxnSpPr>
            <a:cxnSpLocks/>
            <a:stCxn id="346" idx="3"/>
            <a:endCxn id="388" idx="1"/>
          </p:cNvCxnSpPr>
          <p:nvPr/>
        </p:nvCxnSpPr>
        <p:spPr>
          <a:xfrm>
            <a:off x="6622649" y="2702083"/>
            <a:ext cx="731169" cy="335435"/>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551" name="Conector de Seta Reta 550">
            <a:extLst>
              <a:ext uri="{FF2B5EF4-FFF2-40B4-BE49-F238E27FC236}">
                <a16:creationId xmlns:a16="http://schemas.microsoft.com/office/drawing/2014/main" id="{CF98F623-25C4-6876-D041-2B35E89EEDA5}"/>
              </a:ext>
            </a:extLst>
          </p:cNvPr>
          <p:cNvCxnSpPr>
            <a:cxnSpLocks/>
            <a:stCxn id="346" idx="3"/>
            <a:endCxn id="378" idx="1"/>
          </p:cNvCxnSpPr>
          <p:nvPr/>
        </p:nvCxnSpPr>
        <p:spPr>
          <a:xfrm>
            <a:off x="6622649" y="2702083"/>
            <a:ext cx="731169"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370" name="Retângulo 369">
            <a:extLst>
              <a:ext uri="{FF2B5EF4-FFF2-40B4-BE49-F238E27FC236}">
                <a16:creationId xmlns:a16="http://schemas.microsoft.com/office/drawing/2014/main" id="{AB4800DB-01D3-9435-199A-88E1CAF5A1D2}"/>
              </a:ext>
            </a:extLst>
          </p:cNvPr>
          <p:cNvSpPr/>
          <p:nvPr/>
        </p:nvSpPr>
        <p:spPr>
          <a:xfrm>
            <a:off x="9257291" y="2231411"/>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371" name="CaixaDeTexto 370">
            <a:extLst>
              <a:ext uri="{FF2B5EF4-FFF2-40B4-BE49-F238E27FC236}">
                <a16:creationId xmlns:a16="http://schemas.microsoft.com/office/drawing/2014/main" id="{A2A4A59F-887D-08E3-24AD-D2056C671151}"/>
              </a:ext>
            </a:extLst>
          </p:cNvPr>
          <p:cNvSpPr txBox="1"/>
          <p:nvPr/>
        </p:nvSpPr>
        <p:spPr>
          <a:xfrm>
            <a:off x="9257861" y="2181804"/>
            <a:ext cx="543468" cy="173427"/>
          </a:xfrm>
          <a:prstGeom prst="rect">
            <a:avLst/>
          </a:prstGeom>
          <a:noFill/>
        </p:spPr>
        <p:txBody>
          <a:bodyPr wrap="square" rtlCol="0">
            <a:spAutoFit/>
          </a:bodyPr>
          <a:lstStyle/>
          <a:p>
            <a:pPr algn="ctr"/>
            <a:r>
              <a:rPr lang="pt-BR" sz="900" b="1" i="1" dirty="0"/>
              <a:t>Mês 1</a:t>
            </a:r>
          </a:p>
        </p:txBody>
      </p:sp>
      <p:sp>
        <p:nvSpPr>
          <p:cNvPr id="372" name="CaixaDeTexto 371">
            <a:extLst>
              <a:ext uri="{FF2B5EF4-FFF2-40B4-BE49-F238E27FC236}">
                <a16:creationId xmlns:a16="http://schemas.microsoft.com/office/drawing/2014/main" id="{BD599188-0A21-4D11-F7FB-8E4DB792AD35}"/>
              </a:ext>
            </a:extLst>
          </p:cNvPr>
          <p:cNvSpPr txBox="1"/>
          <p:nvPr/>
        </p:nvSpPr>
        <p:spPr>
          <a:xfrm>
            <a:off x="9257291" y="232796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376" name="CaixaDeTexto 375">
            <a:extLst>
              <a:ext uri="{FF2B5EF4-FFF2-40B4-BE49-F238E27FC236}">
                <a16:creationId xmlns:a16="http://schemas.microsoft.com/office/drawing/2014/main" id="{3B8EC92E-EB3F-3F12-CC30-CE4D096796C5}"/>
              </a:ext>
            </a:extLst>
          </p:cNvPr>
          <p:cNvSpPr txBox="1"/>
          <p:nvPr/>
        </p:nvSpPr>
        <p:spPr>
          <a:xfrm>
            <a:off x="9655063" y="2148941"/>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82" name="CaixaDeTexto 581">
            <a:extLst>
              <a:ext uri="{FF2B5EF4-FFF2-40B4-BE49-F238E27FC236}">
                <a16:creationId xmlns:a16="http://schemas.microsoft.com/office/drawing/2014/main" id="{C67CE8F3-05D5-0888-9BA4-DBC040D81B93}"/>
              </a:ext>
            </a:extLst>
          </p:cNvPr>
          <p:cNvSpPr txBox="1"/>
          <p:nvPr/>
        </p:nvSpPr>
        <p:spPr>
          <a:xfrm>
            <a:off x="10305060" y="2181804"/>
            <a:ext cx="543468" cy="230832"/>
          </a:xfrm>
          <a:prstGeom prst="rect">
            <a:avLst/>
          </a:prstGeom>
          <a:noFill/>
        </p:spPr>
        <p:txBody>
          <a:bodyPr wrap="square" rtlCol="0">
            <a:spAutoFit/>
          </a:bodyPr>
          <a:lstStyle/>
          <a:p>
            <a:pPr algn="ctr"/>
            <a:r>
              <a:rPr lang="pt-BR" sz="900" b="1" i="1" dirty="0"/>
              <a:t>Mês n</a:t>
            </a:r>
          </a:p>
        </p:txBody>
      </p:sp>
      <p:sp>
        <p:nvSpPr>
          <p:cNvPr id="583" name="CaixaDeTexto 582">
            <a:extLst>
              <a:ext uri="{FF2B5EF4-FFF2-40B4-BE49-F238E27FC236}">
                <a16:creationId xmlns:a16="http://schemas.microsoft.com/office/drawing/2014/main" id="{E7416909-8886-E98E-B16A-6BCD1A4D1579}"/>
              </a:ext>
            </a:extLst>
          </p:cNvPr>
          <p:cNvSpPr txBox="1"/>
          <p:nvPr/>
        </p:nvSpPr>
        <p:spPr>
          <a:xfrm>
            <a:off x="10305060" y="2327969"/>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84" name="CaixaDeTexto 583">
            <a:extLst>
              <a:ext uri="{FF2B5EF4-FFF2-40B4-BE49-F238E27FC236}">
                <a16:creationId xmlns:a16="http://schemas.microsoft.com/office/drawing/2014/main" id="{C0C728F6-E5FB-2ADC-9CCF-F3BF5CF563D0}"/>
              </a:ext>
            </a:extLst>
          </p:cNvPr>
          <p:cNvSpPr txBox="1"/>
          <p:nvPr/>
        </p:nvSpPr>
        <p:spPr>
          <a:xfrm>
            <a:off x="9655063" y="2270590"/>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nvGrpSpPr>
          <p:cNvPr id="586" name="Agrupar 585">
            <a:extLst>
              <a:ext uri="{FF2B5EF4-FFF2-40B4-BE49-F238E27FC236}">
                <a16:creationId xmlns:a16="http://schemas.microsoft.com/office/drawing/2014/main" id="{59DDF685-B00F-16C3-B25E-0BCA893A21F5}"/>
              </a:ext>
            </a:extLst>
          </p:cNvPr>
          <p:cNvGrpSpPr/>
          <p:nvPr/>
        </p:nvGrpSpPr>
        <p:grpSpPr>
          <a:xfrm>
            <a:off x="9257291" y="2489149"/>
            <a:ext cx="1591237" cy="394472"/>
            <a:chOff x="8390231" y="2244009"/>
            <a:chExt cx="1591237" cy="394472"/>
          </a:xfrm>
        </p:grpSpPr>
        <p:sp>
          <p:nvSpPr>
            <p:cNvPr id="587" name="Retângulo 586">
              <a:extLst>
                <a:ext uri="{FF2B5EF4-FFF2-40B4-BE49-F238E27FC236}">
                  <a16:creationId xmlns:a16="http://schemas.microsoft.com/office/drawing/2014/main" id="{9FA20B98-6D66-8EF5-5102-6CEA98A09823}"/>
                </a:ext>
              </a:extLst>
            </p:cNvPr>
            <p:cNvSpPr/>
            <p:nvPr/>
          </p:nvSpPr>
          <p:spPr>
            <a:xfrm>
              <a:off x="8390231" y="2326479"/>
              <a:ext cx="1591237"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588" name="CaixaDeTexto 587">
              <a:extLst>
                <a:ext uri="{FF2B5EF4-FFF2-40B4-BE49-F238E27FC236}">
                  <a16:creationId xmlns:a16="http://schemas.microsoft.com/office/drawing/2014/main" id="{B2A64948-660F-324C-10DC-27BF3E8E527F}"/>
                </a:ext>
              </a:extLst>
            </p:cNvPr>
            <p:cNvSpPr txBox="1"/>
            <p:nvPr/>
          </p:nvSpPr>
          <p:spPr>
            <a:xfrm>
              <a:off x="8390231" y="2276872"/>
              <a:ext cx="543468" cy="173427"/>
            </a:xfrm>
            <a:prstGeom prst="rect">
              <a:avLst/>
            </a:prstGeom>
            <a:noFill/>
          </p:spPr>
          <p:txBody>
            <a:bodyPr wrap="square" rtlCol="0">
              <a:spAutoFit/>
            </a:bodyPr>
            <a:lstStyle/>
            <a:p>
              <a:pPr algn="ctr"/>
              <a:r>
                <a:rPr lang="pt-BR" sz="900" b="1" i="1" dirty="0"/>
                <a:t>Mês 1</a:t>
              </a:r>
            </a:p>
          </p:txBody>
        </p:sp>
        <p:sp>
          <p:nvSpPr>
            <p:cNvPr id="589" name="CaixaDeTexto 588">
              <a:extLst>
                <a:ext uri="{FF2B5EF4-FFF2-40B4-BE49-F238E27FC236}">
                  <a16:creationId xmlns:a16="http://schemas.microsoft.com/office/drawing/2014/main" id="{24EF3611-7A0A-109C-7D1B-CADB71353A6C}"/>
                </a:ext>
              </a:extLst>
            </p:cNvPr>
            <p:cNvSpPr txBox="1"/>
            <p:nvPr/>
          </p:nvSpPr>
          <p:spPr>
            <a:xfrm>
              <a:off x="8390231"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0" name="CaixaDeTexto 589">
              <a:extLst>
                <a:ext uri="{FF2B5EF4-FFF2-40B4-BE49-F238E27FC236}">
                  <a16:creationId xmlns:a16="http://schemas.microsoft.com/office/drawing/2014/main" id="{1C9FB0D7-4229-8C67-A556-9F0FE3C13329}"/>
                </a:ext>
              </a:extLst>
            </p:cNvPr>
            <p:cNvSpPr txBox="1"/>
            <p:nvPr/>
          </p:nvSpPr>
          <p:spPr>
            <a:xfrm>
              <a:off x="8788003" y="2244009"/>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91" name="CaixaDeTexto 590">
              <a:extLst>
                <a:ext uri="{FF2B5EF4-FFF2-40B4-BE49-F238E27FC236}">
                  <a16:creationId xmlns:a16="http://schemas.microsoft.com/office/drawing/2014/main" id="{9A9D4D9B-2AC2-B89F-FA25-73A52FFE2482}"/>
                </a:ext>
              </a:extLst>
            </p:cNvPr>
            <p:cNvSpPr txBox="1"/>
            <p:nvPr/>
          </p:nvSpPr>
          <p:spPr>
            <a:xfrm>
              <a:off x="9438000" y="2276872"/>
              <a:ext cx="543468" cy="230832"/>
            </a:xfrm>
            <a:prstGeom prst="rect">
              <a:avLst/>
            </a:prstGeom>
            <a:noFill/>
          </p:spPr>
          <p:txBody>
            <a:bodyPr wrap="square" rtlCol="0">
              <a:spAutoFit/>
            </a:bodyPr>
            <a:lstStyle/>
            <a:p>
              <a:pPr algn="ctr"/>
              <a:r>
                <a:rPr lang="pt-BR" sz="900" b="1" i="1" dirty="0"/>
                <a:t>Mês n</a:t>
              </a:r>
            </a:p>
          </p:txBody>
        </p:sp>
        <p:sp>
          <p:nvSpPr>
            <p:cNvPr id="592" name="CaixaDeTexto 591">
              <a:extLst>
                <a:ext uri="{FF2B5EF4-FFF2-40B4-BE49-F238E27FC236}">
                  <a16:creationId xmlns:a16="http://schemas.microsoft.com/office/drawing/2014/main" id="{07BFFDF2-5B82-D5CA-4F38-C33950C71437}"/>
                </a:ext>
              </a:extLst>
            </p:cNvPr>
            <p:cNvSpPr txBox="1"/>
            <p:nvPr/>
          </p:nvSpPr>
          <p:spPr>
            <a:xfrm>
              <a:off x="9438000" y="2423037"/>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3" name="CaixaDeTexto 592">
              <a:extLst>
                <a:ext uri="{FF2B5EF4-FFF2-40B4-BE49-F238E27FC236}">
                  <a16:creationId xmlns:a16="http://schemas.microsoft.com/office/drawing/2014/main" id="{D84DE43E-2FDD-9A46-8425-6B6CFA92E0B6}"/>
                </a:ext>
              </a:extLst>
            </p:cNvPr>
            <p:cNvSpPr txBox="1"/>
            <p:nvPr/>
          </p:nvSpPr>
          <p:spPr>
            <a:xfrm>
              <a:off x="8788003" y="2365658"/>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cxnSp>
        <p:nvCxnSpPr>
          <p:cNvPr id="6" name="Conector de Seta Reta 603">
            <a:extLst>
              <a:ext uri="{FF2B5EF4-FFF2-40B4-BE49-F238E27FC236}">
                <a16:creationId xmlns:a16="http://schemas.microsoft.com/office/drawing/2014/main" id="{EE9647A1-C609-40B5-CAD0-A37245600397}"/>
              </a:ext>
            </a:extLst>
          </p:cNvPr>
          <p:cNvCxnSpPr>
            <a:cxnSpLocks/>
            <a:stCxn id="368" idx="3"/>
            <a:endCxn id="370" idx="1"/>
          </p:cNvCxnSpPr>
          <p:nvPr/>
        </p:nvCxnSpPr>
        <p:spPr>
          <a:xfrm>
            <a:off x="9082010" y="2366648"/>
            <a:ext cx="175281"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grpSp>
        <p:nvGrpSpPr>
          <p:cNvPr id="602" name="Agrupar 601">
            <a:extLst>
              <a:ext uri="{FF2B5EF4-FFF2-40B4-BE49-F238E27FC236}">
                <a16:creationId xmlns:a16="http://schemas.microsoft.com/office/drawing/2014/main" id="{8E05AFD6-9672-DA87-8BF8-DB5A256B88C0}"/>
              </a:ext>
            </a:extLst>
          </p:cNvPr>
          <p:cNvGrpSpPr/>
          <p:nvPr/>
        </p:nvGrpSpPr>
        <p:grpSpPr>
          <a:xfrm>
            <a:off x="9257291" y="2829356"/>
            <a:ext cx="1591237" cy="394472"/>
            <a:chOff x="8390231" y="2924424"/>
            <a:chExt cx="1591237" cy="394472"/>
          </a:xfrm>
        </p:grpSpPr>
        <p:sp>
          <p:nvSpPr>
            <p:cNvPr id="595" name="Retângulo 594">
              <a:extLst>
                <a:ext uri="{FF2B5EF4-FFF2-40B4-BE49-F238E27FC236}">
                  <a16:creationId xmlns:a16="http://schemas.microsoft.com/office/drawing/2014/main" id="{1B29B749-4F59-2363-3B73-A7695DC82623}"/>
                </a:ext>
              </a:extLst>
            </p:cNvPr>
            <p:cNvSpPr/>
            <p:nvPr/>
          </p:nvSpPr>
          <p:spPr>
            <a:xfrm>
              <a:off x="8390232" y="2997349"/>
              <a:ext cx="1591236" cy="27047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100" dirty="0">
                <a:solidFill>
                  <a:schemeClr val="tx1"/>
                </a:solidFill>
              </a:endParaRPr>
            </a:p>
          </p:txBody>
        </p:sp>
        <p:sp>
          <p:nvSpPr>
            <p:cNvPr id="596" name="CaixaDeTexto 595">
              <a:extLst>
                <a:ext uri="{FF2B5EF4-FFF2-40B4-BE49-F238E27FC236}">
                  <a16:creationId xmlns:a16="http://schemas.microsoft.com/office/drawing/2014/main" id="{CC9E6629-D105-543E-29EA-4BE5B31BFE7C}"/>
                </a:ext>
              </a:extLst>
            </p:cNvPr>
            <p:cNvSpPr txBox="1"/>
            <p:nvPr/>
          </p:nvSpPr>
          <p:spPr>
            <a:xfrm>
              <a:off x="8390231" y="2957287"/>
              <a:ext cx="543468" cy="173427"/>
            </a:xfrm>
            <a:prstGeom prst="rect">
              <a:avLst/>
            </a:prstGeom>
            <a:noFill/>
          </p:spPr>
          <p:txBody>
            <a:bodyPr wrap="square" rtlCol="0">
              <a:spAutoFit/>
            </a:bodyPr>
            <a:lstStyle/>
            <a:p>
              <a:pPr algn="ctr"/>
              <a:r>
                <a:rPr lang="pt-BR" sz="900" b="1" i="1" dirty="0"/>
                <a:t>Mês 1</a:t>
              </a:r>
            </a:p>
          </p:txBody>
        </p:sp>
        <p:sp>
          <p:nvSpPr>
            <p:cNvPr id="597" name="CaixaDeTexto 596">
              <a:extLst>
                <a:ext uri="{FF2B5EF4-FFF2-40B4-BE49-F238E27FC236}">
                  <a16:creationId xmlns:a16="http://schemas.microsoft.com/office/drawing/2014/main" id="{C5198569-42FA-AD90-836B-95E93D9165B5}"/>
                </a:ext>
              </a:extLst>
            </p:cNvPr>
            <p:cNvSpPr txBox="1"/>
            <p:nvPr/>
          </p:nvSpPr>
          <p:spPr>
            <a:xfrm>
              <a:off x="8390231" y="3103452"/>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598" name="CaixaDeTexto 597">
              <a:extLst>
                <a:ext uri="{FF2B5EF4-FFF2-40B4-BE49-F238E27FC236}">
                  <a16:creationId xmlns:a16="http://schemas.microsoft.com/office/drawing/2014/main" id="{A1BF59B0-4672-7C1E-DEC2-3ADF4DC45E2E}"/>
                </a:ext>
              </a:extLst>
            </p:cNvPr>
            <p:cNvSpPr txBox="1"/>
            <p:nvPr/>
          </p:nvSpPr>
          <p:spPr>
            <a:xfrm>
              <a:off x="8788003" y="2924424"/>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sp>
          <p:nvSpPr>
            <p:cNvPr id="599" name="CaixaDeTexto 598">
              <a:extLst>
                <a:ext uri="{FF2B5EF4-FFF2-40B4-BE49-F238E27FC236}">
                  <a16:creationId xmlns:a16="http://schemas.microsoft.com/office/drawing/2014/main" id="{0D7BC030-A04D-BC08-52AF-9DE890983DC9}"/>
                </a:ext>
              </a:extLst>
            </p:cNvPr>
            <p:cNvSpPr txBox="1"/>
            <p:nvPr/>
          </p:nvSpPr>
          <p:spPr>
            <a:xfrm>
              <a:off x="9438000" y="2957287"/>
              <a:ext cx="543468" cy="230832"/>
            </a:xfrm>
            <a:prstGeom prst="rect">
              <a:avLst/>
            </a:prstGeom>
            <a:noFill/>
          </p:spPr>
          <p:txBody>
            <a:bodyPr wrap="square" rtlCol="0">
              <a:spAutoFit/>
            </a:bodyPr>
            <a:lstStyle/>
            <a:p>
              <a:pPr algn="ctr"/>
              <a:r>
                <a:rPr lang="pt-BR" sz="900" b="1" i="1" dirty="0"/>
                <a:t>Mês n</a:t>
              </a:r>
            </a:p>
          </p:txBody>
        </p:sp>
        <p:sp>
          <p:nvSpPr>
            <p:cNvPr id="600" name="CaixaDeTexto 599">
              <a:extLst>
                <a:ext uri="{FF2B5EF4-FFF2-40B4-BE49-F238E27FC236}">
                  <a16:creationId xmlns:a16="http://schemas.microsoft.com/office/drawing/2014/main" id="{67EC4902-B10D-19B0-4912-D6AC9012777F}"/>
                </a:ext>
              </a:extLst>
            </p:cNvPr>
            <p:cNvSpPr txBox="1"/>
            <p:nvPr/>
          </p:nvSpPr>
          <p:spPr>
            <a:xfrm>
              <a:off x="9438000" y="3103452"/>
              <a:ext cx="543468" cy="215444"/>
            </a:xfrm>
            <a:prstGeom prst="rect">
              <a:avLst/>
            </a:prstGeom>
            <a:noFill/>
          </p:spPr>
          <p:txBody>
            <a:bodyPr wrap="square" rtlCol="0">
              <a:spAutoFit/>
            </a:bodyPr>
            <a:lstStyle/>
            <a:p>
              <a:pPr algn="ctr"/>
              <a:r>
                <a:rPr lang="pt-BR" sz="800" dirty="0">
                  <a:solidFill>
                    <a:schemeClr val="tx1"/>
                  </a:solidFill>
                </a:rPr>
                <a:t>R$ X mil</a:t>
              </a:r>
            </a:p>
          </p:txBody>
        </p:sp>
        <p:sp>
          <p:nvSpPr>
            <p:cNvPr id="601" name="CaixaDeTexto 600">
              <a:extLst>
                <a:ext uri="{FF2B5EF4-FFF2-40B4-BE49-F238E27FC236}">
                  <a16:creationId xmlns:a16="http://schemas.microsoft.com/office/drawing/2014/main" id="{1F850254-FCC3-6E19-464B-994DB24584E5}"/>
                </a:ext>
              </a:extLst>
            </p:cNvPr>
            <p:cNvSpPr txBox="1"/>
            <p:nvPr/>
          </p:nvSpPr>
          <p:spPr>
            <a:xfrm>
              <a:off x="8788003" y="3046073"/>
              <a:ext cx="795692" cy="261610"/>
            </a:xfrm>
            <a:prstGeom prst="rect">
              <a:avLst/>
            </a:prstGeom>
            <a:noFill/>
          </p:spPr>
          <p:txBody>
            <a:bodyPr wrap="square" rtlCol="0">
              <a:spAutoFit/>
            </a:bodyPr>
            <a:lstStyle>
              <a:defPPr>
                <a:defRPr lang="pt-BR"/>
              </a:defPPr>
              <a:lvl1pPr algn="ctr">
                <a:defRPr sz="1050" i="1"/>
              </a:lvl1pPr>
            </a:lstStyle>
            <a:p>
              <a:r>
                <a:rPr lang="pt-BR" sz="1100" dirty="0"/>
                <a:t>...</a:t>
              </a:r>
            </a:p>
          </p:txBody>
        </p:sp>
      </p:grpSp>
      <p:cxnSp>
        <p:nvCxnSpPr>
          <p:cNvPr id="604" name="Conector de Seta Reta 603">
            <a:extLst>
              <a:ext uri="{FF2B5EF4-FFF2-40B4-BE49-F238E27FC236}">
                <a16:creationId xmlns:a16="http://schemas.microsoft.com/office/drawing/2014/main" id="{FB49E131-3F1C-8937-E171-CEBE053446A6}"/>
              </a:ext>
            </a:extLst>
          </p:cNvPr>
          <p:cNvCxnSpPr>
            <a:cxnSpLocks/>
            <a:stCxn id="378" idx="3"/>
            <a:endCxn id="587" idx="1"/>
          </p:cNvCxnSpPr>
          <p:nvPr/>
        </p:nvCxnSpPr>
        <p:spPr>
          <a:xfrm>
            <a:off x="9082010" y="2702083"/>
            <a:ext cx="175281" cy="4773"/>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612" name="Conector de Seta Reta 611">
            <a:extLst>
              <a:ext uri="{FF2B5EF4-FFF2-40B4-BE49-F238E27FC236}">
                <a16:creationId xmlns:a16="http://schemas.microsoft.com/office/drawing/2014/main" id="{3DF300B8-64DF-50F1-3B67-BEB1DAA54F80}"/>
              </a:ext>
            </a:extLst>
          </p:cNvPr>
          <p:cNvCxnSpPr>
            <a:cxnSpLocks/>
            <a:stCxn id="388" idx="3"/>
            <a:endCxn id="595" idx="1"/>
          </p:cNvCxnSpPr>
          <p:nvPr/>
        </p:nvCxnSpPr>
        <p:spPr>
          <a:xfrm>
            <a:off x="9082010" y="3037518"/>
            <a:ext cx="175282" cy="0"/>
          </a:xfrm>
          <a:prstGeom prst="straightConnector1">
            <a:avLst/>
          </a:prstGeom>
          <a:ln w="6350">
            <a:tailEnd type="triangle"/>
          </a:ln>
          <a:effectLst/>
        </p:spPr>
        <p:style>
          <a:lnRef idx="2">
            <a:schemeClr val="accent1"/>
          </a:lnRef>
          <a:fillRef idx="0">
            <a:schemeClr val="accent1"/>
          </a:fillRef>
          <a:effectRef idx="1">
            <a:schemeClr val="accent1"/>
          </a:effectRef>
          <a:fontRef idx="minor">
            <a:schemeClr val="tx1"/>
          </a:fontRef>
        </p:style>
      </p:cxnSp>
      <p:pic>
        <p:nvPicPr>
          <p:cNvPr id="4" name="Picture 2">
            <a:extLst>
              <a:ext uri="{FF2B5EF4-FFF2-40B4-BE49-F238E27FC236}">
                <a16:creationId xmlns:a16="http://schemas.microsoft.com/office/drawing/2014/main" id="{36EDFB71-DE4C-48A6-0018-4DB99C0B66F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38285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A5A71-9B1E-DFE8-B325-EDE2E7814855}"/>
            </a:ext>
          </a:extLst>
        </p:cNvPr>
        <p:cNvGrpSpPr/>
        <p:nvPr/>
      </p:nvGrpSpPr>
      <p:grpSpPr>
        <a:xfrm>
          <a:off x="0" y="0"/>
          <a:ext cx="0" cy="0"/>
          <a:chOff x="0" y="0"/>
          <a:chExt cx="0" cy="0"/>
        </a:xfrm>
      </p:grpSpPr>
      <p:sp>
        <p:nvSpPr>
          <p:cNvPr id="6" name="Retângulo 5">
            <a:extLst>
              <a:ext uri="{FF2B5EF4-FFF2-40B4-BE49-F238E27FC236}">
                <a16:creationId xmlns:a16="http://schemas.microsoft.com/office/drawing/2014/main" id="{EC6B363E-E139-2D83-44E0-4B5F6FB10589}"/>
              </a:ext>
            </a:extLst>
          </p:cNvPr>
          <p:cNvSpPr/>
          <p:nvPr/>
        </p:nvSpPr>
        <p:spPr>
          <a:xfrm>
            <a:off x="2502810" y="5047714"/>
            <a:ext cx="1306800"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Parada Programada</a:t>
            </a:r>
          </a:p>
        </p:txBody>
      </p:sp>
      <p:sp>
        <p:nvSpPr>
          <p:cNvPr id="7" name="Retângulo 6">
            <a:extLst>
              <a:ext uri="{FF2B5EF4-FFF2-40B4-BE49-F238E27FC236}">
                <a16:creationId xmlns:a16="http://schemas.microsoft.com/office/drawing/2014/main" id="{E00BCB41-1527-4420-DDC2-867C986E3EE2}"/>
              </a:ext>
            </a:extLst>
          </p:cNvPr>
          <p:cNvSpPr/>
          <p:nvPr/>
        </p:nvSpPr>
        <p:spPr>
          <a:xfrm>
            <a:off x="2502810" y="3190863"/>
            <a:ext cx="1306800"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Parada Upgrade – Ativo/Contrato</a:t>
            </a:r>
          </a:p>
        </p:txBody>
      </p:sp>
      <p:sp>
        <p:nvSpPr>
          <p:cNvPr id="14" name="Retângulo 13">
            <a:extLst>
              <a:ext uri="{FF2B5EF4-FFF2-40B4-BE49-F238E27FC236}">
                <a16:creationId xmlns:a16="http://schemas.microsoft.com/office/drawing/2014/main" id="{ED96464A-62B7-3EA0-6E2E-29D4A1F5321D}"/>
              </a:ext>
            </a:extLst>
          </p:cNvPr>
          <p:cNvSpPr/>
          <p:nvPr/>
        </p:nvSpPr>
        <p:spPr>
          <a:xfrm>
            <a:off x="4489434" y="3542851"/>
            <a:ext cx="2029316"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Vistoria, reparos e pintura de casco e tanques</a:t>
            </a:r>
          </a:p>
        </p:txBody>
      </p:sp>
      <p:sp>
        <p:nvSpPr>
          <p:cNvPr id="42" name="Retângulo 41">
            <a:extLst>
              <a:ext uri="{FF2B5EF4-FFF2-40B4-BE49-F238E27FC236}">
                <a16:creationId xmlns:a16="http://schemas.microsoft.com/office/drawing/2014/main" id="{FC64328A-C873-7710-B6D5-5EBC54AD6F89}"/>
              </a:ext>
            </a:extLst>
          </p:cNvPr>
          <p:cNvSpPr/>
          <p:nvPr/>
        </p:nvSpPr>
        <p:spPr>
          <a:xfrm>
            <a:off x="4489192" y="4695726"/>
            <a:ext cx="2029316"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Azimuth</a:t>
            </a:r>
            <a:r>
              <a:rPr lang="pt-BR" sz="1200" dirty="0">
                <a:solidFill>
                  <a:schemeClr val="tx1"/>
                </a:solidFill>
              </a:rPr>
              <a:t> </a:t>
            </a:r>
            <a:r>
              <a:rPr lang="pt-BR" sz="1200" dirty="0" err="1">
                <a:solidFill>
                  <a:schemeClr val="tx1"/>
                </a:solidFill>
              </a:rPr>
              <a:t>thruster</a:t>
            </a:r>
            <a:r>
              <a:rPr lang="pt-BR" sz="1200" dirty="0">
                <a:solidFill>
                  <a:schemeClr val="tx1"/>
                </a:solidFill>
              </a:rPr>
              <a:t> </a:t>
            </a:r>
            <a:r>
              <a:rPr lang="pt-BR" sz="1200" dirty="0" err="1">
                <a:solidFill>
                  <a:schemeClr val="tx1"/>
                </a:solidFill>
              </a:rPr>
              <a:t>retractable</a:t>
            </a:r>
            <a:r>
              <a:rPr lang="pt-BR" sz="1200" dirty="0">
                <a:solidFill>
                  <a:schemeClr val="tx1"/>
                </a:solidFill>
              </a:rPr>
              <a:t> (OVH de 10 anos)</a:t>
            </a:r>
          </a:p>
        </p:txBody>
      </p:sp>
      <p:cxnSp>
        <p:nvCxnSpPr>
          <p:cNvPr id="17" name="Conector: Angulado 16">
            <a:extLst>
              <a:ext uri="{FF2B5EF4-FFF2-40B4-BE49-F238E27FC236}">
                <a16:creationId xmlns:a16="http://schemas.microsoft.com/office/drawing/2014/main" id="{7DA8CB2D-23A1-3FA1-15A2-4FECF6389F22}"/>
              </a:ext>
            </a:extLst>
          </p:cNvPr>
          <p:cNvCxnSpPr>
            <a:cxnSpLocks/>
            <a:stCxn id="10" idx="3"/>
            <a:endCxn id="14" idx="1"/>
          </p:cNvCxnSpPr>
          <p:nvPr/>
        </p:nvCxnSpPr>
        <p:spPr>
          <a:xfrm flipV="1">
            <a:off x="3809610" y="3722851"/>
            <a:ext cx="679824" cy="569216"/>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5" name="Título 4">
            <a:extLst>
              <a:ext uri="{FF2B5EF4-FFF2-40B4-BE49-F238E27FC236}">
                <a16:creationId xmlns:a16="http://schemas.microsoft.com/office/drawing/2014/main" id="{2A2B9664-C01E-3E64-5B88-F87FE036509B}"/>
              </a:ext>
            </a:extLst>
          </p:cNvPr>
          <p:cNvSpPr>
            <a:spLocks noGrp="1"/>
          </p:cNvSpPr>
          <p:nvPr>
            <p:ph type="title"/>
          </p:nvPr>
        </p:nvSpPr>
        <p:spPr/>
        <p:txBody>
          <a:bodyPr/>
          <a:lstStyle/>
          <a:p>
            <a:pPr lvl="0" defTabSz="1055035">
              <a:lnSpc>
                <a:spcPct val="100000"/>
              </a:lnSpc>
              <a:spcBef>
                <a:spcPts val="0"/>
              </a:spcBef>
              <a:defRPr/>
            </a:pPr>
            <a:r>
              <a:rPr lang="pt-BR" dirty="0"/>
              <a:t>Planejamento por Escopo/Demanda</a:t>
            </a:r>
            <a:br>
              <a:rPr lang="pt-BR" dirty="0"/>
            </a:br>
            <a:r>
              <a:rPr lang="pt-BR" sz="1600" b="0" dirty="0"/>
              <a:t>Estrutura de Dados - Exemplo</a:t>
            </a:r>
            <a:endParaRPr lang="pt-BR" b="0" dirty="0"/>
          </a:p>
        </p:txBody>
      </p:sp>
      <p:cxnSp>
        <p:nvCxnSpPr>
          <p:cNvPr id="43" name="Conector: Angulado 42">
            <a:extLst>
              <a:ext uri="{FF2B5EF4-FFF2-40B4-BE49-F238E27FC236}">
                <a16:creationId xmlns:a16="http://schemas.microsoft.com/office/drawing/2014/main" id="{C77A1FA5-728B-EA76-A37A-8A58374F02CD}"/>
              </a:ext>
            </a:extLst>
          </p:cNvPr>
          <p:cNvCxnSpPr>
            <a:cxnSpLocks/>
            <a:stCxn id="45" idx="3"/>
            <a:endCxn id="7" idx="1"/>
          </p:cNvCxnSpPr>
          <p:nvPr/>
        </p:nvCxnSpPr>
        <p:spPr>
          <a:xfrm flipV="1">
            <a:off x="1720412" y="3370863"/>
            <a:ext cx="782398" cy="921204"/>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60" name="CaixaDeTexto 59">
            <a:extLst>
              <a:ext uri="{FF2B5EF4-FFF2-40B4-BE49-F238E27FC236}">
                <a16:creationId xmlns:a16="http://schemas.microsoft.com/office/drawing/2014/main" id="{94A41772-6EB5-8C3A-041F-0D3909A9068F}"/>
              </a:ext>
            </a:extLst>
          </p:cNvPr>
          <p:cNvSpPr txBox="1"/>
          <p:nvPr/>
        </p:nvSpPr>
        <p:spPr>
          <a:xfrm>
            <a:off x="751547" y="2637359"/>
            <a:ext cx="1281470" cy="307777"/>
          </a:xfrm>
          <a:prstGeom prst="rect">
            <a:avLst/>
          </a:prstGeom>
          <a:noFill/>
        </p:spPr>
        <p:txBody>
          <a:bodyPr wrap="square" rtlCol="0">
            <a:spAutoFit/>
          </a:bodyPr>
          <a:lstStyle/>
          <a:p>
            <a:pPr algn="ctr"/>
            <a:r>
              <a:rPr lang="pt-BR" sz="1400" i="1" dirty="0"/>
              <a:t>ID da Parada</a:t>
            </a:r>
          </a:p>
        </p:txBody>
      </p:sp>
      <p:cxnSp>
        <p:nvCxnSpPr>
          <p:cNvPr id="20" name="Conector: Angulado 19">
            <a:extLst>
              <a:ext uri="{FF2B5EF4-FFF2-40B4-BE49-F238E27FC236}">
                <a16:creationId xmlns:a16="http://schemas.microsoft.com/office/drawing/2014/main" id="{01C74BAB-3781-5B65-735A-17639F115785}"/>
              </a:ext>
            </a:extLst>
          </p:cNvPr>
          <p:cNvCxnSpPr>
            <a:cxnSpLocks/>
            <a:stCxn id="45" idx="3"/>
            <a:endCxn id="6" idx="1"/>
          </p:cNvCxnSpPr>
          <p:nvPr/>
        </p:nvCxnSpPr>
        <p:spPr>
          <a:xfrm>
            <a:off x="1720412" y="4292067"/>
            <a:ext cx="782398" cy="935647"/>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46" name="Conector: Angulado 45">
            <a:extLst>
              <a:ext uri="{FF2B5EF4-FFF2-40B4-BE49-F238E27FC236}">
                <a16:creationId xmlns:a16="http://schemas.microsoft.com/office/drawing/2014/main" id="{691F3551-53EB-942A-664A-9128E710F1EE}"/>
              </a:ext>
            </a:extLst>
          </p:cNvPr>
          <p:cNvCxnSpPr>
            <a:cxnSpLocks/>
            <a:stCxn id="10" idx="3"/>
            <a:endCxn id="42" idx="1"/>
          </p:cNvCxnSpPr>
          <p:nvPr/>
        </p:nvCxnSpPr>
        <p:spPr>
          <a:xfrm>
            <a:off x="3809610" y="4292067"/>
            <a:ext cx="679582" cy="583659"/>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54" name="CaixaDeTexto 53">
            <a:extLst>
              <a:ext uri="{FF2B5EF4-FFF2-40B4-BE49-F238E27FC236}">
                <a16:creationId xmlns:a16="http://schemas.microsoft.com/office/drawing/2014/main" id="{5DDF8577-CE7C-8BC4-641B-907747B365AE}"/>
              </a:ext>
            </a:extLst>
          </p:cNvPr>
          <p:cNvSpPr txBox="1"/>
          <p:nvPr/>
        </p:nvSpPr>
        <p:spPr>
          <a:xfrm>
            <a:off x="2451402" y="2645053"/>
            <a:ext cx="1409617" cy="307777"/>
          </a:xfrm>
          <a:prstGeom prst="rect">
            <a:avLst/>
          </a:prstGeom>
          <a:noFill/>
        </p:spPr>
        <p:txBody>
          <a:bodyPr wrap="square" rtlCol="0">
            <a:spAutoFit/>
          </a:bodyPr>
          <a:lstStyle/>
          <a:p>
            <a:pPr algn="ctr"/>
            <a:r>
              <a:rPr lang="pt-BR" sz="1400" i="1" dirty="0"/>
              <a:t>Obras da Parada</a:t>
            </a:r>
          </a:p>
        </p:txBody>
      </p:sp>
      <p:sp>
        <p:nvSpPr>
          <p:cNvPr id="55" name="CaixaDeTexto 54">
            <a:extLst>
              <a:ext uri="{FF2B5EF4-FFF2-40B4-BE49-F238E27FC236}">
                <a16:creationId xmlns:a16="http://schemas.microsoft.com/office/drawing/2014/main" id="{14EEE7E7-02C9-1257-71FB-3C293E591C10}"/>
              </a:ext>
            </a:extLst>
          </p:cNvPr>
          <p:cNvSpPr txBox="1"/>
          <p:nvPr/>
        </p:nvSpPr>
        <p:spPr>
          <a:xfrm>
            <a:off x="4728682" y="2645053"/>
            <a:ext cx="1550579" cy="307777"/>
          </a:xfrm>
          <a:prstGeom prst="rect">
            <a:avLst/>
          </a:prstGeom>
          <a:noFill/>
        </p:spPr>
        <p:txBody>
          <a:bodyPr wrap="square" rtlCol="0">
            <a:spAutoFit/>
          </a:bodyPr>
          <a:lstStyle/>
          <a:p>
            <a:pPr algn="ctr"/>
            <a:r>
              <a:rPr lang="pt-BR" sz="1400" i="1" dirty="0"/>
              <a:t>Demandas</a:t>
            </a:r>
          </a:p>
        </p:txBody>
      </p:sp>
      <p:sp>
        <p:nvSpPr>
          <p:cNvPr id="56" name="CaixaDeTexto 55">
            <a:extLst>
              <a:ext uri="{FF2B5EF4-FFF2-40B4-BE49-F238E27FC236}">
                <a16:creationId xmlns:a16="http://schemas.microsoft.com/office/drawing/2014/main" id="{17BFA3AF-138B-4B75-8D51-8CE23300A71E}"/>
              </a:ext>
            </a:extLst>
          </p:cNvPr>
          <p:cNvSpPr txBox="1"/>
          <p:nvPr/>
        </p:nvSpPr>
        <p:spPr>
          <a:xfrm>
            <a:off x="7647908" y="2645053"/>
            <a:ext cx="1409617" cy="307777"/>
          </a:xfrm>
          <a:prstGeom prst="rect">
            <a:avLst/>
          </a:prstGeom>
          <a:noFill/>
        </p:spPr>
        <p:txBody>
          <a:bodyPr wrap="square" rtlCol="0">
            <a:spAutoFit/>
          </a:bodyPr>
          <a:lstStyle/>
          <a:p>
            <a:pPr algn="ctr"/>
            <a:r>
              <a:rPr lang="pt-BR" sz="1400" i="1" dirty="0"/>
              <a:t>Tipos de Custo</a:t>
            </a:r>
          </a:p>
        </p:txBody>
      </p:sp>
      <p:sp>
        <p:nvSpPr>
          <p:cNvPr id="57" name="CaixaDeTexto 56">
            <a:extLst>
              <a:ext uri="{FF2B5EF4-FFF2-40B4-BE49-F238E27FC236}">
                <a16:creationId xmlns:a16="http://schemas.microsoft.com/office/drawing/2014/main" id="{FEACF6C2-C618-638A-60E0-BEBE676BF325}"/>
              </a:ext>
            </a:extLst>
          </p:cNvPr>
          <p:cNvSpPr txBox="1"/>
          <p:nvPr/>
        </p:nvSpPr>
        <p:spPr>
          <a:xfrm>
            <a:off x="9955143" y="2645053"/>
            <a:ext cx="2063821" cy="307777"/>
          </a:xfrm>
          <a:prstGeom prst="rect">
            <a:avLst/>
          </a:prstGeom>
          <a:noFill/>
        </p:spPr>
        <p:txBody>
          <a:bodyPr wrap="square" rtlCol="0">
            <a:spAutoFit/>
          </a:bodyPr>
          <a:lstStyle/>
          <a:p>
            <a:pPr algn="ctr"/>
            <a:r>
              <a:rPr lang="pt-BR" sz="1400" i="1" dirty="0"/>
              <a:t>Custo Estimado </a:t>
            </a:r>
            <a:r>
              <a:rPr lang="pt-BR" sz="1400" i="1" dirty="0" err="1"/>
              <a:t>Mensalizado</a:t>
            </a:r>
            <a:endParaRPr lang="pt-BR" sz="1400" i="1" dirty="0"/>
          </a:p>
        </p:txBody>
      </p:sp>
      <p:grpSp>
        <p:nvGrpSpPr>
          <p:cNvPr id="50" name="Agrupar 49">
            <a:extLst>
              <a:ext uri="{FF2B5EF4-FFF2-40B4-BE49-F238E27FC236}">
                <a16:creationId xmlns:a16="http://schemas.microsoft.com/office/drawing/2014/main" id="{F8DD74E7-A588-5837-8561-1C2594BFF6F1}"/>
              </a:ext>
            </a:extLst>
          </p:cNvPr>
          <p:cNvGrpSpPr/>
          <p:nvPr/>
        </p:nvGrpSpPr>
        <p:grpSpPr>
          <a:xfrm>
            <a:off x="10185085" y="3266576"/>
            <a:ext cx="1603937" cy="688202"/>
            <a:chOff x="9306189" y="4134509"/>
            <a:chExt cx="1603937" cy="688202"/>
          </a:xfrm>
        </p:grpSpPr>
        <p:sp>
          <p:nvSpPr>
            <p:cNvPr id="69" name="Retângulo 68">
              <a:extLst>
                <a:ext uri="{FF2B5EF4-FFF2-40B4-BE49-F238E27FC236}">
                  <a16:creationId xmlns:a16="http://schemas.microsoft.com/office/drawing/2014/main" id="{C57538BE-5D9C-3AC9-F86F-B2F8CB686F1D}"/>
                </a:ext>
              </a:extLst>
            </p:cNvPr>
            <p:cNvSpPr/>
            <p:nvPr/>
          </p:nvSpPr>
          <p:spPr>
            <a:xfrm>
              <a:off x="9306189" y="4242927"/>
              <a:ext cx="1591237" cy="57978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dirty="0">
                <a:solidFill>
                  <a:schemeClr val="tx1"/>
                </a:solidFill>
              </a:endParaRPr>
            </a:p>
          </p:txBody>
        </p:sp>
        <p:grpSp>
          <p:nvGrpSpPr>
            <p:cNvPr id="13" name="Agrupar 12">
              <a:extLst>
                <a:ext uri="{FF2B5EF4-FFF2-40B4-BE49-F238E27FC236}">
                  <a16:creationId xmlns:a16="http://schemas.microsoft.com/office/drawing/2014/main" id="{E1FE4628-F711-D203-7081-95D7AEDA4816}"/>
                </a:ext>
              </a:extLst>
            </p:cNvPr>
            <p:cNvGrpSpPr/>
            <p:nvPr/>
          </p:nvGrpSpPr>
          <p:grpSpPr>
            <a:xfrm>
              <a:off x="9313338" y="4246987"/>
              <a:ext cx="736056" cy="571664"/>
              <a:chOff x="9203524" y="3331800"/>
              <a:chExt cx="736056" cy="571664"/>
            </a:xfrm>
          </p:grpSpPr>
          <p:sp>
            <p:nvSpPr>
              <p:cNvPr id="76" name="CaixaDeTexto 75">
                <a:extLst>
                  <a:ext uri="{FF2B5EF4-FFF2-40B4-BE49-F238E27FC236}">
                    <a16:creationId xmlns:a16="http://schemas.microsoft.com/office/drawing/2014/main" id="{A345A5B4-8D8E-ACC9-2C8A-84786D88DD5B}"/>
                  </a:ext>
                </a:extLst>
              </p:cNvPr>
              <p:cNvSpPr txBox="1"/>
              <p:nvPr/>
            </p:nvSpPr>
            <p:spPr>
              <a:xfrm>
                <a:off x="9203524" y="3331800"/>
                <a:ext cx="723356" cy="253916"/>
              </a:xfrm>
              <a:prstGeom prst="rect">
                <a:avLst/>
              </a:prstGeom>
              <a:noFill/>
            </p:spPr>
            <p:txBody>
              <a:bodyPr wrap="square" rtlCol="0">
                <a:spAutoFit/>
              </a:bodyPr>
              <a:lstStyle/>
              <a:p>
                <a:pPr algn="ctr"/>
                <a:r>
                  <a:rPr lang="pt-BR" sz="1050" i="1" dirty="0"/>
                  <a:t>Mês 1</a:t>
                </a:r>
              </a:p>
            </p:txBody>
          </p:sp>
          <p:sp>
            <p:nvSpPr>
              <p:cNvPr id="2" name="CaixaDeTexto 1">
                <a:extLst>
                  <a:ext uri="{FF2B5EF4-FFF2-40B4-BE49-F238E27FC236}">
                    <a16:creationId xmlns:a16="http://schemas.microsoft.com/office/drawing/2014/main" id="{1F77F8DE-6349-3796-9C3F-4D848CB40E18}"/>
                  </a:ext>
                </a:extLst>
              </p:cNvPr>
              <p:cNvSpPr txBox="1"/>
              <p:nvPr/>
            </p:nvSpPr>
            <p:spPr>
              <a:xfrm>
                <a:off x="9216224"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grpSp>
          <p:nvGrpSpPr>
            <p:cNvPr id="11" name="Agrupar 10">
              <a:extLst>
                <a:ext uri="{FF2B5EF4-FFF2-40B4-BE49-F238E27FC236}">
                  <a16:creationId xmlns:a16="http://schemas.microsoft.com/office/drawing/2014/main" id="{639EFECD-D12C-0838-4F9A-D1112756B55D}"/>
                </a:ext>
              </a:extLst>
            </p:cNvPr>
            <p:cNvGrpSpPr/>
            <p:nvPr/>
          </p:nvGrpSpPr>
          <p:grpSpPr>
            <a:xfrm>
              <a:off x="10174070" y="4246987"/>
              <a:ext cx="736056" cy="571664"/>
              <a:chOff x="10668750" y="3331800"/>
              <a:chExt cx="736056" cy="571664"/>
            </a:xfrm>
          </p:grpSpPr>
          <p:sp>
            <p:nvSpPr>
              <p:cNvPr id="8" name="CaixaDeTexto 7">
                <a:extLst>
                  <a:ext uri="{FF2B5EF4-FFF2-40B4-BE49-F238E27FC236}">
                    <a16:creationId xmlns:a16="http://schemas.microsoft.com/office/drawing/2014/main" id="{DBE4D799-0AED-9B78-FA95-D807D9DB1C68}"/>
                  </a:ext>
                </a:extLst>
              </p:cNvPr>
              <p:cNvSpPr txBox="1"/>
              <p:nvPr/>
            </p:nvSpPr>
            <p:spPr>
              <a:xfrm>
                <a:off x="10668750" y="3331800"/>
                <a:ext cx="723356" cy="253916"/>
              </a:xfrm>
              <a:prstGeom prst="rect">
                <a:avLst/>
              </a:prstGeom>
              <a:noFill/>
            </p:spPr>
            <p:txBody>
              <a:bodyPr wrap="square" rtlCol="0">
                <a:spAutoFit/>
              </a:bodyPr>
              <a:lstStyle/>
              <a:p>
                <a:pPr algn="ctr"/>
                <a:r>
                  <a:rPr lang="pt-BR" sz="1050" i="1" dirty="0"/>
                  <a:t>Mês n</a:t>
                </a:r>
              </a:p>
            </p:txBody>
          </p:sp>
          <p:sp>
            <p:nvSpPr>
              <p:cNvPr id="9" name="CaixaDeTexto 8">
                <a:extLst>
                  <a:ext uri="{FF2B5EF4-FFF2-40B4-BE49-F238E27FC236}">
                    <a16:creationId xmlns:a16="http://schemas.microsoft.com/office/drawing/2014/main" id="{219265BB-C412-FE72-70ED-E105C33AEB25}"/>
                  </a:ext>
                </a:extLst>
              </p:cNvPr>
              <p:cNvSpPr txBox="1"/>
              <p:nvPr/>
            </p:nvSpPr>
            <p:spPr>
              <a:xfrm>
                <a:off x="10681450"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sp>
          <p:nvSpPr>
            <p:cNvPr id="75" name="CaixaDeTexto 74">
              <a:extLst>
                <a:ext uri="{FF2B5EF4-FFF2-40B4-BE49-F238E27FC236}">
                  <a16:creationId xmlns:a16="http://schemas.microsoft.com/office/drawing/2014/main" id="{354D7BBD-71B0-EB9F-7BFE-673CF42627EA}"/>
                </a:ext>
              </a:extLst>
            </p:cNvPr>
            <p:cNvSpPr txBox="1"/>
            <p:nvPr/>
          </p:nvSpPr>
          <p:spPr>
            <a:xfrm>
              <a:off x="9746406" y="4481849"/>
              <a:ext cx="795692" cy="338554"/>
            </a:xfrm>
            <a:prstGeom prst="rect">
              <a:avLst/>
            </a:prstGeom>
            <a:noFill/>
          </p:spPr>
          <p:txBody>
            <a:bodyPr wrap="square" rtlCol="0">
              <a:spAutoFit/>
            </a:bodyPr>
            <a:lstStyle/>
            <a:p>
              <a:pPr algn="ctr"/>
              <a:r>
                <a:rPr lang="pt-BR" sz="1600" i="1" dirty="0"/>
                <a:t>...</a:t>
              </a:r>
            </a:p>
          </p:txBody>
        </p:sp>
        <p:sp>
          <p:nvSpPr>
            <p:cNvPr id="15" name="CaixaDeTexto 14">
              <a:extLst>
                <a:ext uri="{FF2B5EF4-FFF2-40B4-BE49-F238E27FC236}">
                  <a16:creationId xmlns:a16="http://schemas.microsoft.com/office/drawing/2014/main" id="{2AD768D7-41EA-EF6F-C9FC-3DB7F1AEABED}"/>
                </a:ext>
              </a:extLst>
            </p:cNvPr>
            <p:cNvSpPr txBox="1"/>
            <p:nvPr/>
          </p:nvSpPr>
          <p:spPr>
            <a:xfrm>
              <a:off x="9746406" y="4134509"/>
              <a:ext cx="795692" cy="338554"/>
            </a:xfrm>
            <a:prstGeom prst="rect">
              <a:avLst/>
            </a:prstGeom>
            <a:noFill/>
          </p:spPr>
          <p:txBody>
            <a:bodyPr wrap="square" rtlCol="0">
              <a:spAutoFit/>
            </a:bodyPr>
            <a:lstStyle/>
            <a:p>
              <a:pPr algn="ctr"/>
              <a:r>
                <a:rPr lang="pt-BR" sz="1600" i="1" dirty="0"/>
                <a:t>...</a:t>
              </a:r>
            </a:p>
          </p:txBody>
        </p:sp>
      </p:grpSp>
      <p:sp>
        <p:nvSpPr>
          <p:cNvPr id="26" name="Retângulo 25">
            <a:extLst>
              <a:ext uri="{FF2B5EF4-FFF2-40B4-BE49-F238E27FC236}">
                <a16:creationId xmlns:a16="http://schemas.microsoft.com/office/drawing/2014/main" id="{B64E4B3B-E1F0-278C-F8BA-E33877FCC2E6}"/>
              </a:ext>
            </a:extLst>
          </p:cNvPr>
          <p:cNvSpPr/>
          <p:nvPr/>
        </p:nvSpPr>
        <p:spPr>
          <a:xfrm>
            <a:off x="2006915" y="3006353"/>
            <a:ext cx="2108912" cy="2549291"/>
          </a:xfrm>
          <a:prstGeom prst="rect">
            <a:avLst/>
          </a:prstGeom>
          <a:solidFill>
            <a:srgbClr val="FFFFFF">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Retângulo 9">
            <a:extLst>
              <a:ext uri="{FF2B5EF4-FFF2-40B4-BE49-F238E27FC236}">
                <a16:creationId xmlns:a16="http://schemas.microsoft.com/office/drawing/2014/main" id="{8E94266F-1090-A857-DBC1-99C13767FB58}"/>
              </a:ext>
            </a:extLst>
          </p:cNvPr>
          <p:cNvSpPr/>
          <p:nvPr/>
        </p:nvSpPr>
        <p:spPr>
          <a:xfrm>
            <a:off x="2502810" y="4112067"/>
            <a:ext cx="1306800"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Parada Especial</a:t>
            </a:r>
          </a:p>
        </p:txBody>
      </p:sp>
      <p:sp>
        <p:nvSpPr>
          <p:cNvPr id="27" name="Retângulo 26">
            <a:extLst>
              <a:ext uri="{FF2B5EF4-FFF2-40B4-BE49-F238E27FC236}">
                <a16:creationId xmlns:a16="http://schemas.microsoft.com/office/drawing/2014/main" id="{CF66AFD2-172B-71DD-E560-AA61D2012370}"/>
              </a:ext>
            </a:extLst>
          </p:cNvPr>
          <p:cNvSpPr/>
          <p:nvPr/>
        </p:nvSpPr>
        <p:spPr>
          <a:xfrm>
            <a:off x="3838095" y="3066479"/>
            <a:ext cx="5063447" cy="2387371"/>
          </a:xfrm>
          <a:prstGeom prst="rect">
            <a:avLst/>
          </a:prstGeom>
          <a:solidFill>
            <a:srgbClr val="FFFFFF">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83" name="Conector de Seta Reta 82">
            <a:extLst>
              <a:ext uri="{FF2B5EF4-FFF2-40B4-BE49-F238E27FC236}">
                <a16:creationId xmlns:a16="http://schemas.microsoft.com/office/drawing/2014/main" id="{7C38D281-986A-0D3A-340E-277A357711F5}"/>
              </a:ext>
            </a:extLst>
          </p:cNvPr>
          <p:cNvCxnSpPr>
            <a:cxnSpLocks/>
            <a:stCxn id="59" idx="3"/>
            <a:endCxn id="69" idx="1"/>
          </p:cNvCxnSpPr>
          <p:nvPr/>
        </p:nvCxnSpPr>
        <p:spPr>
          <a:xfrm>
            <a:off x="9455692" y="3660971"/>
            <a:ext cx="729393" cy="39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0B38F420-0A44-74C1-5C28-23E986A26EA1}"/>
              </a:ext>
            </a:extLst>
          </p:cNvPr>
          <p:cNvCxnSpPr>
            <a:cxnSpLocks/>
            <a:stCxn id="10" idx="3"/>
            <a:endCxn id="41" idx="1"/>
          </p:cNvCxnSpPr>
          <p:nvPr/>
        </p:nvCxnSpPr>
        <p:spPr>
          <a:xfrm>
            <a:off x="3809610" y="4292067"/>
            <a:ext cx="6798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Chave Direita 27">
            <a:extLst>
              <a:ext uri="{FF2B5EF4-FFF2-40B4-BE49-F238E27FC236}">
                <a16:creationId xmlns:a16="http://schemas.microsoft.com/office/drawing/2014/main" id="{31CF6A56-123A-74B6-B377-6F73420AD96C}"/>
              </a:ext>
            </a:extLst>
          </p:cNvPr>
          <p:cNvSpPr/>
          <p:nvPr/>
        </p:nvSpPr>
        <p:spPr>
          <a:xfrm rot="16200000" flipV="1">
            <a:off x="2402944" y="188478"/>
            <a:ext cx="191751" cy="4170023"/>
          </a:xfrm>
          <a:prstGeom prst="rightBrace">
            <a:avLst>
              <a:gd name="adj1" fmla="val 60574"/>
              <a:gd name="adj2" fmla="val 50000"/>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29" name="Chave Direita 28">
            <a:extLst>
              <a:ext uri="{FF2B5EF4-FFF2-40B4-BE49-F238E27FC236}">
                <a16:creationId xmlns:a16="http://schemas.microsoft.com/office/drawing/2014/main" id="{851809F3-8D9E-9686-9437-CF31B37A942E}"/>
              </a:ext>
            </a:extLst>
          </p:cNvPr>
          <p:cNvSpPr/>
          <p:nvPr/>
        </p:nvSpPr>
        <p:spPr>
          <a:xfrm rot="16200000" flipV="1">
            <a:off x="8082923" y="-1105455"/>
            <a:ext cx="191751" cy="6757888"/>
          </a:xfrm>
          <a:prstGeom prst="rightBrace">
            <a:avLst>
              <a:gd name="adj1" fmla="val 60574"/>
              <a:gd name="adj2" fmla="val 50000"/>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31" name="CaixaDeTexto 30">
            <a:extLst>
              <a:ext uri="{FF2B5EF4-FFF2-40B4-BE49-F238E27FC236}">
                <a16:creationId xmlns:a16="http://schemas.microsoft.com/office/drawing/2014/main" id="{A502D3D1-F84C-1E98-E7CA-5C5EA5A4A14E}"/>
              </a:ext>
            </a:extLst>
          </p:cNvPr>
          <p:cNvSpPr txBox="1"/>
          <p:nvPr/>
        </p:nvSpPr>
        <p:spPr>
          <a:xfrm>
            <a:off x="1356442" y="1484784"/>
            <a:ext cx="2270203" cy="523220"/>
          </a:xfrm>
          <a:prstGeom prst="rect">
            <a:avLst/>
          </a:prstGeom>
          <a:noFill/>
        </p:spPr>
        <p:txBody>
          <a:bodyPr wrap="square" rtlCol="0">
            <a:spAutoFit/>
          </a:bodyPr>
          <a:lstStyle/>
          <a:p>
            <a:pPr algn="ctr"/>
            <a:r>
              <a:rPr lang="pt-BR" sz="1400" b="1" dirty="0">
                <a:solidFill>
                  <a:schemeClr val="tx1"/>
                </a:solidFill>
              </a:rPr>
              <a:t>Cadastrar e/ou atualizar cenários de Parada no SGO</a:t>
            </a:r>
          </a:p>
        </p:txBody>
      </p:sp>
      <p:sp>
        <p:nvSpPr>
          <p:cNvPr id="33" name="CaixaDeTexto 32">
            <a:extLst>
              <a:ext uri="{FF2B5EF4-FFF2-40B4-BE49-F238E27FC236}">
                <a16:creationId xmlns:a16="http://schemas.microsoft.com/office/drawing/2014/main" id="{3E97A626-CF01-0CC1-FC6C-C4DBFB46B5F1}"/>
              </a:ext>
            </a:extLst>
          </p:cNvPr>
          <p:cNvSpPr txBox="1"/>
          <p:nvPr/>
        </p:nvSpPr>
        <p:spPr>
          <a:xfrm>
            <a:off x="6805325" y="1484784"/>
            <a:ext cx="2746945" cy="523220"/>
          </a:xfrm>
          <a:prstGeom prst="rect">
            <a:avLst/>
          </a:prstGeom>
          <a:noFill/>
        </p:spPr>
        <p:txBody>
          <a:bodyPr wrap="square" rtlCol="0">
            <a:spAutoFit/>
          </a:bodyPr>
          <a:lstStyle/>
          <a:p>
            <a:pPr algn="ctr"/>
            <a:r>
              <a:rPr lang="pt-BR" sz="1400" b="1" dirty="0"/>
              <a:t>Cadastrar Demandas e Estimativas financeiras no HUB</a:t>
            </a:r>
          </a:p>
        </p:txBody>
      </p:sp>
      <p:sp>
        <p:nvSpPr>
          <p:cNvPr id="34" name="Retângulo 33">
            <a:extLst>
              <a:ext uri="{FF2B5EF4-FFF2-40B4-BE49-F238E27FC236}">
                <a16:creationId xmlns:a16="http://schemas.microsoft.com/office/drawing/2014/main" id="{66E0B763-761A-27B2-7B5F-0969891B05E9}"/>
              </a:ext>
            </a:extLst>
          </p:cNvPr>
          <p:cNvSpPr/>
          <p:nvPr/>
        </p:nvSpPr>
        <p:spPr>
          <a:xfrm rot="973083">
            <a:off x="10820402" y="563006"/>
            <a:ext cx="934872" cy="283929"/>
          </a:xfrm>
          <a:prstGeom prst="rect">
            <a:avLst/>
          </a:prstGeom>
          <a:solidFill>
            <a:schemeClr val="bg1"/>
          </a:solidFill>
          <a:ln w="952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b="1" dirty="0">
                <a:solidFill>
                  <a:srgbClr val="FF0000"/>
                </a:solidFill>
              </a:rPr>
              <a:t>EXEMPLO</a:t>
            </a:r>
          </a:p>
        </p:txBody>
      </p:sp>
      <p:sp>
        <p:nvSpPr>
          <p:cNvPr id="45" name="Retângulo 44">
            <a:extLst>
              <a:ext uri="{FF2B5EF4-FFF2-40B4-BE49-F238E27FC236}">
                <a16:creationId xmlns:a16="http://schemas.microsoft.com/office/drawing/2014/main" id="{ABA01490-92CB-2797-21E1-9C1B11EEA526}"/>
              </a:ext>
            </a:extLst>
          </p:cNvPr>
          <p:cNvSpPr/>
          <p:nvPr/>
        </p:nvSpPr>
        <p:spPr>
          <a:xfrm>
            <a:off x="1064153" y="4112067"/>
            <a:ext cx="656259"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24</a:t>
            </a:r>
          </a:p>
        </p:txBody>
      </p:sp>
      <p:cxnSp>
        <p:nvCxnSpPr>
          <p:cNvPr id="97" name="Conector de Seta Reta 96">
            <a:extLst>
              <a:ext uri="{FF2B5EF4-FFF2-40B4-BE49-F238E27FC236}">
                <a16:creationId xmlns:a16="http://schemas.microsoft.com/office/drawing/2014/main" id="{A58ECCE0-21D5-522F-147B-64C4BDC6BE8D}"/>
              </a:ext>
            </a:extLst>
          </p:cNvPr>
          <p:cNvCxnSpPr>
            <a:cxnSpLocks/>
            <a:stCxn id="45" idx="3"/>
            <a:endCxn id="10" idx="1"/>
          </p:cNvCxnSpPr>
          <p:nvPr/>
        </p:nvCxnSpPr>
        <p:spPr>
          <a:xfrm>
            <a:off x="1720412" y="4292067"/>
            <a:ext cx="7823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etângulo 60">
            <a:extLst>
              <a:ext uri="{FF2B5EF4-FFF2-40B4-BE49-F238E27FC236}">
                <a16:creationId xmlns:a16="http://schemas.microsoft.com/office/drawing/2014/main" id="{72CBC5BE-69FB-5587-E40C-EC507CEAFC06}"/>
              </a:ext>
            </a:extLst>
          </p:cNvPr>
          <p:cNvSpPr/>
          <p:nvPr/>
        </p:nvSpPr>
        <p:spPr>
          <a:xfrm>
            <a:off x="7251697" y="4112067"/>
            <a:ext cx="2203995"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Oficina</a:t>
            </a:r>
          </a:p>
        </p:txBody>
      </p:sp>
      <p:sp>
        <p:nvSpPr>
          <p:cNvPr id="59" name="Retângulo 58">
            <a:extLst>
              <a:ext uri="{FF2B5EF4-FFF2-40B4-BE49-F238E27FC236}">
                <a16:creationId xmlns:a16="http://schemas.microsoft.com/office/drawing/2014/main" id="{56C1AE5F-11CC-CC6F-B67B-E5A62AB7AEB8}"/>
              </a:ext>
            </a:extLst>
          </p:cNvPr>
          <p:cNvSpPr/>
          <p:nvPr/>
        </p:nvSpPr>
        <p:spPr>
          <a:xfrm>
            <a:off x="7251697" y="3480971"/>
            <a:ext cx="2203995"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Material</a:t>
            </a:r>
          </a:p>
        </p:txBody>
      </p:sp>
      <p:sp>
        <p:nvSpPr>
          <p:cNvPr id="4" name="Retângulo 3">
            <a:extLst>
              <a:ext uri="{FF2B5EF4-FFF2-40B4-BE49-F238E27FC236}">
                <a16:creationId xmlns:a16="http://schemas.microsoft.com/office/drawing/2014/main" id="{A4345FAA-E5C4-45F6-B4B4-40E68ACB728E}"/>
              </a:ext>
            </a:extLst>
          </p:cNvPr>
          <p:cNvSpPr/>
          <p:nvPr/>
        </p:nvSpPr>
        <p:spPr>
          <a:xfrm>
            <a:off x="7249740" y="4758699"/>
            <a:ext cx="2203995"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Estaleiro</a:t>
            </a:r>
          </a:p>
        </p:txBody>
      </p:sp>
      <p:cxnSp>
        <p:nvCxnSpPr>
          <p:cNvPr id="62" name="Conector: Angulado 61">
            <a:extLst>
              <a:ext uri="{FF2B5EF4-FFF2-40B4-BE49-F238E27FC236}">
                <a16:creationId xmlns:a16="http://schemas.microsoft.com/office/drawing/2014/main" id="{A57F5921-9F9F-150A-C6B3-DE8FCAE9881F}"/>
              </a:ext>
            </a:extLst>
          </p:cNvPr>
          <p:cNvCxnSpPr>
            <a:cxnSpLocks/>
            <a:stCxn id="41" idx="3"/>
            <a:endCxn id="59" idx="1"/>
          </p:cNvCxnSpPr>
          <p:nvPr/>
        </p:nvCxnSpPr>
        <p:spPr>
          <a:xfrm flipV="1">
            <a:off x="6518750" y="3660971"/>
            <a:ext cx="732947" cy="631096"/>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sp>
        <p:nvSpPr>
          <p:cNvPr id="41" name="Retângulo 40">
            <a:extLst>
              <a:ext uri="{FF2B5EF4-FFF2-40B4-BE49-F238E27FC236}">
                <a16:creationId xmlns:a16="http://schemas.microsoft.com/office/drawing/2014/main" id="{FE700671-4F3F-7ADE-1196-4D77CD04445F}"/>
              </a:ext>
            </a:extLst>
          </p:cNvPr>
          <p:cNvSpPr/>
          <p:nvPr/>
        </p:nvSpPr>
        <p:spPr>
          <a:xfrm>
            <a:off x="4489434" y="4112067"/>
            <a:ext cx="2029316" cy="360000"/>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200" dirty="0" err="1">
                <a:solidFill>
                  <a:schemeClr val="tx1"/>
                </a:solidFill>
              </a:rPr>
              <a:t>Tunnel</a:t>
            </a:r>
            <a:r>
              <a:rPr lang="pt-BR" sz="1200" dirty="0">
                <a:solidFill>
                  <a:schemeClr val="tx1"/>
                </a:solidFill>
              </a:rPr>
              <a:t> </a:t>
            </a:r>
            <a:r>
              <a:rPr lang="pt-BR" sz="1200" dirty="0" err="1">
                <a:solidFill>
                  <a:schemeClr val="tx1"/>
                </a:solidFill>
              </a:rPr>
              <a:t>thrusters</a:t>
            </a:r>
            <a:r>
              <a:rPr lang="pt-BR" sz="1200" dirty="0">
                <a:solidFill>
                  <a:schemeClr val="tx1"/>
                </a:solidFill>
              </a:rPr>
              <a:t> (selagem – escopo 2,5 anos) </a:t>
            </a:r>
          </a:p>
        </p:txBody>
      </p:sp>
      <p:cxnSp>
        <p:nvCxnSpPr>
          <p:cNvPr id="12" name="Conector: Angulado 11">
            <a:extLst>
              <a:ext uri="{FF2B5EF4-FFF2-40B4-BE49-F238E27FC236}">
                <a16:creationId xmlns:a16="http://schemas.microsoft.com/office/drawing/2014/main" id="{F09ED2F6-A1EA-2850-21B2-61071C64E444}"/>
              </a:ext>
            </a:extLst>
          </p:cNvPr>
          <p:cNvCxnSpPr>
            <a:cxnSpLocks/>
            <a:stCxn id="41" idx="3"/>
            <a:endCxn id="4" idx="1"/>
          </p:cNvCxnSpPr>
          <p:nvPr/>
        </p:nvCxnSpPr>
        <p:spPr>
          <a:xfrm>
            <a:off x="6518750" y="4292067"/>
            <a:ext cx="730990" cy="646632"/>
          </a:xfrm>
          <a:prstGeom prst="bentConnector3">
            <a:avLst>
              <a:gd name="adj1" fmla="val 50000"/>
            </a:avLst>
          </a:prstGeom>
          <a:ln w="6350">
            <a:tailEnd type="triangle"/>
          </a:ln>
          <a:effectLst/>
        </p:spPr>
        <p:style>
          <a:lnRef idx="2">
            <a:schemeClr val="accent1"/>
          </a:lnRef>
          <a:fillRef idx="0">
            <a:schemeClr val="accent1"/>
          </a:fillRef>
          <a:effectRef idx="1">
            <a:schemeClr val="accent1"/>
          </a:effectRef>
          <a:fontRef idx="minor">
            <a:schemeClr val="tx1"/>
          </a:fontRef>
        </p:style>
      </p:cxnSp>
      <p:cxnSp>
        <p:nvCxnSpPr>
          <p:cNvPr id="19" name="Conector de Seta Reta 18">
            <a:extLst>
              <a:ext uri="{FF2B5EF4-FFF2-40B4-BE49-F238E27FC236}">
                <a16:creationId xmlns:a16="http://schemas.microsoft.com/office/drawing/2014/main" id="{1A1C59B6-0073-DD81-699F-9A7B95788427}"/>
              </a:ext>
            </a:extLst>
          </p:cNvPr>
          <p:cNvCxnSpPr>
            <a:cxnSpLocks/>
            <a:stCxn id="41" idx="3"/>
            <a:endCxn id="61" idx="1"/>
          </p:cNvCxnSpPr>
          <p:nvPr/>
        </p:nvCxnSpPr>
        <p:spPr>
          <a:xfrm>
            <a:off x="6518750" y="4292067"/>
            <a:ext cx="7329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6" name="Agrupar 35">
            <a:extLst>
              <a:ext uri="{FF2B5EF4-FFF2-40B4-BE49-F238E27FC236}">
                <a16:creationId xmlns:a16="http://schemas.microsoft.com/office/drawing/2014/main" id="{7BC5B95D-886E-1852-8669-DB6EB99DFAB5}"/>
              </a:ext>
            </a:extLst>
          </p:cNvPr>
          <p:cNvGrpSpPr/>
          <p:nvPr/>
        </p:nvGrpSpPr>
        <p:grpSpPr>
          <a:xfrm>
            <a:off x="10185085" y="3892487"/>
            <a:ext cx="1603937" cy="688202"/>
            <a:chOff x="9306189" y="4134509"/>
            <a:chExt cx="1603937" cy="688202"/>
          </a:xfrm>
        </p:grpSpPr>
        <p:sp>
          <p:nvSpPr>
            <p:cNvPr id="37" name="Retângulo 36">
              <a:extLst>
                <a:ext uri="{FF2B5EF4-FFF2-40B4-BE49-F238E27FC236}">
                  <a16:creationId xmlns:a16="http://schemas.microsoft.com/office/drawing/2014/main" id="{5C415245-E645-137C-8CA0-C44C8FD63281}"/>
                </a:ext>
              </a:extLst>
            </p:cNvPr>
            <p:cNvSpPr/>
            <p:nvPr/>
          </p:nvSpPr>
          <p:spPr>
            <a:xfrm>
              <a:off x="9306189" y="4242927"/>
              <a:ext cx="1591237" cy="57978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dirty="0">
                <a:solidFill>
                  <a:schemeClr val="tx1"/>
                </a:solidFill>
              </a:endParaRPr>
            </a:p>
          </p:txBody>
        </p:sp>
        <p:grpSp>
          <p:nvGrpSpPr>
            <p:cNvPr id="38" name="Agrupar 37">
              <a:extLst>
                <a:ext uri="{FF2B5EF4-FFF2-40B4-BE49-F238E27FC236}">
                  <a16:creationId xmlns:a16="http://schemas.microsoft.com/office/drawing/2014/main" id="{BCC0CBE2-1E02-9F84-1BC3-1288DD3198B0}"/>
                </a:ext>
              </a:extLst>
            </p:cNvPr>
            <p:cNvGrpSpPr/>
            <p:nvPr/>
          </p:nvGrpSpPr>
          <p:grpSpPr>
            <a:xfrm>
              <a:off x="9313338" y="4246987"/>
              <a:ext cx="736056" cy="571664"/>
              <a:chOff x="9203524" y="3331800"/>
              <a:chExt cx="736056" cy="571664"/>
            </a:xfrm>
          </p:grpSpPr>
          <p:sp>
            <p:nvSpPr>
              <p:cNvPr id="51" name="CaixaDeTexto 50">
                <a:extLst>
                  <a:ext uri="{FF2B5EF4-FFF2-40B4-BE49-F238E27FC236}">
                    <a16:creationId xmlns:a16="http://schemas.microsoft.com/office/drawing/2014/main" id="{0A33925B-79D3-C554-C87E-8F051EB5CB5C}"/>
                  </a:ext>
                </a:extLst>
              </p:cNvPr>
              <p:cNvSpPr txBox="1"/>
              <p:nvPr/>
            </p:nvSpPr>
            <p:spPr>
              <a:xfrm>
                <a:off x="9203524" y="3331800"/>
                <a:ext cx="723356" cy="253916"/>
              </a:xfrm>
              <a:prstGeom prst="rect">
                <a:avLst/>
              </a:prstGeom>
              <a:noFill/>
            </p:spPr>
            <p:txBody>
              <a:bodyPr wrap="square" rtlCol="0">
                <a:spAutoFit/>
              </a:bodyPr>
              <a:lstStyle/>
              <a:p>
                <a:pPr algn="ctr"/>
                <a:r>
                  <a:rPr lang="pt-BR" sz="1050" i="1" dirty="0"/>
                  <a:t>Mês 1</a:t>
                </a:r>
              </a:p>
            </p:txBody>
          </p:sp>
          <p:sp>
            <p:nvSpPr>
              <p:cNvPr id="52" name="CaixaDeTexto 51">
                <a:extLst>
                  <a:ext uri="{FF2B5EF4-FFF2-40B4-BE49-F238E27FC236}">
                    <a16:creationId xmlns:a16="http://schemas.microsoft.com/office/drawing/2014/main" id="{79060808-EB81-B7F5-DB00-1A2A72878B1E}"/>
                  </a:ext>
                </a:extLst>
              </p:cNvPr>
              <p:cNvSpPr txBox="1"/>
              <p:nvPr/>
            </p:nvSpPr>
            <p:spPr>
              <a:xfrm>
                <a:off x="9216224"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grpSp>
          <p:nvGrpSpPr>
            <p:cNvPr id="39" name="Agrupar 38">
              <a:extLst>
                <a:ext uri="{FF2B5EF4-FFF2-40B4-BE49-F238E27FC236}">
                  <a16:creationId xmlns:a16="http://schemas.microsoft.com/office/drawing/2014/main" id="{AB64FC3C-8151-BF7F-586A-292823ADA7D3}"/>
                </a:ext>
              </a:extLst>
            </p:cNvPr>
            <p:cNvGrpSpPr/>
            <p:nvPr/>
          </p:nvGrpSpPr>
          <p:grpSpPr>
            <a:xfrm>
              <a:off x="10174070" y="4246987"/>
              <a:ext cx="736056" cy="571664"/>
              <a:chOff x="10668750" y="3331800"/>
              <a:chExt cx="736056" cy="571664"/>
            </a:xfrm>
          </p:grpSpPr>
          <p:sp>
            <p:nvSpPr>
              <p:cNvPr id="47" name="CaixaDeTexto 46">
                <a:extLst>
                  <a:ext uri="{FF2B5EF4-FFF2-40B4-BE49-F238E27FC236}">
                    <a16:creationId xmlns:a16="http://schemas.microsoft.com/office/drawing/2014/main" id="{EEBD4381-71F7-9D3B-B0B0-7DF9FA5DA742}"/>
                  </a:ext>
                </a:extLst>
              </p:cNvPr>
              <p:cNvSpPr txBox="1"/>
              <p:nvPr/>
            </p:nvSpPr>
            <p:spPr>
              <a:xfrm>
                <a:off x="10668750" y="3331800"/>
                <a:ext cx="723356" cy="253916"/>
              </a:xfrm>
              <a:prstGeom prst="rect">
                <a:avLst/>
              </a:prstGeom>
              <a:noFill/>
            </p:spPr>
            <p:txBody>
              <a:bodyPr wrap="square" rtlCol="0">
                <a:spAutoFit/>
              </a:bodyPr>
              <a:lstStyle/>
              <a:p>
                <a:pPr algn="ctr"/>
                <a:r>
                  <a:rPr lang="pt-BR" sz="1050" i="1" dirty="0"/>
                  <a:t>Mês n</a:t>
                </a:r>
              </a:p>
            </p:txBody>
          </p:sp>
          <p:sp>
            <p:nvSpPr>
              <p:cNvPr id="48" name="CaixaDeTexto 47">
                <a:extLst>
                  <a:ext uri="{FF2B5EF4-FFF2-40B4-BE49-F238E27FC236}">
                    <a16:creationId xmlns:a16="http://schemas.microsoft.com/office/drawing/2014/main" id="{7CBCAD14-3D91-78A6-B9B0-D0EF3149AA59}"/>
                  </a:ext>
                </a:extLst>
              </p:cNvPr>
              <p:cNvSpPr txBox="1"/>
              <p:nvPr/>
            </p:nvSpPr>
            <p:spPr>
              <a:xfrm>
                <a:off x="10681450"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sp>
          <p:nvSpPr>
            <p:cNvPr id="40" name="CaixaDeTexto 39">
              <a:extLst>
                <a:ext uri="{FF2B5EF4-FFF2-40B4-BE49-F238E27FC236}">
                  <a16:creationId xmlns:a16="http://schemas.microsoft.com/office/drawing/2014/main" id="{2A38BBEB-99C2-1BDD-DDC9-611C72D5A319}"/>
                </a:ext>
              </a:extLst>
            </p:cNvPr>
            <p:cNvSpPr txBox="1"/>
            <p:nvPr/>
          </p:nvSpPr>
          <p:spPr>
            <a:xfrm>
              <a:off x="9746406" y="4481849"/>
              <a:ext cx="795692" cy="338554"/>
            </a:xfrm>
            <a:prstGeom prst="rect">
              <a:avLst/>
            </a:prstGeom>
            <a:noFill/>
          </p:spPr>
          <p:txBody>
            <a:bodyPr wrap="square" rtlCol="0">
              <a:spAutoFit/>
            </a:bodyPr>
            <a:lstStyle/>
            <a:p>
              <a:pPr algn="ctr"/>
              <a:r>
                <a:rPr lang="pt-BR" sz="1600" i="1" dirty="0"/>
                <a:t>...</a:t>
              </a:r>
            </a:p>
          </p:txBody>
        </p:sp>
        <p:sp>
          <p:nvSpPr>
            <p:cNvPr id="44" name="CaixaDeTexto 43">
              <a:extLst>
                <a:ext uri="{FF2B5EF4-FFF2-40B4-BE49-F238E27FC236}">
                  <a16:creationId xmlns:a16="http://schemas.microsoft.com/office/drawing/2014/main" id="{A611CAC6-DBD1-AD78-5982-1C59EC2E74EF}"/>
                </a:ext>
              </a:extLst>
            </p:cNvPr>
            <p:cNvSpPr txBox="1"/>
            <p:nvPr/>
          </p:nvSpPr>
          <p:spPr>
            <a:xfrm>
              <a:off x="9746406" y="4134509"/>
              <a:ext cx="795692" cy="338554"/>
            </a:xfrm>
            <a:prstGeom prst="rect">
              <a:avLst/>
            </a:prstGeom>
            <a:noFill/>
          </p:spPr>
          <p:txBody>
            <a:bodyPr wrap="square" rtlCol="0">
              <a:spAutoFit/>
            </a:bodyPr>
            <a:lstStyle/>
            <a:p>
              <a:pPr algn="ctr"/>
              <a:r>
                <a:rPr lang="pt-BR" sz="1600" i="1" dirty="0"/>
                <a:t>...</a:t>
              </a:r>
            </a:p>
          </p:txBody>
        </p:sp>
      </p:grpSp>
      <p:grpSp>
        <p:nvGrpSpPr>
          <p:cNvPr id="53" name="Agrupar 52">
            <a:extLst>
              <a:ext uri="{FF2B5EF4-FFF2-40B4-BE49-F238E27FC236}">
                <a16:creationId xmlns:a16="http://schemas.microsoft.com/office/drawing/2014/main" id="{956FDF4C-A3BF-34A0-222C-D5189B751A97}"/>
              </a:ext>
            </a:extLst>
          </p:cNvPr>
          <p:cNvGrpSpPr/>
          <p:nvPr/>
        </p:nvGrpSpPr>
        <p:grpSpPr>
          <a:xfrm>
            <a:off x="10185085" y="4543798"/>
            <a:ext cx="1603937" cy="688202"/>
            <a:chOff x="9306189" y="4134509"/>
            <a:chExt cx="1603937" cy="688202"/>
          </a:xfrm>
        </p:grpSpPr>
        <p:sp>
          <p:nvSpPr>
            <p:cNvPr id="58" name="Retângulo 57">
              <a:extLst>
                <a:ext uri="{FF2B5EF4-FFF2-40B4-BE49-F238E27FC236}">
                  <a16:creationId xmlns:a16="http://schemas.microsoft.com/office/drawing/2014/main" id="{4ED1A29E-D317-16E6-8DCD-1147990ADD30}"/>
                </a:ext>
              </a:extLst>
            </p:cNvPr>
            <p:cNvSpPr/>
            <p:nvPr/>
          </p:nvSpPr>
          <p:spPr>
            <a:xfrm>
              <a:off x="9306189" y="4242927"/>
              <a:ext cx="1591237" cy="57978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dirty="0">
                <a:solidFill>
                  <a:schemeClr val="tx1"/>
                </a:solidFill>
              </a:endParaRPr>
            </a:p>
          </p:txBody>
        </p:sp>
        <p:grpSp>
          <p:nvGrpSpPr>
            <p:cNvPr id="63" name="Agrupar 62">
              <a:extLst>
                <a:ext uri="{FF2B5EF4-FFF2-40B4-BE49-F238E27FC236}">
                  <a16:creationId xmlns:a16="http://schemas.microsoft.com/office/drawing/2014/main" id="{D92D915E-FDE3-C0DD-6350-2C014945841D}"/>
                </a:ext>
              </a:extLst>
            </p:cNvPr>
            <p:cNvGrpSpPr/>
            <p:nvPr/>
          </p:nvGrpSpPr>
          <p:grpSpPr>
            <a:xfrm>
              <a:off x="9313338" y="4246987"/>
              <a:ext cx="736056" cy="571664"/>
              <a:chOff x="9203524" y="3331800"/>
              <a:chExt cx="736056" cy="571664"/>
            </a:xfrm>
          </p:grpSpPr>
          <p:sp>
            <p:nvSpPr>
              <p:cNvPr id="71" name="CaixaDeTexto 70">
                <a:extLst>
                  <a:ext uri="{FF2B5EF4-FFF2-40B4-BE49-F238E27FC236}">
                    <a16:creationId xmlns:a16="http://schemas.microsoft.com/office/drawing/2014/main" id="{E8E7B1DD-25CB-1205-1CDA-0037B4FF5BBA}"/>
                  </a:ext>
                </a:extLst>
              </p:cNvPr>
              <p:cNvSpPr txBox="1"/>
              <p:nvPr/>
            </p:nvSpPr>
            <p:spPr>
              <a:xfrm>
                <a:off x="9203524" y="3331800"/>
                <a:ext cx="723356" cy="253916"/>
              </a:xfrm>
              <a:prstGeom prst="rect">
                <a:avLst/>
              </a:prstGeom>
              <a:noFill/>
            </p:spPr>
            <p:txBody>
              <a:bodyPr wrap="square" rtlCol="0">
                <a:spAutoFit/>
              </a:bodyPr>
              <a:lstStyle/>
              <a:p>
                <a:pPr algn="ctr"/>
                <a:r>
                  <a:rPr lang="pt-BR" sz="1050" i="1" dirty="0"/>
                  <a:t>Mês 1</a:t>
                </a:r>
              </a:p>
            </p:txBody>
          </p:sp>
          <p:sp>
            <p:nvSpPr>
              <p:cNvPr id="72" name="CaixaDeTexto 71">
                <a:extLst>
                  <a:ext uri="{FF2B5EF4-FFF2-40B4-BE49-F238E27FC236}">
                    <a16:creationId xmlns:a16="http://schemas.microsoft.com/office/drawing/2014/main" id="{CD9636D0-58D9-CC43-CE22-76AC8E5BACDE}"/>
                  </a:ext>
                </a:extLst>
              </p:cNvPr>
              <p:cNvSpPr txBox="1"/>
              <p:nvPr/>
            </p:nvSpPr>
            <p:spPr>
              <a:xfrm>
                <a:off x="9216224"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grpSp>
          <p:nvGrpSpPr>
            <p:cNvPr id="64" name="Agrupar 63">
              <a:extLst>
                <a:ext uri="{FF2B5EF4-FFF2-40B4-BE49-F238E27FC236}">
                  <a16:creationId xmlns:a16="http://schemas.microsoft.com/office/drawing/2014/main" id="{87E82B3D-F35F-65E5-D1B4-640E745DD890}"/>
                </a:ext>
              </a:extLst>
            </p:cNvPr>
            <p:cNvGrpSpPr/>
            <p:nvPr/>
          </p:nvGrpSpPr>
          <p:grpSpPr>
            <a:xfrm>
              <a:off x="10174070" y="4246987"/>
              <a:ext cx="736056" cy="571664"/>
              <a:chOff x="10668750" y="3331800"/>
              <a:chExt cx="736056" cy="571664"/>
            </a:xfrm>
          </p:grpSpPr>
          <p:sp>
            <p:nvSpPr>
              <p:cNvPr id="68" name="CaixaDeTexto 67">
                <a:extLst>
                  <a:ext uri="{FF2B5EF4-FFF2-40B4-BE49-F238E27FC236}">
                    <a16:creationId xmlns:a16="http://schemas.microsoft.com/office/drawing/2014/main" id="{462E91D8-BF1D-505E-2DD6-4983D48818B4}"/>
                  </a:ext>
                </a:extLst>
              </p:cNvPr>
              <p:cNvSpPr txBox="1"/>
              <p:nvPr/>
            </p:nvSpPr>
            <p:spPr>
              <a:xfrm>
                <a:off x="10668750" y="3331800"/>
                <a:ext cx="723356" cy="253916"/>
              </a:xfrm>
              <a:prstGeom prst="rect">
                <a:avLst/>
              </a:prstGeom>
              <a:noFill/>
            </p:spPr>
            <p:txBody>
              <a:bodyPr wrap="square" rtlCol="0">
                <a:spAutoFit/>
              </a:bodyPr>
              <a:lstStyle/>
              <a:p>
                <a:pPr algn="ctr"/>
                <a:r>
                  <a:rPr lang="pt-BR" sz="1050" i="1" dirty="0"/>
                  <a:t>Mês n</a:t>
                </a:r>
              </a:p>
            </p:txBody>
          </p:sp>
          <p:sp>
            <p:nvSpPr>
              <p:cNvPr id="70" name="CaixaDeTexto 69">
                <a:extLst>
                  <a:ext uri="{FF2B5EF4-FFF2-40B4-BE49-F238E27FC236}">
                    <a16:creationId xmlns:a16="http://schemas.microsoft.com/office/drawing/2014/main" id="{D26CFD93-CEDA-4DE0-EA3C-2DC051F5EC05}"/>
                  </a:ext>
                </a:extLst>
              </p:cNvPr>
              <p:cNvSpPr txBox="1"/>
              <p:nvPr/>
            </p:nvSpPr>
            <p:spPr>
              <a:xfrm>
                <a:off x="10681450" y="3649548"/>
                <a:ext cx="723356" cy="253916"/>
              </a:xfrm>
              <a:prstGeom prst="rect">
                <a:avLst/>
              </a:prstGeom>
              <a:noFill/>
            </p:spPr>
            <p:txBody>
              <a:bodyPr wrap="square" rtlCol="0">
                <a:spAutoFit/>
              </a:bodyPr>
              <a:lstStyle/>
              <a:p>
                <a:pPr algn="ctr"/>
                <a:r>
                  <a:rPr lang="pt-BR" sz="1050" dirty="0">
                    <a:solidFill>
                      <a:schemeClr val="tx1"/>
                    </a:solidFill>
                  </a:rPr>
                  <a:t>R$ X mil</a:t>
                </a:r>
              </a:p>
            </p:txBody>
          </p:sp>
        </p:grpSp>
        <p:sp>
          <p:nvSpPr>
            <p:cNvPr id="66" name="CaixaDeTexto 65">
              <a:extLst>
                <a:ext uri="{FF2B5EF4-FFF2-40B4-BE49-F238E27FC236}">
                  <a16:creationId xmlns:a16="http://schemas.microsoft.com/office/drawing/2014/main" id="{BCF3F582-7885-3BC2-DE5B-94EF86A8DDCD}"/>
                </a:ext>
              </a:extLst>
            </p:cNvPr>
            <p:cNvSpPr txBox="1"/>
            <p:nvPr/>
          </p:nvSpPr>
          <p:spPr>
            <a:xfrm>
              <a:off x="9746406" y="4481849"/>
              <a:ext cx="795692" cy="338554"/>
            </a:xfrm>
            <a:prstGeom prst="rect">
              <a:avLst/>
            </a:prstGeom>
            <a:noFill/>
          </p:spPr>
          <p:txBody>
            <a:bodyPr wrap="square" rtlCol="0">
              <a:spAutoFit/>
            </a:bodyPr>
            <a:lstStyle/>
            <a:p>
              <a:pPr algn="ctr"/>
              <a:r>
                <a:rPr lang="pt-BR" sz="1600" i="1" dirty="0"/>
                <a:t>...</a:t>
              </a:r>
            </a:p>
          </p:txBody>
        </p:sp>
        <p:sp>
          <p:nvSpPr>
            <p:cNvPr id="67" name="CaixaDeTexto 66">
              <a:extLst>
                <a:ext uri="{FF2B5EF4-FFF2-40B4-BE49-F238E27FC236}">
                  <a16:creationId xmlns:a16="http://schemas.microsoft.com/office/drawing/2014/main" id="{AA06F76C-6A0F-8924-29D9-605C32C64FDE}"/>
                </a:ext>
              </a:extLst>
            </p:cNvPr>
            <p:cNvSpPr txBox="1"/>
            <p:nvPr/>
          </p:nvSpPr>
          <p:spPr>
            <a:xfrm>
              <a:off x="9746406" y="4134509"/>
              <a:ext cx="795692" cy="338554"/>
            </a:xfrm>
            <a:prstGeom prst="rect">
              <a:avLst/>
            </a:prstGeom>
            <a:noFill/>
          </p:spPr>
          <p:txBody>
            <a:bodyPr wrap="square" rtlCol="0">
              <a:spAutoFit/>
            </a:bodyPr>
            <a:lstStyle/>
            <a:p>
              <a:pPr algn="ctr"/>
              <a:r>
                <a:rPr lang="pt-BR" sz="1600" i="1" dirty="0"/>
                <a:t>...</a:t>
              </a:r>
            </a:p>
          </p:txBody>
        </p:sp>
      </p:grpSp>
      <p:cxnSp>
        <p:nvCxnSpPr>
          <p:cNvPr id="73" name="Conector de Seta Reta 72">
            <a:extLst>
              <a:ext uri="{FF2B5EF4-FFF2-40B4-BE49-F238E27FC236}">
                <a16:creationId xmlns:a16="http://schemas.microsoft.com/office/drawing/2014/main" id="{EF89A5D8-B633-1CBD-13FE-294D9A25445A}"/>
              </a:ext>
            </a:extLst>
          </p:cNvPr>
          <p:cNvCxnSpPr>
            <a:cxnSpLocks/>
            <a:stCxn id="61" idx="3"/>
            <a:endCxn id="37" idx="1"/>
          </p:cNvCxnSpPr>
          <p:nvPr/>
        </p:nvCxnSpPr>
        <p:spPr>
          <a:xfrm flipV="1">
            <a:off x="9455692" y="4290797"/>
            <a:ext cx="729393" cy="12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a:extLst>
              <a:ext uri="{FF2B5EF4-FFF2-40B4-BE49-F238E27FC236}">
                <a16:creationId xmlns:a16="http://schemas.microsoft.com/office/drawing/2014/main" id="{D7006286-73C9-44C5-C6C5-64A76AD933AE}"/>
              </a:ext>
            </a:extLst>
          </p:cNvPr>
          <p:cNvCxnSpPr>
            <a:cxnSpLocks/>
            <a:stCxn id="4" idx="3"/>
            <a:endCxn id="58" idx="1"/>
          </p:cNvCxnSpPr>
          <p:nvPr/>
        </p:nvCxnSpPr>
        <p:spPr>
          <a:xfrm>
            <a:off x="9453735" y="4938699"/>
            <a:ext cx="731350" cy="3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3667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0444F-1993-6FDB-20A9-D2661E832423}"/>
            </a:ext>
          </a:extLst>
        </p:cNvPr>
        <p:cNvGrpSpPr/>
        <p:nvPr/>
      </p:nvGrpSpPr>
      <p:grpSpPr>
        <a:xfrm>
          <a:off x="0" y="0"/>
          <a:ext cx="0" cy="0"/>
          <a:chOff x="0" y="0"/>
          <a:chExt cx="0" cy="0"/>
        </a:xfrm>
      </p:grpSpPr>
      <p:sp>
        <p:nvSpPr>
          <p:cNvPr id="45" name="Listra Diagonal 44">
            <a:extLst>
              <a:ext uri="{FF2B5EF4-FFF2-40B4-BE49-F238E27FC236}">
                <a16:creationId xmlns:a16="http://schemas.microsoft.com/office/drawing/2014/main" id="{1DA4170D-C6E8-639C-22C5-B6BEC324557F}"/>
              </a:ext>
            </a:extLst>
          </p:cNvPr>
          <p:cNvSpPr/>
          <p:nvPr/>
        </p:nvSpPr>
        <p:spPr>
          <a:xfrm rot="13500000">
            <a:off x="4799667" y="2328694"/>
            <a:ext cx="2534446" cy="2534446"/>
          </a:xfrm>
          <a:prstGeom prst="diagStripe">
            <a:avLst>
              <a:gd name="adj" fmla="val 62350"/>
            </a:avLst>
          </a:prstGeom>
          <a:solidFill>
            <a:srgbClr val="009DC3"/>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4" name="Listra Diagonal 43">
            <a:extLst>
              <a:ext uri="{FF2B5EF4-FFF2-40B4-BE49-F238E27FC236}">
                <a16:creationId xmlns:a16="http://schemas.microsoft.com/office/drawing/2014/main" id="{A3CE4520-E9FC-288D-0104-BE3F81153E49}"/>
              </a:ext>
            </a:extLst>
          </p:cNvPr>
          <p:cNvSpPr/>
          <p:nvPr/>
        </p:nvSpPr>
        <p:spPr>
          <a:xfrm rot="13500000">
            <a:off x="4811155" y="2280461"/>
            <a:ext cx="2534446" cy="2534446"/>
          </a:xfrm>
          <a:prstGeom prst="diagStripe">
            <a:avLst>
              <a:gd name="adj" fmla="val 62350"/>
            </a:avLst>
          </a:prstGeom>
          <a:solidFill>
            <a:srgbClr val="009DC3"/>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1" name="Listra Diagonal 40">
            <a:extLst>
              <a:ext uri="{FF2B5EF4-FFF2-40B4-BE49-F238E27FC236}">
                <a16:creationId xmlns:a16="http://schemas.microsoft.com/office/drawing/2014/main" id="{89A36CC7-4B80-B0BF-485A-9950F9FC9728}"/>
              </a:ext>
            </a:extLst>
          </p:cNvPr>
          <p:cNvSpPr/>
          <p:nvPr/>
        </p:nvSpPr>
        <p:spPr>
          <a:xfrm rot="13500000">
            <a:off x="4332559" y="787183"/>
            <a:ext cx="3576837" cy="3576839"/>
          </a:xfrm>
          <a:prstGeom prst="diagStripe">
            <a:avLst>
              <a:gd name="adj" fmla="val 70784"/>
            </a:avLst>
          </a:prstGeom>
          <a:solidFill>
            <a:srgbClr val="03738E"/>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0" name="Listra Diagonal 39">
            <a:extLst>
              <a:ext uri="{FF2B5EF4-FFF2-40B4-BE49-F238E27FC236}">
                <a16:creationId xmlns:a16="http://schemas.microsoft.com/office/drawing/2014/main" id="{1DC26FC5-AE89-4D61-55A3-AB918E0559D6}"/>
              </a:ext>
            </a:extLst>
          </p:cNvPr>
          <p:cNvSpPr/>
          <p:nvPr/>
        </p:nvSpPr>
        <p:spPr>
          <a:xfrm rot="13500000">
            <a:off x="4320525" y="733339"/>
            <a:ext cx="3576837" cy="3576839"/>
          </a:xfrm>
          <a:prstGeom prst="diagStripe">
            <a:avLst>
              <a:gd name="adj" fmla="val 70784"/>
            </a:avLst>
          </a:prstGeom>
          <a:solidFill>
            <a:srgbClr val="03738E"/>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5" name="Título 4">
            <a:extLst>
              <a:ext uri="{FF2B5EF4-FFF2-40B4-BE49-F238E27FC236}">
                <a16:creationId xmlns:a16="http://schemas.microsoft.com/office/drawing/2014/main" id="{E69FAC04-427F-2543-EBD8-EA2F71C9EF49}"/>
              </a:ext>
            </a:extLst>
          </p:cNvPr>
          <p:cNvSpPr>
            <a:spLocks noGrp="1"/>
          </p:cNvSpPr>
          <p:nvPr>
            <p:ph type="title"/>
          </p:nvPr>
        </p:nvSpPr>
        <p:spPr/>
        <p:txBody>
          <a:bodyPr/>
          <a:lstStyle/>
          <a:p>
            <a:pPr lvl="0" defTabSz="1055035">
              <a:lnSpc>
                <a:spcPct val="100000"/>
              </a:lnSpc>
              <a:spcBef>
                <a:spcPts val="0"/>
              </a:spcBef>
              <a:defRPr/>
            </a:pPr>
            <a:r>
              <a:rPr lang="pt-BR" dirty="0"/>
              <a:t>Planejamento por Escopo/Demanda</a:t>
            </a:r>
            <a:br>
              <a:rPr lang="pt-BR" dirty="0"/>
            </a:br>
            <a:r>
              <a:rPr lang="pt-BR" sz="1600" b="0" dirty="0"/>
              <a:t>Conceito dos diferentes níveis da estrutura de dados do novo modelo</a:t>
            </a:r>
            <a:endParaRPr lang="pt-BR" b="0" dirty="0"/>
          </a:p>
        </p:txBody>
      </p:sp>
      <p:sp>
        <p:nvSpPr>
          <p:cNvPr id="6" name="Listra Diagonal 5">
            <a:extLst>
              <a:ext uri="{FF2B5EF4-FFF2-40B4-BE49-F238E27FC236}">
                <a16:creationId xmlns:a16="http://schemas.microsoft.com/office/drawing/2014/main" id="{2F948DFB-9DF4-9E82-1EF3-B95F4B0C6B83}"/>
              </a:ext>
            </a:extLst>
          </p:cNvPr>
          <p:cNvSpPr/>
          <p:nvPr/>
        </p:nvSpPr>
        <p:spPr>
          <a:xfrm rot="13500000">
            <a:off x="3746384" y="-815810"/>
            <a:ext cx="4699231" cy="4696289"/>
          </a:xfrm>
          <a:prstGeom prst="diagStripe">
            <a:avLst>
              <a:gd name="adj" fmla="val 76163"/>
            </a:avLst>
          </a:prstGeom>
          <a:solidFill>
            <a:srgbClr val="014A65"/>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8" name="Listra Diagonal 7">
            <a:extLst>
              <a:ext uri="{FF2B5EF4-FFF2-40B4-BE49-F238E27FC236}">
                <a16:creationId xmlns:a16="http://schemas.microsoft.com/office/drawing/2014/main" id="{BBD6E0EB-B9A5-6B2B-8A5B-6D2995FA1FED}"/>
              </a:ext>
            </a:extLst>
          </p:cNvPr>
          <p:cNvSpPr/>
          <p:nvPr/>
        </p:nvSpPr>
        <p:spPr>
          <a:xfrm rot="13500000">
            <a:off x="4308492" y="679495"/>
            <a:ext cx="3576837" cy="3576839"/>
          </a:xfrm>
          <a:prstGeom prst="diagStripe">
            <a:avLst>
              <a:gd name="adj" fmla="val 70784"/>
            </a:avLst>
          </a:prstGeom>
          <a:solidFill>
            <a:srgbClr val="03738E"/>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 name="Listra Diagonal 8">
            <a:extLst>
              <a:ext uri="{FF2B5EF4-FFF2-40B4-BE49-F238E27FC236}">
                <a16:creationId xmlns:a16="http://schemas.microsoft.com/office/drawing/2014/main" id="{7B043C30-4D9B-9D2C-81A4-CAD1731E98FF}"/>
              </a:ext>
            </a:extLst>
          </p:cNvPr>
          <p:cNvSpPr/>
          <p:nvPr/>
        </p:nvSpPr>
        <p:spPr>
          <a:xfrm rot="13500000">
            <a:off x="4822643" y="2232228"/>
            <a:ext cx="2534446" cy="2534446"/>
          </a:xfrm>
          <a:prstGeom prst="diagStripe">
            <a:avLst>
              <a:gd name="adj" fmla="val 62350"/>
            </a:avLst>
          </a:prstGeom>
          <a:solidFill>
            <a:srgbClr val="009DC3"/>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2" name="Listra Diagonal 11">
            <a:extLst>
              <a:ext uri="{FF2B5EF4-FFF2-40B4-BE49-F238E27FC236}">
                <a16:creationId xmlns:a16="http://schemas.microsoft.com/office/drawing/2014/main" id="{D8BEA6A0-3275-3ECC-3A14-BDB1515CE43A}"/>
              </a:ext>
            </a:extLst>
          </p:cNvPr>
          <p:cNvSpPr/>
          <p:nvPr/>
        </p:nvSpPr>
        <p:spPr>
          <a:xfrm rot="13500000">
            <a:off x="5321202" y="3619688"/>
            <a:ext cx="1610929" cy="1610930"/>
          </a:xfrm>
          <a:prstGeom prst="diagStripe">
            <a:avLst>
              <a:gd name="adj" fmla="val 44257"/>
            </a:avLst>
          </a:prstGeom>
          <a:solidFill>
            <a:schemeClr val="bg1">
              <a:lumMod val="85000"/>
            </a:schemeClr>
          </a:solidFill>
          <a:ln w="952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2" name="CaixaDeTexto 1">
            <a:extLst>
              <a:ext uri="{FF2B5EF4-FFF2-40B4-BE49-F238E27FC236}">
                <a16:creationId xmlns:a16="http://schemas.microsoft.com/office/drawing/2014/main" id="{99E71A8F-B6A2-2FD6-D146-0965514F1B4E}"/>
              </a:ext>
            </a:extLst>
          </p:cNvPr>
          <p:cNvSpPr txBox="1"/>
          <p:nvPr/>
        </p:nvSpPr>
        <p:spPr>
          <a:xfrm>
            <a:off x="4367807" y="1725707"/>
            <a:ext cx="3456384" cy="338554"/>
          </a:xfrm>
          <a:prstGeom prst="rect">
            <a:avLst/>
          </a:prstGeom>
          <a:noFill/>
        </p:spPr>
        <p:txBody>
          <a:bodyPr wrap="square" rtlCol="0">
            <a:spAutoFit/>
          </a:bodyPr>
          <a:lstStyle/>
          <a:p>
            <a:pPr algn="ctr"/>
            <a:r>
              <a:rPr lang="pt-BR" sz="1600" b="1" dirty="0">
                <a:solidFill>
                  <a:schemeClr val="bg1"/>
                </a:solidFill>
              </a:rPr>
              <a:t>ID da Parada</a:t>
            </a:r>
          </a:p>
        </p:txBody>
      </p:sp>
      <p:sp>
        <p:nvSpPr>
          <p:cNvPr id="3" name="CaixaDeTexto 2">
            <a:extLst>
              <a:ext uri="{FF2B5EF4-FFF2-40B4-BE49-F238E27FC236}">
                <a16:creationId xmlns:a16="http://schemas.microsoft.com/office/drawing/2014/main" id="{A5E929C3-4F39-4371-4DB3-4D5A92594FD0}"/>
              </a:ext>
            </a:extLst>
          </p:cNvPr>
          <p:cNvSpPr txBox="1"/>
          <p:nvPr/>
        </p:nvSpPr>
        <p:spPr>
          <a:xfrm>
            <a:off x="4367807" y="2682483"/>
            <a:ext cx="3456384" cy="338554"/>
          </a:xfrm>
          <a:prstGeom prst="rect">
            <a:avLst/>
          </a:prstGeom>
          <a:noFill/>
        </p:spPr>
        <p:txBody>
          <a:bodyPr wrap="square" rtlCol="0">
            <a:spAutoFit/>
          </a:bodyPr>
          <a:lstStyle/>
          <a:p>
            <a:pPr algn="ctr"/>
            <a:r>
              <a:rPr lang="pt-BR" sz="1600" b="1" dirty="0">
                <a:solidFill>
                  <a:schemeClr val="bg1"/>
                </a:solidFill>
              </a:rPr>
              <a:t>Coletor Sintético</a:t>
            </a:r>
          </a:p>
        </p:txBody>
      </p:sp>
      <p:sp>
        <p:nvSpPr>
          <p:cNvPr id="4" name="CaixaDeTexto 3">
            <a:extLst>
              <a:ext uri="{FF2B5EF4-FFF2-40B4-BE49-F238E27FC236}">
                <a16:creationId xmlns:a16="http://schemas.microsoft.com/office/drawing/2014/main" id="{3366183E-C9A4-5007-F26B-5DCB35E4D85C}"/>
              </a:ext>
            </a:extLst>
          </p:cNvPr>
          <p:cNvSpPr txBox="1"/>
          <p:nvPr/>
        </p:nvSpPr>
        <p:spPr>
          <a:xfrm>
            <a:off x="4797583" y="3667688"/>
            <a:ext cx="2596832" cy="338554"/>
          </a:xfrm>
          <a:prstGeom prst="rect">
            <a:avLst/>
          </a:prstGeom>
          <a:noFill/>
        </p:spPr>
        <p:txBody>
          <a:bodyPr wrap="square" rtlCol="0">
            <a:spAutoFit/>
          </a:bodyPr>
          <a:lstStyle/>
          <a:p>
            <a:pPr algn="ctr"/>
            <a:r>
              <a:rPr lang="pt-BR" sz="1600" b="1" dirty="0">
                <a:solidFill>
                  <a:schemeClr val="bg1"/>
                </a:solidFill>
              </a:rPr>
              <a:t>Escopo/Demandas</a:t>
            </a:r>
          </a:p>
        </p:txBody>
      </p:sp>
      <p:sp>
        <p:nvSpPr>
          <p:cNvPr id="7" name="CaixaDeTexto 6">
            <a:extLst>
              <a:ext uri="{FF2B5EF4-FFF2-40B4-BE49-F238E27FC236}">
                <a16:creationId xmlns:a16="http://schemas.microsoft.com/office/drawing/2014/main" id="{60DEBA0C-2FC0-2494-4ACA-AC263410B597}"/>
              </a:ext>
            </a:extLst>
          </p:cNvPr>
          <p:cNvSpPr txBox="1"/>
          <p:nvPr/>
        </p:nvSpPr>
        <p:spPr>
          <a:xfrm>
            <a:off x="5120480" y="4566580"/>
            <a:ext cx="1951038" cy="338554"/>
          </a:xfrm>
          <a:prstGeom prst="rect">
            <a:avLst/>
          </a:prstGeom>
          <a:noFill/>
        </p:spPr>
        <p:txBody>
          <a:bodyPr wrap="square" rtlCol="0">
            <a:spAutoFit/>
          </a:bodyPr>
          <a:lstStyle/>
          <a:p>
            <a:pPr algn="ctr"/>
            <a:r>
              <a:rPr lang="pt-BR" sz="1600" b="1" dirty="0"/>
              <a:t>Tipos de Custo</a:t>
            </a:r>
          </a:p>
        </p:txBody>
      </p:sp>
      <p:sp>
        <p:nvSpPr>
          <p:cNvPr id="10" name="CaixaDeTexto 9">
            <a:extLst>
              <a:ext uri="{FF2B5EF4-FFF2-40B4-BE49-F238E27FC236}">
                <a16:creationId xmlns:a16="http://schemas.microsoft.com/office/drawing/2014/main" id="{E1C7DE34-E915-DC45-7E25-D7537BAF9A24}"/>
              </a:ext>
            </a:extLst>
          </p:cNvPr>
          <p:cNvSpPr txBox="1"/>
          <p:nvPr/>
        </p:nvSpPr>
        <p:spPr>
          <a:xfrm>
            <a:off x="9244706" y="2480527"/>
            <a:ext cx="2392187" cy="830997"/>
          </a:xfrm>
          <a:prstGeom prst="rect">
            <a:avLst/>
          </a:prstGeom>
          <a:noFill/>
          <a:ln>
            <a:solidFill>
              <a:srgbClr val="014A65"/>
            </a:solidFill>
            <a:prstDash val="dash"/>
          </a:ln>
        </p:spPr>
        <p:txBody>
          <a:bodyPr wrap="square" rtlCol="0">
            <a:spAutoFit/>
          </a:bodyPr>
          <a:lstStyle/>
          <a:p>
            <a:pPr algn="ctr"/>
            <a:r>
              <a:rPr lang="pt-BR" sz="1200" b="1" dirty="0"/>
              <a:t>“CPF” da Parada</a:t>
            </a:r>
          </a:p>
          <a:p>
            <a:pPr algn="ctr"/>
            <a:r>
              <a:rPr lang="pt-BR" sz="1200" dirty="0"/>
              <a:t>Número identificador único e sequencial que identifica a parada e grande agrupador de custos</a:t>
            </a:r>
          </a:p>
        </p:txBody>
      </p:sp>
      <p:sp>
        <p:nvSpPr>
          <p:cNvPr id="14" name="Elipse 13">
            <a:extLst>
              <a:ext uri="{FF2B5EF4-FFF2-40B4-BE49-F238E27FC236}">
                <a16:creationId xmlns:a16="http://schemas.microsoft.com/office/drawing/2014/main" id="{40DD1766-C1EF-2472-CB8C-08C5C353795E}"/>
              </a:ext>
            </a:extLst>
          </p:cNvPr>
          <p:cNvSpPr/>
          <p:nvPr/>
        </p:nvSpPr>
        <p:spPr>
          <a:xfrm>
            <a:off x="8866427" y="1889270"/>
            <a:ext cx="162302" cy="162302"/>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6" name="Conector: Angulado 15">
            <a:extLst>
              <a:ext uri="{FF2B5EF4-FFF2-40B4-BE49-F238E27FC236}">
                <a16:creationId xmlns:a16="http://schemas.microsoft.com/office/drawing/2014/main" id="{DB60A585-339F-8AA7-F22A-7048FA8E2F50}"/>
              </a:ext>
            </a:extLst>
          </p:cNvPr>
          <p:cNvCxnSpPr>
            <a:stCxn id="14" idx="6"/>
            <a:endCxn id="10" idx="0"/>
          </p:cNvCxnSpPr>
          <p:nvPr/>
        </p:nvCxnSpPr>
        <p:spPr>
          <a:xfrm>
            <a:off x="9028729" y="1970421"/>
            <a:ext cx="1412071" cy="510106"/>
          </a:xfrm>
          <a:prstGeom prst="bentConnector2">
            <a:avLst/>
          </a:prstGeom>
          <a:noFill/>
          <a:ln>
            <a:solidFill>
              <a:srgbClr val="014A65"/>
            </a:solidFill>
            <a:prstDash val="dash"/>
          </a:ln>
        </p:spPr>
      </p:cxnSp>
      <p:sp>
        <p:nvSpPr>
          <p:cNvPr id="20" name="CaixaDeTexto 19">
            <a:extLst>
              <a:ext uri="{FF2B5EF4-FFF2-40B4-BE49-F238E27FC236}">
                <a16:creationId xmlns:a16="http://schemas.microsoft.com/office/drawing/2014/main" id="{AF81BA0B-2116-8CBE-696F-C879B4175F1F}"/>
              </a:ext>
            </a:extLst>
          </p:cNvPr>
          <p:cNvSpPr txBox="1"/>
          <p:nvPr/>
        </p:nvSpPr>
        <p:spPr>
          <a:xfrm>
            <a:off x="761798" y="3435528"/>
            <a:ext cx="2646219" cy="1015663"/>
          </a:xfrm>
          <a:prstGeom prst="rect">
            <a:avLst/>
          </a:prstGeom>
          <a:noFill/>
          <a:ln>
            <a:solidFill>
              <a:srgbClr val="03738E"/>
            </a:solidFill>
            <a:prstDash val="dash"/>
          </a:ln>
        </p:spPr>
        <p:txBody>
          <a:bodyPr wrap="square" rtlCol="0">
            <a:spAutoFit/>
          </a:bodyPr>
          <a:lstStyle/>
          <a:p>
            <a:pPr algn="ctr"/>
            <a:r>
              <a:rPr lang="pt-BR" sz="1200" b="1" dirty="0"/>
              <a:t>Tipos de obra executadas na parada</a:t>
            </a:r>
          </a:p>
          <a:p>
            <a:pPr algn="ctr"/>
            <a:r>
              <a:rPr lang="pt-BR" altLang="pt-BR" sz="1200" dirty="0"/>
              <a:t>Exemplo: Parada Upgrade - Ativo/Contrato</a:t>
            </a:r>
            <a:r>
              <a:rPr lang="pt-BR" sz="1200" dirty="0"/>
              <a:t>, Parada Especial, Parada Intermediária, Parada Programada, Parada Emergencial</a:t>
            </a:r>
          </a:p>
        </p:txBody>
      </p:sp>
      <p:sp>
        <p:nvSpPr>
          <p:cNvPr id="22" name="Elipse 21">
            <a:extLst>
              <a:ext uri="{FF2B5EF4-FFF2-40B4-BE49-F238E27FC236}">
                <a16:creationId xmlns:a16="http://schemas.microsoft.com/office/drawing/2014/main" id="{B2590F8D-D8A8-A496-A4E3-01F30293B8B9}"/>
              </a:ext>
            </a:extLst>
          </p:cNvPr>
          <p:cNvSpPr/>
          <p:nvPr/>
        </p:nvSpPr>
        <p:spPr>
          <a:xfrm>
            <a:off x="3889895" y="2814874"/>
            <a:ext cx="162302" cy="162302"/>
          </a:xfrm>
          <a:prstGeom prst="ellipse">
            <a:avLst/>
          </a:prstGeom>
          <a:solidFill>
            <a:schemeClr val="bg1"/>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3" name="Conector: Angulado 22">
            <a:extLst>
              <a:ext uri="{FF2B5EF4-FFF2-40B4-BE49-F238E27FC236}">
                <a16:creationId xmlns:a16="http://schemas.microsoft.com/office/drawing/2014/main" id="{3475FDA3-0E45-2E2E-C68A-D20F983673A0}"/>
              </a:ext>
            </a:extLst>
          </p:cNvPr>
          <p:cNvCxnSpPr>
            <a:cxnSpLocks/>
            <a:stCxn id="20" idx="0"/>
            <a:endCxn id="22" idx="2"/>
          </p:cNvCxnSpPr>
          <p:nvPr/>
        </p:nvCxnSpPr>
        <p:spPr>
          <a:xfrm rot="5400000" flipH="1" flipV="1">
            <a:off x="2717650" y="2263284"/>
            <a:ext cx="539503" cy="1804987"/>
          </a:xfrm>
          <a:prstGeom prst="bentConnector2">
            <a:avLst/>
          </a:prstGeom>
          <a:noFill/>
          <a:ln>
            <a:solidFill>
              <a:srgbClr val="03738E"/>
            </a:solidFill>
            <a:prstDash val="dash"/>
          </a:ln>
        </p:spPr>
      </p:cxnSp>
      <p:sp>
        <p:nvSpPr>
          <p:cNvPr id="27" name="CaixaDeTexto 26">
            <a:extLst>
              <a:ext uri="{FF2B5EF4-FFF2-40B4-BE49-F238E27FC236}">
                <a16:creationId xmlns:a16="http://schemas.microsoft.com/office/drawing/2014/main" id="{7D5CEC60-B735-FCA2-32D8-5397B1380734}"/>
              </a:ext>
            </a:extLst>
          </p:cNvPr>
          <p:cNvSpPr txBox="1"/>
          <p:nvPr/>
        </p:nvSpPr>
        <p:spPr>
          <a:xfrm>
            <a:off x="7564138" y="4115172"/>
            <a:ext cx="3852642" cy="830997"/>
          </a:xfrm>
          <a:prstGeom prst="rect">
            <a:avLst/>
          </a:prstGeom>
          <a:noFill/>
          <a:ln>
            <a:solidFill>
              <a:srgbClr val="009DC3"/>
            </a:solidFill>
            <a:prstDash val="dash"/>
          </a:ln>
        </p:spPr>
        <p:txBody>
          <a:bodyPr wrap="square" rtlCol="0">
            <a:spAutoFit/>
          </a:bodyPr>
          <a:lstStyle/>
          <a:p>
            <a:pPr algn="ctr"/>
            <a:r>
              <a:rPr lang="pt-BR" sz="1200" b="1" dirty="0"/>
              <a:t>Entregas planejadas da Parada</a:t>
            </a:r>
          </a:p>
          <a:p>
            <a:pPr algn="ctr"/>
            <a:r>
              <a:rPr lang="pt-BR" altLang="pt-BR" sz="1200" dirty="0"/>
              <a:t>Definidas pela área de Planejamento, as demandas são grandes agrupadores de escopo e custos do HUB.</a:t>
            </a:r>
          </a:p>
          <a:p>
            <a:pPr algn="ctr"/>
            <a:r>
              <a:rPr lang="pt-BR" altLang="pt-BR" sz="1200" dirty="0"/>
              <a:t>Exemplos: </a:t>
            </a:r>
            <a:r>
              <a:rPr lang="pt-BR" sz="1200" dirty="0"/>
              <a:t>Revisão </a:t>
            </a:r>
            <a:r>
              <a:rPr lang="pt-BR" sz="1200" dirty="0" err="1"/>
              <a:t>MCP’s</a:t>
            </a:r>
            <a:r>
              <a:rPr lang="pt-BR" sz="1200" dirty="0"/>
              <a:t> 20k / Adequar guindaste</a:t>
            </a:r>
          </a:p>
        </p:txBody>
      </p:sp>
      <p:sp>
        <p:nvSpPr>
          <p:cNvPr id="30" name="Elipse 29">
            <a:extLst>
              <a:ext uri="{FF2B5EF4-FFF2-40B4-BE49-F238E27FC236}">
                <a16:creationId xmlns:a16="http://schemas.microsoft.com/office/drawing/2014/main" id="{79E1E7CA-A6C9-48B3-F0F0-F16EE71CE378}"/>
              </a:ext>
            </a:extLst>
          </p:cNvPr>
          <p:cNvSpPr/>
          <p:nvPr/>
        </p:nvSpPr>
        <p:spPr>
          <a:xfrm>
            <a:off x="7392144" y="3827140"/>
            <a:ext cx="162302" cy="162302"/>
          </a:xfrm>
          <a:prstGeom prst="ellipse">
            <a:avLst/>
          </a:prstGeom>
          <a:solidFill>
            <a:schemeClr val="bg1"/>
          </a:solidFill>
          <a:ln>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1" name="Conector: Angulado 30">
            <a:extLst>
              <a:ext uri="{FF2B5EF4-FFF2-40B4-BE49-F238E27FC236}">
                <a16:creationId xmlns:a16="http://schemas.microsoft.com/office/drawing/2014/main" id="{8CEDD62F-78B3-DFED-7463-46D4DEEA90F7}"/>
              </a:ext>
            </a:extLst>
          </p:cNvPr>
          <p:cNvCxnSpPr>
            <a:stCxn id="30" idx="6"/>
            <a:endCxn id="27" idx="0"/>
          </p:cNvCxnSpPr>
          <p:nvPr/>
        </p:nvCxnSpPr>
        <p:spPr>
          <a:xfrm>
            <a:off x="7554446" y="3908291"/>
            <a:ext cx="1936013" cy="206881"/>
          </a:xfrm>
          <a:prstGeom prst="bentConnector2">
            <a:avLst/>
          </a:prstGeom>
          <a:noFill/>
          <a:ln>
            <a:solidFill>
              <a:srgbClr val="009DC3"/>
            </a:solidFill>
            <a:prstDash val="dash"/>
          </a:ln>
        </p:spPr>
      </p:cxnSp>
      <p:sp>
        <p:nvSpPr>
          <p:cNvPr id="35" name="CaixaDeTexto 34">
            <a:extLst>
              <a:ext uri="{FF2B5EF4-FFF2-40B4-BE49-F238E27FC236}">
                <a16:creationId xmlns:a16="http://schemas.microsoft.com/office/drawing/2014/main" id="{71107FF9-E5C5-9E9D-12FB-095E05D09557}"/>
              </a:ext>
            </a:extLst>
          </p:cNvPr>
          <p:cNvSpPr txBox="1"/>
          <p:nvPr/>
        </p:nvSpPr>
        <p:spPr>
          <a:xfrm>
            <a:off x="2047917" y="5411369"/>
            <a:ext cx="2744855" cy="461665"/>
          </a:xfrm>
          <a:prstGeom prst="rect">
            <a:avLst/>
          </a:prstGeom>
          <a:noFill/>
          <a:ln>
            <a:solidFill>
              <a:schemeClr val="bg1">
                <a:lumMod val="50000"/>
              </a:schemeClr>
            </a:solidFill>
            <a:prstDash val="dash"/>
          </a:ln>
        </p:spPr>
        <p:txBody>
          <a:bodyPr wrap="square" rtlCol="0">
            <a:spAutoFit/>
          </a:bodyPr>
          <a:lstStyle/>
          <a:p>
            <a:r>
              <a:rPr lang="pt-BR" sz="1200" b="1" dirty="0"/>
              <a:t>Grandes linhas de custo de uma Parada</a:t>
            </a:r>
          </a:p>
          <a:p>
            <a:pPr algn="ctr"/>
            <a:r>
              <a:rPr lang="pt-BR" altLang="pt-BR" sz="1200" dirty="0"/>
              <a:t>Materiais, Oficinas e Estaleiro</a:t>
            </a:r>
            <a:endParaRPr lang="pt-BR" sz="1200" dirty="0"/>
          </a:p>
        </p:txBody>
      </p:sp>
      <p:sp>
        <p:nvSpPr>
          <p:cNvPr id="36" name="Elipse 35">
            <a:extLst>
              <a:ext uri="{FF2B5EF4-FFF2-40B4-BE49-F238E27FC236}">
                <a16:creationId xmlns:a16="http://schemas.microsoft.com/office/drawing/2014/main" id="{313202E1-B823-87C6-2590-BF577D3E3C45}"/>
              </a:ext>
            </a:extLst>
          </p:cNvPr>
          <p:cNvSpPr/>
          <p:nvPr/>
        </p:nvSpPr>
        <p:spPr>
          <a:xfrm>
            <a:off x="5243493" y="4666784"/>
            <a:ext cx="162302" cy="162302"/>
          </a:xfrm>
          <a:prstGeom prst="ellipse">
            <a:avLst/>
          </a:prstGeom>
          <a:solidFill>
            <a:schemeClr val="bg1"/>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7" name="Conector: Angulado 36">
            <a:extLst>
              <a:ext uri="{FF2B5EF4-FFF2-40B4-BE49-F238E27FC236}">
                <a16:creationId xmlns:a16="http://schemas.microsoft.com/office/drawing/2014/main" id="{2E0B10C5-B254-6701-FC13-493AE8CF5FCD}"/>
              </a:ext>
            </a:extLst>
          </p:cNvPr>
          <p:cNvCxnSpPr>
            <a:cxnSpLocks/>
            <a:stCxn id="35" idx="0"/>
            <a:endCxn id="36" idx="2"/>
          </p:cNvCxnSpPr>
          <p:nvPr/>
        </p:nvCxnSpPr>
        <p:spPr>
          <a:xfrm rot="5400000" flipH="1" flipV="1">
            <a:off x="4000202" y="4168078"/>
            <a:ext cx="663434" cy="1823148"/>
          </a:xfrm>
          <a:prstGeom prst="bentConnector2">
            <a:avLst/>
          </a:prstGeom>
          <a:noFill/>
          <a:ln>
            <a:solidFill>
              <a:schemeClr val="bg1">
                <a:lumMod val="50000"/>
              </a:schemeClr>
            </a:solidFill>
            <a:prstDash val="dash"/>
          </a:ln>
        </p:spPr>
      </p:cxnSp>
      <p:sp>
        <p:nvSpPr>
          <p:cNvPr id="51" name="CaixaDeTexto 50">
            <a:extLst>
              <a:ext uri="{FF2B5EF4-FFF2-40B4-BE49-F238E27FC236}">
                <a16:creationId xmlns:a16="http://schemas.microsoft.com/office/drawing/2014/main" id="{3851F3B1-E52E-2324-E25C-D9C758975A04}"/>
              </a:ext>
            </a:extLst>
          </p:cNvPr>
          <p:cNvSpPr txBox="1"/>
          <p:nvPr/>
        </p:nvSpPr>
        <p:spPr>
          <a:xfrm>
            <a:off x="7038002" y="5293657"/>
            <a:ext cx="2392187" cy="1015663"/>
          </a:xfrm>
          <a:prstGeom prst="rect">
            <a:avLst/>
          </a:prstGeom>
          <a:noFill/>
          <a:ln>
            <a:solidFill>
              <a:srgbClr val="009DC3"/>
            </a:solidFill>
            <a:prstDash val="dash"/>
          </a:ln>
        </p:spPr>
        <p:txBody>
          <a:bodyPr wrap="square" rtlCol="0">
            <a:spAutoFit/>
          </a:bodyPr>
          <a:lstStyle/>
          <a:p>
            <a:pPr algn="ctr"/>
            <a:r>
              <a:rPr lang="pt-BR" sz="1200" b="1" dirty="0"/>
              <a:t>Origem da Demanda</a:t>
            </a:r>
          </a:p>
          <a:p>
            <a:pPr algn="ctr"/>
            <a:r>
              <a:rPr lang="pt-BR" sz="1200" dirty="0"/>
              <a:t>Fonte onde a demanda foi identificada</a:t>
            </a:r>
          </a:p>
          <a:p>
            <a:pPr algn="ctr"/>
            <a:r>
              <a:rPr lang="pt-BR" sz="1200" dirty="0"/>
              <a:t>Ex.: Manual de Motores da </a:t>
            </a:r>
            <a:r>
              <a:rPr lang="pt-BR" sz="1200" dirty="0" err="1"/>
              <a:t>Carterpilar</a:t>
            </a:r>
            <a:r>
              <a:rPr lang="pt-BR" sz="1200" dirty="0"/>
              <a:t>, Gap </a:t>
            </a:r>
            <a:r>
              <a:rPr lang="pt-BR" sz="1200" dirty="0" err="1"/>
              <a:t>Analisys</a:t>
            </a:r>
            <a:r>
              <a:rPr lang="pt-BR" sz="1200" dirty="0"/>
              <a:t> Contrato X</a:t>
            </a:r>
          </a:p>
        </p:txBody>
      </p:sp>
      <p:sp>
        <p:nvSpPr>
          <p:cNvPr id="53" name="CaixaDeTexto 52">
            <a:extLst>
              <a:ext uri="{FF2B5EF4-FFF2-40B4-BE49-F238E27FC236}">
                <a16:creationId xmlns:a16="http://schemas.microsoft.com/office/drawing/2014/main" id="{F43F1104-921E-BF62-2DE3-1A2B1D0EB5BC}"/>
              </a:ext>
            </a:extLst>
          </p:cNvPr>
          <p:cNvSpPr txBox="1"/>
          <p:nvPr/>
        </p:nvSpPr>
        <p:spPr>
          <a:xfrm>
            <a:off x="9550730" y="5293657"/>
            <a:ext cx="2392187" cy="1015663"/>
          </a:xfrm>
          <a:prstGeom prst="rect">
            <a:avLst/>
          </a:prstGeom>
          <a:noFill/>
          <a:ln>
            <a:solidFill>
              <a:srgbClr val="009DC3"/>
            </a:solidFill>
            <a:prstDash val="dash"/>
          </a:ln>
        </p:spPr>
        <p:txBody>
          <a:bodyPr wrap="square" rtlCol="0">
            <a:spAutoFit/>
          </a:bodyPr>
          <a:lstStyle/>
          <a:p>
            <a:pPr algn="ctr"/>
            <a:r>
              <a:rPr lang="pt-BR" sz="1200" b="1" dirty="0"/>
              <a:t>Requisito da Demanda</a:t>
            </a:r>
          </a:p>
          <a:p>
            <a:pPr algn="ctr"/>
            <a:r>
              <a:rPr lang="pt-BR" sz="1200" dirty="0"/>
              <a:t>Necessidade que a demanda atende</a:t>
            </a:r>
          </a:p>
          <a:p>
            <a:pPr algn="ctr"/>
            <a:r>
              <a:rPr lang="pt-BR" sz="1200" dirty="0"/>
              <a:t>Ex.: Lista de itens da revisão de 20k do motor, Item 2 do Contrato X</a:t>
            </a:r>
          </a:p>
        </p:txBody>
      </p:sp>
      <p:cxnSp>
        <p:nvCxnSpPr>
          <p:cNvPr id="54" name="Conector: Angulado 53">
            <a:extLst>
              <a:ext uri="{FF2B5EF4-FFF2-40B4-BE49-F238E27FC236}">
                <a16:creationId xmlns:a16="http://schemas.microsoft.com/office/drawing/2014/main" id="{BE5C78BC-E8EA-3F33-1FFA-3E38E51C2AD6}"/>
              </a:ext>
            </a:extLst>
          </p:cNvPr>
          <p:cNvCxnSpPr>
            <a:cxnSpLocks/>
            <a:stCxn id="51" idx="0"/>
            <a:endCxn id="27" idx="2"/>
          </p:cNvCxnSpPr>
          <p:nvPr/>
        </p:nvCxnSpPr>
        <p:spPr>
          <a:xfrm rot="5400000" flipH="1" flipV="1">
            <a:off x="8688533" y="4491732"/>
            <a:ext cx="347488" cy="1256363"/>
          </a:xfrm>
          <a:prstGeom prst="bentConnector3">
            <a:avLst>
              <a:gd name="adj1" fmla="val 50000"/>
            </a:avLst>
          </a:prstGeom>
          <a:noFill/>
          <a:ln>
            <a:solidFill>
              <a:srgbClr val="009DC3"/>
            </a:solidFill>
            <a:prstDash val="dash"/>
          </a:ln>
        </p:spPr>
      </p:cxnSp>
      <p:cxnSp>
        <p:nvCxnSpPr>
          <p:cNvPr id="57" name="Conector: Angulado 56">
            <a:extLst>
              <a:ext uri="{FF2B5EF4-FFF2-40B4-BE49-F238E27FC236}">
                <a16:creationId xmlns:a16="http://schemas.microsoft.com/office/drawing/2014/main" id="{8517EE96-67A8-9BF2-B89E-CDA9F02BA7C6}"/>
              </a:ext>
            </a:extLst>
          </p:cNvPr>
          <p:cNvCxnSpPr>
            <a:cxnSpLocks/>
            <a:stCxn id="53" idx="0"/>
            <a:endCxn id="27" idx="2"/>
          </p:cNvCxnSpPr>
          <p:nvPr/>
        </p:nvCxnSpPr>
        <p:spPr>
          <a:xfrm rot="16200000" flipV="1">
            <a:off x="9944898" y="4491730"/>
            <a:ext cx="347488" cy="1256365"/>
          </a:xfrm>
          <a:prstGeom prst="bentConnector3">
            <a:avLst>
              <a:gd name="adj1" fmla="val 50000"/>
            </a:avLst>
          </a:prstGeom>
          <a:noFill/>
          <a:ln>
            <a:solidFill>
              <a:srgbClr val="009DC3"/>
            </a:solidFill>
            <a:prstDash val="dash"/>
          </a:ln>
        </p:spPr>
      </p:cxnSp>
    </p:spTree>
    <p:extLst>
      <p:ext uri="{BB962C8B-B14F-4D97-AF65-F5344CB8AC3E}">
        <p14:creationId xmlns:p14="http://schemas.microsoft.com/office/powerpoint/2010/main" val="35087437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8868A-B432-A3A3-6339-987831B26CC8}"/>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2B9ACF5-AD3E-41DB-C653-84D772F29604}"/>
              </a:ext>
            </a:extLst>
          </p:cNvPr>
          <p:cNvSpPr>
            <a:spLocks noGrp="1"/>
          </p:cNvSpPr>
          <p:nvPr>
            <p:ph type="title"/>
          </p:nvPr>
        </p:nvSpPr>
        <p:spPr/>
        <p:txBody>
          <a:bodyPr/>
          <a:lstStyle/>
          <a:p>
            <a:r>
              <a:rPr lang="pt-BR" dirty="0"/>
              <a:t>Planejamento por Escopo/Demanda</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Macro Processo</a:t>
            </a:r>
            <a:endParaRPr lang="pt-BR" dirty="0"/>
          </a:p>
        </p:txBody>
      </p:sp>
      <p:sp>
        <p:nvSpPr>
          <p:cNvPr id="3" name="Retângulo 2">
            <a:extLst>
              <a:ext uri="{FF2B5EF4-FFF2-40B4-BE49-F238E27FC236}">
                <a16:creationId xmlns:a16="http://schemas.microsoft.com/office/drawing/2014/main" id="{A895560C-4E22-D506-6758-309E57B09C66}"/>
              </a:ext>
            </a:extLst>
          </p:cNvPr>
          <p:cNvSpPr/>
          <p:nvPr/>
        </p:nvSpPr>
        <p:spPr>
          <a:xfrm>
            <a:off x="101326" y="1334651"/>
            <a:ext cx="2808000" cy="1845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56FBFAA1-85E9-2BE9-AC9E-AF84B39B2A50}"/>
              </a:ext>
            </a:extLst>
          </p:cNvPr>
          <p:cNvSpPr/>
          <p:nvPr/>
        </p:nvSpPr>
        <p:spPr>
          <a:xfrm>
            <a:off x="101326" y="3230182"/>
            <a:ext cx="2808000" cy="3384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O time de </a:t>
            </a:r>
            <a:r>
              <a:rPr lang="pt-BR" sz="1000" b="1" dirty="0">
                <a:solidFill>
                  <a:prstClr val="black"/>
                </a:solidFill>
                <a:latin typeface="Calibri"/>
              </a:rPr>
              <a:t>Planejamento da Área Técnica define as grandes entregas de cada Obra</a:t>
            </a:r>
          </a:p>
          <a:p>
            <a:pPr marL="171450" indent="-171450">
              <a:spcBef>
                <a:spcPts val="600"/>
              </a:spcBef>
              <a:buFont typeface="Wingdings" panose="05000000000000000000" pitchFamily="2" charset="2"/>
              <a:buChar char="§"/>
            </a:pPr>
            <a:r>
              <a:rPr lang="pt-BR" sz="1000" dirty="0">
                <a:solidFill>
                  <a:prstClr val="black"/>
                </a:solidFill>
                <a:latin typeface="Calibri"/>
              </a:rPr>
              <a:t>Conforme descrito no capítulo ‘Cadastro de Parada’, o time de Planejamento deve </a:t>
            </a:r>
            <a:r>
              <a:rPr lang="pt-BR" sz="1000" b="1" dirty="0">
                <a:solidFill>
                  <a:prstClr val="black"/>
                </a:solidFill>
                <a:latin typeface="Calibri"/>
              </a:rPr>
              <a:t>acessar o SGO e liberar a Parada para edição no HUB</a:t>
            </a:r>
            <a:r>
              <a:rPr lang="pt-BR" sz="1000" dirty="0">
                <a:solidFill>
                  <a:prstClr val="black"/>
                </a:solidFill>
                <a:latin typeface="Calibri"/>
              </a:rPr>
              <a:t>. A partir desse momento, o HUB permite a edição e inclusão dos custos</a:t>
            </a:r>
          </a:p>
          <a:p>
            <a:pPr marL="171450" indent="-171450">
              <a:spcBef>
                <a:spcPts val="600"/>
              </a:spcBef>
              <a:buFont typeface="Wingdings" panose="05000000000000000000" pitchFamily="2" charset="2"/>
              <a:buChar char="§"/>
            </a:pPr>
            <a:r>
              <a:rPr lang="pt-BR" sz="1000" dirty="0">
                <a:solidFill>
                  <a:prstClr val="black"/>
                </a:solidFill>
                <a:latin typeface="Calibri"/>
              </a:rPr>
              <a:t>Nesse momento o usuário </a:t>
            </a:r>
            <a:r>
              <a:rPr lang="pt-BR" sz="1000" b="1" dirty="0">
                <a:solidFill>
                  <a:prstClr val="black"/>
                </a:solidFill>
                <a:latin typeface="Calibri"/>
              </a:rPr>
              <a:t>poderá também selecionar um </a:t>
            </a:r>
            <a:r>
              <a:rPr lang="pt-BR" sz="1000" b="1" dirty="0" err="1">
                <a:solidFill>
                  <a:prstClr val="black"/>
                </a:solidFill>
                <a:latin typeface="Calibri"/>
              </a:rPr>
              <a:t>template</a:t>
            </a:r>
            <a:r>
              <a:rPr lang="pt-BR" sz="1000" b="1" dirty="0">
                <a:solidFill>
                  <a:prstClr val="black"/>
                </a:solidFill>
                <a:latin typeface="Calibri"/>
              </a:rPr>
              <a:t> de Obra </a:t>
            </a:r>
            <a:r>
              <a:rPr lang="pt-BR" sz="1000" dirty="0">
                <a:solidFill>
                  <a:prstClr val="black"/>
                </a:solidFill>
                <a:latin typeface="Calibri"/>
              </a:rPr>
              <a:t>com demandas e suas respectivas estimativas financeiras </a:t>
            </a:r>
            <a:r>
              <a:rPr lang="pt-BR" sz="1000" dirty="0" err="1">
                <a:solidFill>
                  <a:prstClr val="black"/>
                </a:solidFill>
                <a:latin typeface="Calibri"/>
              </a:rPr>
              <a:t>pré</a:t>
            </a:r>
            <a:r>
              <a:rPr lang="pt-BR" sz="1000" dirty="0">
                <a:solidFill>
                  <a:prstClr val="black"/>
                </a:solidFill>
                <a:latin typeface="Calibri"/>
              </a:rPr>
              <a:t>-preenchidas. </a:t>
            </a:r>
            <a:r>
              <a:rPr lang="pt-BR" sz="1000" b="1" dirty="0">
                <a:solidFill>
                  <a:srgbClr val="FF0000"/>
                </a:solidFill>
                <a:latin typeface="Calibri"/>
              </a:rPr>
              <a:t>Essa opção será detalhada no próximo capítulo</a:t>
            </a:r>
          </a:p>
        </p:txBody>
      </p:sp>
      <p:sp>
        <p:nvSpPr>
          <p:cNvPr id="6" name="Retângulo 5">
            <a:extLst>
              <a:ext uri="{FF2B5EF4-FFF2-40B4-BE49-F238E27FC236}">
                <a16:creationId xmlns:a16="http://schemas.microsoft.com/office/drawing/2014/main" id="{5117D9EB-2EB1-2346-E46F-4083BB672EB4}"/>
              </a:ext>
            </a:extLst>
          </p:cNvPr>
          <p:cNvSpPr/>
          <p:nvPr/>
        </p:nvSpPr>
        <p:spPr>
          <a:xfrm>
            <a:off x="461326" y="1043211"/>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Definir Obras e</a:t>
            </a:r>
            <a:br>
              <a:rPr lang="pt-BR" sz="1400" b="1" dirty="0">
                <a:solidFill>
                  <a:schemeClr val="tx1"/>
                </a:solidFill>
              </a:rPr>
            </a:br>
            <a:r>
              <a:rPr lang="pt-BR" sz="1400" b="1" dirty="0">
                <a:solidFill>
                  <a:schemeClr val="tx1"/>
                </a:solidFill>
              </a:rPr>
              <a:t>Grandes Entregas</a:t>
            </a:r>
          </a:p>
        </p:txBody>
      </p:sp>
      <p:sp>
        <p:nvSpPr>
          <p:cNvPr id="7" name="Triangle 12">
            <a:extLst>
              <a:ext uri="{FF2B5EF4-FFF2-40B4-BE49-F238E27FC236}">
                <a16:creationId xmlns:a16="http://schemas.microsoft.com/office/drawing/2014/main" id="{03625152-A155-DE96-281B-BF655D3DF07E}"/>
              </a:ext>
            </a:extLst>
          </p:cNvPr>
          <p:cNvSpPr/>
          <p:nvPr/>
        </p:nvSpPr>
        <p:spPr>
          <a:xfrm rot="5400000">
            <a:off x="2506520" y="4779743"/>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8" name="Retângulo 17">
            <a:extLst>
              <a:ext uri="{FF2B5EF4-FFF2-40B4-BE49-F238E27FC236}">
                <a16:creationId xmlns:a16="http://schemas.microsoft.com/office/drawing/2014/main" id="{142888F1-FE49-FCC5-F9A9-EA02407DBB09}"/>
              </a:ext>
            </a:extLst>
          </p:cNvPr>
          <p:cNvSpPr/>
          <p:nvPr/>
        </p:nvSpPr>
        <p:spPr>
          <a:xfrm>
            <a:off x="3164417" y="1334651"/>
            <a:ext cx="2808000" cy="1845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49C28DE3-29BC-1183-AFF5-D5118C6EC7CD}"/>
              </a:ext>
            </a:extLst>
          </p:cNvPr>
          <p:cNvSpPr/>
          <p:nvPr/>
        </p:nvSpPr>
        <p:spPr>
          <a:xfrm>
            <a:off x="3164417" y="3230182"/>
            <a:ext cx="2808000" cy="3384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rtlCol="0" anchor="t"/>
          <a:lstStyle/>
          <a:p>
            <a:pPr marL="171450" indent="-171450">
              <a:spcBef>
                <a:spcPts val="600"/>
              </a:spcBef>
              <a:buFont typeface="Wingdings" panose="05000000000000000000" pitchFamily="2" charset="2"/>
              <a:buChar char="§"/>
            </a:pPr>
            <a:r>
              <a:rPr lang="pt-BR" sz="1000" dirty="0">
                <a:solidFill>
                  <a:prstClr val="black"/>
                </a:solidFill>
              </a:rPr>
              <a:t>Na tela inicial do HUB, o time de Planejamento </a:t>
            </a:r>
            <a:r>
              <a:rPr lang="pt-BR" sz="1000" b="1" dirty="0">
                <a:solidFill>
                  <a:prstClr val="black"/>
                </a:solidFill>
              </a:rPr>
              <a:t>seleciona a Parada e escolhe a opção “Editar Parada”. </a:t>
            </a:r>
            <a:r>
              <a:rPr lang="pt-BR" sz="1000" dirty="0">
                <a:solidFill>
                  <a:prstClr val="black"/>
                </a:solidFill>
              </a:rPr>
              <a:t>O sistema direciona o usuário para a tela </a:t>
            </a:r>
            <a:r>
              <a:rPr lang="pt-BR" sz="1000" b="1" dirty="0">
                <a:solidFill>
                  <a:prstClr val="black"/>
                </a:solidFill>
              </a:rPr>
              <a:t>“Ficha da Parada”, onde estão lista dos todos os escopos/demandas</a:t>
            </a:r>
          </a:p>
          <a:p>
            <a:pPr marL="171450" indent="-171450">
              <a:spcBef>
                <a:spcPts val="600"/>
              </a:spcBef>
              <a:buFont typeface="Wingdings" panose="05000000000000000000" pitchFamily="2" charset="2"/>
              <a:buChar char="§"/>
            </a:pPr>
            <a:r>
              <a:rPr lang="pt-BR" sz="1000" dirty="0">
                <a:solidFill>
                  <a:prstClr val="black"/>
                </a:solidFill>
              </a:rPr>
              <a:t>Na tela “Ficha da Parada” o usuário deve clicar em </a:t>
            </a:r>
            <a:r>
              <a:rPr lang="pt-BR" sz="1000" b="1" dirty="0">
                <a:solidFill>
                  <a:prstClr val="black"/>
                </a:solidFill>
              </a:rPr>
              <a:t>“Editar demanda” </a:t>
            </a:r>
            <a:r>
              <a:rPr lang="pt-BR" sz="1000" dirty="0">
                <a:solidFill>
                  <a:prstClr val="black"/>
                </a:solidFill>
              </a:rPr>
              <a:t>para abrir a página “Ficha da Demanda”</a:t>
            </a:r>
          </a:p>
          <a:p>
            <a:pPr marL="171450" indent="-171450">
              <a:spcBef>
                <a:spcPts val="600"/>
              </a:spcBef>
              <a:buFont typeface="Wingdings" panose="05000000000000000000" pitchFamily="2" charset="2"/>
              <a:buChar char="§"/>
            </a:pPr>
            <a:r>
              <a:rPr lang="pt-BR" sz="1000" dirty="0">
                <a:solidFill>
                  <a:prstClr val="black"/>
                </a:solidFill>
              </a:rPr>
              <a:t>Nessa tela o usuário deve </a:t>
            </a:r>
            <a:r>
              <a:rPr lang="pt-BR" sz="1000" b="1" dirty="0">
                <a:solidFill>
                  <a:prstClr val="black"/>
                </a:solidFill>
              </a:rPr>
              <a:t>incluir as estimativas financeiras de Materiais, Oficinas e Estaleiro para cada demanda</a:t>
            </a:r>
          </a:p>
          <a:p>
            <a:pPr marL="171450" indent="-171450">
              <a:spcBef>
                <a:spcPts val="600"/>
              </a:spcBef>
              <a:buFont typeface="Wingdings" panose="05000000000000000000" pitchFamily="2" charset="2"/>
              <a:buChar char="§"/>
            </a:pPr>
            <a:r>
              <a:rPr lang="pt-BR" sz="1000" dirty="0">
                <a:solidFill>
                  <a:prstClr val="black"/>
                </a:solidFill>
              </a:rPr>
              <a:t>O HUB, então, gera </a:t>
            </a:r>
            <a:r>
              <a:rPr lang="pt-BR" sz="1000" b="1" dirty="0">
                <a:solidFill>
                  <a:prstClr val="black"/>
                </a:solidFill>
              </a:rPr>
              <a:t>automaticamente uma proposta de </a:t>
            </a:r>
            <a:r>
              <a:rPr lang="pt-BR" sz="1000" b="1" dirty="0" err="1">
                <a:solidFill>
                  <a:prstClr val="black"/>
                </a:solidFill>
              </a:rPr>
              <a:t>mensalização</a:t>
            </a:r>
            <a:r>
              <a:rPr lang="pt-BR" sz="1000" b="1" dirty="0">
                <a:solidFill>
                  <a:prstClr val="black"/>
                </a:solidFill>
              </a:rPr>
              <a:t> </a:t>
            </a:r>
            <a:r>
              <a:rPr lang="pt-BR" sz="1000" dirty="0">
                <a:solidFill>
                  <a:prstClr val="black"/>
                </a:solidFill>
              </a:rPr>
              <a:t>com base nas curvas padrão de cada tipo de custo, permitindo que o usuário edite a distribuição mensal quando necessário</a:t>
            </a:r>
          </a:p>
          <a:p>
            <a:pPr marL="171450" indent="-171450">
              <a:spcBef>
                <a:spcPts val="600"/>
              </a:spcBef>
              <a:buFont typeface="Wingdings" panose="05000000000000000000" pitchFamily="2" charset="2"/>
              <a:buChar char="§"/>
            </a:pPr>
            <a:r>
              <a:rPr lang="pt-BR" sz="1000" dirty="0">
                <a:solidFill>
                  <a:prstClr val="black"/>
                </a:solidFill>
              </a:rPr>
              <a:t>Ao salvar as alterações, elas são refletidas nas projeções financeiras, </a:t>
            </a:r>
            <a:r>
              <a:rPr lang="pt-BR" sz="1000" b="1" dirty="0">
                <a:solidFill>
                  <a:prstClr val="black"/>
                </a:solidFill>
              </a:rPr>
              <a:t>a Parada passa para o status FEL-0 e o time de FP&amp;A é notificado</a:t>
            </a:r>
          </a:p>
        </p:txBody>
      </p:sp>
      <p:sp>
        <p:nvSpPr>
          <p:cNvPr id="21" name="Retângulo 20">
            <a:extLst>
              <a:ext uri="{FF2B5EF4-FFF2-40B4-BE49-F238E27FC236}">
                <a16:creationId xmlns:a16="http://schemas.microsoft.com/office/drawing/2014/main" id="{9FC6CB90-1389-DE65-559F-77F521066501}"/>
              </a:ext>
            </a:extLst>
          </p:cNvPr>
          <p:cNvSpPr/>
          <p:nvPr/>
        </p:nvSpPr>
        <p:spPr>
          <a:xfrm>
            <a:off x="3524417" y="1043211"/>
            <a:ext cx="20880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Estimar Custos </a:t>
            </a:r>
            <a:r>
              <a:rPr lang="pt-BR" sz="1400" b="1" dirty="0" err="1">
                <a:solidFill>
                  <a:schemeClr val="tx1"/>
                </a:solidFill>
              </a:rPr>
              <a:t>Mensalizados</a:t>
            </a:r>
            <a:endParaRPr lang="pt-BR" sz="1400" b="1" dirty="0">
              <a:solidFill>
                <a:schemeClr val="tx1"/>
              </a:solidFill>
            </a:endParaRPr>
          </a:p>
        </p:txBody>
      </p:sp>
      <p:sp>
        <p:nvSpPr>
          <p:cNvPr id="24" name="Triangle 12">
            <a:extLst>
              <a:ext uri="{FF2B5EF4-FFF2-40B4-BE49-F238E27FC236}">
                <a16:creationId xmlns:a16="http://schemas.microsoft.com/office/drawing/2014/main" id="{DE3C6F03-EA8B-C41D-A776-7FF8112A4DC9}"/>
              </a:ext>
            </a:extLst>
          </p:cNvPr>
          <p:cNvSpPr/>
          <p:nvPr/>
        </p:nvSpPr>
        <p:spPr>
          <a:xfrm rot="5400000">
            <a:off x="5569611" y="4779743"/>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1" name="Retângulo 30">
            <a:extLst>
              <a:ext uri="{FF2B5EF4-FFF2-40B4-BE49-F238E27FC236}">
                <a16:creationId xmlns:a16="http://schemas.microsoft.com/office/drawing/2014/main" id="{9AC7B1C9-CFF3-C2C1-97D5-CE5661154E46}"/>
              </a:ext>
            </a:extLst>
          </p:cNvPr>
          <p:cNvSpPr/>
          <p:nvPr/>
        </p:nvSpPr>
        <p:spPr>
          <a:xfrm>
            <a:off x="6227508" y="1334651"/>
            <a:ext cx="2808000" cy="1845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31">
            <a:extLst>
              <a:ext uri="{FF2B5EF4-FFF2-40B4-BE49-F238E27FC236}">
                <a16:creationId xmlns:a16="http://schemas.microsoft.com/office/drawing/2014/main" id="{A1970DB5-FE0A-472B-39ED-8B53186A7E0B}"/>
              </a:ext>
            </a:extLst>
          </p:cNvPr>
          <p:cNvSpPr/>
          <p:nvPr/>
        </p:nvSpPr>
        <p:spPr>
          <a:xfrm>
            <a:off x="6227508" y="3230182"/>
            <a:ext cx="2808000" cy="3384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Caso seja necessário, as </a:t>
            </a:r>
            <a:r>
              <a:rPr lang="pt-BR" sz="1000" b="1" dirty="0">
                <a:solidFill>
                  <a:prstClr val="black"/>
                </a:solidFill>
                <a:latin typeface="Calibri"/>
              </a:rPr>
              <a:t>estimativas podem ser atualizadas durante todo o ciclo de vida da Parada a partir do FEL-0</a:t>
            </a:r>
          </a:p>
          <a:p>
            <a:pPr marL="171450" indent="-171450">
              <a:spcBef>
                <a:spcPts val="600"/>
              </a:spcBef>
              <a:buFont typeface="Wingdings" panose="05000000000000000000" pitchFamily="2" charset="2"/>
              <a:buChar char="§"/>
            </a:pPr>
            <a:r>
              <a:rPr lang="pt-BR" sz="1000" dirty="0">
                <a:solidFill>
                  <a:prstClr val="black"/>
                </a:solidFill>
              </a:rPr>
              <a:t>A cada nova atualização, </a:t>
            </a:r>
            <a:r>
              <a:rPr lang="pt-BR" sz="1000" b="1" dirty="0">
                <a:solidFill>
                  <a:prstClr val="black"/>
                </a:solidFill>
              </a:rPr>
              <a:t>o time de FP&amp;A recebe uma notificação alertando que uma mudança foi realizada</a:t>
            </a:r>
          </a:p>
          <a:p>
            <a:pPr marL="171450" indent="-171450">
              <a:spcBef>
                <a:spcPts val="600"/>
              </a:spcBef>
              <a:buFont typeface="Wingdings" panose="05000000000000000000" pitchFamily="2" charset="2"/>
              <a:buChar char="§"/>
            </a:pPr>
            <a:r>
              <a:rPr lang="pt-BR" sz="1000" dirty="0">
                <a:solidFill>
                  <a:prstClr val="black"/>
                </a:solidFill>
              </a:rPr>
              <a:t>No momento em que for necessário realizar a primeira compra de material, </a:t>
            </a:r>
            <a:r>
              <a:rPr lang="pt-BR" sz="1000" b="1" dirty="0">
                <a:solidFill>
                  <a:prstClr val="black"/>
                </a:solidFill>
              </a:rPr>
              <a:t>o usuário gera o “Relatório de Ficha de Abertura”</a:t>
            </a:r>
            <a:r>
              <a:rPr lang="pt-BR" sz="1000" dirty="0">
                <a:solidFill>
                  <a:prstClr val="black"/>
                </a:solidFill>
              </a:rPr>
              <a:t>, contendo todas as demandas/escopos e seus valores de Materiais, Oficinas e Estaleiro, </a:t>
            </a:r>
            <a:r>
              <a:rPr lang="pt-BR" sz="1000" b="1" dirty="0">
                <a:solidFill>
                  <a:prstClr val="black"/>
                </a:solidFill>
              </a:rPr>
              <a:t>e envia à Controladoria para abertura do orçamento da Parada</a:t>
            </a:r>
          </a:p>
        </p:txBody>
      </p:sp>
      <p:sp>
        <p:nvSpPr>
          <p:cNvPr id="34" name="Retângulo 33">
            <a:extLst>
              <a:ext uri="{FF2B5EF4-FFF2-40B4-BE49-F238E27FC236}">
                <a16:creationId xmlns:a16="http://schemas.microsoft.com/office/drawing/2014/main" id="{8D820135-FB39-178C-7E59-29C10FF67C82}"/>
              </a:ext>
            </a:extLst>
          </p:cNvPr>
          <p:cNvSpPr/>
          <p:nvPr/>
        </p:nvSpPr>
        <p:spPr>
          <a:xfrm>
            <a:off x="6483108" y="1043211"/>
            <a:ext cx="22968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Atualizar Estimativas e Enviar Ficha de Abertura</a:t>
            </a:r>
          </a:p>
        </p:txBody>
      </p:sp>
      <p:sp>
        <p:nvSpPr>
          <p:cNvPr id="35" name="Triangle 12">
            <a:extLst>
              <a:ext uri="{FF2B5EF4-FFF2-40B4-BE49-F238E27FC236}">
                <a16:creationId xmlns:a16="http://schemas.microsoft.com/office/drawing/2014/main" id="{B5D67AD2-C544-E3F2-EC72-D08AE89F752A}"/>
              </a:ext>
            </a:extLst>
          </p:cNvPr>
          <p:cNvSpPr/>
          <p:nvPr/>
        </p:nvSpPr>
        <p:spPr>
          <a:xfrm rot="5400000">
            <a:off x="8632702" y="4779743"/>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0" name="Retângulo 39">
            <a:extLst>
              <a:ext uri="{FF2B5EF4-FFF2-40B4-BE49-F238E27FC236}">
                <a16:creationId xmlns:a16="http://schemas.microsoft.com/office/drawing/2014/main" id="{AB130925-94C4-4A1B-2D7C-BA5B14FC124F}"/>
              </a:ext>
            </a:extLst>
          </p:cNvPr>
          <p:cNvSpPr/>
          <p:nvPr/>
        </p:nvSpPr>
        <p:spPr>
          <a:xfrm>
            <a:off x="9290600" y="1334651"/>
            <a:ext cx="2808000" cy="184579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Retângulo 40">
            <a:extLst>
              <a:ext uri="{FF2B5EF4-FFF2-40B4-BE49-F238E27FC236}">
                <a16:creationId xmlns:a16="http://schemas.microsoft.com/office/drawing/2014/main" id="{D2EAAF0E-04B4-E31E-A5F1-68C9AE27D441}"/>
              </a:ext>
            </a:extLst>
          </p:cNvPr>
          <p:cNvSpPr/>
          <p:nvPr/>
        </p:nvSpPr>
        <p:spPr>
          <a:xfrm>
            <a:off x="9290600" y="3230182"/>
            <a:ext cx="2808000" cy="3384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rtlCol="0" anchor="t"/>
          <a:lstStyle/>
          <a:p>
            <a:pPr marL="171450" indent="-171450">
              <a:spcBef>
                <a:spcPts val="600"/>
              </a:spcBef>
              <a:buFont typeface="Wingdings" panose="05000000000000000000" pitchFamily="2" charset="2"/>
              <a:buChar char="§"/>
            </a:pPr>
            <a:r>
              <a:rPr lang="pt-BR" sz="1000" dirty="0">
                <a:solidFill>
                  <a:prstClr val="black"/>
                </a:solidFill>
                <a:latin typeface="Calibri"/>
              </a:rPr>
              <a:t>A </a:t>
            </a:r>
            <a:r>
              <a:rPr lang="pt-BR" sz="1000" b="1" dirty="0">
                <a:solidFill>
                  <a:prstClr val="black"/>
                </a:solidFill>
                <a:latin typeface="Calibri"/>
              </a:rPr>
              <a:t>Controladoria recebe a Ficha de Abertura </a:t>
            </a:r>
            <a:r>
              <a:rPr lang="pt-BR" sz="1000" dirty="0">
                <a:solidFill>
                  <a:prstClr val="black"/>
                </a:solidFill>
                <a:latin typeface="Calibri"/>
              </a:rPr>
              <a:t>e cadastra o </a:t>
            </a:r>
            <a:r>
              <a:rPr lang="pt-BR" sz="1000" b="1" dirty="0">
                <a:solidFill>
                  <a:prstClr val="black"/>
                </a:solidFill>
                <a:latin typeface="Calibri"/>
              </a:rPr>
              <a:t>novo orçamento no Protheus (FEL-0 </a:t>
            </a:r>
            <a:r>
              <a:rPr lang="pt-BR" sz="1000" b="1" dirty="0">
                <a:solidFill>
                  <a:prstClr val="black"/>
                </a:solidFill>
                <a:latin typeface="Calibri"/>
                <a:sym typeface="Wingdings" panose="05000000000000000000" pitchFamily="2" charset="2"/>
              </a:rPr>
              <a:t> FEL-1)</a:t>
            </a:r>
            <a:r>
              <a:rPr lang="pt-BR" sz="1000" dirty="0">
                <a:solidFill>
                  <a:prstClr val="black"/>
                </a:solidFill>
                <a:latin typeface="Calibri"/>
              </a:rPr>
              <a:t>, preenchendo as estimativas financeiras conforme os coletores sintéticos por tipo de Obra e os coletores analíticos definidos no “De/Para” abaixo:</a:t>
            </a:r>
          </a:p>
          <a:p>
            <a:pPr marL="447675" lvl="1" indent="-187325">
              <a:spcBef>
                <a:spcPts val="600"/>
              </a:spcBef>
              <a:buFont typeface="Wingdings" panose="05000000000000000000" pitchFamily="2" charset="2"/>
              <a:buChar char="§"/>
            </a:pPr>
            <a:r>
              <a:rPr lang="pt-BR" sz="1000" dirty="0">
                <a:solidFill>
                  <a:prstClr val="black"/>
                </a:solidFill>
                <a:latin typeface="Calibri"/>
              </a:rPr>
              <a:t>Materiais – 10X.01 - A - Estrutura</a:t>
            </a:r>
          </a:p>
          <a:p>
            <a:pPr marL="447675" lvl="1" indent="-187325">
              <a:spcBef>
                <a:spcPts val="600"/>
              </a:spcBef>
              <a:buFont typeface="Wingdings" panose="05000000000000000000" pitchFamily="2" charset="2"/>
              <a:buChar char="§"/>
            </a:pPr>
            <a:r>
              <a:rPr lang="pt-BR" sz="1000" dirty="0">
                <a:solidFill>
                  <a:prstClr val="black"/>
                </a:solidFill>
                <a:latin typeface="Calibri"/>
              </a:rPr>
              <a:t>Estaleiro </a:t>
            </a:r>
            <a:r>
              <a:rPr lang="pt-BR" sz="1000" dirty="0">
                <a:solidFill>
                  <a:prstClr val="black"/>
                </a:solidFill>
              </a:rPr>
              <a:t>– 10X.11 – K - Despesas em Geral</a:t>
            </a:r>
          </a:p>
          <a:p>
            <a:pPr marL="447675" lvl="1" indent="-187325">
              <a:spcBef>
                <a:spcPts val="600"/>
              </a:spcBef>
              <a:buFont typeface="Wingdings" panose="05000000000000000000" pitchFamily="2" charset="2"/>
              <a:buChar char="§"/>
            </a:pPr>
            <a:r>
              <a:rPr lang="pt-BR" sz="1000" dirty="0">
                <a:solidFill>
                  <a:prstClr val="black"/>
                </a:solidFill>
                <a:latin typeface="Calibri"/>
              </a:rPr>
              <a:t>Oficinas – </a:t>
            </a:r>
            <a:r>
              <a:rPr lang="pt-BR" sz="1000" dirty="0">
                <a:solidFill>
                  <a:prstClr val="black"/>
                </a:solidFill>
              </a:rPr>
              <a:t>10X.12 - L - Subcontratação de Serviços</a:t>
            </a:r>
          </a:p>
          <a:p>
            <a:pPr marL="171450" indent="-171450">
              <a:spcBef>
                <a:spcPts val="600"/>
              </a:spcBef>
              <a:buFont typeface="Wingdings" panose="05000000000000000000" pitchFamily="2" charset="2"/>
              <a:buChar char="§"/>
            </a:pPr>
            <a:r>
              <a:rPr lang="pt-BR" sz="1000" dirty="0">
                <a:solidFill>
                  <a:prstClr val="black"/>
                </a:solidFill>
              </a:rPr>
              <a:t>Concluído o cadastro no Protheus, </a:t>
            </a:r>
            <a:r>
              <a:rPr lang="pt-BR" sz="1000" b="1" dirty="0">
                <a:solidFill>
                  <a:prstClr val="black"/>
                </a:solidFill>
              </a:rPr>
              <a:t>o HUB recebe a informação via integração e notifica a Área Técnica e o FP&amp;A de que o orçamento foi criado, permitindo a formalização do FEL-1</a:t>
            </a:r>
          </a:p>
          <a:p>
            <a:pPr>
              <a:spcBef>
                <a:spcPts val="600"/>
              </a:spcBef>
            </a:pPr>
            <a:r>
              <a:rPr lang="pt-BR" sz="1000" b="1" dirty="0">
                <a:solidFill>
                  <a:srgbClr val="FF0000"/>
                </a:solidFill>
              </a:rPr>
              <a:t>IMPORTANTE: </a:t>
            </a:r>
            <a:r>
              <a:rPr lang="pt-BR" sz="1000" dirty="0">
                <a:solidFill>
                  <a:prstClr val="black"/>
                </a:solidFill>
              </a:rPr>
              <a:t>No FEL-4, o Planejamento da Área Técnica gera relatório atualizado com custos por Coletor Analítico, para a Controladoria atualizar o orçamento no Protheus</a:t>
            </a:r>
          </a:p>
        </p:txBody>
      </p:sp>
      <p:sp>
        <p:nvSpPr>
          <p:cNvPr id="42" name="Retângulo 41">
            <a:extLst>
              <a:ext uri="{FF2B5EF4-FFF2-40B4-BE49-F238E27FC236}">
                <a16:creationId xmlns:a16="http://schemas.microsoft.com/office/drawing/2014/main" id="{B4CB06BA-080A-1976-C18E-E1BFC511B721}"/>
              </a:ext>
            </a:extLst>
          </p:cNvPr>
          <p:cNvSpPr/>
          <p:nvPr/>
        </p:nvSpPr>
        <p:spPr>
          <a:xfrm>
            <a:off x="9546200" y="1043211"/>
            <a:ext cx="2296800"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Registrar Estimativas no Protheus</a:t>
            </a:r>
          </a:p>
        </p:txBody>
      </p:sp>
      <p:pic>
        <p:nvPicPr>
          <p:cNvPr id="1026" name="Imagem 1">
            <a:extLst>
              <a:ext uri="{FF2B5EF4-FFF2-40B4-BE49-F238E27FC236}">
                <a16:creationId xmlns:a16="http://schemas.microsoft.com/office/drawing/2014/main" id="{F43C98AD-E047-994C-1D08-2FEBF62973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96901" y="1680620"/>
            <a:ext cx="2595398" cy="1331698"/>
          </a:xfrm>
          <a:prstGeom prst="rect">
            <a:avLst/>
          </a:prstGeom>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Imagem 47">
            <a:extLst>
              <a:ext uri="{FF2B5EF4-FFF2-40B4-BE49-F238E27FC236}">
                <a16:creationId xmlns:a16="http://schemas.microsoft.com/office/drawing/2014/main" id="{6F2FCB9F-124A-C384-C178-371CC6741B5A}"/>
              </a:ext>
            </a:extLst>
          </p:cNvPr>
          <p:cNvPicPr>
            <a:picLocks noChangeAspect="1"/>
          </p:cNvPicPr>
          <p:nvPr/>
        </p:nvPicPr>
        <p:blipFill>
          <a:blip r:embed="rId3"/>
          <a:stretch>
            <a:fillRect/>
          </a:stretch>
        </p:blipFill>
        <p:spPr>
          <a:xfrm>
            <a:off x="211062" y="1680620"/>
            <a:ext cx="2588528" cy="1233515"/>
          </a:xfrm>
          <a:prstGeom prst="rect">
            <a:avLst/>
          </a:prstGeom>
          <a:effectLst>
            <a:outerShdw blurRad="50800" dist="38100" algn="l" rotWithShape="0">
              <a:prstClr val="black">
                <a:alpha val="40000"/>
              </a:prstClr>
            </a:outerShdw>
          </a:effectLst>
        </p:spPr>
      </p:pic>
      <p:pic>
        <p:nvPicPr>
          <p:cNvPr id="52" name="Imagem 51">
            <a:extLst>
              <a:ext uri="{FF2B5EF4-FFF2-40B4-BE49-F238E27FC236}">
                <a16:creationId xmlns:a16="http://schemas.microsoft.com/office/drawing/2014/main" id="{50A1DBD9-400C-1AF3-57B3-795721ABDA90}"/>
              </a:ext>
            </a:extLst>
          </p:cNvPr>
          <p:cNvPicPr>
            <a:picLocks noChangeAspect="1"/>
          </p:cNvPicPr>
          <p:nvPr/>
        </p:nvPicPr>
        <p:blipFill>
          <a:blip r:embed="rId4"/>
          <a:stretch>
            <a:fillRect/>
          </a:stretch>
        </p:blipFill>
        <p:spPr>
          <a:xfrm>
            <a:off x="3274153" y="1680620"/>
            <a:ext cx="2588528" cy="1389558"/>
          </a:xfrm>
          <a:prstGeom prst="rect">
            <a:avLst/>
          </a:prstGeom>
          <a:effectLst>
            <a:outerShdw blurRad="50800" dist="38100" algn="l" rotWithShape="0">
              <a:prstClr val="black">
                <a:alpha val="40000"/>
              </a:prstClr>
            </a:outerShdw>
          </a:effectLst>
        </p:spPr>
      </p:pic>
      <p:pic>
        <p:nvPicPr>
          <p:cNvPr id="54" name="Imagem 53">
            <a:extLst>
              <a:ext uri="{FF2B5EF4-FFF2-40B4-BE49-F238E27FC236}">
                <a16:creationId xmlns:a16="http://schemas.microsoft.com/office/drawing/2014/main" id="{1882E8AF-0300-B57B-8BA2-4BB83F07FB8E}"/>
              </a:ext>
            </a:extLst>
          </p:cNvPr>
          <p:cNvPicPr>
            <a:picLocks noChangeAspect="1"/>
          </p:cNvPicPr>
          <p:nvPr/>
        </p:nvPicPr>
        <p:blipFill>
          <a:blip r:embed="rId5"/>
          <a:stretch>
            <a:fillRect/>
          </a:stretch>
        </p:blipFill>
        <p:spPr>
          <a:xfrm>
            <a:off x="6337244" y="1680620"/>
            <a:ext cx="2588528" cy="1454680"/>
          </a:xfrm>
          <a:prstGeom prst="rect">
            <a:avLst/>
          </a:prstGeom>
          <a:effectLst>
            <a:outerShdw blurRad="50800" dist="38100" algn="l" rotWithShape="0">
              <a:prstClr val="black">
                <a:alpha val="40000"/>
              </a:prstClr>
            </a:outerShdw>
          </a:effectLst>
        </p:spPr>
      </p:pic>
      <p:sp>
        <p:nvSpPr>
          <p:cNvPr id="8" name="Rectangle 7">
            <a:extLst>
              <a:ext uri="{FF2B5EF4-FFF2-40B4-BE49-F238E27FC236}">
                <a16:creationId xmlns:a16="http://schemas.microsoft.com/office/drawing/2014/main" id="{679A1A3E-28B9-2D27-5618-108EA72CBC67}"/>
              </a:ext>
            </a:extLst>
          </p:cNvPr>
          <p:cNvSpPr/>
          <p:nvPr/>
        </p:nvSpPr>
        <p:spPr>
          <a:xfrm>
            <a:off x="11064552" y="6309320"/>
            <a:ext cx="1127448" cy="5486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2" name="Picture 2">
            <a:extLst>
              <a:ext uri="{FF2B5EF4-FFF2-40B4-BE49-F238E27FC236}">
                <a16:creationId xmlns:a16="http://schemas.microsoft.com/office/drawing/2014/main" id="{6AB2CB1B-0CD5-9254-F933-0F7DF4976048}"/>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14997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3055F-BD79-598B-0A68-F21829C50E35}"/>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038F248-39C4-8BA6-A25C-8409F9A9574A}"/>
              </a:ext>
            </a:extLst>
          </p:cNvPr>
          <p:cNvSpPr>
            <a:spLocks noGrp="1"/>
          </p:cNvSpPr>
          <p:nvPr>
            <p:ph type="title"/>
          </p:nvPr>
        </p:nvSpPr>
        <p:spPr/>
        <p:txBody>
          <a:bodyPr/>
          <a:lstStyle/>
          <a:p>
            <a:pPr lvl="0" defTabSz="1055035">
              <a:lnSpc>
                <a:spcPct val="100000"/>
              </a:lnSpc>
              <a:spcBef>
                <a:spcPts val="0"/>
              </a:spcBef>
              <a:defRPr/>
            </a:pPr>
            <a:r>
              <a:rPr lang="pt-BR" dirty="0"/>
              <a:t>Planejamento por Escopo/Demanda</a:t>
            </a:r>
            <a:br>
              <a:rPr lang="pt-BR" dirty="0"/>
            </a:br>
            <a:r>
              <a:rPr lang="pt-BR" sz="1600" b="0" dirty="0"/>
              <a:t>Observações importantes</a:t>
            </a:r>
            <a:endParaRPr lang="pt-BR" b="0" dirty="0"/>
          </a:p>
        </p:txBody>
      </p:sp>
      <p:sp>
        <p:nvSpPr>
          <p:cNvPr id="2" name="CaixaDeTexto 1">
            <a:extLst>
              <a:ext uri="{FF2B5EF4-FFF2-40B4-BE49-F238E27FC236}">
                <a16:creationId xmlns:a16="http://schemas.microsoft.com/office/drawing/2014/main" id="{30E201BD-9A61-A1A1-769B-A9638FA3CA0C}"/>
              </a:ext>
            </a:extLst>
          </p:cNvPr>
          <p:cNvSpPr txBox="1"/>
          <p:nvPr/>
        </p:nvSpPr>
        <p:spPr>
          <a:xfrm>
            <a:off x="695400" y="1196752"/>
            <a:ext cx="10801200" cy="5262979"/>
          </a:xfrm>
          <a:prstGeom prst="rect">
            <a:avLst/>
          </a:prstGeom>
          <a:noFill/>
        </p:spPr>
        <p:txBody>
          <a:bodyPr wrap="square" rtlCol="0">
            <a:spAutoFit/>
          </a:bodyPr>
          <a:lstStyle/>
          <a:p>
            <a:pPr marL="285750" indent="-285750">
              <a:buFont typeface="Wingdings" panose="05000000000000000000" pitchFamily="2" charset="2"/>
              <a:buChar char="§"/>
            </a:pPr>
            <a:r>
              <a:rPr lang="pt-BR" sz="1600" dirty="0"/>
              <a:t>Diferentemente do processo atual, as estimativas financeiras devem ser </a:t>
            </a:r>
            <a:r>
              <a:rPr lang="pt-BR" sz="1600" b="1" dirty="0"/>
              <a:t>registradas no HUB de Obras em reais (BRL)</a:t>
            </a:r>
            <a:r>
              <a:rPr lang="pt-BR" sz="1600" dirty="0"/>
              <a:t> e não mais em dólar (USD). A possibilidade de inclusão de moedas estrangeiras será estudada para uma fase posterior</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As </a:t>
            </a:r>
            <a:r>
              <a:rPr lang="pt-BR" sz="1600" b="1" dirty="0"/>
              <a:t>curvas de </a:t>
            </a:r>
            <a:r>
              <a:rPr lang="pt-BR" sz="1600" b="1" dirty="0" err="1"/>
              <a:t>mensalização</a:t>
            </a:r>
            <a:r>
              <a:rPr lang="pt-BR" sz="1600" b="1" dirty="0"/>
              <a:t> </a:t>
            </a:r>
            <a:r>
              <a:rPr lang="pt-BR" sz="1600" dirty="0"/>
              <a:t>das estimativas devem ser </a:t>
            </a:r>
            <a:r>
              <a:rPr lang="pt-BR" sz="1600" b="1" dirty="0"/>
              <a:t>parametrizáveis no HUB </a:t>
            </a:r>
            <a:r>
              <a:rPr lang="pt-BR" sz="1600" dirty="0"/>
              <a:t>a partir das datas início e fim das Paradas por cada tipo de custo (material, oficina e estaleiro). Contudo, essa funcionalidade deve </a:t>
            </a:r>
            <a:r>
              <a:rPr lang="pt-BR" sz="1600" b="1" dirty="0"/>
              <a:t>permitir ajustes manuais </a:t>
            </a:r>
            <a:r>
              <a:rPr lang="pt-BR" sz="1600" dirty="0"/>
              <a:t>por parte do usuário</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dirty="0"/>
              <a:t>O HUB deve ser capaz de gerar um </a:t>
            </a:r>
            <a:r>
              <a:rPr lang="pt-BR" sz="1600" b="1" dirty="0"/>
              <a:t>relatório financeiro da Parada, em PDF</a:t>
            </a:r>
            <a:r>
              <a:rPr lang="pt-BR" sz="1600" dirty="0"/>
              <a:t>, com a seguinte estrutura de dados:</a:t>
            </a:r>
          </a:p>
          <a:p>
            <a:pPr marL="813267" lvl="1" indent="-285750">
              <a:buFont typeface="Wingdings" panose="05000000000000000000" pitchFamily="2" charset="2"/>
              <a:buChar char="§"/>
            </a:pPr>
            <a:r>
              <a:rPr lang="el-GR" sz="1600" dirty="0"/>
              <a:t>Σ</a:t>
            </a:r>
            <a:r>
              <a:rPr lang="pt-BR" sz="1600" dirty="0"/>
              <a:t> Estimativas por Obra </a:t>
            </a:r>
            <a:r>
              <a:rPr lang="pt-BR" sz="1600" dirty="0">
                <a:sym typeface="Wingdings" panose="05000000000000000000" pitchFamily="2" charset="2"/>
              </a:rPr>
              <a:t> </a:t>
            </a:r>
            <a:r>
              <a:rPr lang="el-GR" sz="1600" dirty="0"/>
              <a:t>Σ</a:t>
            </a:r>
            <a:r>
              <a:rPr lang="pt-BR" sz="1600" dirty="0"/>
              <a:t> </a:t>
            </a:r>
            <a:r>
              <a:rPr lang="pt-BR" sz="1600" dirty="0">
                <a:sym typeface="Wingdings" panose="05000000000000000000" pitchFamily="2" charset="2"/>
              </a:rPr>
              <a:t>Estimativas por Demandas  </a:t>
            </a:r>
            <a:r>
              <a:rPr lang="el-GR" sz="1600" dirty="0"/>
              <a:t>Σ</a:t>
            </a:r>
            <a:r>
              <a:rPr lang="pt-BR" sz="1600" dirty="0"/>
              <a:t>  Estimativas por tipo de custo (Materiais, Oficinas e Estaleiro)</a:t>
            </a:r>
          </a:p>
          <a:p>
            <a:pPr marL="813267" lvl="1" indent="-285750">
              <a:buFont typeface="Wingdings" panose="05000000000000000000" pitchFamily="2" charset="2"/>
              <a:buChar char="§"/>
            </a:pPr>
            <a:r>
              <a:rPr lang="pt-BR" sz="1600" dirty="0"/>
              <a:t>Esse relatório será </a:t>
            </a:r>
            <a:r>
              <a:rPr lang="pt-BR" sz="1600" b="1" dirty="0"/>
              <a:t>utilizado como a Ficha de Abertura de Orçamento</a:t>
            </a:r>
            <a:r>
              <a:rPr lang="pt-BR" sz="1600" dirty="0"/>
              <a:t>. O envio dessa ficha para a Controladoria é o principal marco para formalização do FEL-1 da Parada</a:t>
            </a:r>
          </a:p>
          <a:p>
            <a:pPr marL="285750"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b="1" dirty="0"/>
              <a:t>Novas demandas podem ser adicionadas a qualquer momento </a:t>
            </a:r>
            <a:r>
              <a:rPr lang="pt-BR" sz="1600" dirty="0"/>
              <a:t>até o fim da fase de execução da Parada:</a:t>
            </a:r>
          </a:p>
          <a:p>
            <a:pPr marL="813267" lvl="1" indent="-285750">
              <a:buFont typeface="Wingdings" panose="05000000000000000000" pitchFamily="2" charset="2"/>
              <a:buChar char="§"/>
            </a:pPr>
            <a:r>
              <a:rPr lang="pt-BR" sz="1600" dirty="0"/>
              <a:t>Até o fim do FEL-2 o responsável por incluir novas demandas é a área de Planejamento da Área Técnica. A partir do FEL-3 o responsável é a Área de Planejamento da Gerência de Obras</a:t>
            </a:r>
          </a:p>
          <a:p>
            <a:pPr marL="813267" lvl="1" indent="-285750">
              <a:buFont typeface="Wingdings" panose="05000000000000000000" pitchFamily="2" charset="2"/>
              <a:buChar char="§"/>
            </a:pPr>
            <a:r>
              <a:rPr lang="pt-BR" sz="1600" dirty="0"/>
              <a:t>Toda e qualquer inclusão de nova demanda, exclusão ou alteração da estimativa de alguma demanda existente deve ser justificada a partir do FEL-1</a:t>
            </a:r>
          </a:p>
          <a:p>
            <a:pPr marL="813267" lvl="1" indent="-285750">
              <a:buFont typeface="Wingdings" panose="05000000000000000000" pitchFamily="2" charset="2"/>
              <a:buChar char="§"/>
            </a:pPr>
            <a:endParaRPr lang="pt-BR" sz="1600" dirty="0"/>
          </a:p>
          <a:p>
            <a:pPr marL="285750" indent="-285750">
              <a:buFont typeface="Wingdings" panose="05000000000000000000" pitchFamily="2" charset="2"/>
              <a:buChar char="§"/>
            </a:pPr>
            <a:r>
              <a:rPr lang="pt-BR" sz="1600" b="1" dirty="0"/>
              <a:t>Novas demandas </a:t>
            </a:r>
            <a:r>
              <a:rPr lang="pt-BR" sz="1600" dirty="0"/>
              <a:t>podem ser adicionada</a:t>
            </a:r>
            <a:r>
              <a:rPr lang="pt-BR" sz="1600" b="1" dirty="0"/>
              <a:t>s manualmente a partir do HUB ou </a:t>
            </a:r>
            <a:r>
              <a:rPr lang="pt-BR" sz="1600" dirty="0"/>
              <a:t>ainda</a:t>
            </a:r>
            <a:r>
              <a:rPr lang="pt-BR" sz="1600" b="1" dirty="0"/>
              <a:t> através a funcionalidade “</a:t>
            </a:r>
            <a:r>
              <a:rPr lang="pt-BR" sz="1600" b="1" dirty="0" err="1"/>
              <a:t>Template</a:t>
            </a:r>
            <a:r>
              <a:rPr lang="pt-BR" sz="1600" b="1" dirty="0"/>
              <a:t> de Obra”</a:t>
            </a:r>
            <a:r>
              <a:rPr lang="pt-BR" sz="1600" dirty="0"/>
              <a:t> que será detalhada no próximo Capítulo</a:t>
            </a:r>
          </a:p>
        </p:txBody>
      </p:sp>
    </p:spTree>
    <p:extLst>
      <p:ext uri="{BB962C8B-B14F-4D97-AF65-F5344CB8AC3E}">
        <p14:creationId xmlns:p14="http://schemas.microsoft.com/office/powerpoint/2010/main" val="1090079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4AF25-44BD-3B68-84A8-A780A7F25FD1}"/>
            </a:ext>
          </a:extLst>
        </p:cNvPr>
        <p:cNvGrpSpPr/>
        <p:nvPr/>
      </p:nvGrpSpPr>
      <p:grpSpPr>
        <a:xfrm>
          <a:off x="0" y="0"/>
          <a:ext cx="0" cy="0"/>
          <a:chOff x="0" y="0"/>
          <a:chExt cx="0" cy="0"/>
        </a:xfrm>
      </p:grpSpPr>
      <p:sp>
        <p:nvSpPr>
          <p:cNvPr id="267" name="Retângulo 266">
            <a:extLst>
              <a:ext uri="{FF2B5EF4-FFF2-40B4-BE49-F238E27FC236}">
                <a16:creationId xmlns:a16="http://schemas.microsoft.com/office/drawing/2014/main" id="{E1AD7D00-1A67-AF83-3F9A-928BFFC7EB68}"/>
              </a:ext>
            </a:extLst>
          </p:cNvPr>
          <p:cNvSpPr/>
          <p:nvPr/>
        </p:nvSpPr>
        <p:spPr>
          <a:xfrm>
            <a:off x="10574552" y="6111523"/>
            <a:ext cx="1541296" cy="7464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Cantos Arredondados 25">
            <a:extLst>
              <a:ext uri="{FF2B5EF4-FFF2-40B4-BE49-F238E27FC236}">
                <a16:creationId xmlns:a16="http://schemas.microsoft.com/office/drawing/2014/main" id="{76BD09EC-4D3B-80FD-D03F-DAD79D6E404C}"/>
              </a:ext>
            </a:extLst>
          </p:cNvPr>
          <p:cNvSpPr/>
          <p:nvPr/>
        </p:nvSpPr>
        <p:spPr>
          <a:xfrm>
            <a:off x="0" y="0"/>
            <a:ext cx="12192000" cy="6858000"/>
          </a:xfrm>
          <a:prstGeom prst="roundRect">
            <a:avLst>
              <a:gd name="adj" fmla="val 339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4" name="Retângulo: Cantos Arredondados 103">
            <a:extLst>
              <a:ext uri="{FF2B5EF4-FFF2-40B4-BE49-F238E27FC236}">
                <a16:creationId xmlns:a16="http://schemas.microsoft.com/office/drawing/2014/main" id="{AEFC7FE6-416F-9935-685D-B2FFB8D11D22}"/>
              </a:ext>
            </a:extLst>
          </p:cNvPr>
          <p:cNvSpPr/>
          <p:nvPr/>
        </p:nvSpPr>
        <p:spPr>
          <a:xfrm>
            <a:off x="6516306" y="1079563"/>
            <a:ext cx="2029316" cy="536535"/>
          </a:xfrm>
          <a:prstGeom prst="roundRect">
            <a:avLst>
              <a:gd name="adj" fmla="val 5694"/>
            </a:avLst>
          </a:prstGeom>
          <a:solidFill>
            <a:schemeClr val="bg1"/>
          </a:solidFill>
          <a:ln w="6350">
            <a:solidFill>
              <a:schemeClr val="bg1">
                <a:lumMod val="50000"/>
              </a:schemeClr>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latin typeface="Aptos" panose="020B0004020202020204" pitchFamily="34" charset="0"/>
              </a:rPr>
              <a:t>[</a:t>
            </a:r>
            <a:r>
              <a:rPr lang="el-GR" sz="1400" dirty="0">
                <a:solidFill>
                  <a:schemeClr val="tx1"/>
                </a:solidFill>
                <a:latin typeface="Aptos" panose="020B0004020202020204" pitchFamily="34" charset="0"/>
              </a:rPr>
              <a:t>Σ </a:t>
            </a:r>
            <a:r>
              <a:rPr lang="pt-BR" sz="1400" dirty="0">
                <a:solidFill>
                  <a:schemeClr val="tx1"/>
                </a:solidFill>
                <a:latin typeface="Aptos" panose="020B0004020202020204" pitchFamily="34" charset="0"/>
              </a:rPr>
              <a:t> R$ </a:t>
            </a:r>
            <a:r>
              <a:rPr lang="pt-BR" sz="1400" dirty="0">
                <a:solidFill>
                  <a:schemeClr val="tx1"/>
                </a:solidFill>
              </a:rPr>
              <a:t>Estimado]</a:t>
            </a:r>
          </a:p>
        </p:txBody>
      </p:sp>
      <p:sp>
        <p:nvSpPr>
          <p:cNvPr id="527" name="Retângulo: Cantos Arredondados 526">
            <a:extLst>
              <a:ext uri="{FF2B5EF4-FFF2-40B4-BE49-F238E27FC236}">
                <a16:creationId xmlns:a16="http://schemas.microsoft.com/office/drawing/2014/main" id="{010B4820-6387-7AD8-1573-A3A1F92292C7}"/>
              </a:ext>
            </a:extLst>
          </p:cNvPr>
          <p:cNvSpPr/>
          <p:nvPr/>
        </p:nvSpPr>
        <p:spPr>
          <a:xfrm>
            <a:off x="8660232" y="1079563"/>
            <a:ext cx="2029316" cy="536535"/>
          </a:xfrm>
          <a:prstGeom prst="roundRect">
            <a:avLst>
              <a:gd name="adj" fmla="val 5694"/>
            </a:avLst>
          </a:prstGeom>
          <a:solidFill>
            <a:schemeClr val="bg1"/>
          </a:solidFill>
          <a:ln w="6350">
            <a:solidFill>
              <a:schemeClr val="bg1">
                <a:lumMod val="50000"/>
              </a:schemeClr>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latin typeface="Aptos" panose="020B0004020202020204" pitchFamily="34" charset="0"/>
              </a:rPr>
              <a:t>[</a:t>
            </a:r>
            <a:r>
              <a:rPr lang="el-GR" sz="1400" dirty="0">
                <a:solidFill>
                  <a:schemeClr val="tx1"/>
                </a:solidFill>
                <a:latin typeface="Aptos" panose="020B0004020202020204" pitchFamily="34" charset="0"/>
              </a:rPr>
              <a:t>Σ </a:t>
            </a:r>
            <a:r>
              <a:rPr lang="pt-BR" sz="1400" dirty="0">
                <a:solidFill>
                  <a:schemeClr val="tx1"/>
                </a:solidFill>
                <a:latin typeface="Aptos" panose="020B0004020202020204" pitchFamily="34" charset="0"/>
              </a:rPr>
              <a:t>R$ </a:t>
            </a:r>
            <a:r>
              <a:rPr lang="pt-BR" sz="1400" dirty="0">
                <a:solidFill>
                  <a:schemeClr val="tx1"/>
                </a:solidFill>
              </a:rPr>
              <a:t>Comprometido]</a:t>
            </a:r>
          </a:p>
        </p:txBody>
      </p:sp>
      <p:sp>
        <p:nvSpPr>
          <p:cNvPr id="569" name="Retângulo 568">
            <a:extLst>
              <a:ext uri="{FF2B5EF4-FFF2-40B4-BE49-F238E27FC236}">
                <a16:creationId xmlns:a16="http://schemas.microsoft.com/office/drawing/2014/main" id="{443BA1F4-60A7-29B9-B212-64B4BCE7FDD8}"/>
              </a:ext>
            </a:extLst>
          </p:cNvPr>
          <p:cNvSpPr/>
          <p:nvPr/>
        </p:nvSpPr>
        <p:spPr>
          <a:xfrm>
            <a:off x="263352" y="1956876"/>
            <a:ext cx="11760364" cy="1396391"/>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0" name="CaixaDeTexto 569">
            <a:extLst>
              <a:ext uri="{FF2B5EF4-FFF2-40B4-BE49-F238E27FC236}">
                <a16:creationId xmlns:a16="http://schemas.microsoft.com/office/drawing/2014/main" id="{F182AC18-5210-2AEA-DCA7-3919D1628EAE}"/>
              </a:ext>
            </a:extLst>
          </p:cNvPr>
          <p:cNvSpPr txBox="1"/>
          <p:nvPr/>
        </p:nvSpPr>
        <p:spPr>
          <a:xfrm>
            <a:off x="372744" y="1801691"/>
            <a:ext cx="2029315" cy="307777"/>
          </a:xfrm>
          <a:prstGeom prst="rect">
            <a:avLst/>
          </a:prstGeom>
          <a:solidFill>
            <a:schemeClr val="bg1"/>
          </a:solidFill>
        </p:spPr>
        <p:txBody>
          <a:bodyPr wrap="square" rtlCol="0">
            <a:spAutoFit/>
          </a:bodyPr>
          <a:lstStyle/>
          <a:p>
            <a:r>
              <a:rPr lang="pt-BR" sz="1400" b="1" dirty="0"/>
              <a:t>Informações básicas</a:t>
            </a:r>
          </a:p>
        </p:txBody>
      </p:sp>
      <p:grpSp>
        <p:nvGrpSpPr>
          <p:cNvPr id="29" name="Agrupar 28">
            <a:extLst>
              <a:ext uri="{FF2B5EF4-FFF2-40B4-BE49-F238E27FC236}">
                <a16:creationId xmlns:a16="http://schemas.microsoft.com/office/drawing/2014/main" id="{79010E8F-F8E5-D6AF-310D-F363D6A6D16B}"/>
              </a:ext>
            </a:extLst>
          </p:cNvPr>
          <p:cNvGrpSpPr/>
          <p:nvPr/>
        </p:nvGrpSpPr>
        <p:grpSpPr>
          <a:xfrm>
            <a:off x="833587" y="2273147"/>
            <a:ext cx="1628241" cy="307777"/>
            <a:chOff x="833587" y="2273147"/>
            <a:chExt cx="1628241" cy="307777"/>
          </a:xfrm>
        </p:grpSpPr>
        <p:sp>
          <p:nvSpPr>
            <p:cNvPr id="183" name="Retângulo: Cantos Arredondados 182">
              <a:extLst>
                <a:ext uri="{FF2B5EF4-FFF2-40B4-BE49-F238E27FC236}">
                  <a16:creationId xmlns:a16="http://schemas.microsoft.com/office/drawing/2014/main" id="{1038057B-4C00-F282-A9CA-481FBF2D7271}"/>
                </a:ext>
              </a:extLst>
            </p:cNvPr>
            <p:cNvSpPr/>
            <p:nvPr/>
          </p:nvSpPr>
          <p:spPr>
            <a:xfrm>
              <a:off x="1918084" y="2310076"/>
              <a:ext cx="543744"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5" name="CaixaDeTexto 4">
              <a:extLst>
                <a:ext uri="{FF2B5EF4-FFF2-40B4-BE49-F238E27FC236}">
                  <a16:creationId xmlns:a16="http://schemas.microsoft.com/office/drawing/2014/main" id="{CA705B1D-333A-9F7C-F1FB-9848B6DB9230}"/>
                </a:ext>
              </a:extLst>
            </p:cNvPr>
            <p:cNvSpPr txBox="1"/>
            <p:nvPr/>
          </p:nvSpPr>
          <p:spPr>
            <a:xfrm>
              <a:off x="833587" y="2273147"/>
              <a:ext cx="1188132" cy="307777"/>
            </a:xfrm>
            <a:prstGeom prst="rect">
              <a:avLst/>
            </a:prstGeom>
            <a:noFill/>
          </p:spPr>
          <p:txBody>
            <a:bodyPr wrap="square" rtlCol="0">
              <a:spAutoFit/>
            </a:bodyPr>
            <a:lstStyle/>
            <a:p>
              <a:r>
                <a:rPr lang="pt-BR" sz="1400" b="1" dirty="0"/>
                <a:t>ID da parada</a:t>
              </a:r>
            </a:p>
          </p:txBody>
        </p:sp>
      </p:grpSp>
      <p:grpSp>
        <p:nvGrpSpPr>
          <p:cNvPr id="28" name="Agrupar 27">
            <a:extLst>
              <a:ext uri="{FF2B5EF4-FFF2-40B4-BE49-F238E27FC236}">
                <a16:creationId xmlns:a16="http://schemas.microsoft.com/office/drawing/2014/main" id="{0907B3C6-1AF1-7EAF-25EF-CCB89F336596}"/>
              </a:ext>
            </a:extLst>
          </p:cNvPr>
          <p:cNvGrpSpPr/>
          <p:nvPr/>
        </p:nvGrpSpPr>
        <p:grpSpPr>
          <a:xfrm>
            <a:off x="2848787" y="2273147"/>
            <a:ext cx="3182464" cy="307777"/>
            <a:chOff x="2914113" y="2273147"/>
            <a:chExt cx="3182464" cy="307777"/>
          </a:xfrm>
        </p:grpSpPr>
        <p:sp>
          <p:nvSpPr>
            <p:cNvPr id="209" name="Retângulo: Cantos Arredondados 208">
              <a:extLst>
                <a:ext uri="{FF2B5EF4-FFF2-40B4-BE49-F238E27FC236}">
                  <a16:creationId xmlns:a16="http://schemas.microsoft.com/office/drawing/2014/main" id="{08EA2828-2DF1-2DA6-EB8E-3D11451D1DEC}"/>
                </a:ext>
              </a:extLst>
            </p:cNvPr>
            <p:cNvSpPr/>
            <p:nvPr/>
          </p:nvSpPr>
          <p:spPr>
            <a:xfrm>
              <a:off x="3981049" y="2310076"/>
              <a:ext cx="2115528"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black"/>
                  </a:solidFill>
                  <a:effectLst/>
                  <a:uLnTx/>
                  <a:uFillTx/>
                  <a:latin typeface="Calibri"/>
                  <a:ea typeface="+mn-ea"/>
                  <a:cs typeface="+mn-cs"/>
                </a:rPr>
                <a:t>[</a:t>
              </a:r>
              <a:r>
                <a:rPr kumimoji="0" lang="pt-BR" sz="1400" b="0" i="0" u="none" strike="noStrike" kern="1200" cap="none" spc="0" normalizeH="0" baseline="0" noProof="0" dirty="0" err="1">
                  <a:ln>
                    <a:noFill/>
                  </a:ln>
                  <a:solidFill>
                    <a:prstClr val="black"/>
                  </a:solidFill>
                  <a:effectLst/>
                  <a:uLnTx/>
                  <a:uFillTx/>
                  <a:latin typeface="Calibri"/>
                  <a:ea typeface="+mn-ea"/>
                  <a:cs typeface="+mn-cs"/>
                </a:rPr>
                <a:t>nome_da_embarcacao</a:t>
              </a:r>
              <a:r>
                <a:rPr kumimoji="0" lang="pt-BR" sz="14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8" name="CaixaDeTexto 17">
              <a:extLst>
                <a:ext uri="{FF2B5EF4-FFF2-40B4-BE49-F238E27FC236}">
                  <a16:creationId xmlns:a16="http://schemas.microsoft.com/office/drawing/2014/main" id="{1DA9E426-4D7D-7212-1C48-B03C5DF401A0}"/>
                </a:ext>
              </a:extLst>
            </p:cNvPr>
            <p:cNvSpPr txBox="1"/>
            <p:nvPr/>
          </p:nvSpPr>
          <p:spPr>
            <a:xfrm>
              <a:off x="2914113" y="2273147"/>
              <a:ext cx="1110992" cy="307777"/>
            </a:xfrm>
            <a:prstGeom prst="rect">
              <a:avLst/>
            </a:prstGeom>
            <a:noFill/>
          </p:spPr>
          <p:txBody>
            <a:bodyPr wrap="square" rtlCol="0">
              <a:spAutoFit/>
            </a:bodyPr>
            <a:lstStyle/>
            <a:p>
              <a:r>
                <a:rPr lang="pt-BR" sz="1400" b="1" dirty="0"/>
                <a:t>Embarcação</a:t>
              </a:r>
            </a:p>
          </p:txBody>
        </p:sp>
      </p:grpSp>
      <p:sp>
        <p:nvSpPr>
          <p:cNvPr id="22" name="CaixaDeTexto 21">
            <a:extLst>
              <a:ext uri="{FF2B5EF4-FFF2-40B4-BE49-F238E27FC236}">
                <a16:creationId xmlns:a16="http://schemas.microsoft.com/office/drawing/2014/main" id="{6B088B3B-2E85-E916-645C-67774549A510}"/>
              </a:ext>
            </a:extLst>
          </p:cNvPr>
          <p:cNvSpPr txBox="1"/>
          <p:nvPr/>
        </p:nvSpPr>
        <p:spPr>
          <a:xfrm>
            <a:off x="8400256" y="2273147"/>
            <a:ext cx="2069733" cy="307777"/>
          </a:xfrm>
          <a:prstGeom prst="rect">
            <a:avLst/>
          </a:prstGeom>
          <a:noFill/>
        </p:spPr>
        <p:txBody>
          <a:bodyPr wrap="square" rtlCol="0">
            <a:spAutoFit/>
          </a:bodyPr>
          <a:lstStyle/>
          <a:p>
            <a:r>
              <a:rPr lang="pt-BR" sz="1400" b="1" dirty="0"/>
              <a:t>Previsto em Orçamento?</a:t>
            </a:r>
          </a:p>
        </p:txBody>
      </p:sp>
      <p:grpSp>
        <p:nvGrpSpPr>
          <p:cNvPr id="27" name="Agrupar 26">
            <a:extLst>
              <a:ext uri="{FF2B5EF4-FFF2-40B4-BE49-F238E27FC236}">
                <a16:creationId xmlns:a16="http://schemas.microsoft.com/office/drawing/2014/main" id="{31B16225-8AEC-A94E-1451-562E6C3D3E44}"/>
              </a:ext>
            </a:extLst>
          </p:cNvPr>
          <p:cNvGrpSpPr/>
          <p:nvPr/>
        </p:nvGrpSpPr>
        <p:grpSpPr>
          <a:xfrm>
            <a:off x="6323406" y="2273147"/>
            <a:ext cx="1836328" cy="307777"/>
            <a:chOff x="6323406" y="2273147"/>
            <a:chExt cx="1836328" cy="307777"/>
          </a:xfrm>
        </p:grpSpPr>
        <p:sp>
          <p:nvSpPr>
            <p:cNvPr id="20" name="CaixaDeTexto 19">
              <a:extLst>
                <a:ext uri="{FF2B5EF4-FFF2-40B4-BE49-F238E27FC236}">
                  <a16:creationId xmlns:a16="http://schemas.microsoft.com/office/drawing/2014/main" id="{F1355EE2-0D4C-30E2-0138-B313A16C2EFA}"/>
                </a:ext>
              </a:extLst>
            </p:cNvPr>
            <p:cNvSpPr txBox="1"/>
            <p:nvPr/>
          </p:nvSpPr>
          <p:spPr>
            <a:xfrm>
              <a:off x="6323406" y="2273147"/>
              <a:ext cx="1071289" cy="307777"/>
            </a:xfrm>
            <a:prstGeom prst="rect">
              <a:avLst/>
            </a:prstGeom>
            <a:noFill/>
          </p:spPr>
          <p:txBody>
            <a:bodyPr wrap="square" rtlCol="0">
              <a:spAutoFit/>
            </a:bodyPr>
            <a:lstStyle/>
            <a:p>
              <a:r>
                <a:rPr lang="pt-BR" sz="1400" b="1" dirty="0"/>
                <a:t>FEL Atual</a:t>
              </a:r>
            </a:p>
          </p:txBody>
        </p:sp>
        <p:sp>
          <p:nvSpPr>
            <p:cNvPr id="210" name="Retângulo: Cantos Arredondados 209">
              <a:extLst>
                <a:ext uri="{FF2B5EF4-FFF2-40B4-BE49-F238E27FC236}">
                  <a16:creationId xmlns:a16="http://schemas.microsoft.com/office/drawing/2014/main" id="{6C231E58-6AE5-3407-FBB9-871D5A7DA6AB}"/>
                </a:ext>
              </a:extLst>
            </p:cNvPr>
            <p:cNvSpPr/>
            <p:nvPr/>
          </p:nvSpPr>
          <p:spPr>
            <a:xfrm>
              <a:off x="7228676" y="2310076"/>
              <a:ext cx="931058"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[#fel_atual]</a:t>
              </a:r>
            </a:p>
          </p:txBody>
        </p:sp>
      </p:grpSp>
      <p:grpSp>
        <p:nvGrpSpPr>
          <p:cNvPr id="11" name="Agrupar 10">
            <a:extLst>
              <a:ext uri="{FF2B5EF4-FFF2-40B4-BE49-F238E27FC236}">
                <a16:creationId xmlns:a16="http://schemas.microsoft.com/office/drawing/2014/main" id="{10119B4C-E869-FCA2-A33F-65A355897215}"/>
              </a:ext>
            </a:extLst>
          </p:cNvPr>
          <p:cNvGrpSpPr/>
          <p:nvPr/>
        </p:nvGrpSpPr>
        <p:grpSpPr>
          <a:xfrm>
            <a:off x="844894" y="2829466"/>
            <a:ext cx="2078610" cy="307777"/>
            <a:chOff x="844894" y="2829466"/>
            <a:chExt cx="2078610" cy="307777"/>
          </a:xfrm>
        </p:grpSpPr>
        <p:sp>
          <p:nvSpPr>
            <p:cNvPr id="541" name="CaixaDeTexto 540">
              <a:extLst>
                <a:ext uri="{FF2B5EF4-FFF2-40B4-BE49-F238E27FC236}">
                  <a16:creationId xmlns:a16="http://schemas.microsoft.com/office/drawing/2014/main" id="{9979CADA-A5AB-779D-E3EB-BFD99926FA8D}"/>
                </a:ext>
              </a:extLst>
            </p:cNvPr>
            <p:cNvSpPr txBox="1"/>
            <p:nvPr/>
          </p:nvSpPr>
          <p:spPr>
            <a:xfrm>
              <a:off x="844894" y="2829466"/>
              <a:ext cx="1188132" cy="307777"/>
            </a:xfrm>
            <a:prstGeom prst="rect">
              <a:avLst/>
            </a:prstGeom>
            <a:noFill/>
          </p:spPr>
          <p:txBody>
            <a:bodyPr wrap="square" rtlCol="0">
              <a:spAutoFit/>
            </a:bodyPr>
            <a:lstStyle/>
            <a:p>
              <a:r>
                <a:rPr lang="pt-BR" sz="1400" b="1" dirty="0"/>
                <a:t>Data Início</a:t>
              </a:r>
            </a:p>
          </p:txBody>
        </p:sp>
        <p:sp>
          <p:nvSpPr>
            <p:cNvPr id="212" name="Retângulo: Cantos Arredondados 211">
              <a:extLst>
                <a:ext uri="{FF2B5EF4-FFF2-40B4-BE49-F238E27FC236}">
                  <a16:creationId xmlns:a16="http://schemas.microsoft.com/office/drawing/2014/main" id="{17B1B440-00A5-0E35-4F04-7A310A272D00}"/>
                </a:ext>
              </a:extLst>
            </p:cNvPr>
            <p:cNvSpPr/>
            <p:nvPr/>
          </p:nvSpPr>
          <p:spPr>
            <a:xfrm>
              <a:off x="1828095" y="2859434"/>
              <a:ext cx="1095409"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[#data_inicio]</a:t>
              </a:r>
            </a:p>
          </p:txBody>
        </p:sp>
      </p:grpSp>
      <p:sp>
        <p:nvSpPr>
          <p:cNvPr id="547" name="CaixaDeTexto 546">
            <a:extLst>
              <a:ext uri="{FF2B5EF4-FFF2-40B4-BE49-F238E27FC236}">
                <a16:creationId xmlns:a16="http://schemas.microsoft.com/office/drawing/2014/main" id="{EF21783B-8380-AD3E-0F7D-E42C6E344162}"/>
              </a:ext>
            </a:extLst>
          </p:cNvPr>
          <p:cNvSpPr txBox="1"/>
          <p:nvPr/>
        </p:nvSpPr>
        <p:spPr>
          <a:xfrm>
            <a:off x="8651188" y="2829466"/>
            <a:ext cx="1188132" cy="307777"/>
          </a:xfrm>
          <a:prstGeom prst="rect">
            <a:avLst/>
          </a:prstGeom>
          <a:noFill/>
        </p:spPr>
        <p:txBody>
          <a:bodyPr wrap="square" rtlCol="0">
            <a:spAutoFit/>
          </a:bodyPr>
          <a:lstStyle/>
          <a:p>
            <a:r>
              <a:rPr lang="pt-BR" sz="1400" b="1" dirty="0"/>
              <a:t>Condição</a:t>
            </a:r>
          </a:p>
        </p:txBody>
      </p:sp>
      <p:sp>
        <p:nvSpPr>
          <p:cNvPr id="549" name="Elipse 548">
            <a:extLst>
              <a:ext uri="{FF2B5EF4-FFF2-40B4-BE49-F238E27FC236}">
                <a16:creationId xmlns:a16="http://schemas.microsoft.com/office/drawing/2014/main" id="{6390D9B0-69F4-6AFE-D77C-00C7EEE04869}"/>
              </a:ext>
            </a:extLst>
          </p:cNvPr>
          <p:cNvSpPr/>
          <p:nvPr/>
        </p:nvSpPr>
        <p:spPr>
          <a:xfrm>
            <a:off x="9587292" y="2900715"/>
            <a:ext cx="165278" cy="165278"/>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0" name="CaixaDeTexto 549">
            <a:extLst>
              <a:ext uri="{FF2B5EF4-FFF2-40B4-BE49-F238E27FC236}">
                <a16:creationId xmlns:a16="http://schemas.microsoft.com/office/drawing/2014/main" id="{BDCE1CE9-5736-5236-C7F9-83089E6AF3EC}"/>
              </a:ext>
            </a:extLst>
          </p:cNvPr>
          <p:cNvSpPr txBox="1"/>
          <p:nvPr/>
        </p:nvSpPr>
        <p:spPr>
          <a:xfrm>
            <a:off x="9749904" y="2829466"/>
            <a:ext cx="624694" cy="307777"/>
          </a:xfrm>
          <a:prstGeom prst="rect">
            <a:avLst/>
          </a:prstGeom>
          <a:noFill/>
        </p:spPr>
        <p:txBody>
          <a:bodyPr wrap="square" rtlCol="0">
            <a:spAutoFit/>
          </a:bodyPr>
          <a:lstStyle/>
          <a:p>
            <a:r>
              <a:rPr lang="pt-BR" sz="1400" dirty="0"/>
              <a:t>Seco</a:t>
            </a:r>
          </a:p>
        </p:txBody>
      </p:sp>
      <p:sp>
        <p:nvSpPr>
          <p:cNvPr id="551" name="Elipse 550">
            <a:extLst>
              <a:ext uri="{FF2B5EF4-FFF2-40B4-BE49-F238E27FC236}">
                <a16:creationId xmlns:a16="http://schemas.microsoft.com/office/drawing/2014/main" id="{422B6EF7-0A1B-D56A-FB01-6F762B2A7AD2}"/>
              </a:ext>
            </a:extLst>
          </p:cNvPr>
          <p:cNvSpPr/>
          <p:nvPr/>
        </p:nvSpPr>
        <p:spPr>
          <a:xfrm>
            <a:off x="10291656" y="2900715"/>
            <a:ext cx="165278" cy="165278"/>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2" name="CaixaDeTexto 551">
            <a:extLst>
              <a:ext uri="{FF2B5EF4-FFF2-40B4-BE49-F238E27FC236}">
                <a16:creationId xmlns:a16="http://schemas.microsoft.com/office/drawing/2014/main" id="{A303E521-51AB-7F02-CAB9-5EC05734A88A}"/>
              </a:ext>
            </a:extLst>
          </p:cNvPr>
          <p:cNvSpPr txBox="1"/>
          <p:nvPr/>
        </p:nvSpPr>
        <p:spPr>
          <a:xfrm>
            <a:off x="10454268" y="2829466"/>
            <a:ext cx="844266" cy="307777"/>
          </a:xfrm>
          <a:prstGeom prst="rect">
            <a:avLst/>
          </a:prstGeom>
          <a:noFill/>
        </p:spPr>
        <p:txBody>
          <a:bodyPr wrap="square" rtlCol="0">
            <a:spAutoFit/>
          </a:bodyPr>
          <a:lstStyle/>
          <a:p>
            <a:r>
              <a:rPr lang="pt-BR" sz="1400" dirty="0"/>
              <a:t>Molhado</a:t>
            </a:r>
          </a:p>
        </p:txBody>
      </p:sp>
      <p:sp>
        <p:nvSpPr>
          <p:cNvPr id="553" name="Elipse 552">
            <a:extLst>
              <a:ext uri="{FF2B5EF4-FFF2-40B4-BE49-F238E27FC236}">
                <a16:creationId xmlns:a16="http://schemas.microsoft.com/office/drawing/2014/main" id="{0AC471E1-28EF-B8EC-AFFD-77401C2F7B4C}"/>
              </a:ext>
            </a:extLst>
          </p:cNvPr>
          <p:cNvSpPr/>
          <p:nvPr/>
        </p:nvSpPr>
        <p:spPr>
          <a:xfrm>
            <a:off x="10338295" y="2947354"/>
            <a:ext cx="72000" cy="72000"/>
          </a:xfrm>
          <a:prstGeom prst="ellipse">
            <a:avLst/>
          </a:prstGeom>
          <a:solidFill>
            <a:srgbClr val="03738E"/>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5" name="Agrupar 24">
            <a:extLst>
              <a:ext uri="{FF2B5EF4-FFF2-40B4-BE49-F238E27FC236}">
                <a16:creationId xmlns:a16="http://schemas.microsoft.com/office/drawing/2014/main" id="{41E7BB59-0212-EA4E-7A43-15861C341D54}"/>
              </a:ext>
            </a:extLst>
          </p:cNvPr>
          <p:cNvGrpSpPr/>
          <p:nvPr/>
        </p:nvGrpSpPr>
        <p:grpSpPr>
          <a:xfrm>
            <a:off x="3532100" y="2829466"/>
            <a:ext cx="1946029" cy="307777"/>
            <a:chOff x="3152707" y="2829466"/>
            <a:chExt cx="1946029" cy="307777"/>
          </a:xfrm>
        </p:grpSpPr>
        <p:sp>
          <p:nvSpPr>
            <p:cNvPr id="543" name="CaixaDeTexto 542">
              <a:extLst>
                <a:ext uri="{FF2B5EF4-FFF2-40B4-BE49-F238E27FC236}">
                  <a16:creationId xmlns:a16="http://schemas.microsoft.com/office/drawing/2014/main" id="{69E2D257-6671-EC3B-FC7D-186297912DD6}"/>
                </a:ext>
              </a:extLst>
            </p:cNvPr>
            <p:cNvSpPr txBox="1"/>
            <p:nvPr/>
          </p:nvSpPr>
          <p:spPr>
            <a:xfrm>
              <a:off x="3152707" y="2829466"/>
              <a:ext cx="1188132" cy="307777"/>
            </a:xfrm>
            <a:prstGeom prst="rect">
              <a:avLst/>
            </a:prstGeom>
            <a:noFill/>
          </p:spPr>
          <p:txBody>
            <a:bodyPr wrap="square" rtlCol="0">
              <a:spAutoFit/>
            </a:bodyPr>
            <a:lstStyle/>
            <a:p>
              <a:r>
                <a:rPr lang="pt-BR" sz="1400" b="1" dirty="0"/>
                <a:t>Duração</a:t>
              </a:r>
            </a:p>
          </p:txBody>
        </p:sp>
        <p:sp>
          <p:nvSpPr>
            <p:cNvPr id="213" name="Retângulo: Cantos Arredondados 212">
              <a:extLst>
                <a:ext uri="{FF2B5EF4-FFF2-40B4-BE49-F238E27FC236}">
                  <a16:creationId xmlns:a16="http://schemas.microsoft.com/office/drawing/2014/main" id="{72242370-A968-C34F-DA44-B2EC3F6D6F85}"/>
                </a:ext>
              </a:extLst>
            </p:cNvPr>
            <p:cNvSpPr/>
            <p:nvPr/>
          </p:nvSpPr>
          <p:spPr>
            <a:xfrm>
              <a:off x="4003327" y="2859434"/>
              <a:ext cx="1095409"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black"/>
                  </a:solidFill>
                  <a:effectLst/>
                  <a:uLnTx/>
                  <a:uFillTx/>
                  <a:latin typeface="Calibri"/>
                  <a:ea typeface="+mn-ea"/>
                  <a:cs typeface="+mn-cs"/>
                </a:rPr>
                <a:t>[#duracao]</a:t>
              </a:r>
            </a:p>
          </p:txBody>
        </p:sp>
      </p:grpSp>
      <p:grpSp>
        <p:nvGrpSpPr>
          <p:cNvPr id="24" name="Agrupar 23">
            <a:extLst>
              <a:ext uri="{FF2B5EF4-FFF2-40B4-BE49-F238E27FC236}">
                <a16:creationId xmlns:a16="http://schemas.microsoft.com/office/drawing/2014/main" id="{B660B7EE-D03A-A22F-655F-0FF73E5BADD0}"/>
              </a:ext>
            </a:extLst>
          </p:cNvPr>
          <p:cNvGrpSpPr/>
          <p:nvPr/>
        </p:nvGrpSpPr>
        <p:grpSpPr>
          <a:xfrm>
            <a:off x="6086725" y="2829466"/>
            <a:ext cx="1955868" cy="307777"/>
            <a:chOff x="5327939" y="2829466"/>
            <a:chExt cx="1955868" cy="307777"/>
          </a:xfrm>
        </p:grpSpPr>
        <p:sp>
          <p:nvSpPr>
            <p:cNvPr id="545" name="CaixaDeTexto 544">
              <a:extLst>
                <a:ext uri="{FF2B5EF4-FFF2-40B4-BE49-F238E27FC236}">
                  <a16:creationId xmlns:a16="http://schemas.microsoft.com/office/drawing/2014/main" id="{64D58B9F-CD00-FBF6-FD52-303977046875}"/>
                </a:ext>
              </a:extLst>
            </p:cNvPr>
            <p:cNvSpPr txBox="1"/>
            <p:nvPr/>
          </p:nvSpPr>
          <p:spPr>
            <a:xfrm>
              <a:off x="5327939" y="2829466"/>
              <a:ext cx="1188132" cy="307777"/>
            </a:xfrm>
            <a:prstGeom prst="rect">
              <a:avLst/>
            </a:prstGeom>
            <a:noFill/>
          </p:spPr>
          <p:txBody>
            <a:bodyPr wrap="square" rtlCol="0">
              <a:spAutoFit/>
            </a:bodyPr>
            <a:lstStyle/>
            <a:p>
              <a:r>
                <a:rPr lang="pt-BR" sz="1400" b="1" dirty="0"/>
                <a:t>Data Fim</a:t>
              </a:r>
            </a:p>
          </p:txBody>
        </p:sp>
        <p:sp>
          <p:nvSpPr>
            <p:cNvPr id="214" name="Retângulo: Cantos Arredondados 213">
              <a:extLst>
                <a:ext uri="{FF2B5EF4-FFF2-40B4-BE49-F238E27FC236}">
                  <a16:creationId xmlns:a16="http://schemas.microsoft.com/office/drawing/2014/main" id="{0745F131-DAF4-FCF7-BEDD-9868CA53D284}"/>
                </a:ext>
              </a:extLst>
            </p:cNvPr>
            <p:cNvSpPr/>
            <p:nvPr/>
          </p:nvSpPr>
          <p:spPr>
            <a:xfrm>
              <a:off x="6188398" y="2858273"/>
              <a:ext cx="1095409"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black"/>
                  </a:solidFill>
                  <a:effectLst/>
                  <a:uLnTx/>
                  <a:uFillTx/>
                  <a:latin typeface="Calibri"/>
                  <a:ea typeface="+mn-ea"/>
                  <a:cs typeface="+mn-cs"/>
                </a:rPr>
                <a:t>[#data_fim]</a:t>
              </a:r>
            </a:p>
          </p:txBody>
        </p:sp>
      </p:grpSp>
      <p:grpSp>
        <p:nvGrpSpPr>
          <p:cNvPr id="245" name="Agrupar 244">
            <a:extLst>
              <a:ext uri="{FF2B5EF4-FFF2-40B4-BE49-F238E27FC236}">
                <a16:creationId xmlns:a16="http://schemas.microsoft.com/office/drawing/2014/main" id="{23B22295-7B1D-B465-030B-EFE7F00A3EF0}"/>
              </a:ext>
            </a:extLst>
          </p:cNvPr>
          <p:cNvGrpSpPr/>
          <p:nvPr/>
        </p:nvGrpSpPr>
        <p:grpSpPr>
          <a:xfrm>
            <a:off x="415076" y="4099525"/>
            <a:ext cx="3040781" cy="261610"/>
            <a:chOff x="606947" y="4536712"/>
            <a:chExt cx="3040781" cy="261610"/>
          </a:xfrm>
        </p:grpSpPr>
        <p:sp>
          <p:nvSpPr>
            <p:cNvPr id="226" name="Retângulo: Cantos Arredondados 225">
              <a:extLst>
                <a:ext uri="{FF2B5EF4-FFF2-40B4-BE49-F238E27FC236}">
                  <a16:creationId xmlns:a16="http://schemas.microsoft.com/office/drawing/2014/main" id="{D670B77F-0149-1A8B-6A4A-17BCA2743470}"/>
                </a:ext>
              </a:extLst>
            </p:cNvPr>
            <p:cNvSpPr/>
            <p:nvPr/>
          </p:nvSpPr>
          <p:spPr>
            <a:xfrm>
              <a:off x="606947" y="4541517"/>
              <a:ext cx="252000" cy="25200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800" b="1" dirty="0">
                  <a:solidFill>
                    <a:schemeClr val="accent3"/>
                  </a:solidFill>
                </a:rPr>
                <a:t>✓</a:t>
              </a:r>
              <a:endParaRPr lang="pt-BR" sz="3200" b="1" dirty="0">
                <a:solidFill>
                  <a:schemeClr val="accent3"/>
                </a:solidFill>
              </a:endParaRPr>
            </a:p>
          </p:txBody>
        </p:sp>
        <p:sp>
          <p:nvSpPr>
            <p:cNvPr id="228" name="CaixaDeTexto 227">
              <a:extLst>
                <a:ext uri="{FF2B5EF4-FFF2-40B4-BE49-F238E27FC236}">
                  <a16:creationId xmlns:a16="http://schemas.microsoft.com/office/drawing/2014/main" id="{53628BD2-98D6-BFBB-F4D5-F3F64D920C9A}"/>
                </a:ext>
              </a:extLst>
            </p:cNvPr>
            <p:cNvSpPr txBox="1"/>
            <p:nvPr/>
          </p:nvSpPr>
          <p:spPr>
            <a:xfrm>
              <a:off x="874951" y="4536712"/>
              <a:ext cx="2772777" cy="261610"/>
            </a:xfrm>
            <a:prstGeom prst="rect">
              <a:avLst/>
            </a:prstGeom>
            <a:noFill/>
          </p:spPr>
          <p:txBody>
            <a:bodyPr wrap="square" rtlCol="0">
              <a:spAutoFit/>
            </a:bodyPr>
            <a:lstStyle>
              <a:defPPr>
                <a:defRPr lang="pt-BR"/>
              </a:defPPr>
              <a:lvl1pPr lvl="0" defTabSz="914400" eaLnBrk="0" fontAlgn="base" hangingPunct="0">
                <a:spcBef>
                  <a:spcPct val="0"/>
                </a:spcBef>
                <a:spcAft>
                  <a:spcPct val="0"/>
                </a:spcAft>
                <a:defRPr sz="1200"/>
              </a:lvl1pPr>
            </a:lstStyle>
            <a:p>
              <a:r>
                <a:rPr lang="pt-BR" altLang="pt-BR" sz="1100" dirty="0"/>
                <a:t>100 - PARADA UPGRADE - ATIVO/CONTRATO </a:t>
              </a:r>
            </a:p>
          </p:txBody>
        </p:sp>
      </p:grpSp>
      <p:grpSp>
        <p:nvGrpSpPr>
          <p:cNvPr id="240" name="Agrupar 239">
            <a:extLst>
              <a:ext uri="{FF2B5EF4-FFF2-40B4-BE49-F238E27FC236}">
                <a16:creationId xmlns:a16="http://schemas.microsoft.com/office/drawing/2014/main" id="{1C4B03B3-A7A3-DEE0-5C2B-889FCCA5513A}"/>
              </a:ext>
            </a:extLst>
          </p:cNvPr>
          <p:cNvGrpSpPr/>
          <p:nvPr/>
        </p:nvGrpSpPr>
        <p:grpSpPr>
          <a:xfrm>
            <a:off x="3386358" y="4099525"/>
            <a:ext cx="1931988" cy="261610"/>
            <a:chOff x="3700071" y="4536712"/>
            <a:chExt cx="1931988" cy="261610"/>
          </a:xfrm>
        </p:grpSpPr>
        <p:sp>
          <p:nvSpPr>
            <p:cNvPr id="232" name="Retângulo: Cantos Arredondados 231">
              <a:extLst>
                <a:ext uri="{FF2B5EF4-FFF2-40B4-BE49-F238E27FC236}">
                  <a16:creationId xmlns:a16="http://schemas.microsoft.com/office/drawing/2014/main" id="{97EB0EE1-AA67-3EDE-1F3D-A5D201CEE0D2}"/>
                </a:ext>
              </a:extLst>
            </p:cNvPr>
            <p:cNvSpPr/>
            <p:nvPr/>
          </p:nvSpPr>
          <p:spPr>
            <a:xfrm>
              <a:off x="3700071" y="4541517"/>
              <a:ext cx="252000" cy="25200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800" b="1" dirty="0">
                  <a:solidFill>
                    <a:schemeClr val="accent3"/>
                  </a:solidFill>
                </a:rPr>
                <a:t>✓</a:t>
              </a:r>
              <a:endParaRPr lang="pt-BR" sz="3200" b="1" dirty="0">
                <a:solidFill>
                  <a:schemeClr val="accent3"/>
                </a:solidFill>
              </a:endParaRPr>
            </a:p>
          </p:txBody>
        </p:sp>
        <p:sp>
          <p:nvSpPr>
            <p:cNvPr id="233" name="CaixaDeTexto 232">
              <a:extLst>
                <a:ext uri="{FF2B5EF4-FFF2-40B4-BE49-F238E27FC236}">
                  <a16:creationId xmlns:a16="http://schemas.microsoft.com/office/drawing/2014/main" id="{33FE9B94-7354-B4C1-8EB4-1BB9D3615368}"/>
                </a:ext>
              </a:extLst>
            </p:cNvPr>
            <p:cNvSpPr txBox="1"/>
            <p:nvPr/>
          </p:nvSpPr>
          <p:spPr>
            <a:xfrm>
              <a:off x="3968075" y="4536712"/>
              <a:ext cx="1663984" cy="261610"/>
            </a:xfrm>
            <a:prstGeom prst="rect">
              <a:avLst/>
            </a:prstGeom>
            <a:noFill/>
          </p:spPr>
          <p:txBody>
            <a:bodyPr wrap="square" rtlCol="0">
              <a:spAutoFit/>
            </a:bodyPr>
            <a:lstStyle>
              <a:defPPr>
                <a:defRPr lang="pt-BR"/>
              </a:defPPr>
              <a:lvl1pPr lvl="0" defTabSz="914400" eaLnBrk="0" fontAlgn="base" hangingPunct="0">
                <a:spcBef>
                  <a:spcPct val="0"/>
                </a:spcBef>
                <a:spcAft>
                  <a:spcPct val="0"/>
                </a:spcAft>
                <a:defRPr sz="1200"/>
              </a:lvl1pPr>
            </a:lstStyle>
            <a:p>
              <a:r>
                <a:rPr lang="pt-BR" altLang="pt-BR" sz="1100" dirty="0"/>
                <a:t>101 - PARADA ESPECIAL</a:t>
              </a:r>
            </a:p>
          </p:txBody>
        </p:sp>
      </p:grpSp>
      <p:grpSp>
        <p:nvGrpSpPr>
          <p:cNvPr id="239" name="Agrupar 238">
            <a:extLst>
              <a:ext uri="{FF2B5EF4-FFF2-40B4-BE49-F238E27FC236}">
                <a16:creationId xmlns:a16="http://schemas.microsoft.com/office/drawing/2014/main" id="{31E3E8C0-DB23-1F82-0BC7-D4B71090BE71}"/>
              </a:ext>
            </a:extLst>
          </p:cNvPr>
          <p:cNvGrpSpPr/>
          <p:nvPr/>
        </p:nvGrpSpPr>
        <p:grpSpPr>
          <a:xfrm>
            <a:off x="5205306" y="4099525"/>
            <a:ext cx="2382030" cy="261610"/>
            <a:chOff x="5563025" y="4536712"/>
            <a:chExt cx="2382030" cy="261610"/>
          </a:xfrm>
        </p:grpSpPr>
        <p:sp>
          <p:nvSpPr>
            <p:cNvPr id="234" name="Retângulo: Cantos Arredondados 233">
              <a:extLst>
                <a:ext uri="{FF2B5EF4-FFF2-40B4-BE49-F238E27FC236}">
                  <a16:creationId xmlns:a16="http://schemas.microsoft.com/office/drawing/2014/main" id="{0489A9D9-E19F-1B21-AC97-39A78BA451A0}"/>
                </a:ext>
              </a:extLst>
            </p:cNvPr>
            <p:cNvSpPr/>
            <p:nvPr/>
          </p:nvSpPr>
          <p:spPr>
            <a:xfrm>
              <a:off x="5563025" y="4541517"/>
              <a:ext cx="252000" cy="25200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3200" b="1" dirty="0">
                <a:solidFill>
                  <a:schemeClr val="accent3"/>
                </a:solidFill>
              </a:endParaRPr>
            </a:p>
          </p:txBody>
        </p:sp>
        <p:sp>
          <p:nvSpPr>
            <p:cNvPr id="235" name="CaixaDeTexto 234">
              <a:extLst>
                <a:ext uri="{FF2B5EF4-FFF2-40B4-BE49-F238E27FC236}">
                  <a16:creationId xmlns:a16="http://schemas.microsoft.com/office/drawing/2014/main" id="{479971E0-E944-29FE-2000-CD6141A2C7AF}"/>
                </a:ext>
              </a:extLst>
            </p:cNvPr>
            <p:cNvSpPr txBox="1"/>
            <p:nvPr/>
          </p:nvSpPr>
          <p:spPr>
            <a:xfrm>
              <a:off x="5831029" y="4536712"/>
              <a:ext cx="2114026" cy="261610"/>
            </a:xfrm>
            <a:prstGeom prst="rect">
              <a:avLst/>
            </a:prstGeom>
            <a:noFill/>
          </p:spPr>
          <p:txBody>
            <a:bodyPr wrap="square" rtlCol="0">
              <a:spAutoFit/>
            </a:bodyPr>
            <a:lstStyle/>
            <a:p>
              <a:pPr lvl="0" defTabSz="914400" eaLnBrk="0" fontAlgn="base" hangingPunct="0">
                <a:spcBef>
                  <a:spcPct val="0"/>
                </a:spcBef>
                <a:spcAft>
                  <a:spcPct val="0"/>
                </a:spcAft>
              </a:pPr>
              <a:r>
                <a:rPr lang="pt-BR" altLang="pt-BR" sz="1100" dirty="0"/>
                <a:t>102 - PARADA INTERMEDIÁRIA</a:t>
              </a:r>
            </a:p>
          </p:txBody>
        </p:sp>
      </p:grpSp>
      <p:grpSp>
        <p:nvGrpSpPr>
          <p:cNvPr id="238" name="Agrupar 237">
            <a:extLst>
              <a:ext uri="{FF2B5EF4-FFF2-40B4-BE49-F238E27FC236}">
                <a16:creationId xmlns:a16="http://schemas.microsoft.com/office/drawing/2014/main" id="{9B579807-A557-9048-4B75-EFDF1A49AE5C}"/>
              </a:ext>
            </a:extLst>
          </p:cNvPr>
          <p:cNvGrpSpPr/>
          <p:nvPr/>
        </p:nvGrpSpPr>
        <p:grpSpPr>
          <a:xfrm>
            <a:off x="7474294" y="4099525"/>
            <a:ext cx="2382030" cy="261610"/>
            <a:chOff x="7816581" y="4536712"/>
            <a:chExt cx="2382030" cy="261610"/>
          </a:xfrm>
        </p:grpSpPr>
        <p:sp>
          <p:nvSpPr>
            <p:cNvPr id="236" name="Retângulo: Cantos Arredondados 235">
              <a:extLst>
                <a:ext uri="{FF2B5EF4-FFF2-40B4-BE49-F238E27FC236}">
                  <a16:creationId xmlns:a16="http://schemas.microsoft.com/office/drawing/2014/main" id="{99FFF0CC-8C97-2F7E-1382-7CE8E79A39ED}"/>
                </a:ext>
              </a:extLst>
            </p:cNvPr>
            <p:cNvSpPr/>
            <p:nvPr/>
          </p:nvSpPr>
          <p:spPr>
            <a:xfrm>
              <a:off x="7816581" y="4541517"/>
              <a:ext cx="252000" cy="25200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800" b="1" dirty="0">
                  <a:solidFill>
                    <a:schemeClr val="accent3"/>
                  </a:solidFill>
                </a:rPr>
                <a:t>✓</a:t>
              </a:r>
              <a:endParaRPr lang="pt-BR" sz="3200" b="1" dirty="0">
                <a:solidFill>
                  <a:schemeClr val="accent3"/>
                </a:solidFill>
              </a:endParaRPr>
            </a:p>
          </p:txBody>
        </p:sp>
        <p:sp>
          <p:nvSpPr>
            <p:cNvPr id="237" name="CaixaDeTexto 236">
              <a:extLst>
                <a:ext uri="{FF2B5EF4-FFF2-40B4-BE49-F238E27FC236}">
                  <a16:creationId xmlns:a16="http://schemas.microsoft.com/office/drawing/2014/main" id="{B98BB473-E226-D219-DD3A-FADE558E9ADF}"/>
                </a:ext>
              </a:extLst>
            </p:cNvPr>
            <p:cNvSpPr txBox="1"/>
            <p:nvPr/>
          </p:nvSpPr>
          <p:spPr>
            <a:xfrm>
              <a:off x="8084585" y="4536712"/>
              <a:ext cx="2114026" cy="261610"/>
            </a:xfrm>
            <a:prstGeom prst="rect">
              <a:avLst/>
            </a:prstGeom>
            <a:noFill/>
          </p:spPr>
          <p:txBody>
            <a:bodyPr wrap="square" rtlCol="0">
              <a:spAutoFit/>
            </a:bodyPr>
            <a:lstStyle/>
            <a:p>
              <a:pPr lvl="0" defTabSz="914400" eaLnBrk="0" fontAlgn="base" hangingPunct="0">
                <a:spcBef>
                  <a:spcPct val="0"/>
                </a:spcBef>
                <a:spcAft>
                  <a:spcPct val="0"/>
                </a:spcAft>
              </a:pPr>
              <a:r>
                <a:rPr lang="pt-BR" altLang="pt-BR" sz="1100" dirty="0"/>
                <a:t>103 - PARADA PROGRAMADA</a:t>
              </a:r>
            </a:p>
          </p:txBody>
        </p:sp>
      </p:grpSp>
      <p:grpSp>
        <p:nvGrpSpPr>
          <p:cNvPr id="242" name="Agrupar 241">
            <a:extLst>
              <a:ext uri="{FF2B5EF4-FFF2-40B4-BE49-F238E27FC236}">
                <a16:creationId xmlns:a16="http://schemas.microsoft.com/office/drawing/2014/main" id="{5A273026-2A90-1621-FFE5-1CFD01EB0076}"/>
              </a:ext>
            </a:extLst>
          </p:cNvPr>
          <p:cNvGrpSpPr/>
          <p:nvPr/>
        </p:nvGrpSpPr>
        <p:grpSpPr>
          <a:xfrm>
            <a:off x="9641686" y="4099525"/>
            <a:ext cx="2382030" cy="261610"/>
            <a:chOff x="7816581" y="4536712"/>
            <a:chExt cx="2382030" cy="261610"/>
          </a:xfrm>
        </p:grpSpPr>
        <p:sp>
          <p:nvSpPr>
            <p:cNvPr id="243" name="Retângulo: Cantos Arredondados 242">
              <a:extLst>
                <a:ext uri="{FF2B5EF4-FFF2-40B4-BE49-F238E27FC236}">
                  <a16:creationId xmlns:a16="http://schemas.microsoft.com/office/drawing/2014/main" id="{AF84F5FE-8CC3-A8E5-B8DC-2A0BDB46920F}"/>
                </a:ext>
              </a:extLst>
            </p:cNvPr>
            <p:cNvSpPr/>
            <p:nvPr/>
          </p:nvSpPr>
          <p:spPr>
            <a:xfrm>
              <a:off x="7816581" y="4541517"/>
              <a:ext cx="252000" cy="25200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3200" b="1" dirty="0">
                <a:solidFill>
                  <a:schemeClr val="accent3"/>
                </a:solidFill>
              </a:endParaRPr>
            </a:p>
          </p:txBody>
        </p:sp>
        <p:sp>
          <p:nvSpPr>
            <p:cNvPr id="244" name="CaixaDeTexto 243">
              <a:extLst>
                <a:ext uri="{FF2B5EF4-FFF2-40B4-BE49-F238E27FC236}">
                  <a16:creationId xmlns:a16="http://schemas.microsoft.com/office/drawing/2014/main" id="{FA3269F1-C403-A837-1060-F0E773527D18}"/>
                </a:ext>
              </a:extLst>
            </p:cNvPr>
            <p:cNvSpPr txBox="1"/>
            <p:nvPr/>
          </p:nvSpPr>
          <p:spPr>
            <a:xfrm>
              <a:off x="8084585" y="4536712"/>
              <a:ext cx="2114026" cy="261610"/>
            </a:xfrm>
            <a:prstGeom prst="rect">
              <a:avLst/>
            </a:prstGeom>
            <a:noFill/>
          </p:spPr>
          <p:txBody>
            <a:bodyPr wrap="square" rtlCol="0">
              <a:spAutoFit/>
            </a:bodyPr>
            <a:lstStyle/>
            <a:p>
              <a:pPr lvl="0" defTabSz="914400" eaLnBrk="0" fontAlgn="base" hangingPunct="0">
                <a:spcBef>
                  <a:spcPct val="0"/>
                </a:spcBef>
                <a:spcAft>
                  <a:spcPct val="0"/>
                </a:spcAft>
              </a:pPr>
              <a:r>
                <a:rPr lang="pt-BR" altLang="pt-BR" sz="1100" dirty="0"/>
                <a:t>301 - PARADA EMERGENCIAL</a:t>
              </a:r>
            </a:p>
          </p:txBody>
        </p:sp>
      </p:grpSp>
      <p:sp>
        <p:nvSpPr>
          <p:cNvPr id="248" name="Retângulo 247">
            <a:extLst>
              <a:ext uri="{FF2B5EF4-FFF2-40B4-BE49-F238E27FC236}">
                <a16:creationId xmlns:a16="http://schemas.microsoft.com/office/drawing/2014/main" id="{FE9FE8D4-155C-DF70-BD4F-75724EB38D3C}"/>
              </a:ext>
            </a:extLst>
          </p:cNvPr>
          <p:cNvSpPr/>
          <p:nvPr/>
        </p:nvSpPr>
        <p:spPr>
          <a:xfrm>
            <a:off x="263352" y="4793095"/>
            <a:ext cx="11760364" cy="1860456"/>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6" name="CaixaDeTexto 265">
            <a:extLst>
              <a:ext uri="{FF2B5EF4-FFF2-40B4-BE49-F238E27FC236}">
                <a16:creationId xmlns:a16="http://schemas.microsoft.com/office/drawing/2014/main" id="{BE3FC0AF-E3AD-ABA2-4104-7A09E9AE5EB3}"/>
              </a:ext>
            </a:extLst>
          </p:cNvPr>
          <p:cNvSpPr txBox="1"/>
          <p:nvPr/>
        </p:nvSpPr>
        <p:spPr>
          <a:xfrm>
            <a:off x="372744" y="4653136"/>
            <a:ext cx="2029315" cy="307777"/>
          </a:xfrm>
          <a:prstGeom prst="rect">
            <a:avLst/>
          </a:prstGeom>
          <a:solidFill>
            <a:schemeClr val="bg1"/>
          </a:solidFill>
        </p:spPr>
        <p:txBody>
          <a:bodyPr wrap="square" rtlCol="0">
            <a:spAutoFit/>
          </a:bodyPr>
          <a:lstStyle/>
          <a:p>
            <a:r>
              <a:rPr lang="pt-BR" sz="1400" b="1" dirty="0"/>
              <a:t>Demandas</a:t>
            </a:r>
          </a:p>
        </p:txBody>
      </p:sp>
      <p:graphicFrame>
        <p:nvGraphicFramePr>
          <p:cNvPr id="268" name="Tabela 267">
            <a:extLst>
              <a:ext uri="{FF2B5EF4-FFF2-40B4-BE49-F238E27FC236}">
                <a16:creationId xmlns:a16="http://schemas.microsoft.com/office/drawing/2014/main" id="{582BCB40-5FA2-1907-AF86-1919356C4657}"/>
              </a:ext>
            </a:extLst>
          </p:cNvPr>
          <p:cNvGraphicFramePr>
            <a:graphicFrameLocks noGrp="1"/>
          </p:cNvGraphicFramePr>
          <p:nvPr/>
        </p:nvGraphicFramePr>
        <p:xfrm>
          <a:off x="372744" y="5472236"/>
          <a:ext cx="11527712" cy="938034"/>
        </p:xfrm>
        <a:graphic>
          <a:graphicData uri="http://schemas.openxmlformats.org/drawingml/2006/table">
            <a:tbl>
              <a:tblPr firstRow="1" bandRow="1">
                <a:tableStyleId>{9D7B26C5-4107-4FEC-AEDC-1716B250A1EF}</a:tableStyleId>
              </a:tblPr>
              <a:tblGrid>
                <a:gridCol w="1700816">
                  <a:extLst>
                    <a:ext uri="{9D8B030D-6E8A-4147-A177-3AD203B41FA5}">
                      <a16:colId xmlns:a16="http://schemas.microsoft.com/office/drawing/2014/main" val="3708202590"/>
                    </a:ext>
                  </a:extLst>
                </a:gridCol>
                <a:gridCol w="2510272">
                  <a:extLst>
                    <a:ext uri="{9D8B030D-6E8A-4147-A177-3AD203B41FA5}">
                      <a16:colId xmlns:a16="http://schemas.microsoft.com/office/drawing/2014/main" val="4092871754"/>
                    </a:ext>
                  </a:extLst>
                </a:gridCol>
                <a:gridCol w="2379575">
                  <a:extLst>
                    <a:ext uri="{9D8B030D-6E8A-4147-A177-3AD203B41FA5}">
                      <a16:colId xmlns:a16="http://schemas.microsoft.com/office/drawing/2014/main" val="3883948066"/>
                    </a:ext>
                  </a:extLst>
                </a:gridCol>
                <a:gridCol w="2338623">
                  <a:extLst>
                    <a:ext uri="{9D8B030D-6E8A-4147-A177-3AD203B41FA5}">
                      <a16:colId xmlns:a16="http://schemas.microsoft.com/office/drawing/2014/main" val="2366647330"/>
                    </a:ext>
                  </a:extLst>
                </a:gridCol>
                <a:gridCol w="2052590">
                  <a:extLst>
                    <a:ext uri="{9D8B030D-6E8A-4147-A177-3AD203B41FA5}">
                      <a16:colId xmlns:a16="http://schemas.microsoft.com/office/drawing/2014/main" val="1673828903"/>
                    </a:ext>
                  </a:extLst>
                </a:gridCol>
                <a:gridCol w="545836">
                  <a:extLst>
                    <a:ext uri="{9D8B030D-6E8A-4147-A177-3AD203B41FA5}">
                      <a16:colId xmlns:a16="http://schemas.microsoft.com/office/drawing/2014/main" val="2373024540"/>
                    </a:ext>
                  </a:extLst>
                </a:gridCol>
              </a:tblGrid>
              <a:tr h="0">
                <a:tc>
                  <a:txBody>
                    <a:bodyPr/>
                    <a:lstStyle/>
                    <a:p>
                      <a:pPr algn="ctr"/>
                      <a:r>
                        <a:rPr lang="pt-BR" sz="1400" dirty="0"/>
                        <a:t>Demanda</a:t>
                      </a:r>
                    </a:p>
                  </a:txBody>
                  <a:tcPr/>
                </a:tc>
                <a:tc>
                  <a:txBody>
                    <a:bodyPr/>
                    <a:lstStyle/>
                    <a:p>
                      <a:pPr algn="ctr"/>
                      <a:r>
                        <a:rPr lang="pt-BR" sz="1400" dirty="0"/>
                        <a:t>Obra</a:t>
                      </a:r>
                    </a:p>
                  </a:txBody>
                  <a:tcPr/>
                </a:tc>
                <a:tc>
                  <a:txBody>
                    <a:bodyPr/>
                    <a:lstStyle/>
                    <a:p>
                      <a:pPr algn="ctr"/>
                      <a:r>
                        <a:rPr lang="pt-BR" sz="1400" dirty="0"/>
                        <a:t>Origem</a:t>
                      </a:r>
                    </a:p>
                  </a:txBody>
                  <a:tcPr/>
                </a:tc>
                <a:tc>
                  <a:txBody>
                    <a:bodyPr/>
                    <a:lstStyle/>
                    <a:p>
                      <a:pPr algn="ctr"/>
                      <a:r>
                        <a:rPr lang="pt-BR" sz="1400" dirty="0"/>
                        <a:t>Requisito</a:t>
                      </a:r>
                    </a:p>
                  </a:txBody>
                  <a:tcPr/>
                </a:tc>
                <a:tc>
                  <a:txBody>
                    <a:bodyPr/>
                    <a:lstStyle/>
                    <a:p>
                      <a:pPr algn="ctr"/>
                      <a:r>
                        <a:rPr lang="pt-BR" sz="1400" dirty="0"/>
                        <a:t>Valor Total</a:t>
                      </a:r>
                    </a:p>
                  </a:txBody>
                  <a:tcPr/>
                </a:tc>
                <a:tc>
                  <a:txBody>
                    <a:bodyPr/>
                    <a:lstStyle/>
                    <a:p>
                      <a:pPr algn="ctr"/>
                      <a:endParaRPr lang="pt-BR" sz="1400" dirty="0"/>
                    </a:p>
                  </a:txBody>
                  <a:tcPr/>
                </a:tc>
                <a:extLst>
                  <a:ext uri="{0D108BD9-81ED-4DB2-BD59-A6C34878D82A}">
                    <a16:rowId xmlns:a16="http://schemas.microsoft.com/office/drawing/2014/main" val="1004809181"/>
                  </a:ext>
                </a:extLst>
              </a:tr>
              <a:tr h="263717">
                <a:tc>
                  <a:txBody>
                    <a:bodyPr/>
                    <a:lstStyle/>
                    <a:p>
                      <a:pPr algn="ctr"/>
                      <a:r>
                        <a:rPr lang="pt-BR" sz="1200" dirty="0"/>
                        <a:t>Demanda 1</a:t>
                      </a:r>
                    </a:p>
                  </a:txBody>
                  <a:tcPr/>
                </a:tc>
                <a:tc>
                  <a:txBody>
                    <a:bodyPr/>
                    <a:lstStyle/>
                    <a:p>
                      <a:pPr algn="ctr"/>
                      <a:r>
                        <a:rPr lang="pt-BR" sz="1200" dirty="0"/>
                        <a:t>101 – PARADA ESPECIAL</a:t>
                      </a:r>
                    </a:p>
                  </a:txBody>
                  <a:tcPr/>
                </a:tc>
                <a:tc>
                  <a:txBody>
                    <a:bodyPr/>
                    <a:lstStyle/>
                    <a:p>
                      <a:pPr algn="ctr"/>
                      <a:r>
                        <a:rPr lang="pt-BR" sz="1200" dirty="0"/>
                        <a:t>Origem Macro </a:t>
                      </a:r>
                      <a:r>
                        <a:rPr lang="pt-BR" sz="1200" dirty="0" err="1"/>
                        <a:t>Atv</a:t>
                      </a:r>
                      <a:r>
                        <a:rPr lang="pt-BR" sz="1200" dirty="0"/>
                        <a:t> 1</a:t>
                      </a:r>
                    </a:p>
                  </a:txBody>
                  <a:tcPr/>
                </a:tc>
                <a:tc>
                  <a:txBody>
                    <a:bodyPr/>
                    <a:lstStyle/>
                    <a:p>
                      <a:pPr algn="ctr"/>
                      <a:r>
                        <a:rPr lang="pt-BR" sz="1200" dirty="0"/>
                        <a:t>Requisito Macro </a:t>
                      </a:r>
                      <a:r>
                        <a:rPr lang="pt-BR" sz="1200" dirty="0" err="1"/>
                        <a:t>Atv</a:t>
                      </a:r>
                      <a:r>
                        <a:rPr lang="pt-BR" sz="1200" dirty="0"/>
                        <a:t> 1</a:t>
                      </a:r>
                    </a:p>
                  </a:txBody>
                  <a:tcPr/>
                </a:tc>
                <a:tc>
                  <a:txBody>
                    <a:bodyPr/>
                    <a:lstStyle/>
                    <a:p>
                      <a:pPr algn="ctr"/>
                      <a:r>
                        <a:rPr lang="el-GR" sz="1200" dirty="0">
                          <a:latin typeface="Aptos" panose="020B0004020202020204" pitchFamily="34" charset="0"/>
                        </a:rPr>
                        <a:t>Σ</a:t>
                      </a:r>
                      <a:r>
                        <a:rPr lang="pt-BR" sz="1200" dirty="0">
                          <a:latin typeface="Aptos" panose="020B0004020202020204" pitchFamily="34" charset="0"/>
                        </a:rPr>
                        <a:t> Valor Total</a:t>
                      </a:r>
                      <a:endParaRPr lang="pt-BR" sz="1200" dirty="0"/>
                    </a:p>
                  </a:txBody>
                  <a:tcPr/>
                </a:tc>
                <a:tc>
                  <a:txBody>
                    <a:bodyPr/>
                    <a:lstStyle/>
                    <a:p>
                      <a:pPr algn="ctr"/>
                      <a:endParaRPr lang="pt-BR" sz="1200" dirty="0"/>
                    </a:p>
                  </a:txBody>
                  <a:tcPr/>
                </a:tc>
                <a:extLst>
                  <a:ext uri="{0D108BD9-81ED-4DB2-BD59-A6C34878D82A}">
                    <a16:rowId xmlns:a16="http://schemas.microsoft.com/office/drawing/2014/main" val="2097501832"/>
                  </a:ext>
                </a:extLst>
              </a:tr>
              <a:tr h="358914">
                <a:tc>
                  <a:txBody>
                    <a:bodyPr/>
                    <a:lstStyle/>
                    <a:p>
                      <a:pPr algn="ctr"/>
                      <a:r>
                        <a:rPr lang="pt-BR" sz="1200" dirty="0"/>
                        <a:t>Demanda 2</a:t>
                      </a:r>
                    </a:p>
                  </a:txBody>
                  <a:tcPr/>
                </a:tc>
                <a:tc>
                  <a:txBody>
                    <a:bodyPr/>
                    <a:lstStyle/>
                    <a:p>
                      <a:pPr algn="ctr"/>
                      <a:r>
                        <a:rPr lang="pt-BR" sz="1200" dirty="0"/>
                        <a:t>103 – PARADA PROGRAMADA</a:t>
                      </a:r>
                    </a:p>
                  </a:txBody>
                  <a:tcPr/>
                </a:tc>
                <a:tc>
                  <a:txBody>
                    <a:bodyPr/>
                    <a:lstStyle/>
                    <a:p>
                      <a:pPr algn="ctr"/>
                      <a:r>
                        <a:rPr lang="pt-BR" sz="1200" dirty="0"/>
                        <a:t>Origem Macro </a:t>
                      </a:r>
                      <a:r>
                        <a:rPr lang="pt-BR" sz="1200" dirty="0" err="1"/>
                        <a:t>Atv</a:t>
                      </a:r>
                      <a:r>
                        <a:rPr lang="pt-BR" sz="1200" dirty="0"/>
                        <a:t> 2</a:t>
                      </a:r>
                    </a:p>
                  </a:txBody>
                  <a:tcPr/>
                </a:tc>
                <a:tc>
                  <a:txBody>
                    <a:bodyPr/>
                    <a:lstStyle/>
                    <a:p>
                      <a:pPr algn="ctr"/>
                      <a:r>
                        <a:rPr lang="pt-BR" sz="1200" dirty="0"/>
                        <a:t>Requisito Macro </a:t>
                      </a:r>
                      <a:r>
                        <a:rPr lang="pt-BR" sz="1200" dirty="0" err="1"/>
                        <a:t>Atv</a:t>
                      </a:r>
                      <a:r>
                        <a:rPr lang="pt-BR" sz="1200" dirty="0"/>
                        <a:t> 2</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el-GR" sz="1200" dirty="0">
                          <a:latin typeface="Aptos" panose="020B0004020202020204" pitchFamily="34" charset="0"/>
                        </a:rPr>
                        <a:t>Σ</a:t>
                      </a:r>
                      <a:r>
                        <a:rPr lang="pt-BR" sz="1200" dirty="0">
                          <a:latin typeface="Aptos" panose="020B0004020202020204" pitchFamily="34" charset="0"/>
                        </a:rPr>
                        <a:t> Valor Total</a:t>
                      </a:r>
                      <a:endParaRPr lang="pt-BR" sz="1200" dirty="0"/>
                    </a:p>
                  </a:txBody>
                  <a:tcPr/>
                </a:tc>
                <a:tc>
                  <a:txBody>
                    <a:bodyPr/>
                    <a:lstStyle/>
                    <a:p>
                      <a:pPr algn="ctr"/>
                      <a:endParaRPr lang="pt-BR" sz="1200" dirty="0"/>
                    </a:p>
                  </a:txBody>
                  <a:tcPr/>
                </a:tc>
                <a:extLst>
                  <a:ext uri="{0D108BD9-81ED-4DB2-BD59-A6C34878D82A}">
                    <a16:rowId xmlns:a16="http://schemas.microsoft.com/office/drawing/2014/main" val="2049917607"/>
                  </a:ext>
                </a:extLst>
              </a:tr>
            </a:tbl>
          </a:graphicData>
        </a:graphic>
      </p:graphicFrame>
      <p:sp>
        <p:nvSpPr>
          <p:cNvPr id="269" name="Retângulo: Cantos Arredondados 268">
            <a:hlinkClick r:id="" action="ppaction://noaction"/>
            <a:extLst>
              <a:ext uri="{FF2B5EF4-FFF2-40B4-BE49-F238E27FC236}">
                <a16:creationId xmlns:a16="http://schemas.microsoft.com/office/drawing/2014/main" id="{5E69B2BB-24EE-3878-24F0-ACCE853F99FB}"/>
              </a:ext>
            </a:extLst>
          </p:cNvPr>
          <p:cNvSpPr/>
          <p:nvPr/>
        </p:nvSpPr>
        <p:spPr>
          <a:xfrm>
            <a:off x="372745" y="5021261"/>
            <a:ext cx="1906832" cy="307777"/>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 Cadastrar Demanda</a:t>
            </a:r>
          </a:p>
        </p:txBody>
      </p:sp>
      <p:pic>
        <p:nvPicPr>
          <p:cNvPr id="273" name="Imagem 272" descr="Forma&#10;&#10;O conteúdo gerado por IA pode estar incorreto.">
            <a:extLst>
              <a:ext uri="{FF2B5EF4-FFF2-40B4-BE49-F238E27FC236}">
                <a16:creationId xmlns:a16="http://schemas.microsoft.com/office/drawing/2014/main" id="{F9CB5ABF-3033-86C7-2233-C23E00BA0A9D}"/>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11543971" y="5814691"/>
            <a:ext cx="204765" cy="200455"/>
          </a:xfrm>
          <a:prstGeom prst="rect">
            <a:avLst/>
          </a:prstGeom>
        </p:spPr>
      </p:pic>
      <p:pic>
        <p:nvPicPr>
          <p:cNvPr id="274" name="Imagem 273" descr="Forma&#10;&#10;O conteúdo gerado por IA pode estar incorreto.">
            <a:extLst>
              <a:ext uri="{FF2B5EF4-FFF2-40B4-BE49-F238E27FC236}">
                <a16:creationId xmlns:a16="http://schemas.microsoft.com/office/drawing/2014/main" id="{FD1760B9-DC62-401E-FE05-5F970574FA8A}"/>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11543971" y="6167407"/>
            <a:ext cx="204765" cy="200455"/>
          </a:xfrm>
          <a:prstGeom prst="rect">
            <a:avLst/>
          </a:prstGeom>
        </p:spPr>
      </p:pic>
      <p:sp>
        <p:nvSpPr>
          <p:cNvPr id="275" name="Retângulo 274">
            <a:extLst>
              <a:ext uri="{FF2B5EF4-FFF2-40B4-BE49-F238E27FC236}">
                <a16:creationId xmlns:a16="http://schemas.microsoft.com/office/drawing/2014/main" id="{0114E318-7EA7-4A90-0E5D-C4F1C1A5FCC1}"/>
              </a:ext>
            </a:extLst>
          </p:cNvPr>
          <p:cNvSpPr/>
          <p:nvPr/>
        </p:nvSpPr>
        <p:spPr>
          <a:xfrm>
            <a:off x="263352" y="3642800"/>
            <a:ext cx="11760364" cy="876521"/>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9" name="CaixaDeTexto 248">
            <a:extLst>
              <a:ext uri="{FF2B5EF4-FFF2-40B4-BE49-F238E27FC236}">
                <a16:creationId xmlns:a16="http://schemas.microsoft.com/office/drawing/2014/main" id="{0777B2E8-7D39-AAD1-DFC9-03DD678404C1}"/>
              </a:ext>
            </a:extLst>
          </p:cNvPr>
          <p:cNvSpPr txBox="1"/>
          <p:nvPr/>
        </p:nvSpPr>
        <p:spPr>
          <a:xfrm>
            <a:off x="372744" y="3498332"/>
            <a:ext cx="2029315" cy="307777"/>
          </a:xfrm>
          <a:prstGeom prst="rect">
            <a:avLst/>
          </a:prstGeom>
          <a:solidFill>
            <a:schemeClr val="bg1"/>
          </a:solidFill>
        </p:spPr>
        <p:txBody>
          <a:bodyPr wrap="square" rtlCol="0">
            <a:spAutoFit/>
          </a:bodyPr>
          <a:lstStyle/>
          <a:p>
            <a:r>
              <a:rPr lang="pt-BR" sz="1400" b="1" dirty="0"/>
              <a:t>Obras da Parada</a:t>
            </a:r>
          </a:p>
        </p:txBody>
      </p:sp>
      <p:sp>
        <p:nvSpPr>
          <p:cNvPr id="4" name="Retângulo 3">
            <a:extLst>
              <a:ext uri="{FF2B5EF4-FFF2-40B4-BE49-F238E27FC236}">
                <a16:creationId xmlns:a16="http://schemas.microsoft.com/office/drawing/2014/main" id="{6899FB90-64C1-C997-0E54-918ADB758B71}"/>
              </a:ext>
            </a:extLst>
          </p:cNvPr>
          <p:cNvSpPr/>
          <p:nvPr/>
        </p:nvSpPr>
        <p:spPr>
          <a:xfrm>
            <a:off x="278520" y="1175499"/>
            <a:ext cx="1330273" cy="324464"/>
          </a:xfrm>
          <a:prstGeom prst="rect">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9D2BAAD2-62D4-2919-CBD6-A65D31F6DBDD}"/>
              </a:ext>
            </a:extLst>
          </p:cNvPr>
          <p:cNvSpPr/>
          <p:nvPr/>
        </p:nvSpPr>
        <p:spPr>
          <a:xfrm>
            <a:off x="1643949" y="1175499"/>
            <a:ext cx="1660958" cy="324464"/>
          </a:xfrm>
          <a:prstGeom prst="rect">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Retângulo 6">
            <a:extLst>
              <a:ext uri="{FF2B5EF4-FFF2-40B4-BE49-F238E27FC236}">
                <a16:creationId xmlns:a16="http://schemas.microsoft.com/office/drawing/2014/main" id="{B65E438D-7F49-816A-5018-5CE07BDAAA01}"/>
              </a:ext>
            </a:extLst>
          </p:cNvPr>
          <p:cNvSpPr/>
          <p:nvPr/>
        </p:nvSpPr>
        <p:spPr>
          <a:xfrm>
            <a:off x="285895" y="1415059"/>
            <a:ext cx="1322897" cy="110818"/>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D59CA548-2BA4-8C83-CE12-685003F4D885}"/>
              </a:ext>
            </a:extLst>
          </p:cNvPr>
          <p:cNvSpPr txBox="1"/>
          <p:nvPr/>
        </p:nvSpPr>
        <p:spPr>
          <a:xfrm>
            <a:off x="330937" y="1246039"/>
            <a:ext cx="1225437" cy="161583"/>
          </a:xfrm>
          <a:prstGeom prst="rect">
            <a:avLst/>
          </a:prstGeom>
          <a:noFill/>
        </p:spPr>
        <p:txBody>
          <a:bodyPr wrap="square" lIns="0" tIns="0" rIns="0" bIns="0" rtlCol="0">
            <a:spAutoFit/>
          </a:bodyPr>
          <a:lstStyle/>
          <a:p>
            <a:pPr algn="ctr"/>
            <a:r>
              <a:rPr lang="pt-BR" sz="1050" b="1" dirty="0"/>
              <a:t>Visão Geral</a:t>
            </a:r>
          </a:p>
        </p:txBody>
      </p:sp>
      <p:sp>
        <p:nvSpPr>
          <p:cNvPr id="9" name="CaixaDeTexto 8">
            <a:extLst>
              <a:ext uri="{FF2B5EF4-FFF2-40B4-BE49-F238E27FC236}">
                <a16:creationId xmlns:a16="http://schemas.microsoft.com/office/drawing/2014/main" id="{D42AA631-3A5F-CCB5-5C7F-CEEB94E6CE16}"/>
              </a:ext>
            </a:extLst>
          </p:cNvPr>
          <p:cNvSpPr txBox="1"/>
          <p:nvPr/>
        </p:nvSpPr>
        <p:spPr>
          <a:xfrm>
            <a:off x="1719520" y="1260787"/>
            <a:ext cx="1509816" cy="161583"/>
          </a:xfrm>
          <a:prstGeom prst="rect">
            <a:avLst/>
          </a:prstGeom>
          <a:noFill/>
        </p:spPr>
        <p:txBody>
          <a:bodyPr wrap="square" lIns="0" tIns="0" rIns="0" bIns="0" rtlCol="0">
            <a:spAutoFit/>
          </a:bodyPr>
          <a:lstStyle/>
          <a:p>
            <a:pPr algn="ctr"/>
            <a:r>
              <a:rPr lang="pt-BR" sz="1050" b="1" dirty="0"/>
              <a:t>Detalhamento Financeiro</a:t>
            </a:r>
          </a:p>
        </p:txBody>
      </p:sp>
      <p:sp>
        <p:nvSpPr>
          <p:cNvPr id="30" name="Elipse 29">
            <a:extLst>
              <a:ext uri="{FF2B5EF4-FFF2-40B4-BE49-F238E27FC236}">
                <a16:creationId xmlns:a16="http://schemas.microsoft.com/office/drawing/2014/main" id="{531A510A-354D-2B42-E5C0-90240A8CBB6A}"/>
              </a:ext>
            </a:extLst>
          </p:cNvPr>
          <p:cNvSpPr/>
          <p:nvPr/>
        </p:nvSpPr>
        <p:spPr>
          <a:xfrm>
            <a:off x="10491153" y="2350403"/>
            <a:ext cx="165278" cy="165278"/>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CaixaDeTexto 30">
            <a:extLst>
              <a:ext uri="{FF2B5EF4-FFF2-40B4-BE49-F238E27FC236}">
                <a16:creationId xmlns:a16="http://schemas.microsoft.com/office/drawing/2014/main" id="{CB63E4AF-3648-AC3D-21E2-82ED515322B5}"/>
              </a:ext>
            </a:extLst>
          </p:cNvPr>
          <p:cNvSpPr txBox="1"/>
          <p:nvPr/>
        </p:nvSpPr>
        <p:spPr>
          <a:xfrm>
            <a:off x="10653765" y="2279154"/>
            <a:ext cx="624694" cy="307777"/>
          </a:xfrm>
          <a:prstGeom prst="rect">
            <a:avLst/>
          </a:prstGeom>
          <a:noFill/>
        </p:spPr>
        <p:txBody>
          <a:bodyPr wrap="square" rtlCol="0">
            <a:spAutoFit/>
          </a:bodyPr>
          <a:lstStyle/>
          <a:p>
            <a:r>
              <a:rPr lang="pt-BR" sz="1400" dirty="0"/>
              <a:t>Sim</a:t>
            </a:r>
          </a:p>
        </p:txBody>
      </p:sp>
      <p:sp>
        <p:nvSpPr>
          <p:cNvPr id="32" name="Elipse 31">
            <a:extLst>
              <a:ext uri="{FF2B5EF4-FFF2-40B4-BE49-F238E27FC236}">
                <a16:creationId xmlns:a16="http://schemas.microsoft.com/office/drawing/2014/main" id="{146D5ACE-8ACC-57B3-D165-09BA1887A5D3}"/>
              </a:ext>
            </a:extLst>
          </p:cNvPr>
          <p:cNvSpPr/>
          <p:nvPr/>
        </p:nvSpPr>
        <p:spPr>
          <a:xfrm>
            <a:off x="11136560" y="2350403"/>
            <a:ext cx="165278" cy="165278"/>
          </a:xfrm>
          <a:prstGeom prst="ellipse">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32">
            <a:extLst>
              <a:ext uri="{FF2B5EF4-FFF2-40B4-BE49-F238E27FC236}">
                <a16:creationId xmlns:a16="http://schemas.microsoft.com/office/drawing/2014/main" id="{86A49EFD-5C83-670E-5F1E-D3C117C007A4}"/>
              </a:ext>
            </a:extLst>
          </p:cNvPr>
          <p:cNvSpPr txBox="1"/>
          <p:nvPr/>
        </p:nvSpPr>
        <p:spPr>
          <a:xfrm>
            <a:off x="11299172" y="2279154"/>
            <a:ext cx="683078" cy="307777"/>
          </a:xfrm>
          <a:prstGeom prst="rect">
            <a:avLst/>
          </a:prstGeom>
          <a:noFill/>
        </p:spPr>
        <p:txBody>
          <a:bodyPr wrap="square" rtlCol="0">
            <a:spAutoFit/>
          </a:bodyPr>
          <a:lstStyle/>
          <a:p>
            <a:r>
              <a:rPr lang="pt-BR" sz="1400" dirty="0"/>
              <a:t>Não</a:t>
            </a:r>
          </a:p>
        </p:txBody>
      </p:sp>
      <p:sp>
        <p:nvSpPr>
          <p:cNvPr id="34" name="Elipse 33">
            <a:extLst>
              <a:ext uri="{FF2B5EF4-FFF2-40B4-BE49-F238E27FC236}">
                <a16:creationId xmlns:a16="http://schemas.microsoft.com/office/drawing/2014/main" id="{8174B554-2E7A-7E24-89F8-EC49CAE4A27E}"/>
              </a:ext>
            </a:extLst>
          </p:cNvPr>
          <p:cNvSpPr/>
          <p:nvPr/>
        </p:nvSpPr>
        <p:spPr>
          <a:xfrm>
            <a:off x="11183199" y="2397042"/>
            <a:ext cx="72000" cy="72000"/>
          </a:xfrm>
          <a:prstGeom prst="ellipse">
            <a:avLst/>
          </a:prstGeom>
          <a:solidFill>
            <a:srgbClr val="03738E"/>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8" name="Retângulo: Cantos Arredondados 527">
            <a:extLst>
              <a:ext uri="{FF2B5EF4-FFF2-40B4-BE49-F238E27FC236}">
                <a16:creationId xmlns:a16="http://schemas.microsoft.com/office/drawing/2014/main" id="{5CD7EBEF-9094-FAF6-4F64-13E419C2F6D7}"/>
              </a:ext>
            </a:extLst>
          </p:cNvPr>
          <p:cNvSpPr/>
          <p:nvPr/>
        </p:nvSpPr>
        <p:spPr>
          <a:xfrm>
            <a:off x="10804158" y="1079563"/>
            <a:ext cx="1219558" cy="536535"/>
          </a:xfrm>
          <a:prstGeom prst="roundRect">
            <a:avLst>
              <a:gd name="adj" fmla="val 5694"/>
            </a:avLst>
          </a:prstGeom>
          <a:solidFill>
            <a:schemeClr val="bg1"/>
          </a:solidFill>
          <a:ln w="6350">
            <a:solidFill>
              <a:schemeClr val="bg1">
                <a:lumMod val="50000"/>
              </a:schemeClr>
            </a:solidFill>
          </a:ln>
          <a:effectLst>
            <a:outerShdw blurRad="50800" dist="38100" dir="13500000" algn="b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pt-BR" sz="1400" dirty="0">
                <a:solidFill>
                  <a:schemeClr val="tx1"/>
                </a:solidFill>
                <a:latin typeface="Aptos" panose="020B0004020202020204" pitchFamily="34" charset="0"/>
              </a:rPr>
              <a:t>[</a:t>
            </a:r>
            <a:r>
              <a:rPr lang="el-GR" sz="1400" dirty="0">
                <a:solidFill>
                  <a:schemeClr val="tx1"/>
                </a:solidFill>
                <a:latin typeface="Aptos" panose="020B0004020202020204" pitchFamily="34" charset="0"/>
              </a:rPr>
              <a:t>Σ</a:t>
            </a:r>
            <a:r>
              <a:rPr lang="pt-BR" sz="1400" dirty="0">
                <a:solidFill>
                  <a:schemeClr val="tx1"/>
                </a:solidFill>
                <a:latin typeface="Aptos" panose="020B0004020202020204" pitchFamily="34" charset="0"/>
              </a:rPr>
              <a:t> Saldo</a:t>
            </a:r>
            <a:r>
              <a:rPr lang="pt-BR" sz="1400" dirty="0">
                <a:solidFill>
                  <a:schemeClr val="tx1"/>
                </a:solidFill>
              </a:rPr>
              <a:t>]</a:t>
            </a:r>
          </a:p>
        </p:txBody>
      </p:sp>
      <p:sp>
        <p:nvSpPr>
          <p:cNvPr id="10" name="Título 4">
            <a:extLst>
              <a:ext uri="{FF2B5EF4-FFF2-40B4-BE49-F238E27FC236}">
                <a16:creationId xmlns:a16="http://schemas.microsoft.com/office/drawing/2014/main" id="{CA259FAE-5D99-9115-D988-D0F7C8CA5489}"/>
              </a:ext>
            </a:extLst>
          </p:cNvPr>
          <p:cNvSpPr>
            <a:spLocks noGrp="1"/>
          </p:cNvSpPr>
          <p:nvPr>
            <p:ph type="title"/>
          </p:nvPr>
        </p:nvSpPr>
        <p:spPr>
          <a:xfrm>
            <a:off x="1089653" y="303578"/>
            <a:ext cx="10485852" cy="645195"/>
          </a:xfrm>
        </p:spPr>
        <p:txBody>
          <a:bodyPr/>
          <a:lstStyle/>
          <a:p>
            <a:pPr lvl="0" defTabSz="1055035">
              <a:lnSpc>
                <a:spcPct val="100000"/>
              </a:lnSpc>
              <a:spcBef>
                <a:spcPts val="0"/>
              </a:spcBef>
              <a:defRPr/>
            </a:pPr>
            <a:r>
              <a:rPr lang="pt-BR" dirty="0"/>
              <a:t>Planejamento por Escopo/Demanda</a:t>
            </a:r>
            <a:br>
              <a:rPr lang="pt-BR" dirty="0"/>
            </a:br>
            <a:r>
              <a:rPr lang="pt-BR" sz="1600" b="0" dirty="0" err="1"/>
              <a:t>Mockup</a:t>
            </a:r>
            <a:r>
              <a:rPr lang="pt-BR" sz="1600" b="0" dirty="0"/>
              <a:t> Ficha da Parada</a:t>
            </a:r>
          </a:p>
        </p:txBody>
      </p:sp>
    </p:spTree>
    <p:extLst>
      <p:ext uri="{BB962C8B-B14F-4D97-AF65-F5344CB8AC3E}">
        <p14:creationId xmlns:p14="http://schemas.microsoft.com/office/powerpoint/2010/main" val="2590823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C2100-F3A8-C704-AB14-B0AC088E37A1}"/>
            </a:ext>
          </a:extLst>
        </p:cNvPr>
        <p:cNvGrpSpPr/>
        <p:nvPr/>
      </p:nvGrpSpPr>
      <p:grpSpPr>
        <a:xfrm>
          <a:off x="0" y="0"/>
          <a:ext cx="0" cy="0"/>
          <a:chOff x="0" y="0"/>
          <a:chExt cx="0" cy="0"/>
        </a:xfrm>
      </p:grpSpPr>
      <p:sp>
        <p:nvSpPr>
          <p:cNvPr id="525" name="Retângulo 524">
            <a:extLst>
              <a:ext uri="{FF2B5EF4-FFF2-40B4-BE49-F238E27FC236}">
                <a16:creationId xmlns:a16="http://schemas.microsoft.com/office/drawing/2014/main" id="{82B87B2D-B8DE-71B2-5A3A-A8168DE7946F}"/>
              </a:ext>
            </a:extLst>
          </p:cNvPr>
          <p:cNvSpPr/>
          <p:nvPr/>
        </p:nvSpPr>
        <p:spPr>
          <a:xfrm>
            <a:off x="10810144" y="6207626"/>
            <a:ext cx="1381856" cy="6803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Cantos Arredondados 25">
            <a:extLst>
              <a:ext uri="{FF2B5EF4-FFF2-40B4-BE49-F238E27FC236}">
                <a16:creationId xmlns:a16="http://schemas.microsoft.com/office/drawing/2014/main" id="{2EDD155D-42BC-90F2-834C-46F59691A8EC}"/>
              </a:ext>
            </a:extLst>
          </p:cNvPr>
          <p:cNvSpPr/>
          <p:nvPr/>
        </p:nvSpPr>
        <p:spPr>
          <a:xfrm>
            <a:off x="0" y="0"/>
            <a:ext cx="12192000" cy="6858000"/>
          </a:xfrm>
          <a:prstGeom prst="roundRect">
            <a:avLst>
              <a:gd name="adj" fmla="val 339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4" name="Título 4">
            <a:extLst>
              <a:ext uri="{FF2B5EF4-FFF2-40B4-BE49-F238E27FC236}">
                <a16:creationId xmlns:a16="http://schemas.microsoft.com/office/drawing/2014/main" id="{F77D7550-F790-1D60-9500-D378B2F03709}"/>
              </a:ext>
            </a:extLst>
          </p:cNvPr>
          <p:cNvSpPr>
            <a:spLocks noGrp="1"/>
          </p:cNvSpPr>
          <p:nvPr>
            <p:ph type="title"/>
          </p:nvPr>
        </p:nvSpPr>
        <p:spPr>
          <a:xfrm>
            <a:off x="1089653" y="303578"/>
            <a:ext cx="10485852" cy="645195"/>
          </a:xfrm>
        </p:spPr>
        <p:txBody>
          <a:bodyPr/>
          <a:lstStyle/>
          <a:p>
            <a:pPr lvl="0" defTabSz="1055035">
              <a:lnSpc>
                <a:spcPct val="100000"/>
              </a:lnSpc>
              <a:spcBef>
                <a:spcPts val="0"/>
              </a:spcBef>
              <a:defRPr/>
            </a:pPr>
            <a:r>
              <a:rPr lang="pt-BR" dirty="0"/>
              <a:t>Planejamento por Escopo/Demanda</a:t>
            </a:r>
            <a:br>
              <a:rPr lang="pt-BR" dirty="0"/>
            </a:br>
            <a:r>
              <a:rPr lang="pt-BR" sz="1600" b="0" dirty="0" err="1"/>
              <a:t>Mockup</a:t>
            </a:r>
            <a:r>
              <a:rPr lang="pt-BR" sz="1600" b="0" dirty="0"/>
              <a:t> Ficha de Demanda</a:t>
            </a:r>
          </a:p>
        </p:txBody>
      </p:sp>
      <p:sp>
        <p:nvSpPr>
          <p:cNvPr id="2" name="Retângulo 1">
            <a:extLst>
              <a:ext uri="{FF2B5EF4-FFF2-40B4-BE49-F238E27FC236}">
                <a16:creationId xmlns:a16="http://schemas.microsoft.com/office/drawing/2014/main" id="{DB5C922A-5746-0643-83B1-E05E0C82FC4E}"/>
              </a:ext>
            </a:extLst>
          </p:cNvPr>
          <p:cNvSpPr/>
          <p:nvPr/>
        </p:nvSpPr>
        <p:spPr>
          <a:xfrm>
            <a:off x="263352" y="1639969"/>
            <a:ext cx="11760364" cy="986507"/>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6B6FBBBE-F2D2-480D-CA33-F2B3ECBCF093}"/>
              </a:ext>
            </a:extLst>
          </p:cNvPr>
          <p:cNvSpPr txBox="1"/>
          <p:nvPr/>
        </p:nvSpPr>
        <p:spPr>
          <a:xfrm>
            <a:off x="372744" y="1484784"/>
            <a:ext cx="2029315" cy="307777"/>
          </a:xfrm>
          <a:prstGeom prst="rect">
            <a:avLst/>
          </a:prstGeom>
          <a:solidFill>
            <a:schemeClr val="bg1"/>
          </a:solidFill>
        </p:spPr>
        <p:txBody>
          <a:bodyPr wrap="square" rtlCol="0">
            <a:spAutoFit/>
          </a:bodyPr>
          <a:lstStyle/>
          <a:p>
            <a:r>
              <a:rPr lang="pt-BR" sz="1400" b="1" dirty="0"/>
              <a:t>Cadastro da demanda</a:t>
            </a:r>
          </a:p>
        </p:txBody>
      </p:sp>
      <p:grpSp>
        <p:nvGrpSpPr>
          <p:cNvPr id="579" name="Agrupar 578">
            <a:extLst>
              <a:ext uri="{FF2B5EF4-FFF2-40B4-BE49-F238E27FC236}">
                <a16:creationId xmlns:a16="http://schemas.microsoft.com/office/drawing/2014/main" id="{C5A73363-3828-7BF9-C481-EFA5D7B4E47E}"/>
              </a:ext>
            </a:extLst>
          </p:cNvPr>
          <p:cNvGrpSpPr/>
          <p:nvPr/>
        </p:nvGrpSpPr>
        <p:grpSpPr>
          <a:xfrm>
            <a:off x="1625080" y="1027593"/>
            <a:ext cx="1628241" cy="276999"/>
            <a:chOff x="923843" y="1027593"/>
            <a:chExt cx="1628241" cy="276999"/>
          </a:xfrm>
        </p:grpSpPr>
        <p:sp>
          <p:nvSpPr>
            <p:cNvPr id="40" name="Retângulo: Cantos Arredondados 39">
              <a:extLst>
                <a:ext uri="{FF2B5EF4-FFF2-40B4-BE49-F238E27FC236}">
                  <a16:creationId xmlns:a16="http://schemas.microsoft.com/office/drawing/2014/main" id="{D84F7256-BFD2-EA0B-251D-30E1D1932189}"/>
                </a:ext>
              </a:extLst>
            </p:cNvPr>
            <p:cNvSpPr/>
            <p:nvPr/>
          </p:nvSpPr>
          <p:spPr>
            <a:xfrm>
              <a:off x="2008340" y="1063679"/>
              <a:ext cx="543744"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1" name="CaixaDeTexto 40">
              <a:extLst>
                <a:ext uri="{FF2B5EF4-FFF2-40B4-BE49-F238E27FC236}">
                  <a16:creationId xmlns:a16="http://schemas.microsoft.com/office/drawing/2014/main" id="{797429B1-6FCA-3123-66EF-9B494CEF9DEB}"/>
                </a:ext>
              </a:extLst>
            </p:cNvPr>
            <p:cNvSpPr txBox="1"/>
            <p:nvPr/>
          </p:nvSpPr>
          <p:spPr>
            <a:xfrm>
              <a:off x="923843" y="1027593"/>
              <a:ext cx="1188132" cy="276999"/>
            </a:xfrm>
            <a:prstGeom prst="rect">
              <a:avLst/>
            </a:prstGeom>
            <a:noFill/>
          </p:spPr>
          <p:txBody>
            <a:bodyPr wrap="square" rtlCol="0">
              <a:spAutoFit/>
            </a:bodyPr>
            <a:lstStyle/>
            <a:p>
              <a:r>
                <a:rPr lang="pt-BR" sz="1200" b="1" dirty="0"/>
                <a:t>ID da parada</a:t>
              </a:r>
            </a:p>
          </p:txBody>
        </p:sp>
      </p:grpSp>
      <p:grpSp>
        <p:nvGrpSpPr>
          <p:cNvPr id="578" name="Agrupar 577">
            <a:extLst>
              <a:ext uri="{FF2B5EF4-FFF2-40B4-BE49-F238E27FC236}">
                <a16:creationId xmlns:a16="http://schemas.microsoft.com/office/drawing/2014/main" id="{CB1B872F-F58E-3855-9B81-4E1EEAC480FF}"/>
              </a:ext>
            </a:extLst>
          </p:cNvPr>
          <p:cNvGrpSpPr/>
          <p:nvPr/>
        </p:nvGrpSpPr>
        <p:grpSpPr>
          <a:xfrm>
            <a:off x="4363150" y="1027593"/>
            <a:ext cx="2567237" cy="276999"/>
            <a:chOff x="2768939" y="1027593"/>
            <a:chExt cx="2567237" cy="276999"/>
          </a:xfrm>
        </p:grpSpPr>
        <p:sp>
          <p:nvSpPr>
            <p:cNvPr id="43" name="Retângulo: Cantos Arredondados 42">
              <a:extLst>
                <a:ext uri="{FF2B5EF4-FFF2-40B4-BE49-F238E27FC236}">
                  <a16:creationId xmlns:a16="http://schemas.microsoft.com/office/drawing/2014/main" id="{36F919E5-7AAA-39D6-B703-82A9204DCFDC}"/>
                </a:ext>
              </a:extLst>
            </p:cNvPr>
            <p:cNvSpPr/>
            <p:nvPr/>
          </p:nvSpPr>
          <p:spPr>
            <a:xfrm>
              <a:off x="3742416" y="1063679"/>
              <a:ext cx="159376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nome_da_embarcacao</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4" name="CaixaDeTexto 43">
              <a:extLst>
                <a:ext uri="{FF2B5EF4-FFF2-40B4-BE49-F238E27FC236}">
                  <a16:creationId xmlns:a16="http://schemas.microsoft.com/office/drawing/2014/main" id="{BEC43651-34AF-FDE7-1811-5FF75AB1064F}"/>
                </a:ext>
              </a:extLst>
            </p:cNvPr>
            <p:cNvSpPr txBox="1"/>
            <p:nvPr/>
          </p:nvSpPr>
          <p:spPr>
            <a:xfrm>
              <a:off x="2768939" y="1027593"/>
              <a:ext cx="972000" cy="276999"/>
            </a:xfrm>
            <a:prstGeom prst="rect">
              <a:avLst/>
            </a:prstGeom>
            <a:noFill/>
          </p:spPr>
          <p:txBody>
            <a:bodyPr wrap="square" rtlCol="0">
              <a:spAutoFit/>
            </a:bodyPr>
            <a:lstStyle/>
            <a:p>
              <a:r>
                <a:rPr lang="pt-BR" sz="1200" b="1" dirty="0"/>
                <a:t>Embarcação</a:t>
              </a:r>
            </a:p>
          </p:txBody>
        </p:sp>
      </p:grpSp>
      <p:grpSp>
        <p:nvGrpSpPr>
          <p:cNvPr id="572" name="Agrupar 571">
            <a:extLst>
              <a:ext uri="{FF2B5EF4-FFF2-40B4-BE49-F238E27FC236}">
                <a16:creationId xmlns:a16="http://schemas.microsoft.com/office/drawing/2014/main" id="{FEED5DA6-9867-55D1-ACD9-110C43E3D7CC}"/>
              </a:ext>
            </a:extLst>
          </p:cNvPr>
          <p:cNvGrpSpPr/>
          <p:nvPr/>
        </p:nvGrpSpPr>
        <p:grpSpPr>
          <a:xfrm>
            <a:off x="542884" y="1900690"/>
            <a:ext cx="1943368" cy="261610"/>
            <a:chOff x="542884" y="1900690"/>
            <a:chExt cx="1943368" cy="261610"/>
          </a:xfrm>
        </p:grpSpPr>
        <p:sp>
          <p:nvSpPr>
            <p:cNvPr id="36" name="CaixaDeTexto 35">
              <a:extLst>
                <a:ext uri="{FF2B5EF4-FFF2-40B4-BE49-F238E27FC236}">
                  <a16:creationId xmlns:a16="http://schemas.microsoft.com/office/drawing/2014/main" id="{436BD7E6-B5B2-7570-3426-C4CB2E33FB0B}"/>
                </a:ext>
              </a:extLst>
            </p:cNvPr>
            <p:cNvSpPr txBox="1"/>
            <p:nvPr/>
          </p:nvSpPr>
          <p:spPr>
            <a:xfrm>
              <a:off x="542884" y="1900690"/>
              <a:ext cx="368540" cy="261610"/>
            </a:xfrm>
            <a:prstGeom prst="rect">
              <a:avLst/>
            </a:prstGeom>
            <a:noFill/>
          </p:spPr>
          <p:txBody>
            <a:bodyPr wrap="square" lIns="36000" rIns="36000" rtlCol="0">
              <a:spAutoFit/>
            </a:bodyPr>
            <a:lstStyle>
              <a:defPPr>
                <a:defRPr lang="pt-BR"/>
              </a:defPPr>
              <a:lvl1pPr>
                <a:defRPr sz="1100" b="1"/>
              </a:lvl1pPr>
            </a:lstStyle>
            <a:p>
              <a:r>
                <a:rPr lang="pt-BR" dirty="0"/>
                <a:t>Obra</a:t>
              </a:r>
            </a:p>
          </p:txBody>
        </p:sp>
        <p:sp>
          <p:nvSpPr>
            <p:cNvPr id="35" name="Retângulo: Cantos Arredondados 34">
              <a:extLst>
                <a:ext uri="{FF2B5EF4-FFF2-40B4-BE49-F238E27FC236}">
                  <a16:creationId xmlns:a16="http://schemas.microsoft.com/office/drawing/2014/main" id="{C917F4B4-1876-4895-4459-B7F776F81603}"/>
                </a:ext>
              </a:extLst>
            </p:cNvPr>
            <p:cNvSpPr/>
            <p:nvPr/>
          </p:nvSpPr>
          <p:spPr>
            <a:xfrm>
              <a:off x="904508" y="1929082"/>
              <a:ext cx="1581744"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obras_da_parada</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nvGrpSpPr>
            <p:cNvPr id="539" name="Agrupar 538">
              <a:extLst>
                <a:ext uri="{FF2B5EF4-FFF2-40B4-BE49-F238E27FC236}">
                  <a16:creationId xmlns:a16="http://schemas.microsoft.com/office/drawing/2014/main" id="{B327153D-E308-5FB0-A9A1-5FCEBC684902}"/>
                </a:ext>
              </a:extLst>
            </p:cNvPr>
            <p:cNvGrpSpPr/>
            <p:nvPr/>
          </p:nvGrpSpPr>
          <p:grpSpPr>
            <a:xfrm>
              <a:off x="2273823" y="1929082"/>
              <a:ext cx="212429" cy="204826"/>
              <a:chOff x="2864274" y="2148258"/>
              <a:chExt cx="212429" cy="247840"/>
            </a:xfrm>
          </p:grpSpPr>
          <p:sp>
            <p:nvSpPr>
              <p:cNvPr id="37" name="Retângulo: Cantos Arredondados 36">
                <a:extLst>
                  <a:ext uri="{FF2B5EF4-FFF2-40B4-BE49-F238E27FC236}">
                    <a16:creationId xmlns:a16="http://schemas.microsoft.com/office/drawing/2014/main" id="{A303498D-A428-7CDF-03E4-61C7054331ED}"/>
                  </a:ext>
                </a:extLst>
              </p:cNvPr>
              <p:cNvSpPr/>
              <p:nvPr/>
            </p:nvSpPr>
            <p:spPr>
              <a:xfrm>
                <a:off x="2864274" y="2148258"/>
                <a:ext cx="212429"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38" name="Triângulo isósceles 37">
                <a:extLst>
                  <a:ext uri="{FF2B5EF4-FFF2-40B4-BE49-F238E27FC236}">
                    <a16:creationId xmlns:a16="http://schemas.microsoft.com/office/drawing/2014/main" id="{1B57517F-B735-EF1B-C8EB-D78BE4EA87A3}"/>
                  </a:ext>
                </a:extLst>
              </p:cNvPr>
              <p:cNvSpPr/>
              <p:nvPr/>
            </p:nvSpPr>
            <p:spPr>
              <a:xfrm rot="10800000">
                <a:off x="2898480" y="2218115"/>
                <a:ext cx="144016" cy="108126"/>
              </a:xfrm>
              <a:prstGeom prst="triangle">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571" name="Agrupar 570">
            <a:extLst>
              <a:ext uri="{FF2B5EF4-FFF2-40B4-BE49-F238E27FC236}">
                <a16:creationId xmlns:a16="http://schemas.microsoft.com/office/drawing/2014/main" id="{1250A904-B805-940D-75DB-F5FD5881E6A7}"/>
              </a:ext>
            </a:extLst>
          </p:cNvPr>
          <p:cNvGrpSpPr/>
          <p:nvPr/>
        </p:nvGrpSpPr>
        <p:grpSpPr>
          <a:xfrm>
            <a:off x="2827769" y="1900690"/>
            <a:ext cx="2319060" cy="261610"/>
            <a:chOff x="2763638" y="1900690"/>
            <a:chExt cx="2319060" cy="261610"/>
          </a:xfrm>
        </p:grpSpPr>
        <p:sp>
          <p:nvSpPr>
            <p:cNvPr id="5" name="Retângulo: Cantos Arredondados 4">
              <a:extLst>
                <a:ext uri="{FF2B5EF4-FFF2-40B4-BE49-F238E27FC236}">
                  <a16:creationId xmlns:a16="http://schemas.microsoft.com/office/drawing/2014/main" id="{D83033A0-F1C5-C237-F5E8-ABC8BECBA9F6}"/>
                </a:ext>
              </a:extLst>
            </p:cNvPr>
            <p:cNvSpPr/>
            <p:nvPr/>
          </p:nvSpPr>
          <p:spPr>
            <a:xfrm>
              <a:off x="3454457" y="1929082"/>
              <a:ext cx="1628241"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lang="pt-BR" sz="1100" dirty="0">
                  <a:solidFill>
                    <a:prstClr val="black"/>
                  </a:solidFill>
                  <a:latin typeface="Calibri"/>
                </a:rPr>
                <a:t>Demanda</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 name="CaixaDeTexto 5">
              <a:extLst>
                <a:ext uri="{FF2B5EF4-FFF2-40B4-BE49-F238E27FC236}">
                  <a16:creationId xmlns:a16="http://schemas.microsoft.com/office/drawing/2014/main" id="{BBEC5AAE-0C17-8FF7-4968-F7AD84A3B307}"/>
                </a:ext>
              </a:extLst>
            </p:cNvPr>
            <p:cNvSpPr txBox="1"/>
            <p:nvPr/>
          </p:nvSpPr>
          <p:spPr>
            <a:xfrm>
              <a:off x="2763638" y="1900690"/>
              <a:ext cx="690819" cy="261610"/>
            </a:xfrm>
            <a:prstGeom prst="rect">
              <a:avLst/>
            </a:prstGeom>
            <a:noFill/>
          </p:spPr>
          <p:txBody>
            <a:bodyPr wrap="square" lIns="36000" rIns="36000" rtlCol="0">
              <a:spAutoFit/>
            </a:bodyPr>
            <a:lstStyle>
              <a:defPPr>
                <a:defRPr lang="pt-BR"/>
              </a:defPPr>
              <a:lvl1pPr>
                <a:defRPr sz="1100" b="1"/>
              </a:lvl1pPr>
            </a:lstStyle>
            <a:p>
              <a:r>
                <a:rPr lang="pt-BR" dirty="0"/>
                <a:t>Demanda</a:t>
              </a:r>
            </a:p>
          </p:txBody>
        </p:sp>
      </p:grpSp>
      <p:grpSp>
        <p:nvGrpSpPr>
          <p:cNvPr id="570" name="Agrupar 569">
            <a:extLst>
              <a:ext uri="{FF2B5EF4-FFF2-40B4-BE49-F238E27FC236}">
                <a16:creationId xmlns:a16="http://schemas.microsoft.com/office/drawing/2014/main" id="{AE67FF0B-CA8A-5597-3F91-6142A3C087A2}"/>
              </a:ext>
            </a:extLst>
          </p:cNvPr>
          <p:cNvGrpSpPr/>
          <p:nvPr/>
        </p:nvGrpSpPr>
        <p:grpSpPr>
          <a:xfrm>
            <a:off x="5488346" y="1900690"/>
            <a:ext cx="2964341" cy="261610"/>
            <a:chOff x="5402759" y="1900690"/>
            <a:chExt cx="2964341" cy="261610"/>
          </a:xfrm>
        </p:grpSpPr>
        <p:sp>
          <p:nvSpPr>
            <p:cNvPr id="48" name="Retângulo: Cantos Arredondados 47">
              <a:extLst>
                <a:ext uri="{FF2B5EF4-FFF2-40B4-BE49-F238E27FC236}">
                  <a16:creationId xmlns:a16="http://schemas.microsoft.com/office/drawing/2014/main" id="{659B0506-A488-124D-AE4B-DF759F8686CE}"/>
                </a:ext>
              </a:extLst>
            </p:cNvPr>
            <p:cNvSpPr/>
            <p:nvPr/>
          </p:nvSpPr>
          <p:spPr>
            <a:xfrm>
              <a:off x="6755782" y="1929082"/>
              <a:ext cx="1611318"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lang="pt-BR" sz="1100" dirty="0" err="1">
                  <a:solidFill>
                    <a:prstClr val="black"/>
                  </a:solidFill>
                  <a:latin typeface="Calibri"/>
                </a:rPr>
                <a:t>origem_demanda</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9" name="CaixaDeTexto 48">
              <a:extLst>
                <a:ext uri="{FF2B5EF4-FFF2-40B4-BE49-F238E27FC236}">
                  <a16:creationId xmlns:a16="http://schemas.microsoft.com/office/drawing/2014/main" id="{47E30415-2077-FFD4-7A5A-C2B8FAC9F06D}"/>
                </a:ext>
              </a:extLst>
            </p:cNvPr>
            <p:cNvSpPr txBox="1"/>
            <p:nvPr/>
          </p:nvSpPr>
          <p:spPr>
            <a:xfrm>
              <a:off x="5402759" y="1900690"/>
              <a:ext cx="1353023" cy="261610"/>
            </a:xfrm>
            <a:prstGeom prst="rect">
              <a:avLst/>
            </a:prstGeom>
            <a:noFill/>
          </p:spPr>
          <p:txBody>
            <a:bodyPr wrap="square" lIns="36000" rIns="36000" rtlCol="0">
              <a:spAutoFit/>
            </a:bodyPr>
            <a:lstStyle>
              <a:defPPr>
                <a:defRPr lang="pt-BR"/>
              </a:defPPr>
              <a:lvl1pPr>
                <a:defRPr sz="1100" b="1"/>
              </a:lvl1pPr>
            </a:lstStyle>
            <a:p>
              <a:r>
                <a:rPr lang="pt-BR" dirty="0"/>
                <a:t>Origem da Demanda</a:t>
              </a:r>
            </a:p>
          </p:txBody>
        </p:sp>
      </p:grpSp>
      <p:grpSp>
        <p:nvGrpSpPr>
          <p:cNvPr id="568" name="Agrupar 567">
            <a:extLst>
              <a:ext uri="{FF2B5EF4-FFF2-40B4-BE49-F238E27FC236}">
                <a16:creationId xmlns:a16="http://schemas.microsoft.com/office/drawing/2014/main" id="{C05BEBFD-071C-4570-43C1-645D7B7F6817}"/>
              </a:ext>
            </a:extLst>
          </p:cNvPr>
          <p:cNvGrpSpPr/>
          <p:nvPr/>
        </p:nvGrpSpPr>
        <p:grpSpPr>
          <a:xfrm>
            <a:off x="8794204" y="1900690"/>
            <a:ext cx="3101254" cy="261610"/>
            <a:chOff x="8794204" y="1900690"/>
            <a:chExt cx="3101254" cy="261610"/>
          </a:xfrm>
        </p:grpSpPr>
        <p:sp>
          <p:nvSpPr>
            <p:cNvPr id="50" name="Retângulo: Cantos Arredondados 49">
              <a:extLst>
                <a:ext uri="{FF2B5EF4-FFF2-40B4-BE49-F238E27FC236}">
                  <a16:creationId xmlns:a16="http://schemas.microsoft.com/office/drawing/2014/main" id="{A45700BF-D7D3-3D75-5032-79485F92DC6A}"/>
                </a:ext>
              </a:extLst>
            </p:cNvPr>
            <p:cNvSpPr/>
            <p:nvPr/>
          </p:nvSpPr>
          <p:spPr>
            <a:xfrm>
              <a:off x="10284140" y="1929082"/>
              <a:ext cx="1611318"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lang="pt-BR" sz="1100" dirty="0" err="1">
                  <a:solidFill>
                    <a:prstClr val="black"/>
                  </a:solidFill>
                  <a:latin typeface="Calibri"/>
                </a:rPr>
                <a:t>requisito_demanda</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1" name="CaixaDeTexto 50">
              <a:extLst>
                <a:ext uri="{FF2B5EF4-FFF2-40B4-BE49-F238E27FC236}">
                  <a16:creationId xmlns:a16="http://schemas.microsoft.com/office/drawing/2014/main" id="{0AD8A3B5-0385-DCD6-EDAB-5C1061623530}"/>
                </a:ext>
              </a:extLst>
            </p:cNvPr>
            <p:cNvSpPr txBox="1"/>
            <p:nvPr/>
          </p:nvSpPr>
          <p:spPr>
            <a:xfrm>
              <a:off x="8794204" y="1900690"/>
              <a:ext cx="1490468" cy="261610"/>
            </a:xfrm>
            <a:prstGeom prst="rect">
              <a:avLst/>
            </a:prstGeom>
            <a:noFill/>
          </p:spPr>
          <p:txBody>
            <a:bodyPr wrap="square" lIns="36000" rIns="36000" rtlCol="0">
              <a:spAutoFit/>
            </a:bodyPr>
            <a:lstStyle>
              <a:defPPr>
                <a:defRPr lang="pt-BR"/>
              </a:defPPr>
              <a:lvl1pPr>
                <a:defRPr sz="1100" b="1"/>
              </a:lvl1pPr>
            </a:lstStyle>
            <a:p>
              <a:r>
                <a:rPr lang="pt-BR" dirty="0"/>
                <a:t>Requisito da Demanda</a:t>
              </a:r>
            </a:p>
          </p:txBody>
        </p:sp>
      </p:grpSp>
      <p:sp>
        <p:nvSpPr>
          <p:cNvPr id="513" name="Retângulo: Cantos Arredondados 512">
            <a:extLst>
              <a:ext uri="{FF2B5EF4-FFF2-40B4-BE49-F238E27FC236}">
                <a16:creationId xmlns:a16="http://schemas.microsoft.com/office/drawing/2014/main" id="{621918E8-1454-3A32-9411-71C407FD3C00}"/>
              </a:ext>
            </a:extLst>
          </p:cNvPr>
          <p:cNvSpPr/>
          <p:nvPr/>
        </p:nvSpPr>
        <p:spPr>
          <a:xfrm>
            <a:off x="11039274" y="6578838"/>
            <a:ext cx="790442" cy="191105"/>
          </a:xfrm>
          <a:prstGeom prst="roundRect">
            <a:avLst/>
          </a:prstGeom>
          <a:solidFill>
            <a:srgbClr val="FF0000"/>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t>Excluir</a:t>
            </a:r>
          </a:p>
        </p:txBody>
      </p:sp>
      <p:sp>
        <p:nvSpPr>
          <p:cNvPr id="514" name="Retângulo: Cantos Arredondados 513">
            <a:extLst>
              <a:ext uri="{FF2B5EF4-FFF2-40B4-BE49-F238E27FC236}">
                <a16:creationId xmlns:a16="http://schemas.microsoft.com/office/drawing/2014/main" id="{587B7D9B-6518-3AD5-09FD-DB7BAB01F045}"/>
              </a:ext>
            </a:extLst>
          </p:cNvPr>
          <p:cNvSpPr/>
          <p:nvPr/>
        </p:nvSpPr>
        <p:spPr>
          <a:xfrm>
            <a:off x="11132428" y="2348880"/>
            <a:ext cx="718584" cy="173732"/>
          </a:xfrm>
          <a:prstGeom prst="roundRect">
            <a:avLst/>
          </a:prstGeom>
          <a:solidFill>
            <a:schemeClr val="bg1">
              <a:lumMod val="85000"/>
            </a:schemeClr>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Editar</a:t>
            </a:r>
          </a:p>
        </p:txBody>
      </p:sp>
      <p:sp>
        <p:nvSpPr>
          <p:cNvPr id="515" name="Retângulo: Cantos Arredondados 514">
            <a:extLst>
              <a:ext uri="{FF2B5EF4-FFF2-40B4-BE49-F238E27FC236}">
                <a16:creationId xmlns:a16="http://schemas.microsoft.com/office/drawing/2014/main" id="{7ABAB90E-96AA-D7B3-DD81-074EBC02504A}"/>
              </a:ext>
            </a:extLst>
          </p:cNvPr>
          <p:cNvSpPr/>
          <p:nvPr/>
        </p:nvSpPr>
        <p:spPr>
          <a:xfrm>
            <a:off x="10198057" y="6578838"/>
            <a:ext cx="790442" cy="191105"/>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t>Salvar</a:t>
            </a:r>
          </a:p>
        </p:txBody>
      </p:sp>
      <p:graphicFrame>
        <p:nvGraphicFramePr>
          <p:cNvPr id="526" name="Tabela 525">
            <a:extLst>
              <a:ext uri="{FF2B5EF4-FFF2-40B4-BE49-F238E27FC236}">
                <a16:creationId xmlns:a16="http://schemas.microsoft.com/office/drawing/2014/main" id="{ECD2778B-4C92-E557-3C99-23AA97C8E069}"/>
              </a:ext>
            </a:extLst>
          </p:cNvPr>
          <p:cNvGraphicFramePr>
            <a:graphicFrameLocks noGrp="1"/>
          </p:cNvGraphicFramePr>
          <p:nvPr/>
        </p:nvGraphicFramePr>
        <p:xfrm>
          <a:off x="715925" y="5015506"/>
          <a:ext cx="10760151" cy="1051560"/>
        </p:xfrm>
        <a:graphic>
          <a:graphicData uri="http://schemas.openxmlformats.org/drawingml/2006/table">
            <a:tbl>
              <a:tblPr firstRow="1" bandRow="1">
                <a:tableStyleId>{9D7B26C5-4107-4FEC-AEDC-1716B250A1EF}</a:tableStyleId>
              </a:tblPr>
              <a:tblGrid>
                <a:gridCol w="1276455">
                  <a:extLst>
                    <a:ext uri="{9D8B030D-6E8A-4147-A177-3AD203B41FA5}">
                      <a16:colId xmlns:a16="http://schemas.microsoft.com/office/drawing/2014/main" val="3607882225"/>
                    </a:ext>
                  </a:extLst>
                </a:gridCol>
                <a:gridCol w="720000">
                  <a:extLst>
                    <a:ext uri="{9D8B030D-6E8A-4147-A177-3AD203B41FA5}">
                      <a16:colId xmlns:a16="http://schemas.microsoft.com/office/drawing/2014/main" val="835149531"/>
                    </a:ext>
                  </a:extLst>
                </a:gridCol>
                <a:gridCol w="720000">
                  <a:extLst>
                    <a:ext uri="{9D8B030D-6E8A-4147-A177-3AD203B41FA5}">
                      <a16:colId xmlns:a16="http://schemas.microsoft.com/office/drawing/2014/main" val="1405295569"/>
                    </a:ext>
                  </a:extLst>
                </a:gridCol>
                <a:gridCol w="720000">
                  <a:extLst>
                    <a:ext uri="{9D8B030D-6E8A-4147-A177-3AD203B41FA5}">
                      <a16:colId xmlns:a16="http://schemas.microsoft.com/office/drawing/2014/main" val="3708202590"/>
                    </a:ext>
                  </a:extLst>
                </a:gridCol>
                <a:gridCol w="720000">
                  <a:extLst>
                    <a:ext uri="{9D8B030D-6E8A-4147-A177-3AD203B41FA5}">
                      <a16:colId xmlns:a16="http://schemas.microsoft.com/office/drawing/2014/main" val="4092871754"/>
                    </a:ext>
                  </a:extLst>
                </a:gridCol>
                <a:gridCol w="720000">
                  <a:extLst>
                    <a:ext uri="{9D8B030D-6E8A-4147-A177-3AD203B41FA5}">
                      <a16:colId xmlns:a16="http://schemas.microsoft.com/office/drawing/2014/main" val="3883948066"/>
                    </a:ext>
                  </a:extLst>
                </a:gridCol>
                <a:gridCol w="720000">
                  <a:extLst>
                    <a:ext uri="{9D8B030D-6E8A-4147-A177-3AD203B41FA5}">
                      <a16:colId xmlns:a16="http://schemas.microsoft.com/office/drawing/2014/main" val="2366647330"/>
                    </a:ext>
                  </a:extLst>
                </a:gridCol>
                <a:gridCol w="720000">
                  <a:extLst>
                    <a:ext uri="{9D8B030D-6E8A-4147-A177-3AD203B41FA5}">
                      <a16:colId xmlns:a16="http://schemas.microsoft.com/office/drawing/2014/main" val="1673828903"/>
                    </a:ext>
                  </a:extLst>
                </a:gridCol>
                <a:gridCol w="720000">
                  <a:extLst>
                    <a:ext uri="{9D8B030D-6E8A-4147-A177-3AD203B41FA5}">
                      <a16:colId xmlns:a16="http://schemas.microsoft.com/office/drawing/2014/main" val="2373024540"/>
                    </a:ext>
                  </a:extLst>
                </a:gridCol>
                <a:gridCol w="720000">
                  <a:extLst>
                    <a:ext uri="{9D8B030D-6E8A-4147-A177-3AD203B41FA5}">
                      <a16:colId xmlns:a16="http://schemas.microsoft.com/office/drawing/2014/main" val="183092987"/>
                    </a:ext>
                  </a:extLst>
                </a:gridCol>
                <a:gridCol w="720000">
                  <a:extLst>
                    <a:ext uri="{9D8B030D-6E8A-4147-A177-3AD203B41FA5}">
                      <a16:colId xmlns:a16="http://schemas.microsoft.com/office/drawing/2014/main" val="296907538"/>
                    </a:ext>
                  </a:extLst>
                </a:gridCol>
                <a:gridCol w="720000">
                  <a:extLst>
                    <a:ext uri="{9D8B030D-6E8A-4147-A177-3AD203B41FA5}">
                      <a16:colId xmlns:a16="http://schemas.microsoft.com/office/drawing/2014/main" val="611482191"/>
                    </a:ext>
                  </a:extLst>
                </a:gridCol>
                <a:gridCol w="720000">
                  <a:extLst>
                    <a:ext uri="{9D8B030D-6E8A-4147-A177-3AD203B41FA5}">
                      <a16:colId xmlns:a16="http://schemas.microsoft.com/office/drawing/2014/main" val="1862589419"/>
                    </a:ext>
                  </a:extLst>
                </a:gridCol>
                <a:gridCol w="421848">
                  <a:extLst>
                    <a:ext uri="{9D8B030D-6E8A-4147-A177-3AD203B41FA5}">
                      <a16:colId xmlns:a16="http://schemas.microsoft.com/office/drawing/2014/main" val="3745758493"/>
                    </a:ext>
                  </a:extLst>
                </a:gridCol>
                <a:gridCol w="421848">
                  <a:extLst>
                    <a:ext uri="{9D8B030D-6E8A-4147-A177-3AD203B41FA5}">
                      <a16:colId xmlns:a16="http://schemas.microsoft.com/office/drawing/2014/main" val="1558758711"/>
                    </a:ext>
                  </a:extLst>
                </a:gridCol>
              </a:tblGrid>
              <a:tr h="0">
                <a:tc>
                  <a:txBody>
                    <a:bodyPr/>
                    <a:lstStyle/>
                    <a:p>
                      <a:pPr algn="ctr"/>
                      <a:r>
                        <a:rPr lang="pt-BR" sz="1200" dirty="0"/>
                        <a:t>Tipo de Custo</a:t>
                      </a:r>
                    </a:p>
                  </a:txBody>
                  <a:tcPr/>
                </a:tc>
                <a:tc>
                  <a:txBody>
                    <a:bodyPr/>
                    <a:lstStyle/>
                    <a:p>
                      <a:pPr algn="ctr"/>
                      <a:r>
                        <a:rPr lang="pt-BR" sz="1200" dirty="0"/>
                        <a:t>Mês 1</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2</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3</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4</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5</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6</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7</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8</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9</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10</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11</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r>
                        <a:rPr lang="pt-BR" sz="1200" dirty="0"/>
                        <a:t>Mês 12</a:t>
                      </a:r>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endParaRPr lang="pt-BR" sz="1200" dirty="0"/>
                    </a:p>
                  </a:txBody>
                  <a:tcPr/>
                </a:tc>
                <a:tc>
                  <a:txBody>
                    <a:bodyPr/>
                    <a:lstStyle/>
                    <a:p>
                      <a:pPr marL="0" marR="0" lvl="0" indent="0" algn="ctr" defTabSz="1055061" rtl="0" eaLnBrk="1" fontAlgn="auto" latinLnBrk="0" hangingPunct="1">
                        <a:lnSpc>
                          <a:spcPct val="100000"/>
                        </a:lnSpc>
                        <a:spcBef>
                          <a:spcPts val="0"/>
                        </a:spcBef>
                        <a:spcAft>
                          <a:spcPts val="0"/>
                        </a:spcAft>
                        <a:buClrTx/>
                        <a:buSzTx/>
                        <a:buFontTx/>
                        <a:buNone/>
                        <a:tabLst/>
                        <a:defRPr/>
                      </a:pPr>
                      <a:endParaRPr lang="pt-BR" sz="1200" dirty="0"/>
                    </a:p>
                  </a:txBody>
                  <a:tcPr/>
                </a:tc>
                <a:extLst>
                  <a:ext uri="{0D108BD9-81ED-4DB2-BD59-A6C34878D82A}">
                    <a16:rowId xmlns:a16="http://schemas.microsoft.com/office/drawing/2014/main" val="1004809181"/>
                  </a:ext>
                </a:extLst>
              </a:tr>
              <a:tr h="252000">
                <a:tc>
                  <a:txBody>
                    <a:bodyPr/>
                    <a:lstStyle/>
                    <a:p>
                      <a:pPr algn="ctr"/>
                      <a:r>
                        <a:rPr lang="pt-BR" sz="1100" dirty="0"/>
                        <a:t>Material</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endParaRPr lang="pt-BR" sz="1100" dirty="0"/>
                    </a:p>
                  </a:txBody>
                  <a:tcPr/>
                </a:tc>
                <a:tc>
                  <a:txBody>
                    <a:bodyPr/>
                    <a:lstStyle/>
                    <a:p>
                      <a:pPr algn="ctr"/>
                      <a:endParaRPr lang="pt-BR" sz="1100" dirty="0"/>
                    </a:p>
                  </a:txBody>
                  <a:tcPr/>
                </a:tc>
                <a:extLst>
                  <a:ext uri="{0D108BD9-81ED-4DB2-BD59-A6C34878D82A}">
                    <a16:rowId xmlns:a16="http://schemas.microsoft.com/office/drawing/2014/main" val="2097501832"/>
                  </a:ext>
                </a:extLst>
              </a:tr>
              <a:tr h="216000">
                <a:tc>
                  <a:txBody>
                    <a:bodyPr/>
                    <a:lstStyle/>
                    <a:p>
                      <a:pPr algn="ctr"/>
                      <a:r>
                        <a:rPr lang="pt-BR" sz="1100" dirty="0"/>
                        <a:t>Oficina</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endParaRPr lang="pt-BR" sz="1100" dirty="0"/>
                    </a:p>
                  </a:txBody>
                  <a:tcPr/>
                </a:tc>
                <a:tc>
                  <a:txBody>
                    <a:bodyPr/>
                    <a:lstStyle/>
                    <a:p>
                      <a:pPr algn="ctr"/>
                      <a:endParaRPr lang="pt-BR" sz="1100" dirty="0"/>
                    </a:p>
                  </a:txBody>
                  <a:tcPr/>
                </a:tc>
                <a:extLst>
                  <a:ext uri="{0D108BD9-81ED-4DB2-BD59-A6C34878D82A}">
                    <a16:rowId xmlns:a16="http://schemas.microsoft.com/office/drawing/2014/main" val="2049917607"/>
                  </a:ext>
                </a:extLst>
              </a:tr>
              <a:tr h="216000">
                <a:tc>
                  <a:txBody>
                    <a:bodyPr/>
                    <a:lstStyle/>
                    <a:p>
                      <a:pPr algn="ctr"/>
                      <a:r>
                        <a:rPr lang="pt-BR" sz="1100" dirty="0"/>
                        <a:t>Estaleiro</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r>
                        <a:rPr lang="pt-BR" sz="1100" dirty="0"/>
                        <a:t>RS$ X</a:t>
                      </a:r>
                    </a:p>
                  </a:txBody>
                  <a:tcPr/>
                </a:tc>
                <a:tc>
                  <a:txBody>
                    <a:bodyPr/>
                    <a:lstStyle/>
                    <a:p>
                      <a:pPr algn="ctr"/>
                      <a:endParaRPr lang="pt-BR" sz="1100" dirty="0"/>
                    </a:p>
                  </a:txBody>
                  <a:tcPr/>
                </a:tc>
                <a:tc>
                  <a:txBody>
                    <a:bodyPr/>
                    <a:lstStyle/>
                    <a:p>
                      <a:pPr algn="ctr"/>
                      <a:endParaRPr lang="pt-BR" sz="1100" dirty="0"/>
                    </a:p>
                  </a:txBody>
                  <a:tcPr/>
                </a:tc>
                <a:extLst>
                  <a:ext uri="{0D108BD9-81ED-4DB2-BD59-A6C34878D82A}">
                    <a16:rowId xmlns:a16="http://schemas.microsoft.com/office/drawing/2014/main" val="2523812198"/>
                  </a:ext>
                </a:extLst>
              </a:tr>
            </a:tbl>
          </a:graphicData>
        </a:graphic>
      </p:graphicFrame>
      <p:sp>
        <p:nvSpPr>
          <p:cNvPr id="530" name="Retângulo 529">
            <a:extLst>
              <a:ext uri="{FF2B5EF4-FFF2-40B4-BE49-F238E27FC236}">
                <a16:creationId xmlns:a16="http://schemas.microsoft.com/office/drawing/2014/main" id="{0494EF8E-E611-F617-BF5C-A5501AF2F314}"/>
              </a:ext>
            </a:extLst>
          </p:cNvPr>
          <p:cNvSpPr/>
          <p:nvPr/>
        </p:nvSpPr>
        <p:spPr>
          <a:xfrm>
            <a:off x="263352" y="4804687"/>
            <a:ext cx="11760364" cy="1620000"/>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1" name="CaixaDeTexto 530">
            <a:extLst>
              <a:ext uri="{FF2B5EF4-FFF2-40B4-BE49-F238E27FC236}">
                <a16:creationId xmlns:a16="http://schemas.microsoft.com/office/drawing/2014/main" id="{66C085AD-3B74-95EA-1A6F-4398344529A0}"/>
              </a:ext>
            </a:extLst>
          </p:cNvPr>
          <p:cNvSpPr txBox="1"/>
          <p:nvPr/>
        </p:nvSpPr>
        <p:spPr>
          <a:xfrm>
            <a:off x="372744" y="4653136"/>
            <a:ext cx="3145844" cy="307777"/>
          </a:xfrm>
          <a:prstGeom prst="rect">
            <a:avLst/>
          </a:prstGeom>
          <a:solidFill>
            <a:schemeClr val="bg1"/>
          </a:solidFill>
        </p:spPr>
        <p:txBody>
          <a:bodyPr wrap="square" rtlCol="0">
            <a:spAutoFit/>
          </a:bodyPr>
          <a:lstStyle/>
          <a:p>
            <a:r>
              <a:rPr lang="pt-BR" sz="1400" b="1" dirty="0"/>
              <a:t>Visão do Custo Estimado </a:t>
            </a:r>
            <a:r>
              <a:rPr lang="pt-BR" sz="1400" b="1" dirty="0" err="1"/>
              <a:t>Mensalizado</a:t>
            </a:r>
            <a:endParaRPr lang="pt-BR" sz="1400" b="1" dirty="0"/>
          </a:p>
        </p:txBody>
      </p:sp>
      <p:pic>
        <p:nvPicPr>
          <p:cNvPr id="532" name="Imagem 531" descr="Forma&#10;&#10;O conteúdo gerado por IA pode estar incorreto.">
            <a:extLst>
              <a:ext uri="{FF2B5EF4-FFF2-40B4-BE49-F238E27FC236}">
                <a16:creationId xmlns:a16="http://schemas.microsoft.com/office/drawing/2014/main" id="{02686808-6770-A96F-8EC5-82F614DF40A1}"/>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11019857" y="5337890"/>
            <a:ext cx="169227" cy="165665"/>
          </a:xfrm>
          <a:prstGeom prst="rect">
            <a:avLst/>
          </a:prstGeom>
        </p:spPr>
      </p:pic>
      <p:pic>
        <p:nvPicPr>
          <p:cNvPr id="534" name="Imagem 533" descr="Forma&#10;&#10;O conteúdo gerado por IA pode estar incorreto.">
            <a:extLst>
              <a:ext uri="{FF2B5EF4-FFF2-40B4-BE49-F238E27FC236}">
                <a16:creationId xmlns:a16="http://schemas.microsoft.com/office/drawing/2014/main" id="{864C7F36-0A75-1ED2-A056-CCBBCD3C6C9B}"/>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11019857" y="5590857"/>
            <a:ext cx="169227" cy="165665"/>
          </a:xfrm>
          <a:prstGeom prst="rect">
            <a:avLst/>
          </a:prstGeom>
        </p:spPr>
      </p:pic>
      <p:sp>
        <p:nvSpPr>
          <p:cNvPr id="537" name="Retângulo 536">
            <a:extLst>
              <a:ext uri="{FF2B5EF4-FFF2-40B4-BE49-F238E27FC236}">
                <a16:creationId xmlns:a16="http://schemas.microsoft.com/office/drawing/2014/main" id="{2D3C89C8-61D7-D27B-D3AE-FE283ACB166B}"/>
              </a:ext>
            </a:extLst>
          </p:cNvPr>
          <p:cNvSpPr/>
          <p:nvPr/>
        </p:nvSpPr>
        <p:spPr>
          <a:xfrm>
            <a:off x="263352" y="2884525"/>
            <a:ext cx="11760364" cy="1661586"/>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8" name="CaixaDeTexto 537">
            <a:extLst>
              <a:ext uri="{FF2B5EF4-FFF2-40B4-BE49-F238E27FC236}">
                <a16:creationId xmlns:a16="http://schemas.microsoft.com/office/drawing/2014/main" id="{2FB57ADD-56E5-FA30-DEFC-7EAD747E5264}"/>
              </a:ext>
            </a:extLst>
          </p:cNvPr>
          <p:cNvSpPr txBox="1"/>
          <p:nvPr/>
        </p:nvSpPr>
        <p:spPr>
          <a:xfrm>
            <a:off x="372744" y="2731053"/>
            <a:ext cx="2029315" cy="307777"/>
          </a:xfrm>
          <a:prstGeom prst="rect">
            <a:avLst/>
          </a:prstGeom>
          <a:solidFill>
            <a:schemeClr val="bg1"/>
          </a:solidFill>
        </p:spPr>
        <p:txBody>
          <a:bodyPr wrap="square" rtlCol="0">
            <a:spAutoFit/>
          </a:bodyPr>
          <a:lstStyle/>
          <a:p>
            <a:r>
              <a:rPr lang="pt-BR" sz="1400" b="1" dirty="0"/>
              <a:t>Cadastro de Estimativas</a:t>
            </a:r>
          </a:p>
        </p:txBody>
      </p:sp>
      <p:sp>
        <p:nvSpPr>
          <p:cNvPr id="541" name="Retângulo: Cantos Arredondados 540">
            <a:extLst>
              <a:ext uri="{FF2B5EF4-FFF2-40B4-BE49-F238E27FC236}">
                <a16:creationId xmlns:a16="http://schemas.microsoft.com/office/drawing/2014/main" id="{357CB5E9-808C-1EE0-8913-A8BFD464C2C4}"/>
              </a:ext>
            </a:extLst>
          </p:cNvPr>
          <p:cNvSpPr/>
          <p:nvPr/>
        </p:nvSpPr>
        <p:spPr>
          <a:xfrm>
            <a:off x="10282168" y="2348880"/>
            <a:ext cx="718584" cy="173732"/>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t>Salvar</a:t>
            </a:r>
          </a:p>
        </p:txBody>
      </p:sp>
      <p:sp>
        <p:nvSpPr>
          <p:cNvPr id="544" name="CaixaDeTexto 543">
            <a:extLst>
              <a:ext uri="{FF2B5EF4-FFF2-40B4-BE49-F238E27FC236}">
                <a16:creationId xmlns:a16="http://schemas.microsoft.com/office/drawing/2014/main" id="{B65E1CD5-EF02-BEBA-BD08-9F3A1F432FE8}"/>
              </a:ext>
            </a:extLst>
          </p:cNvPr>
          <p:cNvSpPr txBox="1"/>
          <p:nvPr/>
        </p:nvSpPr>
        <p:spPr>
          <a:xfrm>
            <a:off x="556746" y="3439455"/>
            <a:ext cx="1845313" cy="261610"/>
          </a:xfrm>
          <a:prstGeom prst="rect">
            <a:avLst/>
          </a:prstGeom>
          <a:noFill/>
        </p:spPr>
        <p:txBody>
          <a:bodyPr wrap="square" rtlCol="0">
            <a:spAutoFit/>
          </a:bodyPr>
          <a:lstStyle/>
          <a:p>
            <a:r>
              <a:rPr lang="pt-BR" sz="1100" b="1" dirty="0"/>
              <a:t>Materiais</a:t>
            </a:r>
          </a:p>
        </p:txBody>
      </p:sp>
      <p:sp>
        <p:nvSpPr>
          <p:cNvPr id="556" name="Retângulo: Cantos Arredondados 555">
            <a:extLst>
              <a:ext uri="{FF2B5EF4-FFF2-40B4-BE49-F238E27FC236}">
                <a16:creationId xmlns:a16="http://schemas.microsoft.com/office/drawing/2014/main" id="{C233B2E2-27F5-AF05-CB7A-BEE510DC1302}"/>
              </a:ext>
            </a:extLst>
          </p:cNvPr>
          <p:cNvSpPr/>
          <p:nvPr/>
        </p:nvSpPr>
        <p:spPr>
          <a:xfrm>
            <a:off x="4831426" y="6168856"/>
            <a:ext cx="6644650" cy="133993"/>
          </a:xfrm>
          <a:prstGeom prst="roundRect">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a:solidFill>
                <a:prstClr val="black"/>
              </a:solidFill>
              <a:latin typeface="Calibri"/>
            </a:endParaRPr>
          </a:p>
        </p:txBody>
      </p:sp>
      <p:sp>
        <p:nvSpPr>
          <p:cNvPr id="559" name="Retângulo: Cantos Arredondados 558">
            <a:extLst>
              <a:ext uri="{FF2B5EF4-FFF2-40B4-BE49-F238E27FC236}">
                <a16:creationId xmlns:a16="http://schemas.microsoft.com/office/drawing/2014/main" id="{14A23F12-7DB3-4354-47D6-2B1E38A4AC97}"/>
              </a:ext>
            </a:extLst>
          </p:cNvPr>
          <p:cNvSpPr/>
          <p:nvPr/>
        </p:nvSpPr>
        <p:spPr>
          <a:xfrm>
            <a:off x="4828021" y="6168856"/>
            <a:ext cx="212429" cy="133993"/>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60" name="Triângulo isósceles 559">
            <a:extLst>
              <a:ext uri="{FF2B5EF4-FFF2-40B4-BE49-F238E27FC236}">
                <a16:creationId xmlns:a16="http://schemas.microsoft.com/office/drawing/2014/main" id="{A91D9711-305B-7E5B-3050-A2598D801B72}"/>
              </a:ext>
            </a:extLst>
          </p:cNvPr>
          <p:cNvSpPr/>
          <p:nvPr/>
        </p:nvSpPr>
        <p:spPr>
          <a:xfrm rot="16200000">
            <a:off x="4876327" y="6198927"/>
            <a:ext cx="98365" cy="73851"/>
          </a:xfrm>
          <a:prstGeom prst="triangle">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1" name="Retângulo: Cantos Arredondados 560">
            <a:extLst>
              <a:ext uri="{FF2B5EF4-FFF2-40B4-BE49-F238E27FC236}">
                <a16:creationId xmlns:a16="http://schemas.microsoft.com/office/drawing/2014/main" id="{AD507A3A-1FFA-6547-4D42-2AC53800AA31}"/>
              </a:ext>
            </a:extLst>
          </p:cNvPr>
          <p:cNvSpPr/>
          <p:nvPr/>
        </p:nvSpPr>
        <p:spPr>
          <a:xfrm>
            <a:off x="10745414" y="6168856"/>
            <a:ext cx="212429" cy="133993"/>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endParaRPr kumimoji="0" lang="pt-BR"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562" name="Triângulo isósceles 561">
            <a:extLst>
              <a:ext uri="{FF2B5EF4-FFF2-40B4-BE49-F238E27FC236}">
                <a16:creationId xmlns:a16="http://schemas.microsoft.com/office/drawing/2014/main" id="{B3C323CB-9844-7364-2753-FD24F6AD8FDC}"/>
              </a:ext>
            </a:extLst>
          </p:cNvPr>
          <p:cNvSpPr/>
          <p:nvPr/>
        </p:nvSpPr>
        <p:spPr>
          <a:xfrm rot="5400000" flipH="1">
            <a:off x="10816811" y="6198927"/>
            <a:ext cx="98365" cy="73851"/>
          </a:xfrm>
          <a:prstGeom prst="triangle">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74BB64E2-B99E-4AE1-E818-7C754147A4AB}"/>
              </a:ext>
            </a:extLst>
          </p:cNvPr>
          <p:cNvSpPr txBox="1"/>
          <p:nvPr/>
        </p:nvSpPr>
        <p:spPr>
          <a:xfrm>
            <a:off x="556746" y="3693254"/>
            <a:ext cx="1845313" cy="261610"/>
          </a:xfrm>
          <a:prstGeom prst="rect">
            <a:avLst/>
          </a:prstGeom>
          <a:noFill/>
        </p:spPr>
        <p:txBody>
          <a:bodyPr wrap="square" rtlCol="0">
            <a:spAutoFit/>
          </a:bodyPr>
          <a:lstStyle/>
          <a:p>
            <a:r>
              <a:rPr lang="pt-BR" sz="1100" b="1" dirty="0"/>
              <a:t>Oficina</a:t>
            </a:r>
          </a:p>
        </p:txBody>
      </p:sp>
      <p:sp>
        <p:nvSpPr>
          <p:cNvPr id="11" name="CaixaDeTexto 10">
            <a:extLst>
              <a:ext uri="{FF2B5EF4-FFF2-40B4-BE49-F238E27FC236}">
                <a16:creationId xmlns:a16="http://schemas.microsoft.com/office/drawing/2014/main" id="{4180B3E9-7E79-980E-5275-4302A0022F01}"/>
              </a:ext>
            </a:extLst>
          </p:cNvPr>
          <p:cNvSpPr txBox="1"/>
          <p:nvPr/>
        </p:nvSpPr>
        <p:spPr>
          <a:xfrm>
            <a:off x="556746" y="3947053"/>
            <a:ext cx="1845313" cy="261610"/>
          </a:xfrm>
          <a:prstGeom prst="rect">
            <a:avLst/>
          </a:prstGeom>
          <a:noFill/>
        </p:spPr>
        <p:txBody>
          <a:bodyPr wrap="square" rtlCol="0">
            <a:spAutoFit/>
          </a:bodyPr>
          <a:lstStyle/>
          <a:p>
            <a:r>
              <a:rPr lang="pt-BR" sz="1100" b="1" dirty="0"/>
              <a:t>Estaleiro</a:t>
            </a:r>
          </a:p>
        </p:txBody>
      </p:sp>
      <p:sp>
        <p:nvSpPr>
          <p:cNvPr id="13" name="CaixaDeTexto 12">
            <a:extLst>
              <a:ext uri="{FF2B5EF4-FFF2-40B4-BE49-F238E27FC236}">
                <a16:creationId xmlns:a16="http://schemas.microsoft.com/office/drawing/2014/main" id="{93604F80-100B-4158-1EAC-3F35CB0BDDF3}"/>
              </a:ext>
            </a:extLst>
          </p:cNvPr>
          <p:cNvSpPr txBox="1"/>
          <p:nvPr/>
        </p:nvSpPr>
        <p:spPr>
          <a:xfrm>
            <a:off x="556746" y="4200853"/>
            <a:ext cx="1845313" cy="261610"/>
          </a:xfrm>
          <a:prstGeom prst="rect">
            <a:avLst/>
          </a:prstGeom>
          <a:noFill/>
        </p:spPr>
        <p:txBody>
          <a:bodyPr wrap="square" rtlCol="0">
            <a:spAutoFit/>
          </a:bodyPr>
          <a:lstStyle>
            <a:defPPr>
              <a:defRPr lang="pt-BR"/>
            </a:defPPr>
            <a:lvl1pPr>
              <a:defRPr sz="1100" b="1"/>
            </a:lvl1pPr>
          </a:lstStyle>
          <a:p>
            <a:r>
              <a:rPr lang="pt-BR" dirty="0"/>
              <a:t>Contingência</a:t>
            </a:r>
          </a:p>
        </p:txBody>
      </p:sp>
      <p:sp>
        <p:nvSpPr>
          <p:cNvPr id="543" name="Retângulo: Cantos Arredondados 542">
            <a:extLst>
              <a:ext uri="{FF2B5EF4-FFF2-40B4-BE49-F238E27FC236}">
                <a16:creationId xmlns:a16="http://schemas.microsoft.com/office/drawing/2014/main" id="{140BC934-D0F9-38D8-35F5-64FCC2D5823D}"/>
              </a:ext>
            </a:extLst>
          </p:cNvPr>
          <p:cNvSpPr/>
          <p:nvPr/>
        </p:nvSpPr>
        <p:spPr>
          <a:xfrm>
            <a:off x="1781137" y="3467847"/>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[materiais]</a:t>
            </a:r>
          </a:p>
        </p:txBody>
      </p:sp>
      <p:sp>
        <p:nvSpPr>
          <p:cNvPr id="10" name="Retângulo: Cantos Arredondados 9">
            <a:extLst>
              <a:ext uri="{FF2B5EF4-FFF2-40B4-BE49-F238E27FC236}">
                <a16:creationId xmlns:a16="http://schemas.microsoft.com/office/drawing/2014/main" id="{759DF638-5DC0-5DBB-C003-3139E3665F04}"/>
              </a:ext>
            </a:extLst>
          </p:cNvPr>
          <p:cNvSpPr/>
          <p:nvPr/>
        </p:nvSpPr>
        <p:spPr>
          <a:xfrm>
            <a:off x="1781137" y="3721646"/>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12" name="Retângulo: Cantos Arredondados 11">
            <a:extLst>
              <a:ext uri="{FF2B5EF4-FFF2-40B4-BE49-F238E27FC236}">
                <a16:creationId xmlns:a16="http://schemas.microsoft.com/office/drawing/2014/main" id="{C25E0E88-065D-5D7C-7E64-E7FE4DA3B67C}"/>
              </a:ext>
            </a:extLst>
          </p:cNvPr>
          <p:cNvSpPr/>
          <p:nvPr/>
        </p:nvSpPr>
        <p:spPr>
          <a:xfrm>
            <a:off x="1781137" y="3975445"/>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14" name="Retângulo: Cantos Arredondados 13">
            <a:extLst>
              <a:ext uri="{FF2B5EF4-FFF2-40B4-BE49-F238E27FC236}">
                <a16:creationId xmlns:a16="http://schemas.microsoft.com/office/drawing/2014/main" id="{0A21DC29-6C2A-50E1-34A7-8E8B37AEB70A}"/>
              </a:ext>
            </a:extLst>
          </p:cNvPr>
          <p:cNvSpPr/>
          <p:nvPr/>
        </p:nvSpPr>
        <p:spPr>
          <a:xfrm>
            <a:off x="1781137" y="4229245"/>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[contingencia]</a:t>
            </a:r>
          </a:p>
        </p:txBody>
      </p:sp>
      <p:sp>
        <p:nvSpPr>
          <p:cNvPr id="25" name="Retângulo: Cantos Arredondados 24">
            <a:extLst>
              <a:ext uri="{FF2B5EF4-FFF2-40B4-BE49-F238E27FC236}">
                <a16:creationId xmlns:a16="http://schemas.microsoft.com/office/drawing/2014/main" id="{3929E7D2-6806-A0FA-9EA6-452662FD6AB2}"/>
              </a:ext>
            </a:extLst>
          </p:cNvPr>
          <p:cNvSpPr/>
          <p:nvPr/>
        </p:nvSpPr>
        <p:spPr>
          <a:xfrm>
            <a:off x="1781137" y="3041438"/>
            <a:ext cx="1260000" cy="360000"/>
          </a:xfrm>
          <a:prstGeom prst="roundRect">
            <a:avLst>
              <a:gd name="adj" fmla="val 10209"/>
            </a:avLst>
          </a:prstGeom>
          <a:solidFill>
            <a:srgbClr val="03738E"/>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lang="pt-BR" sz="1200" dirty="0">
                <a:solidFill>
                  <a:schemeClr val="bg1"/>
                </a:solidFill>
                <a:latin typeface="Calibri"/>
              </a:rPr>
              <a:t>Estimativa</a:t>
            </a:r>
            <a:endParaRPr kumimoji="0" lang="pt-BR" sz="1200" b="0" i="0" u="none" strike="noStrike" kern="1200" cap="none" spc="0" normalizeH="0" baseline="0" noProof="0" dirty="0">
              <a:ln>
                <a:noFill/>
              </a:ln>
              <a:solidFill>
                <a:schemeClr val="bg1"/>
              </a:solidFill>
              <a:effectLst/>
              <a:uLnTx/>
              <a:uFillTx/>
              <a:latin typeface="Calibri"/>
              <a:ea typeface="+mn-ea"/>
              <a:cs typeface="+mn-cs"/>
            </a:endParaRPr>
          </a:p>
        </p:txBody>
      </p:sp>
      <p:sp>
        <p:nvSpPr>
          <p:cNvPr id="31" name="Retângulo: Cantos Arredondados 30">
            <a:extLst>
              <a:ext uri="{FF2B5EF4-FFF2-40B4-BE49-F238E27FC236}">
                <a16:creationId xmlns:a16="http://schemas.microsoft.com/office/drawing/2014/main" id="{5B26F576-2B19-0D3D-DBA6-7BF4B959F347}"/>
              </a:ext>
            </a:extLst>
          </p:cNvPr>
          <p:cNvSpPr/>
          <p:nvPr/>
        </p:nvSpPr>
        <p:spPr>
          <a:xfrm>
            <a:off x="3160216" y="3467847"/>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[materiais]</a:t>
            </a:r>
          </a:p>
        </p:txBody>
      </p:sp>
      <p:sp>
        <p:nvSpPr>
          <p:cNvPr id="32" name="Retângulo: Cantos Arredondados 31">
            <a:extLst>
              <a:ext uri="{FF2B5EF4-FFF2-40B4-BE49-F238E27FC236}">
                <a16:creationId xmlns:a16="http://schemas.microsoft.com/office/drawing/2014/main" id="{04807B15-F5E0-9CE8-18D8-5EB8F0B0C4EC}"/>
              </a:ext>
            </a:extLst>
          </p:cNvPr>
          <p:cNvSpPr/>
          <p:nvPr/>
        </p:nvSpPr>
        <p:spPr>
          <a:xfrm>
            <a:off x="3160216" y="3721646"/>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33" name="Retângulo: Cantos Arredondados 32">
            <a:extLst>
              <a:ext uri="{FF2B5EF4-FFF2-40B4-BE49-F238E27FC236}">
                <a16:creationId xmlns:a16="http://schemas.microsoft.com/office/drawing/2014/main" id="{2198583C-3C87-8010-8106-9C413C24167A}"/>
              </a:ext>
            </a:extLst>
          </p:cNvPr>
          <p:cNvSpPr/>
          <p:nvPr/>
        </p:nvSpPr>
        <p:spPr>
          <a:xfrm>
            <a:off x="3160216" y="3975445"/>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34" name="Retângulo: Cantos Arredondados 33">
            <a:extLst>
              <a:ext uri="{FF2B5EF4-FFF2-40B4-BE49-F238E27FC236}">
                <a16:creationId xmlns:a16="http://schemas.microsoft.com/office/drawing/2014/main" id="{C6CB4360-976B-E378-8716-7B15413388C3}"/>
              </a:ext>
            </a:extLst>
          </p:cNvPr>
          <p:cNvSpPr/>
          <p:nvPr/>
        </p:nvSpPr>
        <p:spPr>
          <a:xfrm>
            <a:off x="3160216" y="4229245"/>
            <a:ext cx="126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[contingencia]</a:t>
            </a:r>
          </a:p>
        </p:txBody>
      </p:sp>
      <p:sp>
        <p:nvSpPr>
          <p:cNvPr id="45" name="Retângulo: Cantos Arredondados 44">
            <a:extLst>
              <a:ext uri="{FF2B5EF4-FFF2-40B4-BE49-F238E27FC236}">
                <a16:creationId xmlns:a16="http://schemas.microsoft.com/office/drawing/2014/main" id="{10CE9DBF-7991-8C35-3B3D-69845CB266CE}"/>
              </a:ext>
            </a:extLst>
          </p:cNvPr>
          <p:cNvSpPr/>
          <p:nvPr/>
        </p:nvSpPr>
        <p:spPr>
          <a:xfrm>
            <a:off x="3160216" y="3041438"/>
            <a:ext cx="1260000" cy="360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lang="pt-BR" sz="1200" dirty="0">
                <a:solidFill>
                  <a:schemeClr val="bg1"/>
                </a:solidFill>
                <a:latin typeface="Calibri"/>
              </a:rPr>
              <a:t>Comprometido</a:t>
            </a:r>
            <a:endParaRPr kumimoji="0" lang="pt-BR" sz="1200" b="0" i="0" u="none" strike="noStrike" kern="1200" cap="none" spc="0" normalizeH="0" baseline="0" noProof="0" dirty="0">
              <a:ln>
                <a:noFill/>
              </a:ln>
              <a:solidFill>
                <a:schemeClr val="bg1"/>
              </a:solidFill>
              <a:effectLst/>
              <a:uLnTx/>
              <a:uFillTx/>
              <a:latin typeface="Calibri"/>
              <a:ea typeface="+mn-ea"/>
              <a:cs typeface="+mn-cs"/>
            </a:endParaRPr>
          </a:p>
        </p:txBody>
      </p:sp>
      <p:sp>
        <p:nvSpPr>
          <p:cNvPr id="52" name="Retângulo: Cantos Arredondados 51">
            <a:extLst>
              <a:ext uri="{FF2B5EF4-FFF2-40B4-BE49-F238E27FC236}">
                <a16:creationId xmlns:a16="http://schemas.microsoft.com/office/drawing/2014/main" id="{B8AE269C-3027-F310-E06F-162E907CBCEB}"/>
              </a:ext>
            </a:extLst>
          </p:cNvPr>
          <p:cNvSpPr/>
          <p:nvPr/>
        </p:nvSpPr>
        <p:spPr>
          <a:xfrm>
            <a:off x="4539296" y="3467847"/>
            <a:ext cx="108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[estimativa]</a:t>
            </a:r>
          </a:p>
        </p:txBody>
      </p:sp>
      <p:sp>
        <p:nvSpPr>
          <p:cNvPr id="519" name="Retângulo: Cantos Arredondados 518">
            <a:extLst>
              <a:ext uri="{FF2B5EF4-FFF2-40B4-BE49-F238E27FC236}">
                <a16:creationId xmlns:a16="http://schemas.microsoft.com/office/drawing/2014/main" id="{664D5B4D-4088-8434-9014-D20B7335C43C}"/>
              </a:ext>
            </a:extLst>
          </p:cNvPr>
          <p:cNvSpPr/>
          <p:nvPr/>
        </p:nvSpPr>
        <p:spPr>
          <a:xfrm>
            <a:off x="4539296" y="3721646"/>
            <a:ext cx="108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520" name="Retângulo: Cantos Arredondados 519">
            <a:extLst>
              <a:ext uri="{FF2B5EF4-FFF2-40B4-BE49-F238E27FC236}">
                <a16:creationId xmlns:a16="http://schemas.microsoft.com/office/drawing/2014/main" id="{BF8EB670-DF8C-C8F6-7C4D-646B3032018C}"/>
              </a:ext>
            </a:extLst>
          </p:cNvPr>
          <p:cNvSpPr/>
          <p:nvPr/>
        </p:nvSpPr>
        <p:spPr>
          <a:xfrm>
            <a:off x="4539296" y="3975445"/>
            <a:ext cx="108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521" name="Retângulo: Cantos Arredondados 520">
            <a:extLst>
              <a:ext uri="{FF2B5EF4-FFF2-40B4-BE49-F238E27FC236}">
                <a16:creationId xmlns:a16="http://schemas.microsoft.com/office/drawing/2014/main" id="{919F2C6D-A727-19CA-E4E9-3CBFDF1C974E}"/>
              </a:ext>
            </a:extLst>
          </p:cNvPr>
          <p:cNvSpPr/>
          <p:nvPr/>
        </p:nvSpPr>
        <p:spPr>
          <a:xfrm>
            <a:off x="4539296" y="4229245"/>
            <a:ext cx="1080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[contingencia]</a:t>
            </a:r>
          </a:p>
        </p:txBody>
      </p:sp>
      <p:sp>
        <p:nvSpPr>
          <p:cNvPr id="528" name="Retângulo: Cantos Arredondados 527">
            <a:extLst>
              <a:ext uri="{FF2B5EF4-FFF2-40B4-BE49-F238E27FC236}">
                <a16:creationId xmlns:a16="http://schemas.microsoft.com/office/drawing/2014/main" id="{0D91C31E-AAD7-5A6E-DE79-F9401BA11CFE}"/>
              </a:ext>
            </a:extLst>
          </p:cNvPr>
          <p:cNvSpPr/>
          <p:nvPr/>
        </p:nvSpPr>
        <p:spPr>
          <a:xfrm>
            <a:off x="4539296" y="3041438"/>
            <a:ext cx="1080000" cy="360000"/>
          </a:xfrm>
          <a:prstGeom prst="roundRect">
            <a:avLst>
              <a:gd name="adj" fmla="val 10209"/>
            </a:avLst>
          </a:prstGeom>
          <a:solidFill>
            <a:schemeClr val="tx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lang="pt-BR" sz="1200" dirty="0">
                <a:solidFill>
                  <a:schemeClr val="bg1"/>
                </a:solidFill>
                <a:latin typeface="Calibri"/>
              </a:rPr>
              <a:t>Saldo</a:t>
            </a:r>
            <a:endParaRPr kumimoji="0" lang="pt-BR" sz="1200" b="0" i="0" u="none" strike="noStrike" kern="1200" cap="none" spc="0" normalizeH="0" baseline="0" noProof="0" dirty="0">
              <a:ln>
                <a:noFill/>
              </a:ln>
              <a:solidFill>
                <a:schemeClr val="bg1"/>
              </a:solidFill>
              <a:effectLst/>
              <a:uLnTx/>
              <a:uFillTx/>
              <a:latin typeface="Calibri"/>
              <a:ea typeface="+mn-ea"/>
              <a:cs typeface="+mn-cs"/>
            </a:endParaRPr>
          </a:p>
        </p:txBody>
      </p:sp>
      <p:pic>
        <p:nvPicPr>
          <p:cNvPr id="548" name="Imagem 547" descr="Forma&#10;&#10;O conteúdo gerado por IA pode estar incorreto.">
            <a:extLst>
              <a:ext uri="{FF2B5EF4-FFF2-40B4-BE49-F238E27FC236}">
                <a16:creationId xmlns:a16="http://schemas.microsoft.com/office/drawing/2014/main" id="{BA1FF05F-4E90-E03D-2A23-39E6A7F0904C}"/>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11019857" y="5843823"/>
            <a:ext cx="169227" cy="165665"/>
          </a:xfrm>
          <a:prstGeom prst="rect">
            <a:avLst/>
          </a:prstGeom>
        </p:spPr>
      </p:pic>
      <p:sp>
        <p:nvSpPr>
          <p:cNvPr id="19" name="Retângulo 18">
            <a:extLst>
              <a:ext uri="{FF2B5EF4-FFF2-40B4-BE49-F238E27FC236}">
                <a16:creationId xmlns:a16="http://schemas.microsoft.com/office/drawing/2014/main" id="{1BAE99D1-D8B2-AACF-B182-566CA0B83DD6}"/>
              </a:ext>
            </a:extLst>
          </p:cNvPr>
          <p:cNvSpPr/>
          <p:nvPr/>
        </p:nvSpPr>
        <p:spPr>
          <a:xfrm>
            <a:off x="556746" y="4212784"/>
            <a:ext cx="5552838" cy="252296"/>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603" name="Agrupar 602">
            <a:extLst>
              <a:ext uri="{FF2B5EF4-FFF2-40B4-BE49-F238E27FC236}">
                <a16:creationId xmlns:a16="http://schemas.microsoft.com/office/drawing/2014/main" id="{1C57D687-83AD-958B-CBD9-A8AA540A5193}"/>
              </a:ext>
            </a:extLst>
          </p:cNvPr>
          <p:cNvGrpSpPr/>
          <p:nvPr/>
        </p:nvGrpSpPr>
        <p:grpSpPr>
          <a:xfrm>
            <a:off x="8040216" y="664230"/>
            <a:ext cx="3740938" cy="834921"/>
            <a:chOff x="8040216" y="664230"/>
            <a:chExt cx="3740938" cy="834921"/>
          </a:xfrm>
        </p:grpSpPr>
        <p:grpSp>
          <p:nvGrpSpPr>
            <p:cNvPr id="602" name="Agrupar 601">
              <a:extLst>
                <a:ext uri="{FF2B5EF4-FFF2-40B4-BE49-F238E27FC236}">
                  <a16:creationId xmlns:a16="http://schemas.microsoft.com/office/drawing/2014/main" id="{B5BCA2DC-3D6D-ACCB-756A-69D4D57C075A}"/>
                </a:ext>
              </a:extLst>
            </p:cNvPr>
            <p:cNvGrpSpPr/>
            <p:nvPr/>
          </p:nvGrpSpPr>
          <p:grpSpPr>
            <a:xfrm>
              <a:off x="8040216" y="664230"/>
              <a:ext cx="3740938" cy="276999"/>
              <a:chOff x="8040216" y="620688"/>
              <a:chExt cx="3740938" cy="276999"/>
            </a:xfrm>
          </p:grpSpPr>
          <p:sp>
            <p:nvSpPr>
              <p:cNvPr id="46" name="CaixaDeTexto 45">
                <a:extLst>
                  <a:ext uri="{FF2B5EF4-FFF2-40B4-BE49-F238E27FC236}">
                    <a16:creationId xmlns:a16="http://schemas.microsoft.com/office/drawing/2014/main" id="{B9319F09-52A0-86FF-9AB8-92B07C2A215F}"/>
                  </a:ext>
                </a:extLst>
              </p:cNvPr>
              <p:cNvSpPr txBox="1"/>
              <p:nvPr/>
            </p:nvSpPr>
            <p:spPr>
              <a:xfrm>
                <a:off x="8040216" y="620688"/>
                <a:ext cx="1514939" cy="276999"/>
              </a:xfrm>
              <a:prstGeom prst="rect">
                <a:avLst/>
              </a:prstGeom>
              <a:noFill/>
            </p:spPr>
            <p:txBody>
              <a:bodyPr wrap="square" rtlCol="0">
                <a:spAutoFit/>
              </a:bodyPr>
              <a:lstStyle/>
              <a:p>
                <a:r>
                  <a:rPr lang="pt-BR" sz="1200" b="1" dirty="0"/>
                  <a:t>Custo Estimado Total</a:t>
                </a:r>
              </a:p>
            </p:txBody>
          </p:sp>
          <p:sp>
            <p:nvSpPr>
              <p:cNvPr id="47" name="Retângulo: Cantos Arredondados 46">
                <a:extLst>
                  <a:ext uri="{FF2B5EF4-FFF2-40B4-BE49-F238E27FC236}">
                    <a16:creationId xmlns:a16="http://schemas.microsoft.com/office/drawing/2014/main" id="{C93E7DD3-9AFA-E092-FA11-C77E13222A9C}"/>
                  </a:ext>
                </a:extLst>
              </p:cNvPr>
              <p:cNvSpPr/>
              <p:nvPr/>
            </p:nvSpPr>
            <p:spPr>
              <a:xfrm>
                <a:off x="9932221" y="656774"/>
                <a:ext cx="1848933"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custo_estimado_total</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grpSp>
          <p:nvGrpSpPr>
            <p:cNvPr id="601" name="Agrupar 600">
              <a:extLst>
                <a:ext uri="{FF2B5EF4-FFF2-40B4-BE49-F238E27FC236}">
                  <a16:creationId xmlns:a16="http://schemas.microsoft.com/office/drawing/2014/main" id="{4FD97F33-BA7B-115C-58E0-319E0D3BFD98}"/>
                </a:ext>
              </a:extLst>
            </p:cNvPr>
            <p:cNvGrpSpPr/>
            <p:nvPr/>
          </p:nvGrpSpPr>
          <p:grpSpPr>
            <a:xfrm>
              <a:off x="8040216" y="943191"/>
              <a:ext cx="3740938" cy="276999"/>
              <a:chOff x="8040216" y="898245"/>
              <a:chExt cx="3740938" cy="276999"/>
            </a:xfrm>
          </p:grpSpPr>
          <p:sp>
            <p:nvSpPr>
              <p:cNvPr id="574" name="CaixaDeTexto 573">
                <a:extLst>
                  <a:ext uri="{FF2B5EF4-FFF2-40B4-BE49-F238E27FC236}">
                    <a16:creationId xmlns:a16="http://schemas.microsoft.com/office/drawing/2014/main" id="{A80E8AA8-3662-FB2C-1F2F-162DBA0A72AD}"/>
                  </a:ext>
                </a:extLst>
              </p:cNvPr>
              <p:cNvSpPr txBox="1"/>
              <p:nvPr/>
            </p:nvSpPr>
            <p:spPr>
              <a:xfrm>
                <a:off x="8040216" y="898245"/>
                <a:ext cx="2029315" cy="276999"/>
              </a:xfrm>
              <a:prstGeom prst="rect">
                <a:avLst/>
              </a:prstGeom>
              <a:noFill/>
            </p:spPr>
            <p:txBody>
              <a:bodyPr wrap="square" rtlCol="0">
                <a:spAutoFit/>
              </a:bodyPr>
              <a:lstStyle/>
              <a:p>
                <a:r>
                  <a:rPr lang="pt-BR" sz="1200" b="1" dirty="0"/>
                  <a:t>Custo Comprometido Total</a:t>
                </a:r>
              </a:p>
            </p:txBody>
          </p:sp>
          <p:sp>
            <p:nvSpPr>
              <p:cNvPr id="575" name="Retângulo: Cantos Arredondados 574">
                <a:extLst>
                  <a:ext uri="{FF2B5EF4-FFF2-40B4-BE49-F238E27FC236}">
                    <a16:creationId xmlns:a16="http://schemas.microsoft.com/office/drawing/2014/main" id="{F918D90E-8050-51E8-2C26-2C7EB1A94B99}"/>
                  </a:ext>
                </a:extLst>
              </p:cNvPr>
              <p:cNvSpPr/>
              <p:nvPr/>
            </p:nvSpPr>
            <p:spPr>
              <a:xfrm>
                <a:off x="9932221" y="934331"/>
                <a:ext cx="1848933"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custo_comprometido_total</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grpSp>
          <p:nvGrpSpPr>
            <p:cNvPr id="600" name="Agrupar 599">
              <a:extLst>
                <a:ext uri="{FF2B5EF4-FFF2-40B4-BE49-F238E27FC236}">
                  <a16:creationId xmlns:a16="http://schemas.microsoft.com/office/drawing/2014/main" id="{A969A514-8723-08B3-8A33-3954438ACF6C}"/>
                </a:ext>
              </a:extLst>
            </p:cNvPr>
            <p:cNvGrpSpPr/>
            <p:nvPr/>
          </p:nvGrpSpPr>
          <p:grpSpPr>
            <a:xfrm>
              <a:off x="8040216" y="1222152"/>
              <a:ext cx="3740938" cy="276999"/>
              <a:chOff x="8040216" y="1215630"/>
              <a:chExt cx="3740938" cy="276999"/>
            </a:xfrm>
          </p:grpSpPr>
          <p:sp>
            <p:nvSpPr>
              <p:cNvPr id="576" name="CaixaDeTexto 575">
                <a:extLst>
                  <a:ext uri="{FF2B5EF4-FFF2-40B4-BE49-F238E27FC236}">
                    <a16:creationId xmlns:a16="http://schemas.microsoft.com/office/drawing/2014/main" id="{5AD89A76-36D9-3FDD-FB78-8EF283D6B148}"/>
                  </a:ext>
                </a:extLst>
              </p:cNvPr>
              <p:cNvSpPr txBox="1"/>
              <p:nvPr/>
            </p:nvSpPr>
            <p:spPr>
              <a:xfrm>
                <a:off x="8040216" y="1215630"/>
                <a:ext cx="2029315" cy="276999"/>
              </a:xfrm>
              <a:prstGeom prst="rect">
                <a:avLst/>
              </a:prstGeom>
              <a:noFill/>
            </p:spPr>
            <p:txBody>
              <a:bodyPr wrap="square" rtlCol="0">
                <a:spAutoFit/>
              </a:bodyPr>
              <a:lstStyle/>
              <a:p>
                <a:r>
                  <a:rPr lang="pt-BR" sz="1200" b="1" dirty="0"/>
                  <a:t>Saldo Total</a:t>
                </a:r>
              </a:p>
            </p:txBody>
          </p:sp>
          <p:sp>
            <p:nvSpPr>
              <p:cNvPr id="577" name="Retângulo: Cantos Arredondados 576">
                <a:extLst>
                  <a:ext uri="{FF2B5EF4-FFF2-40B4-BE49-F238E27FC236}">
                    <a16:creationId xmlns:a16="http://schemas.microsoft.com/office/drawing/2014/main" id="{E04F3D75-EFB0-C94B-BCDE-05108A800B79}"/>
                  </a:ext>
                </a:extLst>
              </p:cNvPr>
              <p:cNvSpPr/>
              <p:nvPr/>
            </p:nvSpPr>
            <p:spPr>
              <a:xfrm>
                <a:off x="9932221" y="1251716"/>
                <a:ext cx="1848933"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saldo_total</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grpSp>
      <p:sp>
        <p:nvSpPr>
          <p:cNvPr id="580" name="Retângulo: Cantos Arredondados 579">
            <a:extLst>
              <a:ext uri="{FF2B5EF4-FFF2-40B4-BE49-F238E27FC236}">
                <a16:creationId xmlns:a16="http://schemas.microsoft.com/office/drawing/2014/main" id="{06FC04DA-145B-2343-5747-92323512B5CD}"/>
              </a:ext>
            </a:extLst>
          </p:cNvPr>
          <p:cNvSpPr/>
          <p:nvPr/>
        </p:nvSpPr>
        <p:spPr>
          <a:xfrm>
            <a:off x="6023878" y="3041438"/>
            <a:ext cx="5730602" cy="162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lang="pt-BR" sz="1200" dirty="0">
                <a:solidFill>
                  <a:schemeClr val="bg1"/>
                </a:solidFill>
                <a:latin typeface="Calibri"/>
              </a:rPr>
              <a:t>Esteira Financeira (Comprometido)</a:t>
            </a:r>
            <a:endParaRPr kumimoji="0" lang="pt-BR" sz="1200" b="0" i="0" u="none" strike="noStrike" kern="1200" cap="none" spc="0" normalizeH="0" baseline="0" noProof="0" dirty="0">
              <a:ln>
                <a:noFill/>
              </a:ln>
              <a:solidFill>
                <a:schemeClr val="bg1"/>
              </a:solidFill>
              <a:effectLst/>
              <a:uLnTx/>
              <a:uFillTx/>
              <a:latin typeface="Calibri"/>
              <a:ea typeface="+mn-ea"/>
              <a:cs typeface="+mn-cs"/>
            </a:endParaRPr>
          </a:p>
        </p:txBody>
      </p:sp>
      <p:sp>
        <p:nvSpPr>
          <p:cNvPr id="581" name="Retângulo: Cantos Arredondados 580">
            <a:extLst>
              <a:ext uri="{FF2B5EF4-FFF2-40B4-BE49-F238E27FC236}">
                <a16:creationId xmlns:a16="http://schemas.microsoft.com/office/drawing/2014/main" id="{39E0981C-79DA-89BB-DC5C-F79951A146A0}"/>
              </a:ext>
            </a:extLst>
          </p:cNvPr>
          <p:cNvSpPr/>
          <p:nvPr/>
        </p:nvSpPr>
        <p:spPr>
          <a:xfrm>
            <a:off x="6023878" y="3239438"/>
            <a:ext cx="1404000" cy="162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schemeClr val="bg1"/>
                </a:solidFill>
                <a:effectLst/>
                <a:uLnTx/>
                <a:uFillTx/>
                <a:latin typeface="Calibri"/>
                <a:ea typeface="+mn-ea"/>
                <a:cs typeface="+mn-cs"/>
              </a:rPr>
              <a:t>Comprometido</a:t>
            </a:r>
          </a:p>
        </p:txBody>
      </p:sp>
      <p:sp>
        <p:nvSpPr>
          <p:cNvPr id="582" name="Retângulo: Cantos Arredondados 581">
            <a:extLst>
              <a:ext uri="{FF2B5EF4-FFF2-40B4-BE49-F238E27FC236}">
                <a16:creationId xmlns:a16="http://schemas.microsoft.com/office/drawing/2014/main" id="{2FEBF52B-8F87-8A32-7B69-2FDCBC422187}"/>
              </a:ext>
            </a:extLst>
          </p:cNvPr>
          <p:cNvSpPr/>
          <p:nvPr/>
        </p:nvSpPr>
        <p:spPr>
          <a:xfrm>
            <a:off x="7466079" y="3239438"/>
            <a:ext cx="1404000" cy="162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schemeClr val="bg1"/>
                </a:solidFill>
                <a:effectLst/>
                <a:uLnTx/>
                <a:uFillTx/>
                <a:latin typeface="Calibri"/>
                <a:ea typeface="+mn-ea"/>
                <a:cs typeface="+mn-cs"/>
              </a:rPr>
              <a:t>Cotado</a:t>
            </a:r>
          </a:p>
        </p:txBody>
      </p:sp>
      <p:sp>
        <p:nvSpPr>
          <p:cNvPr id="583" name="Retângulo: Cantos Arredondados 582">
            <a:extLst>
              <a:ext uri="{FF2B5EF4-FFF2-40B4-BE49-F238E27FC236}">
                <a16:creationId xmlns:a16="http://schemas.microsoft.com/office/drawing/2014/main" id="{21DFA723-D692-F878-8847-6013F33B31A5}"/>
              </a:ext>
            </a:extLst>
          </p:cNvPr>
          <p:cNvSpPr/>
          <p:nvPr/>
        </p:nvSpPr>
        <p:spPr>
          <a:xfrm>
            <a:off x="8908280" y="3239438"/>
            <a:ext cx="1404000" cy="162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schemeClr val="bg1"/>
                </a:solidFill>
                <a:effectLst/>
                <a:uLnTx/>
                <a:uFillTx/>
                <a:latin typeface="Calibri"/>
                <a:ea typeface="+mn-ea"/>
                <a:cs typeface="+mn-cs"/>
              </a:rPr>
              <a:t>Empenhado</a:t>
            </a:r>
          </a:p>
        </p:txBody>
      </p:sp>
      <p:sp>
        <p:nvSpPr>
          <p:cNvPr id="584" name="Retângulo: Cantos Arredondados 583">
            <a:extLst>
              <a:ext uri="{FF2B5EF4-FFF2-40B4-BE49-F238E27FC236}">
                <a16:creationId xmlns:a16="http://schemas.microsoft.com/office/drawing/2014/main" id="{5CD7A440-E5D2-B661-2B4F-16E43E8D2B9B}"/>
              </a:ext>
            </a:extLst>
          </p:cNvPr>
          <p:cNvSpPr/>
          <p:nvPr/>
        </p:nvSpPr>
        <p:spPr>
          <a:xfrm>
            <a:off x="10350480" y="3239438"/>
            <a:ext cx="1404000" cy="162000"/>
          </a:xfrm>
          <a:prstGeom prst="roundRect">
            <a:avLst>
              <a:gd name="adj" fmla="val 10209"/>
            </a:avLst>
          </a:prstGeom>
          <a:solidFill>
            <a:srgbClr val="009DC3"/>
          </a:solidFill>
          <a:ln w="3175">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schemeClr val="bg1"/>
                </a:solidFill>
                <a:effectLst/>
                <a:uLnTx/>
                <a:uFillTx/>
                <a:latin typeface="Calibri"/>
                <a:ea typeface="+mn-ea"/>
                <a:cs typeface="+mn-cs"/>
              </a:rPr>
              <a:t>Realizado</a:t>
            </a:r>
          </a:p>
        </p:txBody>
      </p:sp>
      <p:sp>
        <p:nvSpPr>
          <p:cNvPr id="585" name="Retângulo: Cantos Arredondados 584">
            <a:extLst>
              <a:ext uri="{FF2B5EF4-FFF2-40B4-BE49-F238E27FC236}">
                <a16:creationId xmlns:a16="http://schemas.microsoft.com/office/drawing/2014/main" id="{2C29A529-E361-DBA5-47CC-BFD0371A9611}"/>
              </a:ext>
            </a:extLst>
          </p:cNvPr>
          <p:cNvSpPr/>
          <p:nvPr/>
        </p:nvSpPr>
        <p:spPr>
          <a:xfrm>
            <a:off x="6023878" y="3467847"/>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[estimativa]</a:t>
            </a:r>
          </a:p>
        </p:txBody>
      </p:sp>
      <p:sp>
        <p:nvSpPr>
          <p:cNvPr id="586" name="Retângulo: Cantos Arredondados 585">
            <a:extLst>
              <a:ext uri="{FF2B5EF4-FFF2-40B4-BE49-F238E27FC236}">
                <a16:creationId xmlns:a16="http://schemas.microsoft.com/office/drawing/2014/main" id="{A3D51EB5-ACEB-6AB5-96C1-5461C04527E7}"/>
              </a:ext>
            </a:extLst>
          </p:cNvPr>
          <p:cNvSpPr/>
          <p:nvPr/>
        </p:nvSpPr>
        <p:spPr>
          <a:xfrm>
            <a:off x="6023878" y="3721646"/>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587" name="Retângulo: Cantos Arredondados 586">
            <a:extLst>
              <a:ext uri="{FF2B5EF4-FFF2-40B4-BE49-F238E27FC236}">
                <a16:creationId xmlns:a16="http://schemas.microsoft.com/office/drawing/2014/main" id="{74C6BFFC-3271-20AB-7BC0-3A769A430D7C}"/>
              </a:ext>
            </a:extLst>
          </p:cNvPr>
          <p:cNvSpPr/>
          <p:nvPr/>
        </p:nvSpPr>
        <p:spPr>
          <a:xfrm>
            <a:off x="6023878" y="3975445"/>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588" name="Retângulo: Cantos Arredondados 587">
            <a:extLst>
              <a:ext uri="{FF2B5EF4-FFF2-40B4-BE49-F238E27FC236}">
                <a16:creationId xmlns:a16="http://schemas.microsoft.com/office/drawing/2014/main" id="{E4782F4E-EEEA-80CD-1347-E8F4596E4712}"/>
              </a:ext>
            </a:extLst>
          </p:cNvPr>
          <p:cNvSpPr/>
          <p:nvPr/>
        </p:nvSpPr>
        <p:spPr>
          <a:xfrm>
            <a:off x="7466079" y="3467847"/>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[estimativa]</a:t>
            </a:r>
          </a:p>
        </p:txBody>
      </p:sp>
      <p:sp>
        <p:nvSpPr>
          <p:cNvPr id="589" name="Retângulo: Cantos Arredondados 588">
            <a:extLst>
              <a:ext uri="{FF2B5EF4-FFF2-40B4-BE49-F238E27FC236}">
                <a16:creationId xmlns:a16="http://schemas.microsoft.com/office/drawing/2014/main" id="{773B4C09-982B-BBAE-6845-633DB96011B0}"/>
              </a:ext>
            </a:extLst>
          </p:cNvPr>
          <p:cNvSpPr/>
          <p:nvPr/>
        </p:nvSpPr>
        <p:spPr>
          <a:xfrm>
            <a:off x="7466079" y="3721646"/>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590" name="Retângulo: Cantos Arredondados 589">
            <a:extLst>
              <a:ext uri="{FF2B5EF4-FFF2-40B4-BE49-F238E27FC236}">
                <a16:creationId xmlns:a16="http://schemas.microsoft.com/office/drawing/2014/main" id="{358E079D-B18C-7E84-B998-E358C455C67E}"/>
              </a:ext>
            </a:extLst>
          </p:cNvPr>
          <p:cNvSpPr/>
          <p:nvPr/>
        </p:nvSpPr>
        <p:spPr>
          <a:xfrm>
            <a:off x="7466079" y="3975445"/>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591" name="Retângulo: Cantos Arredondados 590">
            <a:extLst>
              <a:ext uri="{FF2B5EF4-FFF2-40B4-BE49-F238E27FC236}">
                <a16:creationId xmlns:a16="http://schemas.microsoft.com/office/drawing/2014/main" id="{E7B1C19C-334A-8EF4-5338-AF6713CC61CB}"/>
              </a:ext>
            </a:extLst>
          </p:cNvPr>
          <p:cNvSpPr/>
          <p:nvPr/>
        </p:nvSpPr>
        <p:spPr>
          <a:xfrm>
            <a:off x="8908280" y="3467847"/>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[estimativa]</a:t>
            </a:r>
          </a:p>
        </p:txBody>
      </p:sp>
      <p:sp>
        <p:nvSpPr>
          <p:cNvPr id="592" name="Retângulo: Cantos Arredondados 591">
            <a:extLst>
              <a:ext uri="{FF2B5EF4-FFF2-40B4-BE49-F238E27FC236}">
                <a16:creationId xmlns:a16="http://schemas.microsoft.com/office/drawing/2014/main" id="{6054C5D0-346E-9330-A1B3-4849A2DA956C}"/>
              </a:ext>
            </a:extLst>
          </p:cNvPr>
          <p:cNvSpPr/>
          <p:nvPr/>
        </p:nvSpPr>
        <p:spPr>
          <a:xfrm>
            <a:off x="8908280" y="3721646"/>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593" name="Retângulo: Cantos Arredondados 592">
            <a:extLst>
              <a:ext uri="{FF2B5EF4-FFF2-40B4-BE49-F238E27FC236}">
                <a16:creationId xmlns:a16="http://schemas.microsoft.com/office/drawing/2014/main" id="{9A687237-FB46-80D8-4517-90FE826A9CB1}"/>
              </a:ext>
            </a:extLst>
          </p:cNvPr>
          <p:cNvSpPr/>
          <p:nvPr/>
        </p:nvSpPr>
        <p:spPr>
          <a:xfrm>
            <a:off x="8908280" y="3975445"/>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
        <p:nvSpPr>
          <p:cNvPr id="594" name="Retângulo: Cantos Arredondados 593">
            <a:extLst>
              <a:ext uri="{FF2B5EF4-FFF2-40B4-BE49-F238E27FC236}">
                <a16:creationId xmlns:a16="http://schemas.microsoft.com/office/drawing/2014/main" id="{C1F28E02-DD5C-544A-81E2-BFB67842B9A8}"/>
              </a:ext>
            </a:extLst>
          </p:cNvPr>
          <p:cNvSpPr/>
          <p:nvPr/>
        </p:nvSpPr>
        <p:spPr>
          <a:xfrm>
            <a:off x="10350480" y="3467847"/>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[estimativa]</a:t>
            </a:r>
          </a:p>
        </p:txBody>
      </p:sp>
      <p:sp>
        <p:nvSpPr>
          <p:cNvPr id="595" name="Retângulo: Cantos Arredondados 594">
            <a:extLst>
              <a:ext uri="{FF2B5EF4-FFF2-40B4-BE49-F238E27FC236}">
                <a16:creationId xmlns:a16="http://schemas.microsoft.com/office/drawing/2014/main" id="{7B11C74F-0C76-DB5C-833A-D2604F3DE004}"/>
              </a:ext>
            </a:extLst>
          </p:cNvPr>
          <p:cNvSpPr/>
          <p:nvPr/>
        </p:nvSpPr>
        <p:spPr>
          <a:xfrm>
            <a:off x="10350480" y="3721646"/>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[oficina]</a:t>
            </a:r>
          </a:p>
        </p:txBody>
      </p:sp>
      <p:sp>
        <p:nvSpPr>
          <p:cNvPr id="596" name="Retângulo: Cantos Arredondados 595">
            <a:extLst>
              <a:ext uri="{FF2B5EF4-FFF2-40B4-BE49-F238E27FC236}">
                <a16:creationId xmlns:a16="http://schemas.microsoft.com/office/drawing/2014/main" id="{45A4CBA4-F7AA-0D2C-18CC-CB2ED5EF60C9}"/>
              </a:ext>
            </a:extLst>
          </p:cNvPr>
          <p:cNvSpPr/>
          <p:nvPr/>
        </p:nvSpPr>
        <p:spPr>
          <a:xfrm>
            <a:off x="10350480" y="3975445"/>
            <a:ext cx="1404000"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[estaleiro]</a:t>
            </a:r>
          </a:p>
        </p:txBody>
      </p:sp>
    </p:spTree>
    <p:extLst>
      <p:ext uri="{BB962C8B-B14F-4D97-AF65-F5344CB8AC3E}">
        <p14:creationId xmlns:p14="http://schemas.microsoft.com/office/powerpoint/2010/main" val="38992170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B45D3-9D3A-3641-FCB4-B3A5A8029E84}"/>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E650C663-5C45-F270-D95C-35EA090E0D43}"/>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0F0C2CB5-1A1A-73E1-BB1A-2CC2241CEABE}"/>
              </a:ext>
            </a:extLst>
          </p:cNvPr>
          <p:cNvSpPr/>
          <p:nvPr/>
        </p:nvSpPr>
        <p:spPr>
          <a:xfrm>
            <a:off x="2711624" y="2636912"/>
            <a:ext cx="6552728" cy="410445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6169DCD3-81BF-7BDB-7112-3BF2DE9E3139}"/>
              </a:ext>
            </a:extLst>
          </p:cNvPr>
          <p:cNvSpPr/>
          <p:nvPr/>
        </p:nvSpPr>
        <p:spPr>
          <a:xfrm>
            <a:off x="2711624" y="369828"/>
            <a:ext cx="6552728" cy="183503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4393886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B47CA-54C1-935A-7ED1-00F780568FEC}"/>
            </a:ext>
          </a:extLst>
        </p:cNvPr>
        <p:cNvGrpSpPr/>
        <p:nvPr/>
      </p:nvGrpSpPr>
      <p:grpSpPr>
        <a:xfrm>
          <a:off x="0" y="0"/>
          <a:ext cx="0" cy="0"/>
          <a:chOff x="0" y="0"/>
          <a:chExt cx="0" cy="0"/>
        </a:xfrm>
      </p:grpSpPr>
      <p:sp>
        <p:nvSpPr>
          <p:cNvPr id="124" name="CaixaDeTexto 21">
            <a:extLst>
              <a:ext uri="{FF2B5EF4-FFF2-40B4-BE49-F238E27FC236}">
                <a16:creationId xmlns:a16="http://schemas.microsoft.com/office/drawing/2014/main" id="{0748A814-351F-8FEA-3064-33B39F4D1A99}"/>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2" name="CaixaDeTexto 21">
            <a:extLst>
              <a:ext uri="{FF2B5EF4-FFF2-40B4-BE49-F238E27FC236}">
                <a16:creationId xmlns:a16="http://schemas.microsoft.com/office/drawing/2014/main" id="{A7995579-D204-0751-8E9D-28E19580D3F4}"/>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49AD6433-67C8-85A2-9A9D-C784ECD17842}"/>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1CD5A986-0BFD-5AD2-4645-3AB78464B2AB}"/>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cxnSp>
        <p:nvCxnSpPr>
          <p:cNvPr id="165" name="Straight Arrow Connector 38">
            <a:extLst>
              <a:ext uri="{FF2B5EF4-FFF2-40B4-BE49-F238E27FC236}">
                <a16:creationId xmlns:a16="http://schemas.microsoft.com/office/drawing/2014/main" id="{86BCDB02-BF18-3BC8-D564-07C2A70A6ABD}"/>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24257A3C-681B-7A5E-63FB-7285E05EC3EC}"/>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62" name="Title 61">
            <a:extLst>
              <a:ext uri="{FF2B5EF4-FFF2-40B4-BE49-F238E27FC236}">
                <a16:creationId xmlns:a16="http://schemas.microsoft.com/office/drawing/2014/main" id="{4C9E21BF-0FC5-D46C-6A9C-14CAEDD7EED1}"/>
              </a:ext>
            </a:extLst>
          </p:cNvPr>
          <p:cNvSpPr>
            <a:spLocks noGrp="1"/>
          </p:cNvSpPr>
          <p:nvPr>
            <p:ph type="title"/>
          </p:nvPr>
        </p:nvSpPr>
        <p:spPr/>
        <p:txBody>
          <a:bodyPr/>
          <a:lstStyle/>
          <a:p>
            <a:r>
              <a:rPr lang="pt-BR" dirty="0"/>
              <a:t>HUB de Obras</a:t>
            </a:r>
            <a:br>
              <a:rPr lang="pt-BR" dirty="0"/>
            </a:br>
            <a:r>
              <a:rPr lang="pt-BR" sz="1800" b="0" dirty="0"/>
              <a:t>tema 05: Simulações de Cenários</a:t>
            </a:r>
            <a:endParaRPr lang="en-BR" b="0" dirty="0"/>
          </a:p>
        </p:txBody>
      </p:sp>
      <p:sp>
        <p:nvSpPr>
          <p:cNvPr id="116" name="CaixaDeTexto 557">
            <a:extLst>
              <a:ext uri="{FF2B5EF4-FFF2-40B4-BE49-F238E27FC236}">
                <a16:creationId xmlns:a16="http://schemas.microsoft.com/office/drawing/2014/main" id="{3EC38A16-3573-21B9-8ED8-4657A0308672}"/>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9AAD0367-D6C1-5BCE-6EB3-B59C446F864E}"/>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CBEC4E02-7C14-3685-0B7C-5E03E905C801}"/>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136896AD-8D23-2AB8-0A17-A2A74E15666E}"/>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1" name="CaixaDeTexto 21">
            <a:extLst>
              <a:ext uri="{FF2B5EF4-FFF2-40B4-BE49-F238E27FC236}">
                <a16:creationId xmlns:a16="http://schemas.microsoft.com/office/drawing/2014/main" id="{386F846A-D730-A762-9D6C-26925E0E4BE7}"/>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185636F6-349A-0E0F-D549-900282B97E23}"/>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6" name="CaixaDeTexto 21">
            <a:extLst>
              <a:ext uri="{FF2B5EF4-FFF2-40B4-BE49-F238E27FC236}">
                <a16:creationId xmlns:a16="http://schemas.microsoft.com/office/drawing/2014/main" id="{27A73542-6323-2EA2-414E-0AE5EC444760}"/>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22DB12B9-ED86-A770-2632-7D1FF6C2C63F}"/>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320BB799-9D79-8264-3F73-6987C0224661}"/>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F7510E81-C1BE-0799-4DED-3B6649780828}"/>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387A1AC4-0BF2-1F21-08C1-5C21E24C166B}"/>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7537A488-B353-23C1-2EB0-5800496AB97A}"/>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D42755BD-18CE-9D77-CBB9-C61A5251EAC1}"/>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BEFA7F3D-4539-A532-1011-F8E94E31E3EF}"/>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F1172A40-3F17-A023-234D-302CE732C6C6}"/>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C04FEFCB-A455-9D47-5D45-E33B6B6C2701}"/>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37" name="CaixaDeTexto 21">
            <a:extLst>
              <a:ext uri="{FF2B5EF4-FFF2-40B4-BE49-F238E27FC236}">
                <a16:creationId xmlns:a16="http://schemas.microsoft.com/office/drawing/2014/main" id="{FC1E816C-3DA9-F750-B36A-5327360F0AD8}"/>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B56BA627-0C00-9D03-C66B-A2526B24A22C}"/>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B7A4A77F-EA58-8D59-8453-5B0D2D891388}"/>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5F553DC0-C2DD-A335-A6FB-42BAA27DA2D0}"/>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9A8DF6FB-626F-BD23-B637-95E91639A941}"/>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67" name="CaixaDeTexto 21">
            <a:extLst>
              <a:ext uri="{FF2B5EF4-FFF2-40B4-BE49-F238E27FC236}">
                <a16:creationId xmlns:a16="http://schemas.microsoft.com/office/drawing/2014/main" id="{C2BF1457-C619-C56D-F6B2-43BFE3BFDA6A}"/>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250B0081-C778-A9EF-49E9-5146F54A7060}"/>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E625D1CB-32D6-374B-22BA-A84A4F59A54D}"/>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382FF445-6D20-BB3C-0569-B5927AEA705D}"/>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AC0A5DA6-B628-F199-055E-D291BD340F57}"/>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B38E06D0-D6CF-AF41-7273-5BC2034BA26D}"/>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C56EC094-71D9-490C-4225-8C0C6AA91770}"/>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66B8FDE4-298F-C943-411D-EEF1F4F95073}"/>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B8DACC2F-78C9-29EA-F45E-E0345BC90C4D}"/>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C24A4F7E-8C96-E6FF-B431-4764549B5379}"/>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55DB6E6B-9DD0-AA84-8896-876A1D1C1B76}"/>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24C5F215-CF0C-65E4-1CC3-539C04DC284B}"/>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131" name="CaixaDeTexto 21">
            <a:extLst>
              <a:ext uri="{FF2B5EF4-FFF2-40B4-BE49-F238E27FC236}">
                <a16:creationId xmlns:a16="http://schemas.microsoft.com/office/drawing/2014/main" id="{4B3DCCE5-18F4-FF04-495E-727072A1824C}"/>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a:t>
            </a:r>
            <a:r>
              <a:rPr lang="pt-BR"/>
              <a:t>. GMUDs</a:t>
            </a:r>
            <a:endParaRPr lang="pt-BR" dirty="0"/>
          </a:p>
        </p:txBody>
      </p:sp>
      <p:sp>
        <p:nvSpPr>
          <p:cNvPr id="154" name="CaixaDeTexto 21">
            <a:extLst>
              <a:ext uri="{FF2B5EF4-FFF2-40B4-BE49-F238E27FC236}">
                <a16:creationId xmlns:a16="http://schemas.microsoft.com/office/drawing/2014/main" id="{5168C500-BF95-9600-A816-D8CA86C98697}"/>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3BEB32F8-F4D5-654E-78DC-417FAEC4B4A4}"/>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sp>
        <p:nvSpPr>
          <p:cNvPr id="158" name="CaixaDeTexto 21">
            <a:extLst>
              <a:ext uri="{FF2B5EF4-FFF2-40B4-BE49-F238E27FC236}">
                <a16:creationId xmlns:a16="http://schemas.microsoft.com/office/drawing/2014/main" id="{B125593A-B15F-F150-2B80-6698CC7569A8}"/>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F8AEFE4F-6522-29B3-7A5C-C287EF11DA41}"/>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23D9A9C7-B248-747C-0B85-D7E8A4C3EA14}"/>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78052280-E912-1F59-0E99-A9133C594624}"/>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B213B184-7922-52E5-C0EF-4FFA904905F9}"/>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A36C7833-2811-AE83-A22E-B1C621339325}"/>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6D088408-E7DB-A664-3FB6-206B2D5614C6}"/>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sp>
        <p:nvSpPr>
          <p:cNvPr id="3" name="Retângulo 179">
            <a:extLst>
              <a:ext uri="{FF2B5EF4-FFF2-40B4-BE49-F238E27FC236}">
                <a16:creationId xmlns:a16="http://schemas.microsoft.com/office/drawing/2014/main" id="{47D527CC-A943-118F-0628-FD5175339AAA}"/>
              </a:ext>
            </a:extLst>
          </p:cNvPr>
          <p:cNvSpPr/>
          <p:nvPr/>
        </p:nvSpPr>
        <p:spPr>
          <a:xfrm>
            <a:off x="1377146" y="1015993"/>
            <a:ext cx="10500015" cy="5666803"/>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2" name="CaixaDeTexto 21">
            <a:extLst>
              <a:ext uri="{FF2B5EF4-FFF2-40B4-BE49-F238E27FC236}">
                <a16:creationId xmlns:a16="http://schemas.microsoft.com/office/drawing/2014/main" id="{EF8B6DAC-A5D0-A608-257B-1DFC3A78849E}"/>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893504C7-B8CE-510B-1B37-85432667ACDD}"/>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sp>
        <p:nvSpPr>
          <p:cNvPr id="146" name="CaixaDeTexto 21">
            <a:extLst>
              <a:ext uri="{FF2B5EF4-FFF2-40B4-BE49-F238E27FC236}">
                <a16:creationId xmlns:a16="http://schemas.microsoft.com/office/drawing/2014/main" id="{0F454CBF-A494-9E39-C3DB-DE37480F0AE4}"/>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3CA4C468-5281-45F4-7F5E-658CC11C67E0}"/>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sp>
        <p:nvSpPr>
          <p:cNvPr id="150" name="CaixaDeTexto 21">
            <a:extLst>
              <a:ext uri="{FF2B5EF4-FFF2-40B4-BE49-F238E27FC236}">
                <a16:creationId xmlns:a16="http://schemas.microsoft.com/office/drawing/2014/main" id="{B5B06BB0-07E1-DBEC-6CFE-576EB5176F93}"/>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A8D83BC9-FA14-1DB6-E2C0-8600F28EF297}"/>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sp>
        <p:nvSpPr>
          <p:cNvPr id="125" name="CaixaDeTexto 21">
            <a:extLst>
              <a:ext uri="{FF2B5EF4-FFF2-40B4-BE49-F238E27FC236}">
                <a16:creationId xmlns:a16="http://schemas.microsoft.com/office/drawing/2014/main" id="{D0AE62A6-A32B-CCCF-5886-4D44C07C4256}"/>
              </a:ext>
            </a:extLst>
          </p:cNvPr>
          <p:cNvSpPr txBox="1"/>
          <p:nvPr/>
        </p:nvSpPr>
        <p:spPr>
          <a:xfrm>
            <a:off x="2671179" y="4294007"/>
            <a:ext cx="2883548"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5. Sim. Cenários</a:t>
            </a:r>
          </a:p>
        </p:txBody>
      </p:sp>
      <p:sp>
        <p:nvSpPr>
          <p:cNvPr id="119" name="CaixaDeTexto 21">
            <a:extLst>
              <a:ext uri="{FF2B5EF4-FFF2-40B4-BE49-F238E27FC236}">
                <a16:creationId xmlns:a16="http://schemas.microsoft.com/office/drawing/2014/main" id="{2D29BB49-55F0-B122-7ACB-7DCA59F4E34F}"/>
              </a:ext>
            </a:extLst>
          </p:cNvPr>
          <p:cNvSpPr txBox="1"/>
          <p:nvPr/>
        </p:nvSpPr>
        <p:spPr>
          <a:xfrm>
            <a:off x="2668556" y="1735886"/>
            <a:ext cx="4885072"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cxnSp>
        <p:nvCxnSpPr>
          <p:cNvPr id="144" name="Straight Arrow Connector 27">
            <a:extLst>
              <a:ext uri="{FF2B5EF4-FFF2-40B4-BE49-F238E27FC236}">
                <a16:creationId xmlns:a16="http://schemas.microsoft.com/office/drawing/2014/main" id="{7E992964-8F76-2F24-2D84-1D4E4ECCD70F}"/>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AB63DE87-0D8F-31ED-A0BF-9BA26797B7D1}"/>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cxnSp>
        <p:nvCxnSpPr>
          <p:cNvPr id="148" name="Straight Arrow Connector 30">
            <a:extLst>
              <a:ext uri="{FF2B5EF4-FFF2-40B4-BE49-F238E27FC236}">
                <a16:creationId xmlns:a16="http://schemas.microsoft.com/office/drawing/2014/main" id="{54E5307F-5283-2A14-36FB-BA4B29F6654F}"/>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BC8C4FF1-E7A2-7571-2354-951B0EE3CCA7}"/>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a:t>
            </a:r>
            <a:br>
              <a:rPr lang="pt-BR" sz="1000" b="1" i="1" dirty="0"/>
            </a:br>
            <a:r>
              <a:rPr lang="pt-BR" sz="1000" b="1" i="1" dirty="0"/>
              <a:t>meses</a:t>
            </a:r>
          </a:p>
        </p:txBody>
      </p:sp>
      <p:cxnSp>
        <p:nvCxnSpPr>
          <p:cNvPr id="152" name="Straight Arrow Connector 34">
            <a:extLst>
              <a:ext uri="{FF2B5EF4-FFF2-40B4-BE49-F238E27FC236}">
                <a16:creationId xmlns:a16="http://schemas.microsoft.com/office/drawing/2014/main" id="{1A34BA9E-0CFA-1E22-79AC-A350A1FD79DF}"/>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FC4D17A7-1823-7F92-F25D-DD91EA482B34}"/>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pic>
        <p:nvPicPr>
          <p:cNvPr id="5" name="Picture 2">
            <a:extLst>
              <a:ext uri="{FF2B5EF4-FFF2-40B4-BE49-F238E27FC236}">
                <a16:creationId xmlns:a16="http://schemas.microsoft.com/office/drawing/2014/main" id="{CC74CE9F-AB43-0454-B5D7-AC69010E026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43893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2887C-B4B6-445B-29E1-F3800E3508F6}"/>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0866C584-4F36-2BA4-71BF-78131471C0DB}"/>
              </a:ext>
            </a:extLst>
          </p:cNvPr>
          <p:cNvSpPr>
            <a:spLocks noGrp="1"/>
          </p:cNvSpPr>
          <p:nvPr>
            <p:ph type="title"/>
          </p:nvPr>
        </p:nvSpPr>
        <p:spPr>
          <a:xfrm>
            <a:off x="1089653" y="303578"/>
            <a:ext cx="10485852" cy="645195"/>
          </a:xfrm>
        </p:spPr>
        <p:txBody>
          <a:bodyPr/>
          <a:lstStyle/>
          <a:p>
            <a:pPr marL="0" marR="0" lvl="0" indent="0" algn="l" defTabSz="1055035" rtl="0" eaLnBrk="1" fontAlgn="auto" latinLnBrk="0" hangingPunct="1">
              <a:lnSpc>
                <a:spcPct val="100000"/>
              </a:lnSpc>
              <a:spcBef>
                <a:spcPts val="0"/>
              </a:spcBef>
              <a:spcAft>
                <a:spcPts val="0"/>
              </a:spcAft>
              <a:buClrTx/>
              <a:buSzTx/>
              <a:buFontTx/>
              <a:buNone/>
              <a:tabLst/>
              <a:defRPr/>
            </a:pPr>
            <a:r>
              <a:rPr lang="pt-BR" dirty="0"/>
              <a:t>Simulação de Cenários</a:t>
            </a:r>
            <a:endParaRPr lang="pt-BR" b="0" dirty="0"/>
          </a:p>
        </p:txBody>
      </p:sp>
      <p:sp>
        <p:nvSpPr>
          <p:cNvPr id="601" name="Título 4">
            <a:extLst>
              <a:ext uri="{FF2B5EF4-FFF2-40B4-BE49-F238E27FC236}">
                <a16:creationId xmlns:a16="http://schemas.microsoft.com/office/drawing/2014/main" id="{BA0975A2-FF99-49EA-7BFE-9168C7FD6019}"/>
              </a:ext>
            </a:extLst>
          </p:cNvPr>
          <p:cNvSpPr txBox="1">
            <a:spLocks/>
          </p:cNvSpPr>
          <p:nvPr/>
        </p:nvSpPr>
        <p:spPr>
          <a:xfrm>
            <a:off x="696000" y="1052736"/>
            <a:ext cx="10800000" cy="645195"/>
          </a:xfrm>
          <a:prstGeom prst="rect">
            <a:avLst/>
          </a:prstGeom>
        </p:spPr>
        <p:txBody>
          <a:bodyPr vert="horz" lIns="91440" tIns="45720" rIns="91440" bIns="45720" rtlCol="0" anchor="ctr">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pPr defTabSz="1055035">
              <a:lnSpc>
                <a:spcPct val="100000"/>
              </a:lnSpc>
              <a:spcBef>
                <a:spcPts val="0"/>
              </a:spcBef>
              <a:defRPr/>
            </a:pPr>
            <a:r>
              <a:rPr lang="pt-BR" sz="1600" b="0" dirty="0"/>
              <a:t>A funcionalidade de simulação de cenários permitirá a criação de diferentes versões de uma Parada, alterando:</a:t>
            </a:r>
            <a:br>
              <a:rPr lang="pt-BR" sz="1600" b="0" dirty="0"/>
            </a:br>
            <a:r>
              <a:rPr lang="pt-BR" sz="1600" b="0" dirty="0"/>
              <a:t>Datas, Duração, Escopo ou Segregação e Postergação de Obras</a:t>
            </a:r>
          </a:p>
        </p:txBody>
      </p:sp>
      <p:sp>
        <p:nvSpPr>
          <p:cNvPr id="5" name="Triângulo isósceles 4">
            <a:extLst>
              <a:ext uri="{FF2B5EF4-FFF2-40B4-BE49-F238E27FC236}">
                <a16:creationId xmlns:a16="http://schemas.microsoft.com/office/drawing/2014/main" id="{AC0FB2AB-DAF4-FE43-BB94-698B02E3F135}"/>
              </a:ext>
            </a:extLst>
          </p:cNvPr>
          <p:cNvSpPr/>
          <p:nvPr/>
        </p:nvSpPr>
        <p:spPr>
          <a:xfrm rot="5400000">
            <a:off x="2589249" y="4010776"/>
            <a:ext cx="1017798" cy="212224"/>
          </a:xfrm>
          <a:prstGeom prst="triangle">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5" name="Agrupar 54">
            <a:extLst>
              <a:ext uri="{FF2B5EF4-FFF2-40B4-BE49-F238E27FC236}">
                <a16:creationId xmlns:a16="http://schemas.microsoft.com/office/drawing/2014/main" id="{B236F385-5DD6-980B-B30C-980F2A1E2CA9}"/>
              </a:ext>
            </a:extLst>
          </p:cNvPr>
          <p:cNvGrpSpPr/>
          <p:nvPr/>
        </p:nvGrpSpPr>
        <p:grpSpPr>
          <a:xfrm>
            <a:off x="104771" y="2316215"/>
            <a:ext cx="2808000" cy="3601347"/>
            <a:chOff x="104771" y="2316215"/>
            <a:chExt cx="2808000" cy="3601347"/>
          </a:xfrm>
        </p:grpSpPr>
        <p:sp>
          <p:nvSpPr>
            <p:cNvPr id="521" name="Retângulo 520">
              <a:extLst>
                <a:ext uri="{FF2B5EF4-FFF2-40B4-BE49-F238E27FC236}">
                  <a16:creationId xmlns:a16="http://schemas.microsoft.com/office/drawing/2014/main" id="{F1250FC5-E236-F2F5-133B-4361627A8EDA}"/>
                </a:ext>
              </a:extLst>
            </p:cNvPr>
            <p:cNvSpPr/>
            <p:nvPr/>
          </p:nvSpPr>
          <p:spPr>
            <a:xfrm>
              <a:off x="104771" y="5141928"/>
              <a:ext cx="2808000" cy="775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lang="pt-BR" sz="1050" dirty="0">
                  <a:solidFill>
                    <a:prstClr val="black"/>
                  </a:solidFill>
                  <a:latin typeface="Calibri"/>
                </a:rPr>
                <a:t>Todo o escopo da Parada </a:t>
              </a:r>
            </a:p>
            <a:p>
              <a:pPr marL="0" marR="0" lvl="0" indent="0" algn="ctr" defTabSz="1055035" rtl="0" eaLnBrk="1" fontAlgn="auto" latinLnBrk="0" hangingPunct="1">
                <a:lnSpc>
                  <a:spcPct val="100000"/>
                </a:lnSpc>
                <a:spcBef>
                  <a:spcPts val="0"/>
                </a:spcBef>
                <a:spcAft>
                  <a:spcPts val="0"/>
                </a:spcAft>
                <a:buClrTx/>
                <a:buSzTx/>
                <a:buFontTx/>
                <a:buNone/>
                <a:tabLst/>
                <a:defRPr/>
              </a:pPr>
              <a:r>
                <a:rPr lang="pt-BR" sz="1050" dirty="0">
                  <a:solidFill>
                    <a:prstClr val="black"/>
                  </a:solidFill>
                  <a:latin typeface="Calibri"/>
                </a:rPr>
                <a:t>é realizado em 2025</a:t>
              </a:r>
              <a:endParaRPr lang="pt-BR" sz="1800" dirty="0"/>
            </a:p>
          </p:txBody>
        </p:sp>
        <p:sp>
          <p:nvSpPr>
            <p:cNvPr id="525" name="Retângulo 524">
              <a:extLst>
                <a:ext uri="{FF2B5EF4-FFF2-40B4-BE49-F238E27FC236}">
                  <a16:creationId xmlns:a16="http://schemas.microsoft.com/office/drawing/2014/main" id="{A1C0CFF1-6455-5EA4-26AA-CA1872A16AFB}"/>
                </a:ext>
              </a:extLst>
            </p:cNvPr>
            <p:cNvSpPr/>
            <p:nvPr/>
          </p:nvSpPr>
          <p:spPr>
            <a:xfrm>
              <a:off x="104771" y="2316215"/>
              <a:ext cx="2808000" cy="2768969"/>
            </a:xfrm>
            <a:prstGeom prst="rect">
              <a:avLst/>
            </a:prstGeom>
            <a:solidFill>
              <a:schemeClr val="bg1"/>
            </a:solid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7" name="CaixaDeTexto 16">
            <a:extLst>
              <a:ext uri="{FF2B5EF4-FFF2-40B4-BE49-F238E27FC236}">
                <a16:creationId xmlns:a16="http://schemas.microsoft.com/office/drawing/2014/main" id="{EA992B9E-C8A4-8C40-395A-0C0B47E5CBC9}"/>
              </a:ext>
            </a:extLst>
          </p:cNvPr>
          <p:cNvSpPr txBox="1"/>
          <p:nvPr/>
        </p:nvSpPr>
        <p:spPr>
          <a:xfrm>
            <a:off x="104771" y="2008437"/>
            <a:ext cx="2808000" cy="307777"/>
          </a:xfrm>
          <a:prstGeom prst="rect">
            <a:avLst/>
          </a:prstGeom>
          <a:noFill/>
        </p:spPr>
        <p:txBody>
          <a:bodyPr wrap="square" rtlCol="0">
            <a:spAutoFit/>
          </a:bodyPr>
          <a:lstStyle/>
          <a:p>
            <a:pPr algn="ctr"/>
            <a:r>
              <a:rPr lang="pt-BR" sz="1400" b="1" dirty="0"/>
              <a:t>Cenário Base</a:t>
            </a:r>
          </a:p>
        </p:txBody>
      </p:sp>
      <p:grpSp>
        <p:nvGrpSpPr>
          <p:cNvPr id="32" name="Agrupar 31">
            <a:extLst>
              <a:ext uri="{FF2B5EF4-FFF2-40B4-BE49-F238E27FC236}">
                <a16:creationId xmlns:a16="http://schemas.microsoft.com/office/drawing/2014/main" id="{606CC054-4303-54D9-6D92-F49D812CAD96}"/>
              </a:ext>
            </a:extLst>
          </p:cNvPr>
          <p:cNvGrpSpPr/>
          <p:nvPr/>
        </p:nvGrpSpPr>
        <p:grpSpPr>
          <a:xfrm>
            <a:off x="158853" y="2516270"/>
            <a:ext cx="2699837" cy="2568914"/>
            <a:chOff x="83795" y="2516270"/>
            <a:chExt cx="2699837" cy="2568914"/>
          </a:xfrm>
        </p:grpSpPr>
        <p:sp>
          <p:nvSpPr>
            <p:cNvPr id="598" name="CaixaDeTexto 597">
              <a:extLst>
                <a:ext uri="{FF2B5EF4-FFF2-40B4-BE49-F238E27FC236}">
                  <a16:creationId xmlns:a16="http://schemas.microsoft.com/office/drawing/2014/main" id="{65BC9007-CD4F-2926-EA59-DB010C192AE5}"/>
                </a:ext>
              </a:extLst>
            </p:cNvPr>
            <p:cNvSpPr txBox="1"/>
            <p:nvPr/>
          </p:nvSpPr>
          <p:spPr>
            <a:xfrm>
              <a:off x="83795" y="4715852"/>
              <a:ext cx="701692" cy="369332"/>
            </a:xfrm>
            <a:prstGeom prst="rect">
              <a:avLst/>
            </a:prstGeom>
            <a:noFill/>
          </p:spPr>
          <p:txBody>
            <a:bodyPr wrap="square" rtlCol="0">
              <a:spAutoFit/>
            </a:bodyPr>
            <a:lstStyle/>
            <a:p>
              <a:r>
                <a:rPr lang="pt-BR" sz="900" i="1" dirty="0"/>
                <a:t>Impacto financeiro</a:t>
              </a:r>
            </a:p>
          </p:txBody>
        </p:sp>
        <p:cxnSp>
          <p:nvCxnSpPr>
            <p:cNvPr id="12" name="Conector reto 11">
              <a:extLst>
                <a:ext uri="{FF2B5EF4-FFF2-40B4-BE49-F238E27FC236}">
                  <a16:creationId xmlns:a16="http://schemas.microsoft.com/office/drawing/2014/main" id="{9BE68991-DA36-496D-F5E8-68640E4A7275}"/>
                </a:ext>
              </a:extLst>
            </p:cNvPr>
            <p:cNvCxnSpPr>
              <a:cxnSpLocks/>
            </p:cNvCxnSpPr>
            <p:nvPr/>
          </p:nvCxnSpPr>
          <p:spPr>
            <a:xfrm>
              <a:off x="220610" y="4322427"/>
              <a:ext cx="1983039"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CaixaDeTexto 35">
              <a:extLst>
                <a:ext uri="{FF2B5EF4-FFF2-40B4-BE49-F238E27FC236}">
                  <a16:creationId xmlns:a16="http://schemas.microsoft.com/office/drawing/2014/main" id="{CBB09DA3-1251-5154-DCEE-1FB6E405A085}"/>
                </a:ext>
              </a:extLst>
            </p:cNvPr>
            <p:cNvSpPr txBox="1"/>
            <p:nvPr/>
          </p:nvSpPr>
          <p:spPr>
            <a:xfrm>
              <a:off x="924290" y="4121739"/>
              <a:ext cx="575679" cy="230832"/>
            </a:xfrm>
            <a:prstGeom prst="rect">
              <a:avLst/>
            </a:prstGeom>
            <a:noFill/>
          </p:spPr>
          <p:txBody>
            <a:bodyPr wrap="square" rtlCol="0">
              <a:spAutoFit/>
            </a:bodyPr>
            <a:lstStyle/>
            <a:p>
              <a:pPr algn="ctr"/>
              <a:r>
                <a:rPr lang="pt-BR" sz="900" i="1" dirty="0"/>
                <a:t>2025</a:t>
              </a:r>
            </a:p>
          </p:txBody>
        </p:sp>
        <p:sp>
          <p:nvSpPr>
            <p:cNvPr id="529" name="CaixaDeTexto 528">
              <a:extLst>
                <a:ext uri="{FF2B5EF4-FFF2-40B4-BE49-F238E27FC236}">
                  <a16:creationId xmlns:a16="http://schemas.microsoft.com/office/drawing/2014/main" id="{C5B8458F-774C-09C5-5666-4A05949CB3FF}"/>
                </a:ext>
              </a:extLst>
            </p:cNvPr>
            <p:cNvSpPr txBox="1"/>
            <p:nvPr/>
          </p:nvSpPr>
          <p:spPr>
            <a:xfrm>
              <a:off x="773722" y="2564904"/>
              <a:ext cx="876815" cy="246221"/>
            </a:xfrm>
            <a:prstGeom prst="rect">
              <a:avLst/>
            </a:prstGeom>
            <a:noFill/>
          </p:spPr>
          <p:txBody>
            <a:bodyPr wrap="square" rtlCol="0">
              <a:spAutoFit/>
            </a:bodyPr>
            <a:lstStyle/>
            <a:p>
              <a:pPr algn="ctr"/>
              <a:r>
                <a:rPr lang="pt-BR" sz="1000" b="1" dirty="0"/>
                <a:t>Parada 24</a:t>
              </a:r>
            </a:p>
          </p:txBody>
        </p:sp>
        <p:grpSp>
          <p:nvGrpSpPr>
            <p:cNvPr id="520" name="Agrupar 519">
              <a:extLst>
                <a:ext uri="{FF2B5EF4-FFF2-40B4-BE49-F238E27FC236}">
                  <a16:creationId xmlns:a16="http://schemas.microsoft.com/office/drawing/2014/main" id="{8DBCFE0F-3F2C-C3F2-277E-F951F4A5D343}"/>
                </a:ext>
              </a:extLst>
            </p:cNvPr>
            <p:cNvGrpSpPr/>
            <p:nvPr/>
          </p:nvGrpSpPr>
          <p:grpSpPr>
            <a:xfrm>
              <a:off x="643328" y="2999816"/>
              <a:ext cx="1137603" cy="991563"/>
              <a:chOff x="808512" y="2999816"/>
              <a:chExt cx="1137603" cy="991563"/>
            </a:xfrm>
          </p:grpSpPr>
          <p:sp>
            <p:nvSpPr>
              <p:cNvPr id="62" name="Retângulo 61">
                <a:extLst>
                  <a:ext uri="{FF2B5EF4-FFF2-40B4-BE49-F238E27FC236}">
                    <a16:creationId xmlns:a16="http://schemas.microsoft.com/office/drawing/2014/main" id="{EAA2A8D1-5F41-892E-567C-3946CEA88485}"/>
                  </a:ext>
                </a:extLst>
              </p:cNvPr>
              <p:cNvSpPr/>
              <p:nvPr/>
            </p:nvSpPr>
            <p:spPr>
              <a:xfrm>
                <a:off x="809090" y="2999816"/>
                <a:ext cx="673139"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3" name="Retângulo 62">
                <a:extLst>
                  <a:ext uri="{FF2B5EF4-FFF2-40B4-BE49-F238E27FC236}">
                    <a16:creationId xmlns:a16="http://schemas.microsoft.com/office/drawing/2014/main" id="{5F93DFEB-3BC4-F358-3E1B-2433C8982310}"/>
                  </a:ext>
                </a:extLst>
              </p:cNvPr>
              <p:cNvSpPr/>
              <p:nvPr/>
            </p:nvSpPr>
            <p:spPr>
              <a:xfrm>
                <a:off x="808512" y="2999817"/>
                <a:ext cx="667644" cy="6433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6" name="Retângulo 525">
                <a:extLst>
                  <a:ext uri="{FF2B5EF4-FFF2-40B4-BE49-F238E27FC236}">
                    <a16:creationId xmlns:a16="http://schemas.microsoft.com/office/drawing/2014/main" id="{45E0341E-423B-C00D-44AD-7C30369C70DA}"/>
                  </a:ext>
                </a:extLst>
              </p:cNvPr>
              <p:cNvSpPr/>
              <p:nvPr/>
            </p:nvSpPr>
            <p:spPr>
              <a:xfrm>
                <a:off x="1467645" y="2999816"/>
                <a:ext cx="459563"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63C5DF5E-14BA-8D57-F39A-F832E5876CEB}"/>
                  </a:ext>
                </a:extLst>
              </p:cNvPr>
              <p:cNvSpPr txBox="1"/>
              <p:nvPr/>
            </p:nvSpPr>
            <p:spPr>
              <a:xfrm>
                <a:off x="880662" y="3240113"/>
                <a:ext cx="523345" cy="215444"/>
              </a:xfrm>
              <a:prstGeom prst="rect">
                <a:avLst/>
              </a:prstGeom>
              <a:noFill/>
            </p:spPr>
            <p:txBody>
              <a:bodyPr wrap="square" rtlCol="0">
                <a:spAutoFit/>
              </a:bodyPr>
              <a:lstStyle/>
              <a:p>
                <a:pPr algn="ctr"/>
                <a:r>
                  <a:rPr lang="pt-BR" sz="800" dirty="0"/>
                  <a:t>Obra A</a:t>
                </a:r>
              </a:p>
            </p:txBody>
          </p:sp>
          <p:sp>
            <p:nvSpPr>
              <p:cNvPr id="9" name="CaixaDeTexto 8">
                <a:extLst>
                  <a:ext uri="{FF2B5EF4-FFF2-40B4-BE49-F238E27FC236}">
                    <a16:creationId xmlns:a16="http://schemas.microsoft.com/office/drawing/2014/main" id="{8AB04539-57AD-DE1E-E0A2-C1C933C5AE35}"/>
                  </a:ext>
                </a:extLst>
              </p:cNvPr>
              <p:cNvSpPr txBox="1"/>
              <p:nvPr/>
            </p:nvSpPr>
            <p:spPr>
              <a:xfrm>
                <a:off x="904450" y="3703335"/>
                <a:ext cx="475768" cy="215444"/>
              </a:xfrm>
              <a:prstGeom prst="rect">
                <a:avLst/>
              </a:prstGeom>
              <a:noFill/>
            </p:spPr>
            <p:txBody>
              <a:bodyPr wrap="square" rtlCol="0">
                <a:spAutoFit/>
              </a:bodyPr>
              <a:lstStyle/>
              <a:p>
                <a:pPr algn="ctr"/>
                <a:r>
                  <a:rPr lang="pt-BR" sz="800" dirty="0"/>
                  <a:t>Obra B</a:t>
                </a:r>
              </a:p>
            </p:txBody>
          </p:sp>
          <p:sp>
            <p:nvSpPr>
              <p:cNvPr id="10" name="CaixaDeTexto 9">
                <a:extLst>
                  <a:ext uri="{FF2B5EF4-FFF2-40B4-BE49-F238E27FC236}">
                    <a16:creationId xmlns:a16="http://schemas.microsoft.com/office/drawing/2014/main" id="{7FA68661-EB78-A915-17EB-69E0B761C43C}"/>
                  </a:ext>
                </a:extLst>
              </p:cNvPr>
              <p:cNvSpPr txBox="1"/>
              <p:nvPr/>
            </p:nvSpPr>
            <p:spPr>
              <a:xfrm>
                <a:off x="1470347" y="3398195"/>
                <a:ext cx="475768" cy="215444"/>
              </a:xfrm>
              <a:prstGeom prst="rect">
                <a:avLst/>
              </a:prstGeom>
              <a:noFill/>
            </p:spPr>
            <p:txBody>
              <a:bodyPr wrap="square" rtlCol="0">
                <a:spAutoFit/>
              </a:bodyPr>
              <a:lstStyle/>
              <a:p>
                <a:pPr algn="ctr"/>
                <a:r>
                  <a:rPr lang="pt-BR" sz="800" dirty="0"/>
                  <a:t>Obra C</a:t>
                </a:r>
              </a:p>
            </p:txBody>
          </p:sp>
        </p:grpSp>
        <p:sp>
          <p:nvSpPr>
            <p:cNvPr id="4" name="Retângulo 3">
              <a:extLst>
                <a:ext uri="{FF2B5EF4-FFF2-40B4-BE49-F238E27FC236}">
                  <a16:creationId xmlns:a16="http://schemas.microsoft.com/office/drawing/2014/main" id="{BC5451FD-3A91-F1AB-ECA3-688125D3B753}"/>
                </a:ext>
              </a:extLst>
            </p:cNvPr>
            <p:cNvSpPr/>
            <p:nvPr/>
          </p:nvSpPr>
          <p:spPr>
            <a:xfrm>
              <a:off x="510897" y="2516270"/>
              <a:ext cx="1402465"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8" name="Conector reto 47">
              <a:extLst>
                <a:ext uri="{FF2B5EF4-FFF2-40B4-BE49-F238E27FC236}">
                  <a16:creationId xmlns:a16="http://schemas.microsoft.com/office/drawing/2014/main" id="{6AFBF323-2419-60B0-EB25-8B5D07759B5F}"/>
                </a:ext>
              </a:extLst>
            </p:cNvPr>
            <p:cNvCxnSpPr>
              <a:cxnSpLocks/>
            </p:cNvCxnSpPr>
            <p:nvPr/>
          </p:nvCxnSpPr>
          <p:spPr>
            <a:xfrm>
              <a:off x="2279576" y="4322427"/>
              <a:ext cx="504056"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5" name="CaixaDeTexto 514">
              <a:extLst>
                <a:ext uri="{FF2B5EF4-FFF2-40B4-BE49-F238E27FC236}">
                  <a16:creationId xmlns:a16="http://schemas.microsoft.com/office/drawing/2014/main" id="{6ABC8133-92EA-37A6-DA69-AEB40C4B84BF}"/>
                </a:ext>
              </a:extLst>
            </p:cNvPr>
            <p:cNvSpPr txBox="1"/>
            <p:nvPr/>
          </p:nvSpPr>
          <p:spPr>
            <a:xfrm>
              <a:off x="2369127" y="4121739"/>
              <a:ext cx="324955" cy="230832"/>
            </a:xfrm>
            <a:prstGeom prst="rect">
              <a:avLst/>
            </a:prstGeom>
            <a:noFill/>
          </p:spPr>
          <p:txBody>
            <a:bodyPr wrap="square" lIns="36000" rIns="36000" rtlCol="0">
              <a:spAutoFit/>
            </a:bodyPr>
            <a:lstStyle/>
            <a:p>
              <a:pPr algn="ctr"/>
              <a:r>
                <a:rPr lang="pt-BR" sz="900" i="1" dirty="0"/>
                <a:t>2026</a:t>
              </a:r>
            </a:p>
          </p:txBody>
        </p:sp>
        <p:sp>
          <p:nvSpPr>
            <p:cNvPr id="546" name="CaixaDeTexto 545">
              <a:extLst>
                <a:ext uri="{FF2B5EF4-FFF2-40B4-BE49-F238E27FC236}">
                  <a16:creationId xmlns:a16="http://schemas.microsoft.com/office/drawing/2014/main" id="{9AD52AC7-8067-366C-74A6-C27C364C2329}"/>
                </a:ext>
              </a:extLst>
            </p:cNvPr>
            <p:cNvSpPr txBox="1"/>
            <p:nvPr/>
          </p:nvSpPr>
          <p:spPr>
            <a:xfrm>
              <a:off x="785487" y="4785102"/>
              <a:ext cx="853284" cy="230832"/>
            </a:xfrm>
            <a:prstGeom prst="rect">
              <a:avLst/>
            </a:prstGeom>
            <a:noFill/>
          </p:spPr>
          <p:txBody>
            <a:bodyPr wrap="square" rtlCol="0">
              <a:spAutoFit/>
            </a:bodyPr>
            <a:lstStyle/>
            <a:p>
              <a:pPr algn="ctr"/>
              <a:r>
                <a:rPr lang="pt-BR" sz="900" dirty="0"/>
                <a:t>R$ 50MM</a:t>
              </a:r>
            </a:p>
          </p:txBody>
        </p:sp>
        <p:sp>
          <p:nvSpPr>
            <p:cNvPr id="547" name="CaixaDeTexto 546">
              <a:extLst>
                <a:ext uri="{FF2B5EF4-FFF2-40B4-BE49-F238E27FC236}">
                  <a16:creationId xmlns:a16="http://schemas.microsoft.com/office/drawing/2014/main" id="{25A15B8B-E2A9-CD81-920B-0A1EE11055FD}"/>
                </a:ext>
              </a:extLst>
            </p:cNvPr>
            <p:cNvSpPr txBox="1"/>
            <p:nvPr/>
          </p:nvSpPr>
          <p:spPr>
            <a:xfrm>
              <a:off x="2290776" y="4785102"/>
              <a:ext cx="481657" cy="230832"/>
            </a:xfrm>
            <a:prstGeom prst="rect">
              <a:avLst/>
            </a:prstGeom>
            <a:noFill/>
          </p:spPr>
          <p:txBody>
            <a:bodyPr wrap="square" rtlCol="0">
              <a:spAutoFit/>
            </a:bodyPr>
            <a:lstStyle/>
            <a:p>
              <a:pPr algn="ctr"/>
              <a:r>
                <a:rPr lang="pt-BR" sz="900" dirty="0"/>
                <a:t>R$ 0</a:t>
              </a:r>
            </a:p>
          </p:txBody>
        </p:sp>
        <p:sp>
          <p:nvSpPr>
            <p:cNvPr id="19" name="CaixaDeTexto 18">
              <a:extLst>
                <a:ext uri="{FF2B5EF4-FFF2-40B4-BE49-F238E27FC236}">
                  <a16:creationId xmlns:a16="http://schemas.microsoft.com/office/drawing/2014/main" id="{9E059A02-3309-B46E-5A17-F061C5AFD602}"/>
                </a:ext>
              </a:extLst>
            </p:cNvPr>
            <p:cNvSpPr txBox="1"/>
            <p:nvPr/>
          </p:nvSpPr>
          <p:spPr>
            <a:xfrm>
              <a:off x="83795" y="4331764"/>
              <a:ext cx="701692" cy="369332"/>
            </a:xfrm>
            <a:prstGeom prst="rect">
              <a:avLst/>
            </a:prstGeom>
            <a:noFill/>
          </p:spPr>
          <p:txBody>
            <a:bodyPr wrap="square" rtlCol="0">
              <a:spAutoFit/>
            </a:bodyPr>
            <a:lstStyle/>
            <a:p>
              <a:r>
                <a:rPr lang="pt-BR" sz="900" i="1" dirty="0"/>
                <a:t>Duração da Parada</a:t>
              </a:r>
            </a:p>
          </p:txBody>
        </p:sp>
        <p:sp>
          <p:nvSpPr>
            <p:cNvPr id="23" name="CaixaDeTexto 22">
              <a:extLst>
                <a:ext uri="{FF2B5EF4-FFF2-40B4-BE49-F238E27FC236}">
                  <a16:creationId xmlns:a16="http://schemas.microsoft.com/office/drawing/2014/main" id="{51BFDE0A-97BA-53F9-6EC7-C2A0502CAB4A}"/>
                </a:ext>
              </a:extLst>
            </p:cNvPr>
            <p:cNvSpPr txBox="1"/>
            <p:nvPr/>
          </p:nvSpPr>
          <p:spPr>
            <a:xfrm>
              <a:off x="785487" y="4401014"/>
              <a:ext cx="853284" cy="230832"/>
            </a:xfrm>
            <a:prstGeom prst="rect">
              <a:avLst/>
            </a:prstGeom>
            <a:noFill/>
          </p:spPr>
          <p:txBody>
            <a:bodyPr wrap="square" rtlCol="0">
              <a:spAutoFit/>
            </a:bodyPr>
            <a:lstStyle/>
            <a:p>
              <a:pPr algn="ctr"/>
              <a:r>
                <a:rPr lang="pt-BR" sz="900" dirty="0"/>
                <a:t>90 dias</a:t>
              </a:r>
            </a:p>
          </p:txBody>
        </p:sp>
        <p:sp>
          <p:nvSpPr>
            <p:cNvPr id="24" name="CaixaDeTexto 23">
              <a:extLst>
                <a:ext uri="{FF2B5EF4-FFF2-40B4-BE49-F238E27FC236}">
                  <a16:creationId xmlns:a16="http://schemas.microsoft.com/office/drawing/2014/main" id="{7BD2C513-EF8A-A814-6628-5710F127C68E}"/>
                </a:ext>
              </a:extLst>
            </p:cNvPr>
            <p:cNvSpPr txBox="1"/>
            <p:nvPr/>
          </p:nvSpPr>
          <p:spPr>
            <a:xfrm>
              <a:off x="2290776" y="4401014"/>
              <a:ext cx="481657" cy="230832"/>
            </a:xfrm>
            <a:prstGeom prst="rect">
              <a:avLst/>
            </a:prstGeom>
            <a:noFill/>
          </p:spPr>
          <p:txBody>
            <a:bodyPr wrap="square" rtlCol="0">
              <a:spAutoFit/>
            </a:bodyPr>
            <a:lstStyle/>
            <a:p>
              <a:pPr algn="ctr"/>
              <a:r>
                <a:rPr lang="pt-BR" sz="900" dirty="0"/>
                <a:t>0 dias</a:t>
              </a:r>
            </a:p>
          </p:txBody>
        </p:sp>
      </p:grpSp>
      <p:sp>
        <p:nvSpPr>
          <p:cNvPr id="2" name="Retângulo 1">
            <a:extLst>
              <a:ext uri="{FF2B5EF4-FFF2-40B4-BE49-F238E27FC236}">
                <a16:creationId xmlns:a16="http://schemas.microsoft.com/office/drawing/2014/main" id="{C55CDAFD-D41B-663E-39C9-939E52A52E4C}"/>
              </a:ext>
            </a:extLst>
          </p:cNvPr>
          <p:cNvSpPr/>
          <p:nvPr/>
        </p:nvSpPr>
        <p:spPr>
          <a:xfrm>
            <a:off x="3284934" y="2316215"/>
            <a:ext cx="2808000" cy="2768969"/>
          </a:xfrm>
          <a:prstGeom prst="rect">
            <a:avLst/>
          </a:prstGeom>
          <a:solidFill>
            <a:schemeClr val="bg1"/>
          </a:solid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AD3396C8-1AE0-D5EE-24D2-B92941D30EE4}"/>
              </a:ext>
            </a:extLst>
          </p:cNvPr>
          <p:cNvSpPr txBox="1"/>
          <p:nvPr/>
        </p:nvSpPr>
        <p:spPr>
          <a:xfrm>
            <a:off x="3284934" y="2008437"/>
            <a:ext cx="2808000" cy="307777"/>
          </a:xfrm>
          <a:prstGeom prst="rect">
            <a:avLst/>
          </a:prstGeom>
          <a:noFill/>
        </p:spPr>
        <p:txBody>
          <a:bodyPr wrap="square" rtlCol="0">
            <a:spAutoFit/>
          </a:bodyPr>
          <a:lstStyle/>
          <a:p>
            <a:pPr algn="ctr"/>
            <a:r>
              <a:rPr lang="pt-BR" sz="1400" b="1" dirty="0"/>
              <a:t>Cenário Alternativo A</a:t>
            </a:r>
          </a:p>
        </p:txBody>
      </p:sp>
      <p:sp>
        <p:nvSpPr>
          <p:cNvPr id="522" name="Retângulo 521">
            <a:extLst>
              <a:ext uri="{FF2B5EF4-FFF2-40B4-BE49-F238E27FC236}">
                <a16:creationId xmlns:a16="http://schemas.microsoft.com/office/drawing/2014/main" id="{0955A36B-A282-95A9-8CC4-8F8AEB85B3B2}"/>
              </a:ext>
            </a:extLst>
          </p:cNvPr>
          <p:cNvSpPr/>
          <p:nvPr/>
        </p:nvSpPr>
        <p:spPr>
          <a:xfrm>
            <a:off x="3284934" y="5141928"/>
            <a:ext cx="2808000" cy="775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Todo o escopo do cenário base da Parada </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é postergado para 2026</a:t>
            </a:r>
            <a:endParaRPr lang="pt-BR" sz="1800" dirty="0"/>
          </a:p>
        </p:txBody>
      </p:sp>
      <p:grpSp>
        <p:nvGrpSpPr>
          <p:cNvPr id="33" name="Agrupar 32">
            <a:extLst>
              <a:ext uri="{FF2B5EF4-FFF2-40B4-BE49-F238E27FC236}">
                <a16:creationId xmlns:a16="http://schemas.microsoft.com/office/drawing/2014/main" id="{88846644-C25B-1D11-D807-18ED7E440EE2}"/>
              </a:ext>
            </a:extLst>
          </p:cNvPr>
          <p:cNvGrpSpPr/>
          <p:nvPr/>
        </p:nvGrpSpPr>
        <p:grpSpPr>
          <a:xfrm>
            <a:off x="3436884" y="2516270"/>
            <a:ext cx="2504101" cy="2499664"/>
            <a:chOff x="3536559" y="2516270"/>
            <a:chExt cx="2504101" cy="2499664"/>
          </a:xfrm>
        </p:grpSpPr>
        <p:cxnSp>
          <p:nvCxnSpPr>
            <p:cNvPr id="530" name="Conector reto 529">
              <a:extLst>
                <a:ext uri="{FF2B5EF4-FFF2-40B4-BE49-F238E27FC236}">
                  <a16:creationId xmlns:a16="http://schemas.microsoft.com/office/drawing/2014/main" id="{AD2E72B7-215F-F63B-6D75-D0A0626D192B}"/>
                </a:ext>
              </a:extLst>
            </p:cNvPr>
            <p:cNvCxnSpPr>
              <a:cxnSpLocks/>
            </p:cNvCxnSpPr>
            <p:nvPr/>
          </p:nvCxnSpPr>
          <p:spPr>
            <a:xfrm>
              <a:off x="4057621" y="4322427"/>
              <a:ext cx="1983039"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1" name="CaixaDeTexto 530">
              <a:extLst>
                <a:ext uri="{FF2B5EF4-FFF2-40B4-BE49-F238E27FC236}">
                  <a16:creationId xmlns:a16="http://schemas.microsoft.com/office/drawing/2014/main" id="{466D869F-F24F-17FD-7401-4FBD5F965606}"/>
                </a:ext>
              </a:extLst>
            </p:cNvPr>
            <p:cNvSpPr txBox="1"/>
            <p:nvPr/>
          </p:nvSpPr>
          <p:spPr>
            <a:xfrm>
              <a:off x="4761301" y="4121739"/>
              <a:ext cx="575679" cy="230832"/>
            </a:xfrm>
            <a:prstGeom prst="rect">
              <a:avLst/>
            </a:prstGeom>
            <a:noFill/>
          </p:spPr>
          <p:txBody>
            <a:bodyPr wrap="square" rtlCol="0">
              <a:spAutoFit/>
            </a:bodyPr>
            <a:lstStyle/>
            <a:p>
              <a:pPr algn="ctr"/>
              <a:r>
                <a:rPr lang="pt-BR" sz="900" i="1" dirty="0"/>
                <a:t>2026</a:t>
              </a:r>
            </a:p>
          </p:txBody>
        </p:sp>
        <p:sp>
          <p:nvSpPr>
            <p:cNvPr id="532" name="CaixaDeTexto 531">
              <a:extLst>
                <a:ext uri="{FF2B5EF4-FFF2-40B4-BE49-F238E27FC236}">
                  <a16:creationId xmlns:a16="http://schemas.microsoft.com/office/drawing/2014/main" id="{3B0F7183-2708-7DD7-A72E-EFD2350B6E42}"/>
                </a:ext>
              </a:extLst>
            </p:cNvPr>
            <p:cNvSpPr txBox="1"/>
            <p:nvPr/>
          </p:nvSpPr>
          <p:spPr>
            <a:xfrm>
              <a:off x="4610733" y="2564904"/>
              <a:ext cx="876815" cy="246221"/>
            </a:xfrm>
            <a:prstGeom prst="rect">
              <a:avLst/>
            </a:prstGeom>
            <a:noFill/>
          </p:spPr>
          <p:txBody>
            <a:bodyPr wrap="square" rtlCol="0">
              <a:spAutoFit/>
            </a:bodyPr>
            <a:lstStyle/>
            <a:p>
              <a:pPr algn="ctr"/>
              <a:r>
                <a:rPr lang="pt-BR" sz="1000" b="1" dirty="0"/>
                <a:t>Parada 24</a:t>
              </a:r>
            </a:p>
          </p:txBody>
        </p:sp>
        <p:grpSp>
          <p:nvGrpSpPr>
            <p:cNvPr id="533" name="Agrupar 532">
              <a:extLst>
                <a:ext uri="{FF2B5EF4-FFF2-40B4-BE49-F238E27FC236}">
                  <a16:creationId xmlns:a16="http://schemas.microsoft.com/office/drawing/2014/main" id="{12D6F28B-EDF0-BC12-04CB-A27322214D65}"/>
                </a:ext>
              </a:extLst>
            </p:cNvPr>
            <p:cNvGrpSpPr/>
            <p:nvPr/>
          </p:nvGrpSpPr>
          <p:grpSpPr>
            <a:xfrm>
              <a:off x="4480339" y="2999816"/>
              <a:ext cx="1137603" cy="991563"/>
              <a:chOff x="808512" y="2999816"/>
              <a:chExt cx="1137603" cy="991563"/>
            </a:xfrm>
          </p:grpSpPr>
          <p:sp>
            <p:nvSpPr>
              <p:cNvPr id="534" name="Retângulo 533">
                <a:extLst>
                  <a:ext uri="{FF2B5EF4-FFF2-40B4-BE49-F238E27FC236}">
                    <a16:creationId xmlns:a16="http://schemas.microsoft.com/office/drawing/2014/main" id="{3AB1729D-A631-34A9-491C-F8625DD75D5E}"/>
                  </a:ext>
                </a:extLst>
              </p:cNvPr>
              <p:cNvSpPr/>
              <p:nvPr/>
            </p:nvSpPr>
            <p:spPr>
              <a:xfrm>
                <a:off x="809090" y="2999816"/>
                <a:ext cx="673139"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35" name="Retângulo 534">
                <a:extLst>
                  <a:ext uri="{FF2B5EF4-FFF2-40B4-BE49-F238E27FC236}">
                    <a16:creationId xmlns:a16="http://schemas.microsoft.com/office/drawing/2014/main" id="{085EE81E-3903-C494-AE82-0ED5DAD635D9}"/>
                  </a:ext>
                </a:extLst>
              </p:cNvPr>
              <p:cNvSpPr/>
              <p:nvPr/>
            </p:nvSpPr>
            <p:spPr>
              <a:xfrm>
                <a:off x="808512" y="2999817"/>
                <a:ext cx="667644" cy="6433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6" name="Retângulo 535">
                <a:extLst>
                  <a:ext uri="{FF2B5EF4-FFF2-40B4-BE49-F238E27FC236}">
                    <a16:creationId xmlns:a16="http://schemas.microsoft.com/office/drawing/2014/main" id="{B7FB2AA7-A05F-ABB0-545C-DC4F82B6505A}"/>
                  </a:ext>
                </a:extLst>
              </p:cNvPr>
              <p:cNvSpPr/>
              <p:nvPr/>
            </p:nvSpPr>
            <p:spPr>
              <a:xfrm>
                <a:off x="1467645" y="2999816"/>
                <a:ext cx="459563"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7" name="CaixaDeTexto 536">
                <a:extLst>
                  <a:ext uri="{FF2B5EF4-FFF2-40B4-BE49-F238E27FC236}">
                    <a16:creationId xmlns:a16="http://schemas.microsoft.com/office/drawing/2014/main" id="{DC6F9A71-B68C-2C00-7FA6-4EF3FE21EBD2}"/>
                  </a:ext>
                </a:extLst>
              </p:cNvPr>
              <p:cNvSpPr txBox="1"/>
              <p:nvPr/>
            </p:nvSpPr>
            <p:spPr>
              <a:xfrm>
                <a:off x="880662" y="3240113"/>
                <a:ext cx="523345" cy="215444"/>
              </a:xfrm>
              <a:prstGeom prst="rect">
                <a:avLst/>
              </a:prstGeom>
              <a:noFill/>
            </p:spPr>
            <p:txBody>
              <a:bodyPr wrap="square" rtlCol="0">
                <a:spAutoFit/>
              </a:bodyPr>
              <a:lstStyle/>
              <a:p>
                <a:pPr algn="ctr"/>
                <a:r>
                  <a:rPr lang="pt-BR" sz="800" dirty="0"/>
                  <a:t>Obra A</a:t>
                </a:r>
              </a:p>
            </p:txBody>
          </p:sp>
          <p:sp>
            <p:nvSpPr>
              <p:cNvPr id="538" name="CaixaDeTexto 537">
                <a:extLst>
                  <a:ext uri="{FF2B5EF4-FFF2-40B4-BE49-F238E27FC236}">
                    <a16:creationId xmlns:a16="http://schemas.microsoft.com/office/drawing/2014/main" id="{23854123-DD83-DA94-85DD-D4239DD9B071}"/>
                  </a:ext>
                </a:extLst>
              </p:cNvPr>
              <p:cNvSpPr txBox="1"/>
              <p:nvPr/>
            </p:nvSpPr>
            <p:spPr>
              <a:xfrm>
                <a:off x="904450" y="3703335"/>
                <a:ext cx="475768" cy="215444"/>
              </a:xfrm>
              <a:prstGeom prst="rect">
                <a:avLst/>
              </a:prstGeom>
              <a:noFill/>
            </p:spPr>
            <p:txBody>
              <a:bodyPr wrap="square" rtlCol="0">
                <a:spAutoFit/>
              </a:bodyPr>
              <a:lstStyle/>
              <a:p>
                <a:pPr algn="ctr"/>
                <a:r>
                  <a:rPr lang="pt-BR" sz="800" dirty="0"/>
                  <a:t>Obra B</a:t>
                </a:r>
              </a:p>
            </p:txBody>
          </p:sp>
          <p:sp>
            <p:nvSpPr>
              <p:cNvPr id="539" name="CaixaDeTexto 538">
                <a:extLst>
                  <a:ext uri="{FF2B5EF4-FFF2-40B4-BE49-F238E27FC236}">
                    <a16:creationId xmlns:a16="http://schemas.microsoft.com/office/drawing/2014/main" id="{ABE706D0-3AE0-0B3D-8712-2DE81481EEB0}"/>
                  </a:ext>
                </a:extLst>
              </p:cNvPr>
              <p:cNvSpPr txBox="1"/>
              <p:nvPr/>
            </p:nvSpPr>
            <p:spPr>
              <a:xfrm>
                <a:off x="1470347" y="3398195"/>
                <a:ext cx="475768" cy="215444"/>
              </a:xfrm>
              <a:prstGeom prst="rect">
                <a:avLst/>
              </a:prstGeom>
              <a:noFill/>
            </p:spPr>
            <p:txBody>
              <a:bodyPr wrap="square" rtlCol="0">
                <a:spAutoFit/>
              </a:bodyPr>
              <a:lstStyle/>
              <a:p>
                <a:pPr algn="ctr"/>
                <a:r>
                  <a:rPr lang="pt-BR" sz="800" dirty="0"/>
                  <a:t>Obra C</a:t>
                </a:r>
              </a:p>
            </p:txBody>
          </p:sp>
        </p:grpSp>
        <p:sp>
          <p:nvSpPr>
            <p:cNvPr id="540" name="Retângulo 539">
              <a:extLst>
                <a:ext uri="{FF2B5EF4-FFF2-40B4-BE49-F238E27FC236}">
                  <a16:creationId xmlns:a16="http://schemas.microsoft.com/office/drawing/2014/main" id="{59B15EF5-6DAF-14F8-B83B-D35108256C0F}"/>
                </a:ext>
              </a:extLst>
            </p:cNvPr>
            <p:cNvSpPr/>
            <p:nvPr/>
          </p:nvSpPr>
          <p:spPr>
            <a:xfrm>
              <a:off x="4347908" y="2516270"/>
              <a:ext cx="1402465"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41" name="Conector reto 540">
              <a:extLst>
                <a:ext uri="{FF2B5EF4-FFF2-40B4-BE49-F238E27FC236}">
                  <a16:creationId xmlns:a16="http://schemas.microsoft.com/office/drawing/2014/main" id="{F05EC199-C548-4EC9-C28A-E07DE12DE296}"/>
                </a:ext>
              </a:extLst>
            </p:cNvPr>
            <p:cNvCxnSpPr>
              <a:cxnSpLocks/>
            </p:cNvCxnSpPr>
            <p:nvPr/>
          </p:nvCxnSpPr>
          <p:spPr>
            <a:xfrm>
              <a:off x="3536559" y="4322427"/>
              <a:ext cx="504056"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2" name="CaixaDeTexto 541">
              <a:extLst>
                <a:ext uri="{FF2B5EF4-FFF2-40B4-BE49-F238E27FC236}">
                  <a16:creationId xmlns:a16="http://schemas.microsoft.com/office/drawing/2014/main" id="{6F7B5FCB-70CD-AB20-D2BE-D352A07AA83C}"/>
                </a:ext>
              </a:extLst>
            </p:cNvPr>
            <p:cNvSpPr txBox="1"/>
            <p:nvPr/>
          </p:nvSpPr>
          <p:spPr>
            <a:xfrm>
              <a:off x="3626110" y="4121739"/>
              <a:ext cx="324955" cy="230832"/>
            </a:xfrm>
            <a:prstGeom prst="rect">
              <a:avLst/>
            </a:prstGeom>
            <a:noFill/>
          </p:spPr>
          <p:txBody>
            <a:bodyPr wrap="square" lIns="36000" rIns="36000" rtlCol="0">
              <a:spAutoFit/>
            </a:bodyPr>
            <a:lstStyle/>
            <a:p>
              <a:pPr algn="ctr"/>
              <a:r>
                <a:rPr lang="pt-BR" sz="900" i="1" dirty="0"/>
                <a:t>2025</a:t>
              </a:r>
            </a:p>
          </p:txBody>
        </p:sp>
        <p:sp>
          <p:nvSpPr>
            <p:cNvPr id="551" name="CaixaDeTexto 550">
              <a:extLst>
                <a:ext uri="{FF2B5EF4-FFF2-40B4-BE49-F238E27FC236}">
                  <a16:creationId xmlns:a16="http://schemas.microsoft.com/office/drawing/2014/main" id="{8E9F18CB-FC2F-2316-4620-9C4F5457EB28}"/>
                </a:ext>
              </a:extLst>
            </p:cNvPr>
            <p:cNvSpPr txBox="1"/>
            <p:nvPr/>
          </p:nvSpPr>
          <p:spPr>
            <a:xfrm>
              <a:off x="3536559" y="4785102"/>
              <a:ext cx="481657" cy="230832"/>
            </a:xfrm>
            <a:prstGeom prst="rect">
              <a:avLst/>
            </a:prstGeom>
            <a:noFill/>
          </p:spPr>
          <p:txBody>
            <a:bodyPr wrap="square" rtlCol="0">
              <a:spAutoFit/>
            </a:bodyPr>
            <a:lstStyle/>
            <a:p>
              <a:pPr algn="ctr"/>
              <a:r>
                <a:rPr lang="pt-BR" sz="900" dirty="0"/>
                <a:t>R$ 0</a:t>
              </a:r>
            </a:p>
          </p:txBody>
        </p:sp>
        <p:sp>
          <p:nvSpPr>
            <p:cNvPr id="552" name="CaixaDeTexto 551">
              <a:extLst>
                <a:ext uri="{FF2B5EF4-FFF2-40B4-BE49-F238E27FC236}">
                  <a16:creationId xmlns:a16="http://schemas.microsoft.com/office/drawing/2014/main" id="{B5E4DFFA-658B-A624-8473-076C707E7DDE}"/>
                </a:ext>
              </a:extLst>
            </p:cNvPr>
            <p:cNvSpPr txBox="1"/>
            <p:nvPr/>
          </p:nvSpPr>
          <p:spPr>
            <a:xfrm>
              <a:off x="4622498" y="4785102"/>
              <a:ext cx="853284" cy="230832"/>
            </a:xfrm>
            <a:prstGeom prst="rect">
              <a:avLst/>
            </a:prstGeom>
            <a:noFill/>
          </p:spPr>
          <p:txBody>
            <a:bodyPr wrap="square" rtlCol="0">
              <a:spAutoFit/>
            </a:bodyPr>
            <a:lstStyle/>
            <a:p>
              <a:pPr algn="ctr"/>
              <a:r>
                <a:rPr lang="pt-BR" sz="900" dirty="0"/>
                <a:t>R$ 50MM</a:t>
              </a:r>
            </a:p>
          </p:txBody>
        </p:sp>
        <p:sp>
          <p:nvSpPr>
            <p:cNvPr id="26" name="CaixaDeTexto 25">
              <a:extLst>
                <a:ext uri="{FF2B5EF4-FFF2-40B4-BE49-F238E27FC236}">
                  <a16:creationId xmlns:a16="http://schemas.microsoft.com/office/drawing/2014/main" id="{93EAC4E1-C315-66C4-B381-610F1D7A7D07}"/>
                </a:ext>
              </a:extLst>
            </p:cNvPr>
            <p:cNvSpPr txBox="1"/>
            <p:nvPr/>
          </p:nvSpPr>
          <p:spPr>
            <a:xfrm>
              <a:off x="3536559" y="4401014"/>
              <a:ext cx="481657" cy="230832"/>
            </a:xfrm>
            <a:prstGeom prst="rect">
              <a:avLst/>
            </a:prstGeom>
            <a:noFill/>
          </p:spPr>
          <p:txBody>
            <a:bodyPr wrap="square" rtlCol="0">
              <a:spAutoFit/>
            </a:bodyPr>
            <a:lstStyle/>
            <a:p>
              <a:pPr algn="ctr"/>
              <a:r>
                <a:rPr lang="pt-BR" sz="900" dirty="0"/>
                <a:t>0 dias</a:t>
              </a:r>
            </a:p>
          </p:txBody>
        </p:sp>
        <p:sp>
          <p:nvSpPr>
            <p:cNvPr id="27" name="CaixaDeTexto 26">
              <a:extLst>
                <a:ext uri="{FF2B5EF4-FFF2-40B4-BE49-F238E27FC236}">
                  <a16:creationId xmlns:a16="http://schemas.microsoft.com/office/drawing/2014/main" id="{BE6F2585-7A39-3C5C-B5F2-12A444BAE68E}"/>
                </a:ext>
              </a:extLst>
            </p:cNvPr>
            <p:cNvSpPr txBox="1"/>
            <p:nvPr/>
          </p:nvSpPr>
          <p:spPr>
            <a:xfrm>
              <a:off x="4622498" y="4401014"/>
              <a:ext cx="853284" cy="230832"/>
            </a:xfrm>
            <a:prstGeom prst="rect">
              <a:avLst/>
            </a:prstGeom>
            <a:noFill/>
          </p:spPr>
          <p:txBody>
            <a:bodyPr wrap="square" rtlCol="0">
              <a:spAutoFit/>
            </a:bodyPr>
            <a:lstStyle/>
            <a:p>
              <a:pPr algn="ctr"/>
              <a:r>
                <a:rPr lang="pt-BR" sz="900" dirty="0"/>
                <a:t>90 dias</a:t>
              </a:r>
            </a:p>
          </p:txBody>
        </p:sp>
      </p:grpSp>
      <p:sp>
        <p:nvSpPr>
          <p:cNvPr id="8" name="Retângulo 7">
            <a:extLst>
              <a:ext uri="{FF2B5EF4-FFF2-40B4-BE49-F238E27FC236}">
                <a16:creationId xmlns:a16="http://schemas.microsoft.com/office/drawing/2014/main" id="{2E931250-2662-AAF2-D1E7-EB9EBC80A714}"/>
              </a:ext>
            </a:extLst>
          </p:cNvPr>
          <p:cNvSpPr/>
          <p:nvPr/>
        </p:nvSpPr>
        <p:spPr>
          <a:xfrm>
            <a:off x="6263478" y="2316215"/>
            <a:ext cx="2808000" cy="2768969"/>
          </a:xfrm>
          <a:prstGeom prst="rect">
            <a:avLst/>
          </a:prstGeom>
          <a:solidFill>
            <a:schemeClr val="bg1"/>
          </a:solid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0EE1E627-E4E2-812B-3421-3A318608E667}"/>
              </a:ext>
            </a:extLst>
          </p:cNvPr>
          <p:cNvSpPr txBox="1"/>
          <p:nvPr/>
        </p:nvSpPr>
        <p:spPr>
          <a:xfrm>
            <a:off x="6263478" y="2008437"/>
            <a:ext cx="2808000" cy="307777"/>
          </a:xfrm>
          <a:prstGeom prst="rect">
            <a:avLst/>
          </a:prstGeom>
          <a:noFill/>
        </p:spPr>
        <p:txBody>
          <a:bodyPr wrap="square" rtlCol="0">
            <a:spAutoFit/>
          </a:bodyPr>
          <a:lstStyle/>
          <a:p>
            <a:pPr algn="ctr"/>
            <a:r>
              <a:rPr lang="pt-BR" sz="1400" b="1" dirty="0"/>
              <a:t>Cenário Alternativo B</a:t>
            </a:r>
          </a:p>
        </p:txBody>
      </p:sp>
      <p:sp>
        <p:nvSpPr>
          <p:cNvPr id="523" name="Retângulo 522">
            <a:extLst>
              <a:ext uri="{FF2B5EF4-FFF2-40B4-BE49-F238E27FC236}">
                <a16:creationId xmlns:a16="http://schemas.microsoft.com/office/drawing/2014/main" id="{9518B29B-AADF-6908-69CC-77D8234463A1}"/>
              </a:ext>
            </a:extLst>
          </p:cNvPr>
          <p:cNvSpPr/>
          <p:nvPr/>
        </p:nvSpPr>
        <p:spPr>
          <a:xfrm>
            <a:off x="6263478" y="5141928"/>
            <a:ext cx="2808000" cy="775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Obras A e B permanecem em 2025, enquanto a Obra C é postergada para 2026</a:t>
            </a:r>
            <a:endParaRPr lang="pt-BR" sz="1800" dirty="0"/>
          </a:p>
        </p:txBody>
      </p:sp>
      <p:grpSp>
        <p:nvGrpSpPr>
          <p:cNvPr id="46" name="Agrupar 45">
            <a:extLst>
              <a:ext uri="{FF2B5EF4-FFF2-40B4-BE49-F238E27FC236}">
                <a16:creationId xmlns:a16="http://schemas.microsoft.com/office/drawing/2014/main" id="{D3CC15F4-59F6-0629-2470-4A20405755C7}"/>
              </a:ext>
            </a:extLst>
          </p:cNvPr>
          <p:cNvGrpSpPr/>
          <p:nvPr/>
        </p:nvGrpSpPr>
        <p:grpSpPr>
          <a:xfrm>
            <a:off x="6376262" y="2516270"/>
            <a:ext cx="2582432" cy="2499664"/>
            <a:chOff x="6437372" y="2516270"/>
            <a:chExt cx="2582432" cy="2499664"/>
          </a:xfrm>
        </p:grpSpPr>
        <p:cxnSp>
          <p:nvCxnSpPr>
            <p:cNvPr id="560" name="Conector reto 559">
              <a:extLst>
                <a:ext uri="{FF2B5EF4-FFF2-40B4-BE49-F238E27FC236}">
                  <a16:creationId xmlns:a16="http://schemas.microsoft.com/office/drawing/2014/main" id="{A82175A6-4C1D-DA6A-F8E7-72ED9E0E7FAF}"/>
                </a:ext>
              </a:extLst>
            </p:cNvPr>
            <p:cNvCxnSpPr>
              <a:cxnSpLocks/>
            </p:cNvCxnSpPr>
            <p:nvPr/>
          </p:nvCxnSpPr>
          <p:spPr>
            <a:xfrm>
              <a:off x="7759804" y="4322427"/>
              <a:ext cx="1260000"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1" name="CaixaDeTexto 560">
              <a:extLst>
                <a:ext uri="{FF2B5EF4-FFF2-40B4-BE49-F238E27FC236}">
                  <a16:creationId xmlns:a16="http://schemas.microsoft.com/office/drawing/2014/main" id="{92BE9840-96FD-F869-7E44-23E98744960D}"/>
                </a:ext>
              </a:extLst>
            </p:cNvPr>
            <p:cNvSpPr txBox="1"/>
            <p:nvPr/>
          </p:nvSpPr>
          <p:spPr>
            <a:xfrm>
              <a:off x="8101965" y="4121739"/>
              <a:ext cx="575679" cy="230832"/>
            </a:xfrm>
            <a:prstGeom prst="rect">
              <a:avLst/>
            </a:prstGeom>
            <a:noFill/>
          </p:spPr>
          <p:txBody>
            <a:bodyPr wrap="square" rtlCol="0">
              <a:spAutoFit/>
            </a:bodyPr>
            <a:lstStyle/>
            <a:p>
              <a:pPr algn="ctr"/>
              <a:r>
                <a:rPr lang="pt-BR" sz="900" i="1" dirty="0"/>
                <a:t>2026</a:t>
              </a:r>
            </a:p>
          </p:txBody>
        </p:sp>
        <p:sp>
          <p:nvSpPr>
            <p:cNvPr id="563" name="CaixaDeTexto 562">
              <a:extLst>
                <a:ext uri="{FF2B5EF4-FFF2-40B4-BE49-F238E27FC236}">
                  <a16:creationId xmlns:a16="http://schemas.microsoft.com/office/drawing/2014/main" id="{9F59BBC3-400C-41AB-CADF-549CF250FF63}"/>
                </a:ext>
              </a:extLst>
            </p:cNvPr>
            <p:cNvSpPr txBox="1"/>
            <p:nvPr/>
          </p:nvSpPr>
          <p:spPr>
            <a:xfrm>
              <a:off x="6649604" y="2564904"/>
              <a:ext cx="876815" cy="246221"/>
            </a:xfrm>
            <a:prstGeom prst="rect">
              <a:avLst/>
            </a:prstGeom>
            <a:noFill/>
          </p:spPr>
          <p:txBody>
            <a:bodyPr wrap="square" rtlCol="0">
              <a:spAutoFit/>
            </a:bodyPr>
            <a:lstStyle/>
            <a:p>
              <a:pPr algn="ctr"/>
              <a:r>
                <a:rPr lang="pt-BR" sz="1000" b="1" dirty="0"/>
                <a:t>Parada 24</a:t>
              </a:r>
            </a:p>
          </p:txBody>
        </p:sp>
        <p:sp>
          <p:nvSpPr>
            <p:cNvPr id="565" name="Retângulo 564">
              <a:extLst>
                <a:ext uri="{FF2B5EF4-FFF2-40B4-BE49-F238E27FC236}">
                  <a16:creationId xmlns:a16="http://schemas.microsoft.com/office/drawing/2014/main" id="{0D82744D-708C-D430-93CC-136B100A9C52}"/>
                </a:ext>
              </a:extLst>
            </p:cNvPr>
            <p:cNvSpPr/>
            <p:nvPr/>
          </p:nvSpPr>
          <p:spPr>
            <a:xfrm>
              <a:off x="6437372" y="2516270"/>
              <a:ext cx="1274968"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72" name="Conector reto 571">
              <a:extLst>
                <a:ext uri="{FF2B5EF4-FFF2-40B4-BE49-F238E27FC236}">
                  <a16:creationId xmlns:a16="http://schemas.microsoft.com/office/drawing/2014/main" id="{9FC0FDE6-CB2A-4968-7651-C5ADB3DD287E}"/>
                </a:ext>
              </a:extLst>
            </p:cNvPr>
            <p:cNvCxnSpPr>
              <a:cxnSpLocks/>
            </p:cNvCxnSpPr>
            <p:nvPr/>
          </p:nvCxnSpPr>
          <p:spPr>
            <a:xfrm>
              <a:off x="6458011" y="4322427"/>
              <a:ext cx="1260000"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3" name="CaixaDeTexto 572">
              <a:extLst>
                <a:ext uri="{FF2B5EF4-FFF2-40B4-BE49-F238E27FC236}">
                  <a16:creationId xmlns:a16="http://schemas.microsoft.com/office/drawing/2014/main" id="{88A6BD85-D601-0F86-F4F0-57CCB073FB21}"/>
                </a:ext>
              </a:extLst>
            </p:cNvPr>
            <p:cNvSpPr txBox="1"/>
            <p:nvPr/>
          </p:nvSpPr>
          <p:spPr>
            <a:xfrm>
              <a:off x="6925534" y="4121739"/>
              <a:ext cx="324955" cy="230832"/>
            </a:xfrm>
            <a:prstGeom prst="rect">
              <a:avLst/>
            </a:prstGeom>
            <a:noFill/>
          </p:spPr>
          <p:txBody>
            <a:bodyPr wrap="square" lIns="36000" rIns="36000" rtlCol="0">
              <a:spAutoFit/>
            </a:bodyPr>
            <a:lstStyle/>
            <a:p>
              <a:pPr algn="ctr"/>
              <a:r>
                <a:rPr lang="pt-BR" sz="900" i="1" dirty="0"/>
                <a:t>2025</a:t>
              </a:r>
            </a:p>
          </p:txBody>
        </p:sp>
        <p:sp>
          <p:nvSpPr>
            <p:cNvPr id="568" name="Retângulo 567">
              <a:extLst>
                <a:ext uri="{FF2B5EF4-FFF2-40B4-BE49-F238E27FC236}">
                  <a16:creationId xmlns:a16="http://schemas.microsoft.com/office/drawing/2014/main" id="{D22F4EB7-3429-EC86-3DDE-B3F4A7C17EA0}"/>
                </a:ext>
              </a:extLst>
            </p:cNvPr>
            <p:cNvSpPr/>
            <p:nvPr/>
          </p:nvSpPr>
          <p:spPr>
            <a:xfrm>
              <a:off x="8160023" y="2999816"/>
              <a:ext cx="459563"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1" name="CaixaDeTexto 570">
              <a:extLst>
                <a:ext uri="{FF2B5EF4-FFF2-40B4-BE49-F238E27FC236}">
                  <a16:creationId xmlns:a16="http://schemas.microsoft.com/office/drawing/2014/main" id="{573D9DCD-E0CC-2316-B37D-3C911E1D0383}"/>
                </a:ext>
              </a:extLst>
            </p:cNvPr>
            <p:cNvSpPr txBox="1"/>
            <p:nvPr/>
          </p:nvSpPr>
          <p:spPr>
            <a:xfrm>
              <a:off x="8151920" y="3398195"/>
              <a:ext cx="475768" cy="215444"/>
            </a:xfrm>
            <a:prstGeom prst="rect">
              <a:avLst/>
            </a:prstGeom>
            <a:noFill/>
          </p:spPr>
          <p:txBody>
            <a:bodyPr wrap="square" rtlCol="0">
              <a:spAutoFit/>
            </a:bodyPr>
            <a:lstStyle/>
            <a:p>
              <a:pPr algn="ctr"/>
              <a:r>
                <a:rPr lang="pt-BR" sz="800" dirty="0"/>
                <a:t>Obra C</a:t>
              </a:r>
            </a:p>
          </p:txBody>
        </p:sp>
        <p:sp>
          <p:nvSpPr>
            <p:cNvPr id="578" name="CaixaDeTexto 577">
              <a:extLst>
                <a:ext uri="{FF2B5EF4-FFF2-40B4-BE49-F238E27FC236}">
                  <a16:creationId xmlns:a16="http://schemas.microsoft.com/office/drawing/2014/main" id="{96A58639-0A82-CB26-45A7-12D776A85ED4}"/>
                </a:ext>
              </a:extLst>
            </p:cNvPr>
            <p:cNvSpPr txBox="1"/>
            <p:nvPr/>
          </p:nvSpPr>
          <p:spPr>
            <a:xfrm>
              <a:off x="7951397" y="2564904"/>
              <a:ext cx="876815" cy="246221"/>
            </a:xfrm>
            <a:prstGeom prst="rect">
              <a:avLst/>
            </a:prstGeom>
            <a:noFill/>
          </p:spPr>
          <p:txBody>
            <a:bodyPr wrap="square" rtlCol="0">
              <a:spAutoFit/>
            </a:bodyPr>
            <a:lstStyle/>
            <a:p>
              <a:pPr algn="ctr"/>
              <a:r>
                <a:rPr lang="pt-BR" sz="1000" b="1" dirty="0"/>
                <a:t>Nova Parada</a:t>
              </a:r>
            </a:p>
          </p:txBody>
        </p:sp>
        <p:sp>
          <p:nvSpPr>
            <p:cNvPr id="579" name="Retângulo 578">
              <a:extLst>
                <a:ext uri="{FF2B5EF4-FFF2-40B4-BE49-F238E27FC236}">
                  <a16:creationId xmlns:a16="http://schemas.microsoft.com/office/drawing/2014/main" id="{6D57A536-D5E9-9B22-A134-52381A61F08A}"/>
                </a:ext>
              </a:extLst>
            </p:cNvPr>
            <p:cNvSpPr/>
            <p:nvPr/>
          </p:nvSpPr>
          <p:spPr>
            <a:xfrm>
              <a:off x="7993977" y="2516270"/>
              <a:ext cx="791655"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C3539A84-423A-BF73-7CE1-68F1B06D540F}"/>
                </a:ext>
              </a:extLst>
            </p:cNvPr>
            <p:cNvSpPr/>
            <p:nvPr/>
          </p:nvSpPr>
          <p:spPr>
            <a:xfrm>
              <a:off x="7171117" y="2999816"/>
              <a:ext cx="459563" cy="991563"/>
            </a:xfrm>
            <a:prstGeom prst="rect">
              <a:avLst/>
            </a:prstGeom>
            <a:pattFill prst="dkDnDiag">
              <a:fgClr>
                <a:schemeClr val="bg1">
                  <a:lumMod val="85000"/>
                </a:schemeClr>
              </a:fgClr>
              <a:bgClr>
                <a:schemeClr val="bg1"/>
              </a:bgClr>
            </a:patt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Elipse 19">
              <a:extLst>
                <a:ext uri="{FF2B5EF4-FFF2-40B4-BE49-F238E27FC236}">
                  <a16:creationId xmlns:a16="http://schemas.microsoft.com/office/drawing/2014/main" id="{6270B0DB-5397-0EC4-BF65-57FB583FF884}"/>
                </a:ext>
              </a:extLst>
            </p:cNvPr>
            <p:cNvSpPr/>
            <p:nvPr/>
          </p:nvSpPr>
          <p:spPr>
            <a:xfrm>
              <a:off x="7377524" y="2975603"/>
              <a:ext cx="46749" cy="467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Elipse 20">
              <a:extLst>
                <a:ext uri="{FF2B5EF4-FFF2-40B4-BE49-F238E27FC236}">
                  <a16:creationId xmlns:a16="http://schemas.microsoft.com/office/drawing/2014/main" id="{37B97DE5-8BCD-F9D9-0CB4-C8CB897F331A}"/>
                </a:ext>
              </a:extLst>
            </p:cNvPr>
            <p:cNvSpPr/>
            <p:nvPr/>
          </p:nvSpPr>
          <p:spPr>
            <a:xfrm>
              <a:off x="8366430" y="2975603"/>
              <a:ext cx="46749" cy="467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5" name="Conector: Curvo 24">
              <a:extLst>
                <a:ext uri="{FF2B5EF4-FFF2-40B4-BE49-F238E27FC236}">
                  <a16:creationId xmlns:a16="http://schemas.microsoft.com/office/drawing/2014/main" id="{9C5BA573-BBF2-0C63-64D9-FC9B812A23EF}"/>
                </a:ext>
              </a:extLst>
            </p:cNvPr>
            <p:cNvCxnSpPr>
              <a:cxnSpLocks/>
              <a:stCxn id="20" idx="0"/>
              <a:endCxn id="21" idx="0"/>
            </p:cNvCxnSpPr>
            <p:nvPr/>
          </p:nvCxnSpPr>
          <p:spPr>
            <a:xfrm rot="5400000" flipH="1" flipV="1">
              <a:off x="7895352" y="2481150"/>
              <a:ext cx="12700" cy="988906"/>
            </a:xfrm>
            <a:prstGeom prst="curvedConnector3">
              <a:avLst>
                <a:gd name="adj1" fmla="val 1450000"/>
              </a:avLst>
            </a:prstGeom>
            <a:ln w="635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Retângulo 12">
              <a:extLst>
                <a:ext uri="{FF2B5EF4-FFF2-40B4-BE49-F238E27FC236}">
                  <a16:creationId xmlns:a16="http://schemas.microsoft.com/office/drawing/2014/main" id="{699C6191-7187-5AA6-8A5A-A5A88CEC1560}"/>
                </a:ext>
              </a:extLst>
            </p:cNvPr>
            <p:cNvSpPr/>
            <p:nvPr/>
          </p:nvSpPr>
          <p:spPr>
            <a:xfrm>
              <a:off x="6512562" y="2999816"/>
              <a:ext cx="673139"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Retângulo 13">
              <a:extLst>
                <a:ext uri="{FF2B5EF4-FFF2-40B4-BE49-F238E27FC236}">
                  <a16:creationId xmlns:a16="http://schemas.microsoft.com/office/drawing/2014/main" id="{0063E7DE-B82A-9E58-8B5B-6E8B9B03B170}"/>
                </a:ext>
              </a:extLst>
            </p:cNvPr>
            <p:cNvSpPr/>
            <p:nvPr/>
          </p:nvSpPr>
          <p:spPr>
            <a:xfrm>
              <a:off x="6511984" y="2999817"/>
              <a:ext cx="667644" cy="6433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CaixaDeTexto 15">
              <a:extLst>
                <a:ext uri="{FF2B5EF4-FFF2-40B4-BE49-F238E27FC236}">
                  <a16:creationId xmlns:a16="http://schemas.microsoft.com/office/drawing/2014/main" id="{E9C7D0E4-B0E7-1065-0DC6-C64DA7F9685F}"/>
                </a:ext>
              </a:extLst>
            </p:cNvPr>
            <p:cNvSpPr txBox="1"/>
            <p:nvPr/>
          </p:nvSpPr>
          <p:spPr>
            <a:xfrm>
              <a:off x="6584134" y="3240113"/>
              <a:ext cx="523345" cy="215444"/>
            </a:xfrm>
            <a:prstGeom prst="rect">
              <a:avLst/>
            </a:prstGeom>
            <a:noFill/>
          </p:spPr>
          <p:txBody>
            <a:bodyPr wrap="square" rtlCol="0">
              <a:spAutoFit/>
            </a:bodyPr>
            <a:lstStyle/>
            <a:p>
              <a:pPr algn="ctr"/>
              <a:r>
                <a:rPr lang="pt-BR" sz="800" dirty="0"/>
                <a:t>Obra A</a:t>
              </a:r>
            </a:p>
          </p:txBody>
        </p:sp>
        <p:sp>
          <p:nvSpPr>
            <p:cNvPr id="18" name="CaixaDeTexto 17">
              <a:extLst>
                <a:ext uri="{FF2B5EF4-FFF2-40B4-BE49-F238E27FC236}">
                  <a16:creationId xmlns:a16="http://schemas.microsoft.com/office/drawing/2014/main" id="{A013A02C-A6DD-5F65-7479-10CE6228DC88}"/>
                </a:ext>
              </a:extLst>
            </p:cNvPr>
            <p:cNvSpPr txBox="1"/>
            <p:nvPr/>
          </p:nvSpPr>
          <p:spPr>
            <a:xfrm>
              <a:off x="6607922" y="3703335"/>
              <a:ext cx="475768" cy="215444"/>
            </a:xfrm>
            <a:prstGeom prst="rect">
              <a:avLst/>
            </a:prstGeom>
            <a:noFill/>
          </p:spPr>
          <p:txBody>
            <a:bodyPr wrap="square" rtlCol="0">
              <a:spAutoFit/>
            </a:bodyPr>
            <a:lstStyle/>
            <a:p>
              <a:pPr algn="ctr"/>
              <a:r>
                <a:rPr lang="pt-BR" sz="800" dirty="0"/>
                <a:t>Obra B</a:t>
              </a:r>
            </a:p>
          </p:txBody>
        </p:sp>
        <p:sp>
          <p:nvSpPr>
            <p:cNvPr id="553" name="CaixaDeTexto 552">
              <a:extLst>
                <a:ext uri="{FF2B5EF4-FFF2-40B4-BE49-F238E27FC236}">
                  <a16:creationId xmlns:a16="http://schemas.microsoft.com/office/drawing/2014/main" id="{83C4604A-759F-25DF-6FC0-7E8B745952BB}"/>
                </a:ext>
              </a:extLst>
            </p:cNvPr>
            <p:cNvSpPr txBox="1"/>
            <p:nvPr/>
          </p:nvSpPr>
          <p:spPr>
            <a:xfrm>
              <a:off x="6661369" y="4785102"/>
              <a:ext cx="853284" cy="230832"/>
            </a:xfrm>
            <a:prstGeom prst="rect">
              <a:avLst/>
            </a:prstGeom>
            <a:noFill/>
          </p:spPr>
          <p:txBody>
            <a:bodyPr wrap="square" rtlCol="0">
              <a:spAutoFit/>
            </a:bodyPr>
            <a:lstStyle/>
            <a:p>
              <a:pPr algn="ctr"/>
              <a:r>
                <a:rPr lang="pt-BR" sz="900" dirty="0"/>
                <a:t>R$ 30MM</a:t>
              </a:r>
            </a:p>
          </p:txBody>
        </p:sp>
        <p:sp>
          <p:nvSpPr>
            <p:cNvPr id="554" name="CaixaDeTexto 553">
              <a:extLst>
                <a:ext uri="{FF2B5EF4-FFF2-40B4-BE49-F238E27FC236}">
                  <a16:creationId xmlns:a16="http://schemas.microsoft.com/office/drawing/2014/main" id="{501A8A19-394A-372A-0353-CCFB8C2EA43C}"/>
                </a:ext>
              </a:extLst>
            </p:cNvPr>
            <p:cNvSpPr txBox="1"/>
            <p:nvPr/>
          </p:nvSpPr>
          <p:spPr>
            <a:xfrm>
              <a:off x="7963162" y="4785102"/>
              <a:ext cx="853284" cy="230832"/>
            </a:xfrm>
            <a:prstGeom prst="rect">
              <a:avLst/>
            </a:prstGeom>
            <a:noFill/>
          </p:spPr>
          <p:txBody>
            <a:bodyPr wrap="square" rtlCol="0">
              <a:spAutoFit/>
            </a:bodyPr>
            <a:lstStyle/>
            <a:p>
              <a:pPr algn="ctr"/>
              <a:r>
                <a:rPr lang="pt-BR" sz="900" dirty="0"/>
                <a:t>R$ 20MM</a:t>
              </a:r>
            </a:p>
          </p:txBody>
        </p:sp>
        <p:sp>
          <p:nvSpPr>
            <p:cNvPr id="28" name="CaixaDeTexto 27">
              <a:extLst>
                <a:ext uri="{FF2B5EF4-FFF2-40B4-BE49-F238E27FC236}">
                  <a16:creationId xmlns:a16="http://schemas.microsoft.com/office/drawing/2014/main" id="{1A1AB62A-726E-45D9-77F1-BDE104C9A1A5}"/>
                </a:ext>
              </a:extLst>
            </p:cNvPr>
            <p:cNvSpPr txBox="1"/>
            <p:nvPr/>
          </p:nvSpPr>
          <p:spPr>
            <a:xfrm>
              <a:off x="6661369" y="4401014"/>
              <a:ext cx="853284" cy="230832"/>
            </a:xfrm>
            <a:prstGeom prst="rect">
              <a:avLst/>
            </a:prstGeom>
            <a:noFill/>
          </p:spPr>
          <p:txBody>
            <a:bodyPr wrap="square" rtlCol="0">
              <a:spAutoFit/>
            </a:bodyPr>
            <a:lstStyle/>
            <a:p>
              <a:pPr algn="ctr"/>
              <a:r>
                <a:rPr lang="pt-BR" sz="900" dirty="0"/>
                <a:t>60 dias</a:t>
              </a:r>
            </a:p>
          </p:txBody>
        </p:sp>
        <p:sp>
          <p:nvSpPr>
            <p:cNvPr id="29" name="CaixaDeTexto 28">
              <a:extLst>
                <a:ext uri="{FF2B5EF4-FFF2-40B4-BE49-F238E27FC236}">
                  <a16:creationId xmlns:a16="http://schemas.microsoft.com/office/drawing/2014/main" id="{4179062D-E52F-14FB-3AF2-D8FF59971A04}"/>
                </a:ext>
              </a:extLst>
            </p:cNvPr>
            <p:cNvSpPr txBox="1"/>
            <p:nvPr/>
          </p:nvSpPr>
          <p:spPr>
            <a:xfrm>
              <a:off x="7963162" y="4401014"/>
              <a:ext cx="853284" cy="230832"/>
            </a:xfrm>
            <a:prstGeom prst="rect">
              <a:avLst/>
            </a:prstGeom>
            <a:noFill/>
          </p:spPr>
          <p:txBody>
            <a:bodyPr wrap="square" rtlCol="0">
              <a:spAutoFit/>
            </a:bodyPr>
            <a:lstStyle/>
            <a:p>
              <a:pPr algn="ctr"/>
              <a:r>
                <a:rPr lang="pt-BR" sz="900" dirty="0"/>
                <a:t>30 dias</a:t>
              </a:r>
            </a:p>
          </p:txBody>
        </p:sp>
      </p:grpSp>
      <p:sp>
        <p:nvSpPr>
          <p:cNvPr id="44" name="Retângulo 43">
            <a:extLst>
              <a:ext uri="{FF2B5EF4-FFF2-40B4-BE49-F238E27FC236}">
                <a16:creationId xmlns:a16="http://schemas.microsoft.com/office/drawing/2014/main" id="{8B608440-5E78-82CF-7799-D9B58F2F0390}"/>
              </a:ext>
            </a:extLst>
          </p:cNvPr>
          <p:cNvSpPr/>
          <p:nvPr/>
        </p:nvSpPr>
        <p:spPr>
          <a:xfrm>
            <a:off x="9242021" y="2316215"/>
            <a:ext cx="2808000" cy="2768969"/>
          </a:xfrm>
          <a:prstGeom prst="rect">
            <a:avLst/>
          </a:prstGeom>
          <a:solidFill>
            <a:schemeClr val="bg1"/>
          </a:solidFill>
          <a:ln w="6350">
            <a:solidFill>
              <a:schemeClr val="bg1">
                <a:lumMod val="8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CaixaDeTexto 44">
            <a:extLst>
              <a:ext uri="{FF2B5EF4-FFF2-40B4-BE49-F238E27FC236}">
                <a16:creationId xmlns:a16="http://schemas.microsoft.com/office/drawing/2014/main" id="{64B2C939-F6EB-64F5-B2F6-343CEA710E2D}"/>
              </a:ext>
            </a:extLst>
          </p:cNvPr>
          <p:cNvSpPr txBox="1"/>
          <p:nvPr/>
        </p:nvSpPr>
        <p:spPr>
          <a:xfrm>
            <a:off x="9242021" y="2008437"/>
            <a:ext cx="2808000" cy="307777"/>
          </a:xfrm>
          <a:prstGeom prst="rect">
            <a:avLst/>
          </a:prstGeom>
          <a:noFill/>
        </p:spPr>
        <p:txBody>
          <a:bodyPr wrap="square" rtlCol="0">
            <a:spAutoFit/>
          </a:bodyPr>
          <a:lstStyle/>
          <a:p>
            <a:pPr algn="ctr"/>
            <a:r>
              <a:rPr lang="pt-BR" sz="1400" b="1" dirty="0"/>
              <a:t>Cenário Alternativo C</a:t>
            </a:r>
          </a:p>
        </p:txBody>
      </p:sp>
      <p:sp>
        <p:nvSpPr>
          <p:cNvPr id="527" name="Retângulo 526">
            <a:extLst>
              <a:ext uri="{FF2B5EF4-FFF2-40B4-BE49-F238E27FC236}">
                <a16:creationId xmlns:a16="http://schemas.microsoft.com/office/drawing/2014/main" id="{D51541C3-2168-A0F5-6DB2-228041F9C715}"/>
              </a:ext>
            </a:extLst>
          </p:cNvPr>
          <p:cNvSpPr/>
          <p:nvPr/>
        </p:nvSpPr>
        <p:spPr>
          <a:xfrm>
            <a:off x="9242021" y="5141928"/>
            <a:ext cx="2808000" cy="77563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Obras A, B e parte da Obra C </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permanecem em 2025; </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Escopo restante da Obra C </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é postergado para 2026</a:t>
            </a:r>
            <a:endParaRPr lang="pt-BR" sz="1800" dirty="0"/>
          </a:p>
        </p:txBody>
      </p:sp>
      <p:grpSp>
        <p:nvGrpSpPr>
          <p:cNvPr id="47" name="Agrupar 46">
            <a:extLst>
              <a:ext uri="{FF2B5EF4-FFF2-40B4-BE49-F238E27FC236}">
                <a16:creationId xmlns:a16="http://schemas.microsoft.com/office/drawing/2014/main" id="{55057B5B-506A-F4B9-A8B8-483FCCD1FE17}"/>
              </a:ext>
            </a:extLst>
          </p:cNvPr>
          <p:cNvGrpSpPr/>
          <p:nvPr/>
        </p:nvGrpSpPr>
        <p:grpSpPr>
          <a:xfrm>
            <a:off x="9354805" y="2516270"/>
            <a:ext cx="2582432" cy="2499664"/>
            <a:chOff x="9483257" y="2516270"/>
            <a:chExt cx="2582432" cy="2499664"/>
          </a:xfrm>
        </p:grpSpPr>
        <p:cxnSp>
          <p:nvCxnSpPr>
            <p:cNvPr id="34" name="Conector reto 33">
              <a:extLst>
                <a:ext uri="{FF2B5EF4-FFF2-40B4-BE49-F238E27FC236}">
                  <a16:creationId xmlns:a16="http://schemas.microsoft.com/office/drawing/2014/main" id="{3C829C80-E5EB-9715-2AF3-A27890CF9C2C}"/>
                </a:ext>
              </a:extLst>
            </p:cNvPr>
            <p:cNvCxnSpPr>
              <a:cxnSpLocks/>
            </p:cNvCxnSpPr>
            <p:nvPr/>
          </p:nvCxnSpPr>
          <p:spPr>
            <a:xfrm>
              <a:off x="10805689" y="4322427"/>
              <a:ext cx="1260000"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B8875B87-D33F-31EC-038B-4032AB4FE429}"/>
                </a:ext>
              </a:extLst>
            </p:cNvPr>
            <p:cNvSpPr txBox="1"/>
            <p:nvPr/>
          </p:nvSpPr>
          <p:spPr>
            <a:xfrm>
              <a:off x="11147850" y="4121739"/>
              <a:ext cx="575679" cy="230832"/>
            </a:xfrm>
            <a:prstGeom prst="rect">
              <a:avLst/>
            </a:prstGeom>
            <a:noFill/>
          </p:spPr>
          <p:txBody>
            <a:bodyPr wrap="square" rtlCol="0">
              <a:spAutoFit/>
            </a:bodyPr>
            <a:lstStyle/>
            <a:p>
              <a:pPr algn="ctr"/>
              <a:r>
                <a:rPr lang="pt-BR" sz="900" i="1" dirty="0"/>
                <a:t>2026</a:t>
              </a:r>
            </a:p>
          </p:txBody>
        </p:sp>
        <p:sp>
          <p:nvSpPr>
            <p:cNvPr id="37" name="CaixaDeTexto 36">
              <a:extLst>
                <a:ext uri="{FF2B5EF4-FFF2-40B4-BE49-F238E27FC236}">
                  <a16:creationId xmlns:a16="http://schemas.microsoft.com/office/drawing/2014/main" id="{038EE762-23A5-8EDC-4C4E-44CE076EF172}"/>
                </a:ext>
              </a:extLst>
            </p:cNvPr>
            <p:cNvSpPr txBox="1"/>
            <p:nvPr/>
          </p:nvSpPr>
          <p:spPr>
            <a:xfrm>
              <a:off x="9695489" y="2564904"/>
              <a:ext cx="876815" cy="246221"/>
            </a:xfrm>
            <a:prstGeom prst="rect">
              <a:avLst/>
            </a:prstGeom>
            <a:noFill/>
          </p:spPr>
          <p:txBody>
            <a:bodyPr wrap="square" rtlCol="0">
              <a:spAutoFit/>
            </a:bodyPr>
            <a:lstStyle/>
            <a:p>
              <a:pPr algn="ctr"/>
              <a:r>
                <a:rPr lang="pt-BR" sz="1000" b="1" dirty="0"/>
                <a:t>Parada 24</a:t>
              </a:r>
            </a:p>
          </p:txBody>
        </p:sp>
        <p:sp>
          <p:nvSpPr>
            <p:cNvPr id="38" name="Retângulo 37">
              <a:extLst>
                <a:ext uri="{FF2B5EF4-FFF2-40B4-BE49-F238E27FC236}">
                  <a16:creationId xmlns:a16="http://schemas.microsoft.com/office/drawing/2014/main" id="{8570B64D-076B-148A-8305-D2095B4C4D9C}"/>
                </a:ext>
              </a:extLst>
            </p:cNvPr>
            <p:cNvSpPr/>
            <p:nvPr/>
          </p:nvSpPr>
          <p:spPr>
            <a:xfrm>
              <a:off x="9483257" y="2516270"/>
              <a:ext cx="1274968"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9" name="Conector reto 38">
              <a:extLst>
                <a:ext uri="{FF2B5EF4-FFF2-40B4-BE49-F238E27FC236}">
                  <a16:creationId xmlns:a16="http://schemas.microsoft.com/office/drawing/2014/main" id="{73747837-00E2-D16D-5AA7-989EBAA88F57}"/>
                </a:ext>
              </a:extLst>
            </p:cNvPr>
            <p:cNvCxnSpPr>
              <a:cxnSpLocks/>
            </p:cNvCxnSpPr>
            <p:nvPr/>
          </p:nvCxnSpPr>
          <p:spPr>
            <a:xfrm>
              <a:off x="9503896" y="4322427"/>
              <a:ext cx="1260000" cy="0"/>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CaixaDeTexto 39">
              <a:extLst>
                <a:ext uri="{FF2B5EF4-FFF2-40B4-BE49-F238E27FC236}">
                  <a16:creationId xmlns:a16="http://schemas.microsoft.com/office/drawing/2014/main" id="{371917B1-4111-2EC6-4C8C-354046FCFBEE}"/>
                </a:ext>
              </a:extLst>
            </p:cNvPr>
            <p:cNvSpPr txBox="1"/>
            <p:nvPr/>
          </p:nvSpPr>
          <p:spPr>
            <a:xfrm>
              <a:off x="9971419" y="4121739"/>
              <a:ext cx="324955" cy="230832"/>
            </a:xfrm>
            <a:prstGeom prst="rect">
              <a:avLst/>
            </a:prstGeom>
            <a:noFill/>
          </p:spPr>
          <p:txBody>
            <a:bodyPr wrap="square" lIns="36000" rIns="36000" rtlCol="0">
              <a:spAutoFit/>
            </a:bodyPr>
            <a:lstStyle/>
            <a:p>
              <a:pPr algn="ctr"/>
              <a:r>
                <a:rPr lang="pt-BR" sz="900" i="1" dirty="0"/>
                <a:t>2025</a:t>
              </a:r>
            </a:p>
          </p:txBody>
        </p:sp>
        <p:sp>
          <p:nvSpPr>
            <p:cNvPr id="43" name="CaixaDeTexto 42">
              <a:extLst>
                <a:ext uri="{FF2B5EF4-FFF2-40B4-BE49-F238E27FC236}">
                  <a16:creationId xmlns:a16="http://schemas.microsoft.com/office/drawing/2014/main" id="{306C313B-399F-BB42-C2C7-C1789DD2BD69}"/>
                </a:ext>
              </a:extLst>
            </p:cNvPr>
            <p:cNvSpPr txBox="1"/>
            <p:nvPr/>
          </p:nvSpPr>
          <p:spPr>
            <a:xfrm>
              <a:off x="10997282" y="2564904"/>
              <a:ext cx="876815" cy="246221"/>
            </a:xfrm>
            <a:prstGeom prst="rect">
              <a:avLst/>
            </a:prstGeom>
            <a:noFill/>
          </p:spPr>
          <p:txBody>
            <a:bodyPr wrap="square" rtlCol="0">
              <a:spAutoFit/>
            </a:bodyPr>
            <a:lstStyle/>
            <a:p>
              <a:pPr algn="ctr"/>
              <a:r>
                <a:rPr lang="pt-BR" sz="1000" b="1" dirty="0"/>
                <a:t>Nova Parada</a:t>
              </a:r>
            </a:p>
          </p:txBody>
        </p:sp>
        <p:sp>
          <p:nvSpPr>
            <p:cNvPr id="51" name="Retângulo 50">
              <a:extLst>
                <a:ext uri="{FF2B5EF4-FFF2-40B4-BE49-F238E27FC236}">
                  <a16:creationId xmlns:a16="http://schemas.microsoft.com/office/drawing/2014/main" id="{7E5AEAE5-6703-94C6-D848-696CB42CE42B}"/>
                </a:ext>
              </a:extLst>
            </p:cNvPr>
            <p:cNvSpPr/>
            <p:nvPr/>
          </p:nvSpPr>
          <p:spPr>
            <a:xfrm>
              <a:off x="11039862" y="2516270"/>
              <a:ext cx="791655" cy="1600516"/>
            </a:xfrm>
            <a:prstGeom prst="rect">
              <a:avLst/>
            </a:prstGeom>
            <a:noFill/>
            <a:ln w="9525">
              <a:solidFill>
                <a:srgbClr val="009DC3"/>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Retângulo 53">
              <a:extLst>
                <a:ext uri="{FF2B5EF4-FFF2-40B4-BE49-F238E27FC236}">
                  <a16:creationId xmlns:a16="http://schemas.microsoft.com/office/drawing/2014/main" id="{47965E11-A54F-98CE-2EBD-DDAD98089C56}"/>
                </a:ext>
              </a:extLst>
            </p:cNvPr>
            <p:cNvSpPr/>
            <p:nvPr/>
          </p:nvSpPr>
          <p:spPr>
            <a:xfrm>
              <a:off x="10217002" y="2999816"/>
              <a:ext cx="459563" cy="547795"/>
            </a:xfrm>
            <a:prstGeom prst="rect">
              <a:avLst/>
            </a:prstGeom>
            <a:pattFill prst="dkDnDiag">
              <a:fgClr>
                <a:schemeClr val="bg1">
                  <a:lumMod val="85000"/>
                </a:schemeClr>
              </a:fgClr>
              <a:bgClr>
                <a:schemeClr val="bg1"/>
              </a:bgClr>
            </a:patt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Elipse 56">
              <a:extLst>
                <a:ext uri="{FF2B5EF4-FFF2-40B4-BE49-F238E27FC236}">
                  <a16:creationId xmlns:a16="http://schemas.microsoft.com/office/drawing/2014/main" id="{1AF714DE-8BDA-F4C6-B632-47E7C3ECDBEA}"/>
                </a:ext>
              </a:extLst>
            </p:cNvPr>
            <p:cNvSpPr/>
            <p:nvPr/>
          </p:nvSpPr>
          <p:spPr>
            <a:xfrm>
              <a:off x="10423409" y="2975603"/>
              <a:ext cx="46749" cy="467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Elipse 57">
              <a:extLst>
                <a:ext uri="{FF2B5EF4-FFF2-40B4-BE49-F238E27FC236}">
                  <a16:creationId xmlns:a16="http://schemas.microsoft.com/office/drawing/2014/main" id="{6F664AFE-78EF-60EE-BE32-64ECDEE2A617}"/>
                </a:ext>
              </a:extLst>
            </p:cNvPr>
            <p:cNvSpPr/>
            <p:nvPr/>
          </p:nvSpPr>
          <p:spPr>
            <a:xfrm>
              <a:off x="11412315" y="2975603"/>
              <a:ext cx="46749" cy="46749"/>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59" name="Conector: Curvo 58">
              <a:extLst>
                <a:ext uri="{FF2B5EF4-FFF2-40B4-BE49-F238E27FC236}">
                  <a16:creationId xmlns:a16="http://schemas.microsoft.com/office/drawing/2014/main" id="{6BE69FB8-1B04-4C56-AD7B-823BE57FBC9D}"/>
                </a:ext>
              </a:extLst>
            </p:cNvPr>
            <p:cNvCxnSpPr>
              <a:cxnSpLocks/>
              <a:stCxn id="57" idx="0"/>
              <a:endCxn id="58" idx="0"/>
            </p:cNvCxnSpPr>
            <p:nvPr/>
          </p:nvCxnSpPr>
          <p:spPr>
            <a:xfrm rot="5400000" flipH="1" flipV="1">
              <a:off x="10941237" y="2481150"/>
              <a:ext cx="12700" cy="988906"/>
            </a:xfrm>
            <a:prstGeom prst="curvedConnector3">
              <a:avLst>
                <a:gd name="adj1" fmla="val 1450000"/>
              </a:avLst>
            </a:prstGeom>
            <a:ln w="6350">
              <a:solidFill>
                <a:schemeClr val="bg1">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0" name="Retângulo 59">
              <a:extLst>
                <a:ext uri="{FF2B5EF4-FFF2-40B4-BE49-F238E27FC236}">
                  <a16:creationId xmlns:a16="http://schemas.microsoft.com/office/drawing/2014/main" id="{C93FC857-FD2E-9310-BF81-32FD8799F772}"/>
                </a:ext>
              </a:extLst>
            </p:cNvPr>
            <p:cNvSpPr/>
            <p:nvPr/>
          </p:nvSpPr>
          <p:spPr>
            <a:xfrm>
              <a:off x="9558447" y="2999816"/>
              <a:ext cx="673139" cy="99156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17" name="Retângulo 516">
              <a:extLst>
                <a:ext uri="{FF2B5EF4-FFF2-40B4-BE49-F238E27FC236}">
                  <a16:creationId xmlns:a16="http://schemas.microsoft.com/office/drawing/2014/main" id="{575A00BF-915F-D9C2-CEC2-06D8BB9102B0}"/>
                </a:ext>
              </a:extLst>
            </p:cNvPr>
            <p:cNvSpPr/>
            <p:nvPr/>
          </p:nvSpPr>
          <p:spPr>
            <a:xfrm>
              <a:off x="9557869" y="2999817"/>
              <a:ext cx="667644" cy="6433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8" name="CaixaDeTexto 517">
              <a:extLst>
                <a:ext uri="{FF2B5EF4-FFF2-40B4-BE49-F238E27FC236}">
                  <a16:creationId xmlns:a16="http://schemas.microsoft.com/office/drawing/2014/main" id="{6FA8114F-5CA1-A60A-4F72-E3C4C29282B5}"/>
                </a:ext>
              </a:extLst>
            </p:cNvPr>
            <p:cNvSpPr txBox="1"/>
            <p:nvPr/>
          </p:nvSpPr>
          <p:spPr>
            <a:xfrm>
              <a:off x="9630019" y="3240113"/>
              <a:ext cx="523345" cy="215444"/>
            </a:xfrm>
            <a:prstGeom prst="rect">
              <a:avLst/>
            </a:prstGeom>
            <a:noFill/>
          </p:spPr>
          <p:txBody>
            <a:bodyPr wrap="square" rtlCol="0">
              <a:spAutoFit/>
            </a:bodyPr>
            <a:lstStyle/>
            <a:p>
              <a:pPr algn="ctr"/>
              <a:r>
                <a:rPr lang="pt-BR" sz="800" dirty="0"/>
                <a:t>Obra A</a:t>
              </a:r>
            </a:p>
          </p:txBody>
        </p:sp>
        <p:sp>
          <p:nvSpPr>
            <p:cNvPr id="519" name="CaixaDeTexto 518">
              <a:extLst>
                <a:ext uri="{FF2B5EF4-FFF2-40B4-BE49-F238E27FC236}">
                  <a16:creationId xmlns:a16="http://schemas.microsoft.com/office/drawing/2014/main" id="{D5F96BD8-126E-A08E-0014-CEDF0FF264B3}"/>
                </a:ext>
              </a:extLst>
            </p:cNvPr>
            <p:cNvSpPr txBox="1"/>
            <p:nvPr/>
          </p:nvSpPr>
          <p:spPr>
            <a:xfrm>
              <a:off x="9653807" y="3703335"/>
              <a:ext cx="475768" cy="215444"/>
            </a:xfrm>
            <a:prstGeom prst="rect">
              <a:avLst/>
            </a:prstGeom>
            <a:noFill/>
          </p:spPr>
          <p:txBody>
            <a:bodyPr wrap="square" rtlCol="0">
              <a:spAutoFit/>
            </a:bodyPr>
            <a:lstStyle/>
            <a:p>
              <a:pPr algn="ctr"/>
              <a:r>
                <a:rPr lang="pt-BR" sz="800" dirty="0"/>
                <a:t>Obra B</a:t>
              </a:r>
            </a:p>
          </p:txBody>
        </p:sp>
        <p:sp>
          <p:nvSpPr>
            <p:cNvPr id="528" name="Retângulo 527">
              <a:extLst>
                <a:ext uri="{FF2B5EF4-FFF2-40B4-BE49-F238E27FC236}">
                  <a16:creationId xmlns:a16="http://schemas.microsoft.com/office/drawing/2014/main" id="{FA1D4B73-FEE4-D5D6-8DE9-476214FC8143}"/>
                </a:ext>
              </a:extLst>
            </p:cNvPr>
            <p:cNvSpPr/>
            <p:nvPr/>
          </p:nvSpPr>
          <p:spPr>
            <a:xfrm>
              <a:off x="10231586" y="3445607"/>
              <a:ext cx="444979" cy="5477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3" name="Retângulo 542">
              <a:extLst>
                <a:ext uri="{FF2B5EF4-FFF2-40B4-BE49-F238E27FC236}">
                  <a16:creationId xmlns:a16="http://schemas.microsoft.com/office/drawing/2014/main" id="{18F7E5AB-B8D7-2980-750E-5077AE54C421}"/>
                </a:ext>
              </a:extLst>
            </p:cNvPr>
            <p:cNvSpPr/>
            <p:nvPr/>
          </p:nvSpPr>
          <p:spPr>
            <a:xfrm>
              <a:off x="11213200" y="3445607"/>
              <a:ext cx="444979" cy="547795"/>
            </a:xfrm>
            <a:prstGeom prst="rect">
              <a:avLst/>
            </a:prstGeom>
            <a:pattFill prst="dkDnDiag">
              <a:fgClr>
                <a:schemeClr val="bg1">
                  <a:lumMod val="85000"/>
                </a:schemeClr>
              </a:fgClr>
              <a:bgClr>
                <a:schemeClr val="bg1"/>
              </a:bgClr>
            </a:patt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Retângulo 40">
              <a:extLst>
                <a:ext uri="{FF2B5EF4-FFF2-40B4-BE49-F238E27FC236}">
                  <a16:creationId xmlns:a16="http://schemas.microsoft.com/office/drawing/2014/main" id="{56868134-2C65-8D70-298C-042E5C2C7075}"/>
                </a:ext>
              </a:extLst>
            </p:cNvPr>
            <p:cNvSpPr/>
            <p:nvPr/>
          </p:nvSpPr>
          <p:spPr>
            <a:xfrm>
              <a:off x="11213200" y="2999816"/>
              <a:ext cx="444979" cy="4543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CaixaDeTexto 41">
              <a:extLst>
                <a:ext uri="{FF2B5EF4-FFF2-40B4-BE49-F238E27FC236}">
                  <a16:creationId xmlns:a16="http://schemas.microsoft.com/office/drawing/2014/main" id="{A6511BBC-AC5C-39A4-F6CD-C9419FF953A1}"/>
                </a:ext>
              </a:extLst>
            </p:cNvPr>
            <p:cNvSpPr txBox="1"/>
            <p:nvPr/>
          </p:nvSpPr>
          <p:spPr>
            <a:xfrm>
              <a:off x="11197805" y="3123505"/>
              <a:ext cx="475768" cy="215444"/>
            </a:xfrm>
            <a:prstGeom prst="rect">
              <a:avLst/>
            </a:prstGeom>
            <a:noFill/>
          </p:spPr>
          <p:txBody>
            <a:bodyPr wrap="square" rtlCol="0">
              <a:spAutoFit/>
            </a:bodyPr>
            <a:lstStyle/>
            <a:p>
              <a:pPr algn="ctr"/>
              <a:r>
                <a:rPr lang="pt-BR" sz="800" dirty="0"/>
                <a:t>Obra C</a:t>
              </a:r>
            </a:p>
          </p:txBody>
        </p:sp>
        <p:sp>
          <p:nvSpPr>
            <p:cNvPr id="545" name="CaixaDeTexto 544">
              <a:extLst>
                <a:ext uri="{FF2B5EF4-FFF2-40B4-BE49-F238E27FC236}">
                  <a16:creationId xmlns:a16="http://schemas.microsoft.com/office/drawing/2014/main" id="{089B59DB-4938-F705-F80D-3E01EBB311F5}"/>
                </a:ext>
              </a:extLst>
            </p:cNvPr>
            <p:cNvSpPr txBox="1"/>
            <p:nvPr/>
          </p:nvSpPr>
          <p:spPr>
            <a:xfrm>
              <a:off x="10215250" y="3616905"/>
              <a:ext cx="475768" cy="215444"/>
            </a:xfrm>
            <a:prstGeom prst="rect">
              <a:avLst/>
            </a:prstGeom>
            <a:noFill/>
          </p:spPr>
          <p:txBody>
            <a:bodyPr wrap="square" rtlCol="0">
              <a:spAutoFit/>
            </a:bodyPr>
            <a:lstStyle/>
            <a:p>
              <a:pPr algn="ctr"/>
              <a:r>
                <a:rPr lang="pt-BR" sz="800" dirty="0"/>
                <a:t>Obra C</a:t>
              </a:r>
            </a:p>
          </p:txBody>
        </p:sp>
        <p:sp>
          <p:nvSpPr>
            <p:cNvPr id="555" name="CaixaDeTexto 554">
              <a:extLst>
                <a:ext uri="{FF2B5EF4-FFF2-40B4-BE49-F238E27FC236}">
                  <a16:creationId xmlns:a16="http://schemas.microsoft.com/office/drawing/2014/main" id="{6FF6A45E-0BB8-0F2D-AA82-CD07C1C402D6}"/>
                </a:ext>
              </a:extLst>
            </p:cNvPr>
            <p:cNvSpPr txBox="1"/>
            <p:nvPr/>
          </p:nvSpPr>
          <p:spPr>
            <a:xfrm>
              <a:off x="9707254" y="4785102"/>
              <a:ext cx="853284" cy="230832"/>
            </a:xfrm>
            <a:prstGeom prst="rect">
              <a:avLst/>
            </a:prstGeom>
            <a:noFill/>
          </p:spPr>
          <p:txBody>
            <a:bodyPr wrap="square" rtlCol="0">
              <a:spAutoFit/>
            </a:bodyPr>
            <a:lstStyle/>
            <a:p>
              <a:pPr algn="ctr"/>
              <a:r>
                <a:rPr lang="pt-BR" sz="900" dirty="0"/>
                <a:t>R$ 40MM</a:t>
              </a:r>
            </a:p>
          </p:txBody>
        </p:sp>
        <p:sp>
          <p:nvSpPr>
            <p:cNvPr id="556" name="CaixaDeTexto 555">
              <a:extLst>
                <a:ext uri="{FF2B5EF4-FFF2-40B4-BE49-F238E27FC236}">
                  <a16:creationId xmlns:a16="http://schemas.microsoft.com/office/drawing/2014/main" id="{7FA5F4FB-EA3C-8F0A-52A8-BB66730CD1F1}"/>
                </a:ext>
              </a:extLst>
            </p:cNvPr>
            <p:cNvSpPr txBox="1"/>
            <p:nvPr/>
          </p:nvSpPr>
          <p:spPr>
            <a:xfrm>
              <a:off x="11009047" y="4785102"/>
              <a:ext cx="853284" cy="230832"/>
            </a:xfrm>
            <a:prstGeom prst="rect">
              <a:avLst/>
            </a:prstGeom>
            <a:noFill/>
          </p:spPr>
          <p:txBody>
            <a:bodyPr wrap="square" rtlCol="0">
              <a:spAutoFit/>
            </a:bodyPr>
            <a:lstStyle/>
            <a:p>
              <a:pPr algn="ctr"/>
              <a:r>
                <a:rPr lang="pt-BR" sz="900" dirty="0"/>
                <a:t>R$ 10MM</a:t>
              </a:r>
            </a:p>
          </p:txBody>
        </p:sp>
        <p:sp>
          <p:nvSpPr>
            <p:cNvPr id="30" name="CaixaDeTexto 29">
              <a:extLst>
                <a:ext uri="{FF2B5EF4-FFF2-40B4-BE49-F238E27FC236}">
                  <a16:creationId xmlns:a16="http://schemas.microsoft.com/office/drawing/2014/main" id="{693BED7B-1434-C85E-9E94-415EF6B35117}"/>
                </a:ext>
              </a:extLst>
            </p:cNvPr>
            <p:cNvSpPr txBox="1"/>
            <p:nvPr/>
          </p:nvSpPr>
          <p:spPr>
            <a:xfrm>
              <a:off x="9707254" y="4401014"/>
              <a:ext cx="853284" cy="230832"/>
            </a:xfrm>
            <a:prstGeom prst="rect">
              <a:avLst/>
            </a:prstGeom>
            <a:noFill/>
          </p:spPr>
          <p:txBody>
            <a:bodyPr wrap="square" rtlCol="0">
              <a:spAutoFit/>
            </a:bodyPr>
            <a:lstStyle/>
            <a:p>
              <a:pPr algn="ctr"/>
              <a:r>
                <a:rPr lang="pt-BR" sz="900" dirty="0"/>
                <a:t>70 dias</a:t>
              </a:r>
            </a:p>
          </p:txBody>
        </p:sp>
        <p:sp>
          <p:nvSpPr>
            <p:cNvPr id="31" name="CaixaDeTexto 30">
              <a:extLst>
                <a:ext uri="{FF2B5EF4-FFF2-40B4-BE49-F238E27FC236}">
                  <a16:creationId xmlns:a16="http://schemas.microsoft.com/office/drawing/2014/main" id="{D2668965-315B-B69D-4D92-36826C0FA84B}"/>
                </a:ext>
              </a:extLst>
            </p:cNvPr>
            <p:cNvSpPr txBox="1"/>
            <p:nvPr/>
          </p:nvSpPr>
          <p:spPr>
            <a:xfrm>
              <a:off x="11009047" y="4401014"/>
              <a:ext cx="853284" cy="230832"/>
            </a:xfrm>
            <a:prstGeom prst="rect">
              <a:avLst/>
            </a:prstGeom>
            <a:noFill/>
          </p:spPr>
          <p:txBody>
            <a:bodyPr wrap="square" rtlCol="0">
              <a:spAutoFit/>
            </a:bodyPr>
            <a:lstStyle/>
            <a:p>
              <a:pPr algn="ctr"/>
              <a:r>
                <a:rPr lang="pt-BR" sz="900" dirty="0"/>
                <a:t>20 dias</a:t>
              </a:r>
            </a:p>
          </p:txBody>
        </p:sp>
      </p:grpSp>
    </p:spTree>
    <p:extLst>
      <p:ext uri="{BB962C8B-B14F-4D97-AF65-F5344CB8AC3E}">
        <p14:creationId xmlns:p14="http://schemas.microsoft.com/office/powerpoint/2010/main" val="23488319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3BB10-F71D-F0D9-DF0A-C5505F12CB9E}"/>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FD4FBCE5-2FB5-FFC9-0C85-04DC6ED24AC1}"/>
              </a:ext>
            </a:extLst>
          </p:cNvPr>
          <p:cNvSpPr>
            <a:spLocks noGrp="1"/>
          </p:cNvSpPr>
          <p:nvPr>
            <p:ph type="title"/>
          </p:nvPr>
        </p:nvSpPr>
        <p:spPr>
          <a:xfrm>
            <a:off x="1089653" y="303578"/>
            <a:ext cx="10485852" cy="645195"/>
          </a:xfrm>
        </p:spPr>
        <p:txBody>
          <a:bodyPr/>
          <a:lstStyle/>
          <a:p>
            <a:pPr marL="0" marR="0" lvl="0" indent="0" algn="l" defTabSz="1055035" rtl="0" eaLnBrk="1" fontAlgn="auto" latinLnBrk="0" hangingPunct="1">
              <a:lnSpc>
                <a:spcPct val="100000"/>
              </a:lnSpc>
              <a:spcBef>
                <a:spcPts val="0"/>
              </a:spcBef>
              <a:spcAft>
                <a:spcPts val="0"/>
              </a:spcAft>
              <a:buClrTx/>
              <a:buSzTx/>
              <a:buFontTx/>
              <a:buNone/>
              <a:tabLst/>
              <a:defRPr/>
            </a:pPr>
            <a:r>
              <a:rPr lang="pt-BR" dirty="0"/>
              <a:t>Simulação de Cenários</a:t>
            </a:r>
            <a:endParaRPr lang="pt-BR" b="0" dirty="0"/>
          </a:p>
        </p:txBody>
      </p:sp>
      <p:sp>
        <p:nvSpPr>
          <p:cNvPr id="601" name="Título 4">
            <a:extLst>
              <a:ext uri="{FF2B5EF4-FFF2-40B4-BE49-F238E27FC236}">
                <a16:creationId xmlns:a16="http://schemas.microsoft.com/office/drawing/2014/main" id="{05F3365F-7E91-64C1-6256-15AFB8318F05}"/>
              </a:ext>
            </a:extLst>
          </p:cNvPr>
          <p:cNvSpPr txBox="1">
            <a:spLocks/>
          </p:cNvSpPr>
          <p:nvPr/>
        </p:nvSpPr>
        <p:spPr>
          <a:xfrm>
            <a:off x="696000" y="1008113"/>
            <a:ext cx="10800000" cy="432048"/>
          </a:xfrm>
          <a:prstGeom prst="rect">
            <a:avLst/>
          </a:prstGeom>
        </p:spPr>
        <p:txBody>
          <a:bodyPr vert="horz" lIns="91440" tIns="45720" rIns="91440" bIns="45720" rtlCol="0" anchor="ctr">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pPr defTabSz="1055035">
              <a:lnSpc>
                <a:spcPct val="100000"/>
              </a:lnSpc>
              <a:spcBef>
                <a:spcPts val="0"/>
              </a:spcBef>
              <a:defRPr/>
            </a:pPr>
            <a:r>
              <a:rPr lang="pt-BR" sz="1600" b="0" dirty="0"/>
              <a:t>A simulação realizada no HUB serve de input para o time de FP&amp;A estimar o impacto no caixa no ano corrente</a:t>
            </a:r>
          </a:p>
        </p:txBody>
      </p:sp>
      <p:graphicFrame>
        <p:nvGraphicFramePr>
          <p:cNvPr id="7" name="Tabela 6">
            <a:extLst>
              <a:ext uri="{FF2B5EF4-FFF2-40B4-BE49-F238E27FC236}">
                <a16:creationId xmlns:a16="http://schemas.microsoft.com/office/drawing/2014/main" id="{C6DDB986-DF73-0068-6B4E-22F79FF80863}"/>
              </a:ext>
            </a:extLst>
          </p:cNvPr>
          <p:cNvGraphicFramePr>
            <a:graphicFrameLocks noGrp="1"/>
          </p:cNvGraphicFramePr>
          <p:nvPr/>
        </p:nvGraphicFramePr>
        <p:xfrm>
          <a:off x="623392" y="1911225"/>
          <a:ext cx="10873207" cy="1062990"/>
        </p:xfrm>
        <a:graphic>
          <a:graphicData uri="http://schemas.openxmlformats.org/drawingml/2006/table">
            <a:tbl>
              <a:tblPr>
                <a:tableStyleId>{2D5ABB26-0587-4C30-8999-92F81FD0307C}</a:tableStyleId>
              </a:tblPr>
              <a:tblGrid>
                <a:gridCol w="1856401">
                  <a:extLst>
                    <a:ext uri="{9D8B030D-6E8A-4147-A177-3AD203B41FA5}">
                      <a16:colId xmlns:a16="http://schemas.microsoft.com/office/drawing/2014/main" val="727259229"/>
                    </a:ext>
                  </a:extLst>
                </a:gridCol>
                <a:gridCol w="1149200">
                  <a:extLst>
                    <a:ext uri="{9D8B030D-6E8A-4147-A177-3AD203B41FA5}">
                      <a16:colId xmlns:a16="http://schemas.microsoft.com/office/drawing/2014/main" val="3126239759"/>
                    </a:ext>
                  </a:extLst>
                </a:gridCol>
                <a:gridCol w="7867606">
                  <a:extLst>
                    <a:ext uri="{9D8B030D-6E8A-4147-A177-3AD203B41FA5}">
                      <a16:colId xmlns:a16="http://schemas.microsoft.com/office/drawing/2014/main" val="2397207166"/>
                    </a:ext>
                  </a:extLst>
                </a:gridCol>
              </a:tblGrid>
              <a:tr h="161925">
                <a:tc>
                  <a:txBody>
                    <a:bodyPr/>
                    <a:lstStyle/>
                    <a:p>
                      <a:pPr lvl="0" algn="ctr" fontAlgn="b">
                        <a:buNone/>
                      </a:pPr>
                      <a:r>
                        <a:rPr lang="pt-BR" sz="1100" b="1" i="0" u="none" strike="noStrike" dirty="0">
                          <a:solidFill>
                            <a:schemeClr val="bg1"/>
                          </a:solidFill>
                          <a:effectLst/>
                          <a:latin typeface="+mn-lt"/>
                        </a:rPr>
                        <a:t>Premissa</a:t>
                      </a: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tc>
                  <a:txBody>
                    <a:bodyPr/>
                    <a:lstStyle/>
                    <a:p>
                      <a:pPr algn="ctr" fontAlgn="b">
                        <a:buNone/>
                      </a:pPr>
                      <a:r>
                        <a:rPr lang="pt-BR" sz="1100" b="1" i="0" u="none" strike="noStrike" dirty="0">
                          <a:solidFill>
                            <a:schemeClr val="bg1"/>
                          </a:solidFill>
                          <a:effectLst/>
                          <a:latin typeface="+mn-lt"/>
                        </a:rPr>
                        <a:t>Valor</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tc>
                  <a:txBody>
                    <a:bodyPr/>
                    <a:lstStyle/>
                    <a:p>
                      <a:pPr algn="ctr" fontAlgn="b">
                        <a:buNone/>
                      </a:pPr>
                      <a:r>
                        <a:rPr lang="pt-BR" sz="1100" b="1" i="0" u="none" strike="noStrike" dirty="0">
                          <a:solidFill>
                            <a:schemeClr val="bg1"/>
                          </a:solidFill>
                          <a:effectLst/>
                          <a:latin typeface="+mn-lt"/>
                        </a:rPr>
                        <a:t>Descrição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extLst>
                  <a:ext uri="{0D108BD9-81ED-4DB2-BD59-A6C34878D82A}">
                    <a16:rowId xmlns:a16="http://schemas.microsoft.com/office/drawing/2014/main" val="2926493047"/>
                  </a:ext>
                </a:extLst>
              </a:tr>
              <a:tr h="161925">
                <a:tc>
                  <a:txBody>
                    <a:bodyPr/>
                    <a:lstStyle/>
                    <a:p>
                      <a:pPr lvl="0" algn="l" fontAlgn="b">
                        <a:buNone/>
                      </a:pPr>
                      <a:r>
                        <a:rPr lang="pt-BR" sz="1100" u="none" strike="noStrike" dirty="0">
                          <a:solidFill>
                            <a:schemeClr val="tx1"/>
                          </a:solidFill>
                          <a:effectLst/>
                          <a:latin typeface="+mn-lt"/>
                        </a:rPr>
                        <a:t>Taxa Diária </a:t>
                      </a:r>
                      <a:r>
                        <a:rPr lang="pt-BR" sz="1050" u="none" strike="noStrike" dirty="0">
                          <a:solidFill>
                            <a:schemeClr val="tx1"/>
                          </a:solidFill>
                          <a:effectLst/>
                          <a:latin typeface="+mn-lt"/>
                        </a:rPr>
                        <a:t>(em mil)</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solidFill>
                            <a:schemeClr val="tx1"/>
                          </a:solidFill>
                          <a:effectLst/>
                          <a:latin typeface="+mn-lt"/>
                        </a:rPr>
                        <a:t>R$ 444</a:t>
                      </a:r>
                      <a:endParaRPr lang="pt-BR" sz="1100" b="0" i="0" u="none" strike="noStrike" dirty="0">
                        <a:solidFill>
                          <a:schemeClr val="tx1"/>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pt-BR" sz="1100" dirty="0"/>
                        <a:t>Valor da diária da embarcação definida em contrato e convertida de USD para BRL (variável por embarcação)</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2527435"/>
                  </a:ext>
                </a:extLst>
              </a:tr>
              <a:tr h="161925">
                <a:tc>
                  <a:txBody>
                    <a:bodyPr/>
                    <a:lstStyle/>
                    <a:p>
                      <a:pPr lvl="0" algn="l" fontAlgn="b">
                        <a:buNone/>
                      </a:pPr>
                      <a:r>
                        <a:rPr lang="pt-BR" sz="1100" u="none" strike="noStrike" dirty="0" err="1">
                          <a:solidFill>
                            <a:schemeClr val="tx1"/>
                          </a:solidFill>
                          <a:effectLst/>
                          <a:latin typeface="+mn-lt"/>
                        </a:rPr>
                        <a:t>Downtime</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solidFill>
                            <a:schemeClr val="tx1"/>
                          </a:solidFill>
                          <a:effectLst/>
                          <a:latin typeface="+mn-lt"/>
                        </a:rPr>
                        <a:t>11,1%</a:t>
                      </a:r>
                      <a:endParaRPr lang="pt-BR" sz="1100" b="0" i="0" u="none" strike="noStrike" dirty="0">
                        <a:solidFill>
                          <a:schemeClr val="tx1"/>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pt-BR" sz="1100" b="0" i="0" u="none" strike="noStrike" dirty="0">
                          <a:solidFill>
                            <a:schemeClr val="tx1"/>
                          </a:solidFill>
                          <a:effectLst/>
                          <a:latin typeface="+mn-lt"/>
                        </a:rPr>
                        <a:t>Grupo de eventos que causam perda integral na remuneração da embarcação. Ex.: Inoperância, tempo de porto </a:t>
                      </a:r>
                      <a:r>
                        <a:rPr lang="pt-BR" sz="1100" b="0" i="0" u="none" strike="noStrike" dirty="0" err="1">
                          <a:solidFill>
                            <a:schemeClr val="tx1"/>
                          </a:solidFill>
                          <a:effectLst/>
                          <a:latin typeface="+mn-lt"/>
                        </a:rPr>
                        <a:t>etc</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6832592"/>
                  </a:ext>
                </a:extLst>
              </a:tr>
              <a:tr h="161925">
                <a:tc>
                  <a:txBody>
                    <a:bodyPr/>
                    <a:lstStyle/>
                    <a:p>
                      <a:pPr lvl="0" algn="l" fontAlgn="b">
                        <a:buNone/>
                      </a:pPr>
                      <a:r>
                        <a:rPr lang="pt-BR" sz="1100" u="none" strike="noStrike" dirty="0">
                          <a:solidFill>
                            <a:schemeClr val="tx1"/>
                          </a:solidFill>
                          <a:effectLst/>
                          <a:latin typeface="+mn-lt"/>
                        </a:rPr>
                        <a:t>Descontos</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solidFill>
                            <a:schemeClr val="tx1"/>
                          </a:solidFill>
                          <a:effectLst/>
                          <a:latin typeface="+mn-lt"/>
                        </a:rPr>
                        <a:t>0,7%</a:t>
                      </a:r>
                      <a:endParaRPr lang="pt-BR" sz="1100" b="0" i="0" u="none" strike="noStrike" dirty="0">
                        <a:solidFill>
                          <a:schemeClr val="tx1"/>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454418"/>
                  </a:ext>
                </a:extLst>
              </a:tr>
              <a:tr h="161925">
                <a:tc>
                  <a:txBody>
                    <a:bodyPr/>
                    <a:lstStyle/>
                    <a:p>
                      <a:pPr lvl="0" algn="l" fontAlgn="b">
                        <a:buNone/>
                      </a:pPr>
                      <a:r>
                        <a:rPr lang="pt-BR" sz="1100" u="none" strike="noStrike" dirty="0">
                          <a:solidFill>
                            <a:schemeClr val="tx1"/>
                          </a:solidFill>
                          <a:effectLst/>
                          <a:latin typeface="+mn-lt"/>
                        </a:rPr>
                        <a:t>Deduções</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solidFill>
                            <a:schemeClr val="tx1"/>
                          </a:solidFill>
                          <a:effectLst/>
                          <a:latin typeface="+mn-lt"/>
                        </a:rPr>
                        <a:t>9,25%</a:t>
                      </a:r>
                      <a:endParaRPr lang="pt-BR" sz="1100" b="0" i="0" u="none" strike="noStrike" dirty="0">
                        <a:solidFill>
                          <a:schemeClr val="tx1"/>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pt-BR" sz="1100" b="0" i="0" u="none" strike="noStrike" dirty="0">
                          <a:solidFill>
                            <a:schemeClr val="tx1"/>
                          </a:solidFill>
                          <a:effectLst/>
                          <a:latin typeface="+mn-lt"/>
                        </a:rPr>
                        <a:t>Impostos</a:t>
                      </a: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4289180"/>
                  </a:ext>
                </a:extLst>
              </a:tr>
              <a:tr h="161925">
                <a:tc>
                  <a:txBody>
                    <a:bodyPr/>
                    <a:lstStyle/>
                    <a:p>
                      <a:pPr lvl="0" algn="l" fontAlgn="b">
                        <a:buNone/>
                      </a:pPr>
                      <a:r>
                        <a:rPr lang="pt-BR" sz="1100" u="none" strike="noStrike" dirty="0">
                          <a:solidFill>
                            <a:schemeClr val="tx1"/>
                          </a:solidFill>
                          <a:effectLst/>
                          <a:latin typeface="+mn-lt"/>
                        </a:rPr>
                        <a:t>Custos Fixos </a:t>
                      </a:r>
                      <a:r>
                        <a:rPr kumimoji="0" lang="pt-BR" sz="1050" b="0" i="0" u="none" strike="noStrike" kern="1200" cap="none" spc="0" normalizeH="0" baseline="0" noProof="0" dirty="0">
                          <a:ln>
                            <a:noFill/>
                          </a:ln>
                          <a:solidFill>
                            <a:prstClr val="black"/>
                          </a:solidFill>
                          <a:effectLst/>
                          <a:uLnTx/>
                          <a:uFillTx/>
                          <a:latin typeface="+mn-lt"/>
                          <a:ea typeface="+mn-ea"/>
                          <a:cs typeface="+mn-cs"/>
                        </a:rPr>
                        <a:t>(em mil reais)</a:t>
                      </a:r>
                      <a:endParaRPr lang="pt-BR" sz="1100" b="0" i="0" u="none" strike="noStrike" dirty="0">
                        <a:solidFill>
                          <a:schemeClr val="tx1"/>
                        </a:solidFill>
                        <a:effectLst/>
                        <a:latin typeface="+mn-lt"/>
                      </a:endParaRP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solidFill>
                            <a:schemeClr val="tx1"/>
                          </a:solidFill>
                          <a:effectLst/>
                          <a:latin typeface="+mn-lt"/>
                        </a:rPr>
                        <a:t>R$ 3.579</a:t>
                      </a:r>
                      <a:endParaRPr lang="pt-BR" sz="1100" b="0" i="0" u="none" strike="noStrike" dirty="0">
                        <a:solidFill>
                          <a:schemeClr val="tx1"/>
                        </a:solidFill>
                        <a:effectLst/>
                        <a:latin typeface="+mn-lt"/>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b">
                        <a:buNone/>
                      </a:pPr>
                      <a:r>
                        <a:rPr lang="pt-BR" sz="1100" b="0" i="0" u="none" strike="noStrike" dirty="0">
                          <a:solidFill>
                            <a:schemeClr val="tx1"/>
                          </a:solidFill>
                          <a:effectLst/>
                          <a:latin typeface="+mn-lt"/>
                        </a:rPr>
                        <a:t>Custo fixo mensal da embarcação</a:t>
                      </a:r>
                    </a:p>
                  </a:txBody>
                  <a:tcPr marL="72000"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8721940"/>
                  </a:ext>
                </a:extLst>
              </a:tr>
            </a:tbl>
          </a:graphicData>
        </a:graphic>
      </p:graphicFrame>
      <p:sp>
        <p:nvSpPr>
          <p:cNvPr id="11" name="Título 4">
            <a:extLst>
              <a:ext uri="{FF2B5EF4-FFF2-40B4-BE49-F238E27FC236}">
                <a16:creationId xmlns:a16="http://schemas.microsoft.com/office/drawing/2014/main" id="{046070E5-6B6D-AF33-E000-E956FD24F8A4}"/>
              </a:ext>
            </a:extLst>
          </p:cNvPr>
          <p:cNvSpPr txBox="1">
            <a:spLocks/>
          </p:cNvSpPr>
          <p:nvPr/>
        </p:nvSpPr>
        <p:spPr>
          <a:xfrm>
            <a:off x="623391" y="1628800"/>
            <a:ext cx="10873203" cy="273625"/>
          </a:xfrm>
          <a:prstGeom prst="rect">
            <a:avLst/>
          </a:prstGeom>
        </p:spPr>
        <p:txBody>
          <a:bodyPr vert="horz" lIns="91440" tIns="45720" rIns="91440" bIns="45720" rtlCol="0" anchor="ctr">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pPr defTabSz="1055035">
              <a:lnSpc>
                <a:spcPct val="100000"/>
              </a:lnSpc>
              <a:spcBef>
                <a:spcPts val="0"/>
              </a:spcBef>
              <a:defRPr/>
            </a:pPr>
            <a:r>
              <a:rPr lang="pt-BR" sz="1200" dirty="0"/>
              <a:t>Exemplo Parcel dos Reis – ID-160</a:t>
            </a:r>
          </a:p>
        </p:txBody>
      </p:sp>
      <p:graphicFrame>
        <p:nvGraphicFramePr>
          <p:cNvPr id="19" name="Tabela 18">
            <a:extLst>
              <a:ext uri="{FF2B5EF4-FFF2-40B4-BE49-F238E27FC236}">
                <a16:creationId xmlns:a16="http://schemas.microsoft.com/office/drawing/2014/main" id="{7905379C-BF6A-9B73-F2AE-D190E9036105}"/>
              </a:ext>
            </a:extLst>
          </p:cNvPr>
          <p:cNvGraphicFramePr>
            <a:graphicFrameLocks noGrp="1"/>
          </p:cNvGraphicFramePr>
          <p:nvPr/>
        </p:nvGraphicFramePr>
        <p:xfrm>
          <a:off x="623392" y="3127661"/>
          <a:ext cx="10873203" cy="2827020"/>
        </p:xfrm>
        <a:graphic>
          <a:graphicData uri="http://schemas.openxmlformats.org/drawingml/2006/table">
            <a:tbl>
              <a:tblPr>
                <a:tableStyleId>{2D5ABB26-0587-4C30-8999-92F81FD0307C}</a:tableStyleId>
              </a:tblPr>
              <a:tblGrid>
                <a:gridCol w="1490573">
                  <a:extLst>
                    <a:ext uri="{9D8B030D-6E8A-4147-A177-3AD203B41FA5}">
                      <a16:colId xmlns:a16="http://schemas.microsoft.com/office/drawing/2014/main" val="767005545"/>
                    </a:ext>
                  </a:extLst>
                </a:gridCol>
                <a:gridCol w="938263">
                  <a:extLst>
                    <a:ext uri="{9D8B030D-6E8A-4147-A177-3AD203B41FA5}">
                      <a16:colId xmlns:a16="http://schemas.microsoft.com/office/drawing/2014/main" val="951890625"/>
                    </a:ext>
                  </a:extLst>
                </a:gridCol>
                <a:gridCol w="938263">
                  <a:extLst>
                    <a:ext uri="{9D8B030D-6E8A-4147-A177-3AD203B41FA5}">
                      <a16:colId xmlns:a16="http://schemas.microsoft.com/office/drawing/2014/main" val="4246521013"/>
                    </a:ext>
                  </a:extLst>
                </a:gridCol>
                <a:gridCol w="938263">
                  <a:extLst>
                    <a:ext uri="{9D8B030D-6E8A-4147-A177-3AD203B41FA5}">
                      <a16:colId xmlns:a16="http://schemas.microsoft.com/office/drawing/2014/main" val="60955860"/>
                    </a:ext>
                  </a:extLst>
                </a:gridCol>
                <a:gridCol w="938263">
                  <a:extLst>
                    <a:ext uri="{9D8B030D-6E8A-4147-A177-3AD203B41FA5}">
                      <a16:colId xmlns:a16="http://schemas.microsoft.com/office/drawing/2014/main" val="3187558412"/>
                    </a:ext>
                  </a:extLst>
                </a:gridCol>
                <a:gridCol w="938263">
                  <a:extLst>
                    <a:ext uri="{9D8B030D-6E8A-4147-A177-3AD203B41FA5}">
                      <a16:colId xmlns:a16="http://schemas.microsoft.com/office/drawing/2014/main" val="3729911206"/>
                    </a:ext>
                  </a:extLst>
                </a:gridCol>
                <a:gridCol w="938263">
                  <a:extLst>
                    <a:ext uri="{9D8B030D-6E8A-4147-A177-3AD203B41FA5}">
                      <a16:colId xmlns:a16="http://schemas.microsoft.com/office/drawing/2014/main" val="4128260544"/>
                    </a:ext>
                  </a:extLst>
                </a:gridCol>
                <a:gridCol w="938263">
                  <a:extLst>
                    <a:ext uri="{9D8B030D-6E8A-4147-A177-3AD203B41FA5}">
                      <a16:colId xmlns:a16="http://schemas.microsoft.com/office/drawing/2014/main" val="3026459965"/>
                    </a:ext>
                  </a:extLst>
                </a:gridCol>
                <a:gridCol w="938263">
                  <a:extLst>
                    <a:ext uri="{9D8B030D-6E8A-4147-A177-3AD203B41FA5}">
                      <a16:colId xmlns:a16="http://schemas.microsoft.com/office/drawing/2014/main" val="2714539350"/>
                    </a:ext>
                  </a:extLst>
                </a:gridCol>
                <a:gridCol w="938263">
                  <a:extLst>
                    <a:ext uri="{9D8B030D-6E8A-4147-A177-3AD203B41FA5}">
                      <a16:colId xmlns:a16="http://schemas.microsoft.com/office/drawing/2014/main" val="1019797015"/>
                    </a:ext>
                  </a:extLst>
                </a:gridCol>
                <a:gridCol w="938263">
                  <a:extLst>
                    <a:ext uri="{9D8B030D-6E8A-4147-A177-3AD203B41FA5}">
                      <a16:colId xmlns:a16="http://schemas.microsoft.com/office/drawing/2014/main" val="1136895592"/>
                    </a:ext>
                  </a:extLst>
                </a:gridCol>
              </a:tblGrid>
              <a:tr h="161925">
                <a:tc rowSpan="2">
                  <a:txBody>
                    <a:bodyPr/>
                    <a:lstStyle/>
                    <a:p>
                      <a:pPr marL="0" algn="l" defTabSz="1055061" rtl="0" eaLnBrk="1" fontAlgn="b" latinLnBrk="0" hangingPunct="1">
                        <a:buNone/>
                      </a:pPr>
                      <a:r>
                        <a:rPr lang="pt-BR" sz="1100" u="none" strike="noStrike" kern="1200" dirty="0">
                          <a:solidFill>
                            <a:schemeClr val="tx1"/>
                          </a:solidFill>
                          <a:effectLst/>
                          <a:latin typeface="+mn-lt"/>
                          <a:ea typeface="+mn-ea"/>
                          <a:cs typeface="+mn-cs"/>
                        </a:rPr>
                        <a:t>PDR ID-160</a:t>
                      </a:r>
                    </a:p>
                  </a:txBody>
                  <a:tcPr marL="72000" marR="9525" marT="9525"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algn="ctr" fontAlgn="b">
                        <a:buNone/>
                      </a:pPr>
                      <a:r>
                        <a:rPr lang="pt-BR" sz="1050" b="1" i="0" u="none" strike="noStrike" kern="1200" dirty="0">
                          <a:solidFill>
                            <a:schemeClr val="bg1"/>
                          </a:solidFill>
                          <a:effectLst/>
                          <a:latin typeface="+mn-lt"/>
                          <a:ea typeface="+mn-ea"/>
                          <a:cs typeface="+mn-cs"/>
                        </a:rPr>
                        <a:t>Cenário Base</a:t>
                      </a: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tc hMerge="1">
                  <a:txBody>
                    <a:bodyPr/>
                    <a:lstStyle/>
                    <a:p>
                      <a:endParaRPr lang="pt-BR"/>
                    </a:p>
                  </a:txBody>
                  <a:tcPr/>
                </a:tc>
                <a:tc hMerge="1">
                  <a:txBody>
                    <a:bodyPr/>
                    <a:lstStyle/>
                    <a:p>
                      <a:endParaRPr lang="pt-BR"/>
                    </a:p>
                  </a:txBody>
                  <a:tcPr/>
                </a:tc>
                <a:tc gridSpan="3">
                  <a:txBody>
                    <a:bodyPr/>
                    <a:lstStyle/>
                    <a:p>
                      <a:pPr marL="0" algn="ctr" defTabSz="1055061" rtl="0" eaLnBrk="1" fontAlgn="b" latinLnBrk="0" hangingPunct="1">
                        <a:buNone/>
                      </a:pPr>
                      <a:r>
                        <a:rPr lang="pt-BR" sz="1050" b="1" i="0" u="none" strike="noStrike" kern="1200" dirty="0">
                          <a:solidFill>
                            <a:schemeClr val="bg1"/>
                          </a:solidFill>
                          <a:effectLst/>
                          <a:latin typeface="+mn-lt"/>
                          <a:ea typeface="+mn-ea"/>
                          <a:cs typeface="+mn-cs"/>
                        </a:rPr>
                        <a:t>Cenário Alternativo</a:t>
                      </a: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tc hMerge="1">
                  <a:txBody>
                    <a:bodyPr/>
                    <a:lstStyle/>
                    <a:p>
                      <a:endParaRPr lang="pt-BR"/>
                    </a:p>
                  </a:txBody>
                  <a:tcPr/>
                </a:tc>
                <a:tc hMerge="1">
                  <a:txBody>
                    <a:bodyPr/>
                    <a:lstStyle/>
                    <a:p>
                      <a:endParaRPr lang="pt-BR"/>
                    </a:p>
                  </a:txBody>
                  <a:tcPr/>
                </a:tc>
                <a:tc gridSpan="4">
                  <a:txBody>
                    <a:bodyPr/>
                    <a:lstStyle/>
                    <a:p>
                      <a:pPr marL="0" algn="ctr" defTabSz="1055061" rtl="0" eaLnBrk="1" fontAlgn="b" latinLnBrk="0" hangingPunct="1">
                        <a:buNone/>
                      </a:pPr>
                      <a:r>
                        <a:rPr lang="pt-BR" sz="1050" b="1" i="0" u="none" strike="noStrike" kern="1200" dirty="0">
                          <a:solidFill>
                            <a:schemeClr val="bg1"/>
                          </a:solidFill>
                          <a:effectLst/>
                          <a:latin typeface="+mn-lt"/>
                          <a:ea typeface="+mn-ea"/>
                          <a:cs typeface="+mn-cs"/>
                        </a:rPr>
                        <a:t>Delta</a:t>
                      </a: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03738E"/>
                    </a:solidFill>
                  </a:tcPr>
                </a:tc>
                <a:tc hMerge="1">
                  <a:txBody>
                    <a:bodyPr/>
                    <a:lstStyle/>
                    <a:p>
                      <a:endParaRPr lang="pt-BR"/>
                    </a:p>
                  </a:txBody>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243923150"/>
                  </a:ext>
                </a:extLst>
              </a:tr>
              <a:tr h="161925">
                <a:tc vMerge="1">
                  <a:txBody>
                    <a:bodyPr/>
                    <a:lstStyle/>
                    <a:p>
                      <a:endParaRPr lang="pt-BR"/>
                    </a:p>
                  </a:txBody>
                  <a:tcPr/>
                </a:tc>
                <a:tc>
                  <a:txBody>
                    <a:bodyPr/>
                    <a:lstStyle/>
                    <a:p>
                      <a:pPr algn="ctr" fontAlgn="b">
                        <a:buNone/>
                      </a:pPr>
                      <a:r>
                        <a:rPr lang="pt-BR" sz="1100" u="none" strike="noStrike" dirty="0">
                          <a:effectLst/>
                          <a:latin typeface="+mn-lt"/>
                        </a:rPr>
                        <a:t>2025</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2026</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2027</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2025</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2026</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latin typeface="+mn-lt"/>
                        </a:rPr>
                        <a:t>2027</a:t>
                      </a:r>
                      <a:endParaRPr lang="pt-BR" sz="1100" b="1" i="0" u="none" strike="noStrike">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2025</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2026</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2027</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Total</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8985380"/>
                  </a:ext>
                </a:extLst>
              </a:tr>
              <a:tr h="161925">
                <a:tc>
                  <a:txBody>
                    <a:bodyPr/>
                    <a:lstStyle/>
                    <a:p>
                      <a:pPr algn="l" fontAlgn="b">
                        <a:buNone/>
                      </a:pPr>
                      <a:r>
                        <a:rPr lang="pt-BR" sz="1100" u="none" strike="noStrike" dirty="0">
                          <a:effectLst/>
                          <a:latin typeface="+mn-lt"/>
                        </a:rPr>
                        <a:t>Dias de Obra</a:t>
                      </a:r>
                      <a:endParaRPr lang="pt-BR" sz="1100" b="1" i="0" u="none" strike="noStrike" dirty="0">
                        <a:solidFill>
                          <a:srgbClr val="000000"/>
                        </a:solidFill>
                        <a:effectLst/>
                        <a:latin typeface="+mn-lt"/>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98</a:t>
                      </a:r>
                      <a:endParaRPr lang="pt-BR" sz="1100" b="0"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22</a:t>
                      </a:r>
                      <a:endParaRPr lang="pt-BR" sz="1100" b="0"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a:t>
                      </a:r>
                      <a:endParaRPr lang="pt-BR" sz="1100" b="0"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67</a:t>
                      </a:r>
                      <a:endParaRPr lang="pt-BR" sz="1100" b="0"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a:t>
                      </a:r>
                      <a:endParaRPr lang="pt-BR" sz="1100" b="0"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50</a:t>
                      </a:r>
                      <a:endParaRPr lang="pt-BR" sz="1100" b="0"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-31</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-22</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+50</a:t>
                      </a:r>
                      <a:endParaRPr lang="pt-BR" sz="1100" b="1" i="0" u="none" strike="noStrike" dirty="0">
                        <a:solidFill>
                          <a:srgbClr val="000000"/>
                        </a:solidFill>
                        <a:effectLst/>
                        <a:latin typeface="+mn-lt"/>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latin typeface="+mn-lt"/>
                        </a:rPr>
                        <a:t>-3</a:t>
                      </a:r>
                      <a:endParaRPr lang="pt-BR" sz="1100" b="1" i="0" u="none" strike="noStrike" dirty="0">
                        <a:solidFill>
                          <a:srgbClr val="000000"/>
                        </a:solidFill>
                        <a:effectLst/>
                        <a:latin typeface="+mn-lt"/>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9343022"/>
                  </a:ext>
                </a:extLst>
              </a:tr>
              <a:tr h="0">
                <a:tc>
                  <a:txBody>
                    <a:bodyPr/>
                    <a:lstStyle/>
                    <a:p>
                      <a:pPr algn="l" fontAlgn="b">
                        <a:buNone/>
                      </a:pP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0391748"/>
                  </a:ext>
                </a:extLst>
              </a:tr>
              <a:tr h="0">
                <a:tc>
                  <a:txBody>
                    <a:bodyPr/>
                    <a:lstStyle/>
                    <a:p>
                      <a:pPr algn="l" fontAlgn="b">
                        <a:buNone/>
                      </a:pP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12104231"/>
                  </a:ext>
                </a:extLst>
              </a:tr>
              <a:tr h="161925">
                <a:tc>
                  <a:txBody>
                    <a:bodyPr/>
                    <a:lstStyle/>
                    <a:p>
                      <a:pPr algn="l" fontAlgn="b">
                        <a:buNone/>
                      </a:pPr>
                      <a:r>
                        <a:rPr lang="pt-BR" sz="1100" u="none" strike="noStrike" dirty="0">
                          <a:effectLst/>
                        </a:rPr>
                        <a:t>Receita</a:t>
                      </a: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11,0</a:t>
                      </a:r>
                      <a:endParaRPr lang="pt-BR" sz="1100" b="0"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7,8</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(17,8)</a:t>
                      </a:r>
                      <a:endParaRPr lang="pt-BR" sz="1100" b="0" i="0" u="none" strike="noStrike">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+11,0</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+7,8</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-17,8</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+1,1</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6900020"/>
                  </a:ext>
                </a:extLst>
              </a:tr>
              <a:tr h="161925">
                <a:tc>
                  <a:txBody>
                    <a:bodyPr/>
                    <a:lstStyle/>
                    <a:p>
                      <a:pPr algn="l" fontAlgn="b">
                        <a:buNone/>
                      </a:pPr>
                      <a:r>
                        <a:rPr lang="pt-BR" sz="1100" u="none" strike="noStrike">
                          <a:effectLst/>
                        </a:rPr>
                        <a:t>Custos Diretos</a:t>
                      </a:r>
                      <a:endParaRPr lang="pt-BR" sz="1100" b="0" i="0" u="none" strike="noStrike">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a:t>
                      </a:r>
                      <a:endParaRPr lang="pt-BR" sz="1100" b="0"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3,7</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2,6</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(6,0)</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+3,7</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+2,6</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-6,0</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+0,4</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5168431"/>
                  </a:ext>
                </a:extLst>
              </a:tr>
              <a:tr h="161925">
                <a:tc>
                  <a:txBody>
                    <a:bodyPr/>
                    <a:lstStyle/>
                    <a:p>
                      <a:pPr algn="l" fontAlgn="b">
                        <a:buNone/>
                      </a:pPr>
                      <a:r>
                        <a:rPr lang="pt-BR" sz="1100" u="none" strike="noStrike" dirty="0">
                          <a:effectLst/>
                        </a:rPr>
                        <a:t>EBITDA</a:t>
                      </a:r>
                      <a:endParaRPr lang="pt-BR" sz="1100" b="1"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a:t>
                      </a:r>
                      <a:endParaRPr lang="pt-BR" sz="1100" b="1"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7,3</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5,2</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(11,8)</a:t>
                      </a:r>
                      <a:endParaRPr lang="pt-BR" sz="1100" b="1" i="0" u="none" strike="noStrike">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+7,3</a:t>
                      </a:r>
                      <a:endParaRPr lang="pt-BR" sz="1100" b="1"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+5,2</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-11,8</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+0,7</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0816689"/>
                  </a:ext>
                </a:extLst>
              </a:tr>
              <a:tr h="144000">
                <a:tc>
                  <a:txBody>
                    <a:bodyPr/>
                    <a:lstStyle/>
                    <a:p>
                      <a:pPr algn="l" fontAlgn="b">
                        <a:buNone/>
                      </a:pP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32809058"/>
                  </a:ext>
                </a:extLst>
              </a:tr>
              <a:tr h="144000">
                <a:tc>
                  <a:txBody>
                    <a:bodyPr/>
                    <a:lstStyle/>
                    <a:p>
                      <a:pPr algn="l"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22881214"/>
                  </a:ext>
                </a:extLst>
              </a:tr>
              <a:tr h="161925">
                <a:tc>
                  <a:txBody>
                    <a:bodyPr/>
                    <a:lstStyle/>
                    <a:p>
                      <a:pPr algn="l" fontAlgn="b">
                        <a:buNone/>
                      </a:pPr>
                      <a:r>
                        <a:rPr lang="pt-BR" sz="1100" u="none" strike="noStrike" dirty="0">
                          <a:effectLst/>
                        </a:rPr>
                        <a:t>Obra</a:t>
                      </a: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45,1</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4,0</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22,9</a:t>
                      </a:r>
                      <a:endParaRPr lang="pt-BR" sz="1100" b="0"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13,5</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12,7</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-22,2</a:t>
                      </a:r>
                      <a:endParaRPr lang="pt-BR" sz="1100" b="0"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+9,5</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+12,7</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8943322"/>
                  </a:ext>
                </a:extLst>
              </a:tr>
              <a:tr h="161925">
                <a:tc>
                  <a:txBody>
                    <a:bodyPr/>
                    <a:lstStyle/>
                    <a:p>
                      <a:pPr algn="l" fontAlgn="b">
                        <a:buNone/>
                      </a:pPr>
                      <a:r>
                        <a:rPr lang="pt-BR" sz="1100" u="none" strike="noStrike" dirty="0">
                          <a:effectLst/>
                        </a:rPr>
                        <a:t>Custos Capitalizados</a:t>
                      </a: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11,7</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2,6</a:t>
                      </a:r>
                      <a:endParaRPr lang="pt-BR" sz="1100" b="0" i="0" u="none" strike="noStrike">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8,0</a:t>
                      </a:r>
                      <a:endParaRPr lang="pt-BR" sz="1100" b="0"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6,0</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-3,7</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-2,6</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+6,0</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-0,4</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1281992"/>
                  </a:ext>
                </a:extLst>
              </a:tr>
              <a:tr h="161925">
                <a:tc>
                  <a:txBody>
                    <a:bodyPr/>
                    <a:lstStyle/>
                    <a:p>
                      <a:pPr algn="l" fontAlgn="b">
                        <a:buNone/>
                      </a:pPr>
                      <a:r>
                        <a:rPr lang="pt-BR" sz="1100" u="none" strike="noStrike" dirty="0">
                          <a:effectLst/>
                        </a:rPr>
                        <a:t>CAPEX</a:t>
                      </a:r>
                      <a:endParaRPr lang="pt-BR" sz="1100" b="1"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 56,8</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6,6</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30,9 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13,5</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18,6</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a:effectLst/>
                        </a:rPr>
                        <a:t>-25,9</a:t>
                      </a:r>
                      <a:endParaRPr lang="pt-BR" sz="1100" b="1" i="0" u="none" strike="noStrike">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+6,9</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+18,6</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-0,4</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505037"/>
                  </a:ext>
                </a:extLst>
              </a:tr>
              <a:tr h="100330">
                <a:tc>
                  <a:txBody>
                    <a:bodyPr/>
                    <a:lstStyle/>
                    <a:p>
                      <a:pPr algn="l" fontAlgn="b">
                        <a:buNone/>
                      </a:pP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59145883"/>
                  </a:ext>
                </a:extLst>
              </a:tr>
              <a:tr h="100330">
                <a:tc>
                  <a:txBody>
                    <a:bodyPr/>
                    <a:lstStyle/>
                    <a:p>
                      <a:pPr algn="l"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72000"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0" i="0" u="none" strike="noStrike" dirty="0">
                        <a:solidFill>
                          <a:srgbClr val="000000"/>
                        </a:solidFill>
                        <a:effectLst/>
                        <a:latin typeface="Calibri" panose="020F0502020204030204" pitchFamily="34" charset="0"/>
                      </a:endParaRPr>
                    </a:p>
                  </a:txBody>
                  <a:tcPr marL="9525" marR="9525" marT="9525" marB="0" anchor="b">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pt-BR" sz="1100" u="none" strike="noStrike" dirty="0">
                          <a:effectLst/>
                        </a:rPr>
                        <a:t> </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32388317"/>
                  </a:ext>
                </a:extLst>
              </a:tr>
              <a:tr h="91405">
                <a:tc>
                  <a:txBody>
                    <a:bodyPr/>
                    <a:lstStyle/>
                    <a:p>
                      <a:pPr algn="l" fontAlgn="b">
                        <a:buNone/>
                      </a:pPr>
                      <a:r>
                        <a:rPr lang="pt-BR" sz="1100" u="none" strike="noStrike" dirty="0">
                          <a:effectLst/>
                        </a:rPr>
                        <a:t>Impacto Caixa</a:t>
                      </a:r>
                      <a:endParaRPr lang="pt-BR" sz="1100" b="1" i="0" u="none" strike="noStrike" dirty="0">
                        <a:solidFill>
                          <a:srgbClr val="000000"/>
                        </a:solidFill>
                        <a:effectLst/>
                        <a:latin typeface="Calibri" panose="020F0502020204030204" pitchFamily="34" charset="0"/>
                      </a:endParaRPr>
                    </a:p>
                  </a:txBody>
                  <a:tcPr marL="72000"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56,8</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6,6</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38,3</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18,7</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6,8</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+33,2</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-1,7</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-30,5</a:t>
                      </a:r>
                      <a:endParaRPr lang="pt-BR" sz="1100" b="1" i="0" u="none" strike="noStrike" dirty="0">
                        <a:solidFill>
                          <a:srgbClr val="000000"/>
                        </a:solidFill>
                        <a:effectLst/>
                        <a:latin typeface="Calibri" panose="020F0502020204030204" pitchFamily="34" charset="0"/>
                      </a:endParaRPr>
                    </a:p>
                  </a:txBody>
                  <a:tcPr marL="9525" marR="9525" marT="9525" marB="0" anchor="b">
                    <a:lnL w="317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lstStyle/>
                    <a:p>
                      <a:pPr algn="ctr" fontAlgn="b">
                        <a:buNone/>
                      </a:pPr>
                      <a:r>
                        <a:rPr lang="pt-BR" sz="1100" u="none" strike="noStrike" dirty="0">
                          <a:effectLst/>
                        </a:rPr>
                        <a:t>+1,1</a:t>
                      </a:r>
                      <a:endParaRPr lang="pt-BR" sz="1100" b="1" i="0" u="none" strike="noStrike" dirty="0">
                        <a:solidFill>
                          <a:srgbClr val="000000"/>
                        </a:solidFill>
                        <a:effectLst/>
                        <a:latin typeface="Calibri" panose="020F0502020204030204" pitchFamily="34" charset="0"/>
                      </a:endParaRPr>
                    </a:p>
                  </a:txBody>
                  <a:tcPr marL="9525" marR="9525" marT="9525" marB="0" anchor="b">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7571396"/>
                  </a:ext>
                </a:extLst>
              </a:tr>
            </a:tbl>
          </a:graphicData>
        </a:graphic>
      </p:graphicFrame>
      <p:sp>
        <p:nvSpPr>
          <p:cNvPr id="50" name="Título 4">
            <a:extLst>
              <a:ext uri="{FF2B5EF4-FFF2-40B4-BE49-F238E27FC236}">
                <a16:creationId xmlns:a16="http://schemas.microsoft.com/office/drawing/2014/main" id="{8EF622B4-1883-1C5F-48F5-2B83694EA283}"/>
              </a:ext>
            </a:extLst>
          </p:cNvPr>
          <p:cNvSpPr txBox="1">
            <a:spLocks/>
          </p:cNvSpPr>
          <p:nvPr/>
        </p:nvSpPr>
        <p:spPr>
          <a:xfrm>
            <a:off x="620007" y="6155735"/>
            <a:ext cx="2291165" cy="400616"/>
          </a:xfrm>
          <a:prstGeom prst="rect">
            <a:avLst/>
          </a:prstGeom>
        </p:spPr>
        <p:txBody>
          <a:bodyPr vert="horz" lIns="91440" tIns="45720" rIns="91440" bIns="45720" rtlCol="0" anchor="ctr">
            <a:noAutofit/>
          </a:bodyPr>
          <a:lstStyle>
            <a:lvl1pPr algn="l" defTabSz="1055061" rtl="0" eaLnBrk="1" latinLnBrk="0" hangingPunct="1">
              <a:lnSpc>
                <a:spcPct val="90000"/>
              </a:lnSpc>
              <a:spcBef>
                <a:spcPct val="0"/>
              </a:spcBef>
              <a:buNone/>
              <a:defRPr lang="pt-BR" sz="2200" b="1" kern="1200" dirty="0">
                <a:solidFill>
                  <a:schemeClr val="tx1"/>
                </a:solidFill>
                <a:latin typeface="+mj-lt"/>
                <a:ea typeface="+mj-ea"/>
                <a:cs typeface="+mj-cs"/>
              </a:defRPr>
            </a:lvl1pPr>
          </a:lstStyle>
          <a:p>
            <a:pPr defTabSz="1055035">
              <a:lnSpc>
                <a:spcPct val="100000"/>
              </a:lnSpc>
              <a:spcBef>
                <a:spcPts val="0"/>
              </a:spcBef>
              <a:defRPr/>
            </a:pPr>
            <a:r>
              <a:rPr lang="pt-BR" sz="1050" b="0" dirty="0"/>
              <a:t>Memória de cálculo segue no arquivo anexo de FP&amp;A</a:t>
            </a:r>
          </a:p>
        </p:txBody>
      </p:sp>
      <p:sp>
        <p:nvSpPr>
          <p:cNvPr id="52" name="Retângulo 51">
            <a:extLst>
              <a:ext uri="{FF2B5EF4-FFF2-40B4-BE49-F238E27FC236}">
                <a16:creationId xmlns:a16="http://schemas.microsoft.com/office/drawing/2014/main" id="{210016DB-DB34-9D7C-1B61-DAD7EE2929BC}"/>
              </a:ext>
            </a:extLst>
          </p:cNvPr>
          <p:cNvSpPr/>
          <p:nvPr/>
        </p:nvSpPr>
        <p:spPr>
          <a:xfrm>
            <a:off x="551384" y="3064026"/>
            <a:ext cx="11016624" cy="645195"/>
          </a:xfrm>
          <a:prstGeom prst="rect">
            <a:avLst/>
          </a:prstGeom>
          <a:noFill/>
          <a:ln w="9525">
            <a:solidFill>
              <a:srgbClr val="009DC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61" name="Conector: Curvo 60">
            <a:extLst>
              <a:ext uri="{FF2B5EF4-FFF2-40B4-BE49-F238E27FC236}">
                <a16:creationId xmlns:a16="http://schemas.microsoft.com/office/drawing/2014/main" id="{F4B98399-FD09-0351-5432-765171FC20E1}"/>
              </a:ext>
            </a:extLst>
          </p:cNvPr>
          <p:cNvCxnSpPr>
            <a:cxnSpLocks/>
            <a:stCxn id="601" idx="1"/>
            <a:endCxn id="52" idx="1"/>
          </p:cNvCxnSpPr>
          <p:nvPr/>
        </p:nvCxnSpPr>
        <p:spPr>
          <a:xfrm rot="10800000" flipV="1">
            <a:off x="551384" y="1224136"/>
            <a:ext cx="144616" cy="2162487"/>
          </a:xfrm>
          <a:prstGeom prst="curvedConnector3">
            <a:avLst>
              <a:gd name="adj1" fmla="val 258074"/>
            </a:avLst>
          </a:prstGeom>
          <a:noFill/>
          <a:ln w="9525">
            <a:solidFill>
              <a:srgbClr val="009DC3"/>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graphicFrame>
        <p:nvGraphicFramePr>
          <p:cNvPr id="3" name="Objeto 2">
            <a:extLst>
              <a:ext uri="{FF2B5EF4-FFF2-40B4-BE49-F238E27FC236}">
                <a16:creationId xmlns:a16="http://schemas.microsoft.com/office/drawing/2014/main" id="{234EB3C9-B7BD-4DF6-2156-D87CFB8171F3}"/>
              </a:ext>
            </a:extLst>
          </p:cNvPr>
          <p:cNvGraphicFramePr>
            <a:graphicFrameLocks noChangeAspect="1"/>
          </p:cNvGraphicFramePr>
          <p:nvPr/>
        </p:nvGraphicFramePr>
        <p:xfrm>
          <a:off x="2855640" y="6129288"/>
          <a:ext cx="648072" cy="546810"/>
        </p:xfrm>
        <a:graphic>
          <a:graphicData uri="http://schemas.openxmlformats.org/presentationml/2006/ole">
            <mc:AlternateContent xmlns:mc="http://schemas.openxmlformats.org/markup-compatibility/2006">
              <mc:Choice xmlns:v="urn:schemas-microsoft-com:vml" Requires="v">
                <p:oleObj name="Worksheet" showAsIcon="1" r:id="rId2" imgW="914570" imgH="771690" progId="Excel.Sheet.12">
                  <p:embed/>
                </p:oleObj>
              </mc:Choice>
              <mc:Fallback>
                <p:oleObj name="Worksheet" showAsIcon="1" r:id="rId2" imgW="914570" imgH="771690" progId="Excel.Sheet.12">
                  <p:embed/>
                  <p:pic>
                    <p:nvPicPr>
                      <p:cNvPr id="3" name="Objeto 2">
                        <a:extLst>
                          <a:ext uri="{FF2B5EF4-FFF2-40B4-BE49-F238E27FC236}">
                            <a16:creationId xmlns:a16="http://schemas.microsoft.com/office/drawing/2014/main" id="{234EB3C9-B7BD-4DF6-2156-D87CFB8171F3}"/>
                          </a:ext>
                        </a:extLst>
                      </p:cNvPr>
                      <p:cNvPicPr/>
                      <p:nvPr/>
                    </p:nvPicPr>
                    <p:blipFill>
                      <a:blip r:embed="rId3"/>
                      <a:stretch>
                        <a:fillRect/>
                      </a:stretch>
                    </p:blipFill>
                    <p:spPr>
                      <a:xfrm>
                        <a:off x="2855640" y="6129288"/>
                        <a:ext cx="648072" cy="546810"/>
                      </a:xfrm>
                      <a:prstGeom prst="rect">
                        <a:avLst/>
                      </a:prstGeom>
                    </p:spPr>
                  </p:pic>
                </p:oleObj>
              </mc:Fallback>
            </mc:AlternateContent>
          </a:graphicData>
        </a:graphic>
      </p:graphicFrame>
      <p:sp>
        <p:nvSpPr>
          <p:cNvPr id="4" name="Retângulo 3">
            <a:extLst>
              <a:ext uri="{FF2B5EF4-FFF2-40B4-BE49-F238E27FC236}">
                <a16:creationId xmlns:a16="http://schemas.microsoft.com/office/drawing/2014/main" id="{77648229-D2F6-9399-F191-E2BAC37CC2CA}"/>
              </a:ext>
            </a:extLst>
          </p:cNvPr>
          <p:cNvSpPr/>
          <p:nvPr/>
        </p:nvSpPr>
        <p:spPr>
          <a:xfrm>
            <a:off x="564085" y="6102018"/>
            <a:ext cx="3011635" cy="504000"/>
          </a:xfrm>
          <a:prstGeom prst="rect">
            <a:avLst/>
          </a:prstGeom>
          <a:no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51">
            <a:extLst>
              <a:ext uri="{FF2B5EF4-FFF2-40B4-BE49-F238E27FC236}">
                <a16:creationId xmlns:a16="http://schemas.microsoft.com/office/drawing/2014/main" id="{1619DDDA-4418-9BC4-7D66-5C374B240176}"/>
              </a:ext>
            </a:extLst>
          </p:cNvPr>
          <p:cNvSpPr/>
          <p:nvPr/>
        </p:nvSpPr>
        <p:spPr>
          <a:xfrm>
            <a:off x="551384" y="4847976"/>
            <a:ext cx="11016624" cy="248750"/>
          </a:xfrm>
          <a:prstGeom prst="rect">
            <a:avLst/>
          </a:prstGeom>
          <a:noFill/>
          <a:ln w="9525">
            <a:solidFill>
              <a:srgbClr val="009DC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Conector: Curvo 60">
            <a:extLst>
              <a:ext uri="{FF2B5EF4-FFF2-40B4-BE49-F238E27FC236}">
                <a16:creationId xmlns:a16="http://schemas.microsoft.com/office/drawing/2014/main" id="{49E6CDF1-A820-F446-77EA-5173A5E6A266}"/>
              </a:ext>
            </a:extLst>
          </p:cNvPr>
          <p:cNvCxnSpPr>
            <a:cxnSpLocks/>
            <a:stCxn id="601" idx="1"/>
            <a:endCxn id="5" idx="1"/>
          </p:cNvCxnSpPr>
          <p:nvPr/>
        </p:nvCxnSpPr>
        <p:spPr>
          <a:xfrm rot="10800000" flipV="1">
            <a:off x="551384" y="1224137"/>
            <a:ext cx="144616" cy="3748214"/>
          </a:xfrm>
          <a:prstGeom prst="curvedConnector3">
            <a:avLst>
              <a:gd name="adj1" fmla="val 258074"/>
            </a:avLst>
          </a:prstGeom>
          <a:noFill/>
          <a:ln w="9525">
            <a:solidFill>
              <a:srgbClr val="009DC3"/>
            </a:solidFill>
            <a:prstDash val="dash"/>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6794558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DDF49-DEE1-70D0-DF87-9FA002C9F19D}"/>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0B4CA550-A1A8-B15A-51F5-E20EE67C8878}"/>
              </a:ext>
            </a:extLst>
          </p:cNvPr>
          <p:cNvSpPr>
            <a:spLocks noGrp="1"/>
          </p:cNvSpPr>
          <p:nvPr>
            <p:ph type="title"/>
          </p:nvPr>
        </p:nvSpPr>
        <p:spPr>
          <a:xfrm>
            <a:off x="1089653" y="303578"/>
            <a:ext cx="10485852" cy="645195"/>
          </a:xfrm>
        </p:spPr>
        <p:txBody>
          <a:bodyPr/>
          <a:lstStyle/>
          <a:p>
            <a:pPr marL="0" marR="0" lvl="0" indent="0" algn="l" defTabSz="1055035" rtl="0" eaLnBrk="1" fontAlgn="auto" latinLnBrk="0" hangingPunct="1">
              <a:lnSpc>
                <a:spcPct val="100000"/>
              </a:lnSpc>
              <a:spcBef>
                <a:spcPts val="0"/>
              </a:spcBef>
              <a:spcAft>
                <a:spcPts val="0"/>
              </a:spcAft>
              <a:buClrTx/>
              <a:buSzTx/>
              <a:buFontTx/>
              <a:buNone/>
              <a:tabLst/>
              <a:defRPr/>
            </a:pPr>
            <a:r>
              <a:rPr lang="pt-BR" dirty="0"/>
              <a:t>Simulação de Cenários</a:t>
            </a:r>
            <a:br>
              <a:rPr lang="pt-BR" dirty="0"/>
            </a:br>
            <a:r>
              <a:rPr lang="pt-BR" sz="1600" b="0" dirty="0"/>
              <a:t>Macro Processo</a:t>
            </a:r>
            <a:endParaRPr lang="pt-BR" b="0" dirty="0"/>
          </a:p>
        </p:txBody>
      </p:sp>
      <p:sp>
        <p:nvSpPr>
          <p:cNvPr id="3" name="Retângulo: Cantos Arredondados 2">
            <a:extLst>
              <a:ext uri="{FF2B5EF4-FFF2-40B4-BE49-F238E27FC236}">
                <a16:creationId xmlns:a16="http://schemas.microsoft.com/office/drawing/2014/main" id="{749740DB-4D25-4D47-8DEC-C8FE9B1B8156}"/>
              </a:ext>
            </a:extLst>
          </p:cNvPr>
          <p:cNvSpPr/>
          <p:nvPr/>
        </p:nvSpPr>
        <p:spPr>
          <a:xfrm>
            <a:off x="287947" y="1423919"/>
            <a:ext cx="2780653" cy="500400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324000" rtlCol="0" anchor="t"/>
          <a:lstStyle/>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O analista de Planejamento da Área Técnica acessa a tela inicial do HUB e seleciona a opção </a:t>
            </a:r>
            <a:r>
              <a:rPr kumimoji="0" lang="pt-BR" sz="1100" b="1" i="0" u="none" strike="noStrike" kern="1200" cap="none" spc="0" normalizeH="0" baseline="0" noProof="0" dirty="0">
                <a:ln>
                  <a:noFill/>
                </a:ln>
                <a:solidFill>
                  <a:prstClr val="black"/>
                </a:solidFill>
                <a:effectLst/>
                <a:uLnTx/>
                <a:uFillTx/>
                <a:latin typeface="Calibri"/>
                <a:ea typeface="+mn-ea"/>
                <a:cs typeface="+mn-cs"/>
              </a:rPr>
              <a:t>“Criar Cenários de Parada”</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Pré-requisito: a Parada deve estar com status entre o </a:t>
            </a:r>
            <a:r>
              <a:rPr kumimoji="0" lang="pt-BR" sz="1100" b="1" i="0" u="none" strike="noStrike" kern="1200" cap="none" spc="0" normalizeH="0" baseline="0" noProof="0" dirty="0">
                <a:ln>
                  <a:noFill/>
                </a:ln>
                <a:solidFill>
                  <a:prstClr val="black"/>
                </a:solidFill>
                <a:effectLst/>
                <a:uLnTx/>
                <a:uFillTx/>
                <a:latin typeface="Calibri"/>
                <a:ea typeface="+mn-ea"/>
                <a:cs typeface="+mn-cs"/>
              </a:rPr>
              <a:t>FEL-0</a:t>
            </a:r>
            <a:r>
              <a:rPr kumimoji="0" lang="pt-BR" sz="1100" b="0" i="0" u="none" strike="noStrike" kern="1200" cap="none" spc="0" normalizeH="0" baseline="0" noProof="0" dirty="0">
                <a:ln>
                  <a:noFill/>
                </a:ln>
                <a:solidFill>
                  <a:prstClr val="black"/>
                </a:solidFill>
                <a:effectLst/>
                <a:uLnTx/>
                <a:uFillTx/>
                <a:latin typeface="Calibri"/>
                <a:ea typeface="+mn-ea"/>
                <a:cs typeface="+mn-cs"/>
              </a:rPr>
              <a:t> e </a:t>
            </a:r>
            <a:r>
              <a:rPr kumimoji="0" lang="pt-BR" sz="1100" b="1" i="0" u="none" strike="noStrike" kern="1200" cap="none" spc="0" normalizeH="0" baseline="0" noProof="0" dirty="0">
                <a:ln>
                  <a:noFill/>
                </a:ln>
                <a:solidFill>
                  <a:prstClr val="black"/>
                </a:solidFill>
                <a:effectLst/>
                <a:uLnTx/>
                <a:uFillTx/>
                <a:latin typeface="Calibri"/>
                <a:ea typeface="+mn-ea"/>
                <a:cs typeface="+mn-cs"/>
              </a:rPr>
              <a:t>FEL-2</a:t>
            </a:r>
          </a:p>
          <a:p>
            <a:pPr marL="171450" lvl="0" indent="-171450">
              <a:spcBef>
                <a:spcPts val="600"/>
              </a:spcBef>
              <a:buFont typeface="Wingdings" panose="05000000000000000000" pitchFamily="2" charset="2"/>
              <a:buChar char="§"/>
              <a:defRPr/>
            </a:pPr>
            <a:r>
              <a:rPr lang="pt-BR" sz="1100" dirty="0">
                <a:solidFill>
                  <a:prstClr val="black"/>
                </a:solidFill>
              </a:rPr>
              <a:t>O sistema abre a tela </a:t>
            </a:r>
            <a:r>
              <a:rPr lang="pt-BR" sz="1100" b="1" dirty="0">
                <a:solidFill>
                  <a:prstClr val="black"/>
                </a:solidFill>
              </a:rPr>
              <a:t>“Simulação de Cenários”</a:t>
            </a:r>
            <a:r>
              <a:rPr lang="pt-BR" sz="1100" dirty="0">
                <a:solidFill>
                  <a:prstClr val="black"/>
                </a:solidFill>
              </a:rPr>
              <a:t>, permitindo ao usuário criar múltiplas versões da Parada</a:t>
            </a:r>
          </a:p>
          <a:p>
            <a:pPr marL="171450" lvl="0" indent="-171450">
              <a:spcBef>
                <a:spcPts val="600"/>
              </a:spcBef>
              <a:buFont typeface="Wingdings" panose="05000000000000000000" pitchFamily="2" charset="2"/>
              <a:buChar char="§"/>
              <a:defRPr/>
            </a:pPr>
            <a:r>
              <a:rPr lang="pt-BR" sz="1100" dirty="0">
                <a:solidFill>
                  <a:prstClr val="black"/>
                </a:solidFill>
              </a:rPr>
              <a:t>Os cenários podem abranger desde o </a:t>
            </a:r>
            <a:r>
              <a:rPr lang="pt-BR" sz="1100" b="1" dirty="0">
                <a:solidFill>
                  <a:prstClr val="black"/>
                </a:solidFill>
              </a:rPr>
              <a:t>ano vigente até cinco anos no futuro </a:t>
            </a:r>
            <a:r>
              <a:rPr lang="pt-BR" sz="1100" dirty="0">
                <a:solidFill>
                  <a:prstClr val="black"/>
                </a:solidFill>
              </a:rPr>
              <a:t>(horizonte de planejamento do SGO)</a:t>
            </a:r>
            <a:endParaRPr kumimoji="0" lang="pt-BR" sz="1100" b="1" i="0" u="none" strike="noStrike" kern="1200" cap="none" spc="0" normalizeH="0" baseline="0" noProof="0" dirty="0">
              <a:ln>
                <a:noFill/>
              </a:ln>
              <a:solidFill>
                <a:prstClr val="black"/>
              </a:solidFill>
              <a:effectLst/>
              <a:uLnTx/>
              <a:uFillTx/>
              <a:latin typeface="Calibri"/>
              <a:ea typeface="+mn-ea"/>
              <a:cs typeface="+mn-cs"/>
            </a:endParaRPr>
          </a:p>
          <a:p>
            <a:pPr algn="ctr"/>
            <a:endParaRPr lang="pt-BR" dirty="0"/>
          </a:p>
        </p:txBody>
      </p:sp>
      <p:sp>
        <p:nvSpPr>
          <p:cNvPr id="34" name="Retângulo 33">
            <a:extLst>
              <a:ext uri="{FF2B5EF4-FFF2-40B4-BE49-F238E27FC236}">
                <a16:creationId xmlns:a16="http://schemas.microsoft.com/office/drawing/2014/main" id="{2279E337-F984-6206-DECF-B1A622520615}"/>
              </a:ext>
            </a:extLst>
          </p:cNvPr>
          <p:cNvSpPr/>
          <p:nvPr/>
        </p:nvSpPr>
        <p:spPr>
          <a:xfrm>
            <a:off x="508311" y="1175960"/>
            <a:ext cx="2335992"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Selecionar Parada</a:t>
            </a:r>
          </a:p>
        </p:txBody>
      </p:sp>
      <p:sp>
        <p:nvSpPr>
          <p:cNvPr id="19" name="Retângulo: Cantos Arredondados 18">
            <a:extLst>
              <a:ext uri="{FF2B5EF4-FFF2-40B4-BE49-F238E27FC236}">
                <a16:creationId xmlns:a16="http://schemas.microsoft.com/office/drawing/2014/main" id="{7A154947-C435-466B-6FA7-82473C590199}"/>
              </a:ext>
            </a:extLst>
          </p:cNvPr>
          <p:cNvSpPr/>
          <p:nvPr/>
        </p:nvSpPr>
        <p:spPr>
          <a:xfrm>
            <a:off x="3289301" y="1423919"/>
            <a:ext cx="2780653" cy="500400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324000" rtlCol="0" anchor="t"/>
          <a:lstStyle/>
          <a:p>
            <a:pPr marL="171450" lvl="0" indent="-171450">
              <a:spcBef>
                <a:spcPts val="600"/>
              </a:spcBef>
              <a:buFont typeface="Wingdings" panose="05000000000000000000" pitchFamily="2" charset="2"/>
              <a:buChar char="§"/>
              <a:defRPr/>
            </a:pPr>
            <a:r>
              <a:rPr lang="pt-BR" sz="1100" dirty="0">
                <a:solidFill>
                  <a:prstClr val="black"/>
                </a:solidFill>
              </a:rPr>
              <a:t>O usuário tem uma ação manual de </a:t>
            </a:r>
            <a:r>
              <a:rPr lang="pt-BR" sz="1100" b="1" dirty="0">
                <a:solidFill>
                  <a:prstClr val="black"/>
                </a:solidFill>
              </a:rPr>
              <a:t>“Adicionar Cenário”</a:t>
            </a:r>
            <a:r>
              <a:rPr lang="pt-BR" sz="1100" dirty="0">
                <a:solidFill>
                  <a:prstClr val="black"/>
                </a:solidFill>
              </a:rPr>
              <a:t>. O sistema duplica as configurações da Parada base, gerando o ID </a:t>
            </a:r>
            <a:r>
              <a:rPr lang="pt-BR" sz="1100" b="1" dirty="0">
                <a:solidFill>
                  <a:prstClr val="black"/>
                </a:solidFill>
              </a:rPr>
              <a:t>“XX-AV”</a:t>
            </a:r>
            <a:r>
              <a:rPr lang="pt-BR" sz="1100" dirty="0">
                <a:solidFill>
                  <a:prstClr val="black"/>
                </a:solidFill>
              </a:rPr>
              <a:t> (</a:t>
            </a:r>
            <a:r>
              <a:rPr lang="pt-BR" sz="1100" i="1" dirty="0">
                <a:solidFill>
                  <a:prstClr val="black"/>
                </a:solidFill>
              </a:rPr>
              <a:t>XX = ID da Parada | A = identificador do cenário | V = identificador de quebra</a:t>
            </a:r>
            <a:r>
              <a:rPr lang="pt-BR" sz="1100" dirty="0">
                <a:solidFill>
                  <a:prstClr val="black"/>
                </a:solidFill>
              </a:rPr>
              <a:t>)</a:t>
            </a:r>
          </a:p>
          <a:p>
            <a:pPr marL="171450" lvl="0" indent="-171450">
              <a:spcBef>
                <a:spcPts val="600"/>
              </a:spcBef>
              <a:buFont typeface="Wingdings" panose="05000000000000000000" pitchFamily="2" charset="2"/>
              <a:buChar char="§"/>
              <a:defRPr/>
            </a:pPr>
            <a:r>
              <a:rPr lang="pt-BR" sz="1100" dirty="0">
                <a:solidFill>
                  <a:prstClr val="black"/>
                </a:solidFill>
              </a:rPr>
              <a:t>Em seguida, o sistema exibe uma </a:t>
            </a:r>
            <a:r>
              <a:rPr lang="pt-BR" sz="1100" b="1" dirty="0">
                <a:solidFill>
                  <a:prstClr val="black"/>
                </a:solidFill>
              </a:rPr>
              <a:t>caixa de mensagem</a:t>
            </a:r>
            <a:r>
              <a:rPr lang="pt-BR" sz="1100" dirty="0">
                <a:solidFill>
                  <a:prstClr val="black"/>
                </a:solidFill>
              </a:rPr>
              <a:t> perguntando se o usuário deseja mover a Parada no tempo ou “quebrar o escopo da Parada”</a:t>
            </a:r>
            <a:endParaRPr lang="pt-BR" sz="1100" dirty="0"/>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Caso deseje apenas </a:t>
            </a:r>
            <a:r>
              <a:rPr lang="pt-BR" sz="1100" b="1" dirty="0">
                <a:solidFill>
                  <a:prstClr val="black"/>
                </a:solidFill>
                <a:latin typeface="Calibri"/>
              </a:rPr>
              <a:t>mover a Parada no tempo</a:t>
            </a:r>
            <a:r>
              <a:rPr lang="pt-BR" sz="1100" dirty="0">
                <a:solidFill>
                  <a:prstClr val="black"/>
                </a:solidFill>
                <a:latin typeface="Calibri"/>
              </a:rPr>
              <a:t>, o usuário deve indicar nova data início e nova data fim</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Ao optar por </a:t>
            </a:r>
            <a:r>
              <a:rPr kumimoji="0" lang="pt-BR" sz="1100" b="1" i="0" u="none" strike="noStrike" kern="1200" cap="none" spc="0" normalizeH="0" baseline="0" noProof="0" dirty="0">
                <a:ln>
                  <a:noFill/>
                </a:ln>
                <a:solidFill>
                  <a:prstClr val="black"/>
                </a:solidFill>
                <a:effectLst/>
                <a:uLnTx/>
                <a:uFillTx/>
                <a:latin typeface="Calibri"/>
                <a:ea typeface="+mn-ea"/>
                <a:cs typeface="+mn-cs"/>
              </a:rPr>
              <a:t>quebrar a Parada</a:t>
            </a:r>
            <a:r>
              <a:rPr kumimoji="0" lang="pt-BR" sz="1100" b="0" i="0" u="none" strike="noStrike" kern="1200" cap="none" spc="0" normalizeH="0" baseline="0" noProof="0" dirty="0">
                <a:ln>
                  <a:noFill/>
                </a:ln>
                <a:solidFill>
                  <a:prstClr val="black"/>
                </a:solidFill>
                <a:effectLst/>
                <a:uLnTx/>
                <a:uFillTx/>
                <a:latin typeface="Calibri"/>
                <a:ea typeface="+mn-ea"/>
                <a:cs typeface="+mn-cs"/>
              </a:rPr>
              <a:t>, o usuário deve indicar em quantas novas Paradas dividir o escopo, definir datas de início e fim e realocar obras e demandas com suas respectivas estimativas de custo</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Após salvar o cenário, o card da Parada recebe na página inicial do HUB uma identificação de que possui cenários alternativos, </a:t>
            </a:r>
            <a:r>
              <a:rPr lang="pt-BR" sz="1100" b="1" dirty="0">
                <a:solidFill>
                  <a:srgbClr val="FF0000"/>
                </a:solidFill>
                <a:latin typeface="Calibri"/>
              </a:rPr>
              <a:t>como ilustrado no slide 52</a:t>
            </a:r>
            <a:endParaRPr kumimoji="0" lang="pt-BR" sz="1100" b="1" i="0" u="none" strike="noStrike" kern="1200" cap="none" spc="0" normalizeH="0" baseline="0" noProof="0" dirty="0">
              <a:ln>
                <a:noFill/>
              </a:ln>
              <a:solidFill>
                <a:srgbClr val="FF0000"/>
              </a:solidFill>
              <a:effectLst/>
              <a:uLnTx/>
              <a:uFillTx/>
              <a:latin typeface="Calibri"/>
              <a:ea typeface="+mn-ea"/>
              <a:cs typeface="+mn-cs"/>
            </a:endParaRPr>
          </a:p>
        </p:txBody>
      </p:sp>
      <p:sp>
        <p:nvSpPr>
          <p:cNvPr id="36" name="Retângulo 35">
            <a:extLst>
              <a:ext uri="{FF2B5EF4-FFF2-40B4-BE49-F238E27FC236}">
                <a16:creationId xmlns:a16="http://schemas.microsoft.com/office/drawing/2014/main" id="{1BE4EBCF-B9A8-803B-9619-FC0D5AD4927C}"/>
              </a:ext>
            </a:extLst>
          </p:cNvPr>
          <p:cNvSpPr/>
          <p:nvPr/>
        </p:nvSpPr>
        <p:spPr>
          <a:xfrm>
            <a:off x="3509666" y="1175960"/>
            <a:ext cx="2335992"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Adicionar Novo Cenário</a:t>
            </a:r>
          </a:p>
        </p:txBody>
      </p:sp>
      <p:sp>
        <p:nvSpPr>
          <p:cNvPr id="24" name="Retângulo: Cantos Arredondados 23">
            <a:extLst>
              <a:ext uri="{FF2B5EF4-FFF2-40B4-BE49-F238E27FC236}">
                <a16:creationId xmlns:a16="http://schemas.microsoft.com/office/drawing/2014/main" id="{3F140622-6197-BA79-D96A-1E632759045C}"/>
              </a:ext>
            </a:extLst>
          </p:cNvPr>
          <p:cNvSpPr/>
          <p:nvPr/>
        </p:nvSpPr>
        <p:spPr>
          <a:xfrm>
            <a:off x="6290655" y="1423919"/>
            <a:ext cx="2780653" cy="500400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324000" rtlCol="0" anchor="t"/>
          <a:lstStyle/>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Com o cenário salvo, o HUB envia uma notificação </a:t>
            </a:r>
            <a:r>
              <a:rPr lang="pt-BR" sz="1100" dirty="0">
                <a:solidFill>
                  <a:prstClr val="black"/>
                </a:solidFill>
                <a:latin typeface="Calibri"/>
              </a:rPr>
              <a:t>para </a:t>
            </a:r>
            <a:r>
              <a:rPr kumimoji="0" lang="pt-BR" sz="1100" b="0" i="0" u="none" strike="noStrike" kern="1200" cap="none" spc="0" normalizeH="0" baseline="0" noProof="0" dirty="0">
                <a:ln>
                  <a:noFill/>
                </a:ln>
                <a:solidFill>
                  <a:prstClr val="black"/>
                </a:solidFill>
                <a:effectLst/>
                <a:uLnTx/>
                <a:uFillTx/>
                <a:latin typeface="Calibri"/>
                <a:ea typeface="+mn-ea"/>
                <a:cs typeface="+mn-cs"/>
              </a:rPr>
              <a:t>FP&amp;A para que o time revise as premissas financeiras</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Após revisão, FP&amp;A salva as alterações e o HUB envia notificação para o time de Planejamento da Área Técnica</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O HUB notificará todos os envolvidos a cada nova alteração nos cenários salva pelos usuários</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O HUB exibirá os impactos financeiros em cada um dos cenários criados</a:t>
            </a:r>
            <a:endParaRPr lang="pt-BR" dirty="0"/>
          </a:p>
        </p:txBody>
      </p:sp>
      <p:sp>
        <p:nvSpPr>
          <p:cNvPr id="37" name="Retângulo 36">
            <a:extLst>
              <a:ext uri="{FF2B5EF4-FFF2-40B4-BE49-F238E27FC236}">
                <a16:creationId xmlns:a16="http://schemas.microsoft.com/office/drawing/2014/main" id="{6F7E6712-6B66-74F0-A269-39A8B732F343}"/>
              </a:ext>
            </a:extLst>
          </p:cNvPr>
          <p:cNvSpPr/>
          <p:nvPr/>
        </p:nvSpPr>
        <p:spPr>
          <a:xfrm>
            <a:off x="6511021" y="1175960"/>
            <a:ext cx="2335992"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rIns="36000" rtlCol="0" anchor="ctr"/>
          <a:lstStyle/>
          <a:p>
            <a:pPr algn="ctr"/>
            <a:r>
              <a:rPr lang="pt-BR" sz="1400" b="1" dirty="0">
                <a:solidFill>
                  <a:schemeClr val="tx1"/>
                </a:solidFill>
              </a:rPr>
              <a:t>Atualizar Premissas Financeiras</a:t>
            </a:r>
          </a:p>
        </p:txBody>
      </p:sp>
      <p:sp>
        <p:nvSpPr>
          <p:cNvPr id="32" name="Retângulo: Cantos Arredondados 31">
            <a:extLst>
              <a:ext uri="{FF2B5EF4-FFF2-40B4-BE49-F238E27FC236}">
                <a16:creationId xmlns:a16="http://schemas.microsoft.com/office/drawing/2014/main" id="{752BA325-5093-0A4D-7DFE-FC138741092B}"/>
              </a:ext>
            </a:extLst>
          </p:cNvPr>
          <p:cNvSpPr/>
          <p:nvPr/>
        </p:nvSpPr>
        <p:spPr>
          <a:xfrm>
            <a:off x="9292011" y="1423919"/>
            <a:ext cx="2780653" cy="5004000"/>
          </a:xfrm>
          <a:prstGeom prst="roundRect">
            <a:avLst>
              <a:gd name="adj" fmla="val 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324000" rtlCol="0" anchor="t"/>
          <a:lstStyle/>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Até o FEL-3, o time de Planejamento deve definir qual cenário será o final</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Nenhuma Parada pode seguir para o FEL-3 sem ter um cenário definido</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Se o cenário escolhido for uma </a:t>
            </a:r>
            <a:r>
              <a:rPr lang="pt-BR" sz="1100" b="1" dirty="0">
                <a:solidFill>
                  <a:prstClr val="black"/>
                </a:solidFill>
                <a:latin typeface="Calibri"/>
              </a:rPr>
              <a:t>quebra de Parada</a:t>
            </a:r>
            <a:r>
              <a:rPr lang="pt-BR" sz="1100" dirty="0">
                <a:solidFill>
                  <a:prstClr val="black"/>
                </a:solidFill>
                <a:latin typeface="Calibri"/>
              </a:rPr>
              <a:t>, o HUB envia ao SGO as informações das novas Paradas para criação dos </a:t>
            </a:r>
            <a:r>
              <a:rPr lang="pt-BR" sz="1100" dirty="0" err="1">
                <a:solidFill>
                  <a:prstClr val="black"/>
                </a:solidFill>
                <a:latin typeface="Calibri"/>
              </a:rPr>
              <a:t>ID’s</a:t>
            </a:r>
            <a:r>
              <a:rPr lang="pt-BR" sz="1100" dirty="0">
                <a:solidFill>
                  <a:prstClr val="black"/>
                </a:solidFill>
                <a:latin typeface="Calibri"/>
              </a:rPr>
              <a:t>, registro das obras, datas de início e fim</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As informações financeiras da simulação são vinculadas automaticamente pelo HUB. Nessa condição, a nova Parada já é criada com status FEL-0</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Caso o cenário escolhido for apenas </a:t>
            </a:r>
            <a:r>
              <a:rPr lang="pt-BR" sz="1100" b="1" dirty="0">
                <a:solidFill>
                  <a:prstClr val="black"/>
                </a:solidFill>
                <a:latin typeface="Calibri"/>
              </a:rPr>
              <a:t>movimentação da Parada no tempo</a:t>
            </a:r>
            <a:r>
              <a:rPr lang="pt-BR" sz="1100" dirty="0">
                <a:solidFill>
                  <a:prstClr val="black"/>
                </a:solidFill>
                <a:latin typeface="Calibri"/>
              </a:rPr>
              <a:t>, o HUB enviará as informações via integração para atualização das informações no SGO</a:t>
            </a:r>
          </a:p>
          <a:p>
            <a:pPr marL="171450" marR="0" lvl="0" indent="-171450" algn="l" defTabSz="1055035"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lang="pt-BR" sz="1100" dirty="0">
                <a:solidFill>
                  <a:prstClr val="black"/>
                </a:solidFill>
                <a:latin typeface="Calibri"/>
              </a:rPr>
              <a:t>Até a definição do cenário final, o cenário base será considerado para fins de cálculo de </a:t>
            </a:r>
            <a:r>
              <a:rPr lang="pt-BR" sz="1100" dirty="0" err="1">
                <a:solidFill>
                  <a:prstClr val="black"/>
                </a:solidFill>
                <a:latin typeface="Calibri"/>
              </a:rPr>
              <a:t>outlook</a:t>
            </a:r>
            <a:endParaRPr lang="pt-BR" dirty="0"/>
          </a:p>
        </p:txBody>
      </p:sp>
      <p:sp>
        <p:nvSpPr>
          <p:cNvPr id="38" name="Retângulo 37">
            <a:extLst>
              <a:ext uri="{FF2B5EF4-FFF2-40B4-BE49-F238E27FC236}">
                <a16:creationId xmlns:a16="http://schemas.microsoft.com/office/drawing/2014/main" id="{D71CA0A8-8855-DD91-C562-FFE7A09025BA}"/>
              </a:ext>
            </a:extLst>
          </p:cNvPr>
          <p:cNvSpPr/>
          <p:nvPr/>
        </p:nvSpPr>
        <p:spPr>
          <a:xfrm>
            <a:off x="9512375" y="1175960"/>
            <a:ext cx="2335992"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Definir Cenário Final</a:t>
            </a:r>
          </a:p>
        </p:txBody>
      </p:sp>
      <p:sp>
        <p:nvSpPr>
          <p:cNvPr id="2" name="Triangle 1">
            <a:extLst>
              <a:ext uri="{FF2B5EF4-FFF2-40B4-BE49-F238E27FC236}">
                <a16:creationId xmlns:a16="http://schemas.microsoft.com/office/drawing/2014/main" id="{D35EB856-9E57-429B-08F0-A7BF3D602E93}"/>
              </a:ext>
            </a:extLst>
          </p:cNvPr>
          <p:cNvSpPr/>
          <p:nvPr/>
        </p:nvSpPr>
        <p:spPr>
          <a:xfrm rot="5400000">
            <a:off x="2615647" y="373816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4" name="Triangle 3">
            <a:extLst>
              <a:ext uri="{FF2B5EF4-FFF2-40B4-BE49-F238E27FC236}">
                <a16:creationId xmlns:a16="http://schemas.microsoft.com/office/drawing/2014/main" id="{D428F498-E51F-1C4A-4B31-465E0B00F1C6}"/>
              </a:ext>
            </a:extLst>
          </p:cNvPr>
          <p:cNvSpPr/>
          <p:nvPr/>
        </p:nvSpPr>
        <p:spPr>
          <a:xfrm rot="5400000">
            <a:off x="5617001" y="373816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5" name="Triangle 4">
            <a:extLst>
              <a:ext uri="{FF2B5EF4-FFF2-40B4-BE49-F238E27FC236}">
                <a16:creationId xmlns:a16="http://schemas.microsoft.com/office/drawing/2014/main" id="{54EB3EBB-4D0C-35BF-4D20-3418FEB43D99}"/>
              </a:ext>
            </a:extLst>
          </p:cNvPr>
          <p:cNvSpPr/>
          <p:nvPr/>
        </p:nvSpPr>
        <p:spPr>
          <a:xfrm rot="5400000">
            <a:off x="8618355" y="373816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3614291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BE64A-90CD-29E1-8696-3D4611F9823B}"/>
            </a:ext>
          </a:extLst>
        </p:cNvPr>
        <p:cNvGrpSpPr/>
        <p:nvPr/>
      </p:nvGrpSpPr>
      <p:grpSpPr>
        <a:xfrm>
          <a:off x="0" y="0"/>
          <a:ext cx="0" cy="0"/>
          <a:chOff x="0" y="0"/>
          <a:chExt cx="0" cy="0"/>
        </a:xfrm>
      </p:grpSpPr>
      <p:sp>
        <p:nvSpPr>
          <p:cNvPr id="26" name="Retângulo: Cantos Arredondados 25">
            <a:extLst>
              <a:ext uri="{FF2B5EF4-FFF2-40B4-BE49-F238E27FC236}">
                <a16:creationId xmlns:a16="http://schemas.microsoft.com/office/drawing/2014/main" id="{5E16136D-69BD-AABF-41B8-8A4FCD507D95}"/>
              </a:ext>
            </a:extLst>
          </p:cNvPr>
          <p:cNvSpPr/>
          <p:nvPr/>
        </p:nvSpPr>
        <p:spPr>
          <a:xfrm>
            <a:off x="3529069" y="2610944"/>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Criar versão da Parada</a:t>
            </a:r>
          </a:p>
        </p:txBody>
      </p:sp>
      <p:sp>
        <p:nvSpPr>
          <p:cNvPr id="25" name="Retângulo: Cantos Arredondados 24">
            <a:extLst>
              <a:ext uri="{FF2B5EF4-FFF2-40B4-BE49-F238E27FC236}">
                <a16:creationId xmlns:a16="http://schemas.microsoft.com/office/drawing/2014/main" id="{497C49AA-7737-1047-92B3-33D02BE5F73E}"/>
              </a:ext>
            </a:extLst>
          </p:cNvPr>
          <p:cNvSpPr/>
          <p:nvPr/>
        </p:nvSpPr>
        <p:spPr>
          <a:xfrm>
            <a:off x="3560082" y="2574684"/>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Criar versão da Parada</a:t>
            </a:r>
          </a:p>
        </p:txBody>
      </p:sp>
      <p:sp>
        <p:nvSpPr>
          <p:cNvPr id="5" name="Título 4">
            <a:extLst>
              <a:ext uri="{FF2B5EF4-FFF2-40B4-BE49-F238E27FC236}">
                <a16:creationId xmlns:a16="http://schemas.microsoft.com/office/drawing/2014/main" id="{28D951C6-9F12-7331-E20F-E73E6B7E31C7}"/>
              </a:ext>
            </a:extLst>
          </p:cNvPr>
          <p:cNvSpPr>
            <a:spLocks noGrp="1"/>
          </p:cNvSpPr>
          <p:nvPr>
            <p:ph type="title"/>
          </p:nvPr>
        </p:nvSpPr>
        <p:spPr/>
        <p:txBody>
          <a:bodyPr/>
          <a:lstStyle/>
          <a:p>
            <a:pPr lvl="0" defTabSz="1055035">
              <a:lnSpc>
                <a:spcPct val="100000"/>
              </a:lnSpc>
              <a:spcBef>
                <a:spcPts val="0"/>
              </a:spcBef>
              <a:defRPr/>
            </a:pPr>
            <a:r>
              <a:rPr lang="pt-BR" dirty="0"/>
              <a:t>Simulação de Cenários</a:t>
            </a:r>
            <a:br>
              <a:rPr lang="pt-BR" dirty="0"/>
            </a:br>
            <a:r>
              <a:rPr kumimoji="0" lang="pt-BR" sz="1600" b="0" i="0" u="none" strike="noStrike" kern="1200" cap="none" spc="0" normalizeH="0" baseline="0" noProof="0" dirty="0">
                <a:ln>
                  <a:noFill/>
                </a:ln>
                <a:solidFill>
                  <a:prstClr val="black"/>
                </a:solidFill>
                <a:effectLst/>
                <a:uLnTx/>
                <a:uFillTx/>
                <a:latin typeface="Calibri"/>
                <a:ea typeface="+mj-ea"/>
                <a:cs typeface="+mj-cs"/>
              </a:rPr>
              <a:t>Fluxograma do Processo</a:t>
            </a:r>
            <a:endParaRPr lang="pt-BR" b="0" dirty="0"/>
          </a:p>
        </p:txBody>
      </p:sp>
      <p:sp>
        <p:nvSpPr>
          <p:cNvPr id="3" name="Retângulo 2">
            <a:extLst>
              <a:ext uri="{FF2B5EF4-FFF2-40B4-BE49-F238E27FC236}">
                <a16:creationId xmlns:a16="http://schemas.microsoft.com/office/drawing/2014/main" id="{BE3C95E0-50BC-113D-C78C-904000582674}"/>
              </a:ext>
            </a:extLst>
          </p:cNvPr>
          <p:cNvSpPr/>
          <p:nvPr/>
        </p:nvSpPr>
        <p:spPr>
          <a:xfrm>
            <a:off x="623392" y="1124744"/>
            <a:ext cx="10952113" cy="280831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15158A6A-FACF-693B-BBDC-22899B85A237}"/>
              </a:ext>
            </a:extLst>
          </p:cNvPr>
          <p:cNvSpPr txBox="1"/>
          <p:nvPr/>
        </p:nvSpPr>
        <p:spPr>
          <a:xfrm rot="16200000">
            <a:off x="126056" y="2390401"/>
            <a:ext cx="1282973" cy="276999"/>
          </a:xfrm>
          <a:prstGeom prst="rect">
            <a:avLst/>
          </a:prstGeom>
          <a:noFill/>
        </p:spPr>
        <p:txBody>
          <a:bodyPr wrap="square" rtlCol="0">
            <a:spAutoFit/>
          </a:bodyPr>
          <a:lstStyle/>
          <a:p>
            <a:pPr algn="ctr"/>
            <a:r>
              <a:rPr lang="pt-BR" sz="1200" b="1" dirty="0"/>
              <a:t>Planejamento AT</a:t>
            </a:r>
          </a:p>
        </p:txBody>
      </p:sp>
      <p:sp>
        <p:nvSpPr>
          <p:cNvPr id="7" name="Elipse 6">
            <a:extLst>
              <a:ext uri="{FF2B5EF4-FFF2-40B4-BE49-F238E27FC236}">
                <a16:creationId xmlns:a16="http://schemas.microsoft.com/office/drawing/2014/main" id="{4C88CE6A-8C05-A411-5007-8076C078EFC2}"/>
              </a:ext>
            </a:extLst>
          </p:cNvPr>
          <p:cNvSpPr/>
          <p:nvPr/>
        </p:nvSpPr>
        <p:spPr>
          <a:xfrm>
            <a:off x="1216879" y="2611398"/>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FFF0FFEF-FB80-CBED-524C-D926ED3C7C69}"/>
              </a:ext>
            </a:extLst>
          </p:cNvPr>
          <p:cNvSpPr txBox="1"/>
          <p:nvPr/>
        </p:nvSpPr>
        <p:spPr>
          <a:xfrm>
            <a:off x="757832" y="3008379"/>
            <a:ext cx="1278134" cy="415498"/>
          </a:xfrm>
          <a:prstGeom prst="rect">
            <a:avLst/>
          </a:prstGeom>
          <a:noFill/>
        </p:spPr>
        <p:txBody>
          <a:bodyPr wrap="square" rtlCol="0">
            <a:spAutoFit/>
          </a:bodyPr>
          <a:lstStyle/>
          <a:p>
            <a:pPr algn="ctr"/>
            <a:r>
              <a:rPr lang="pt-BR" sz="1050" dirty="0"/>
              <a:t>Necessidade de simular cenários</a:t>
            </a:r>
          </a:p>
        </p:txBody>
      </p:sp>
      <p:sp>
        <p:nvSpPr>
          <p:cNvPr id="9" name="Retângulo: Cantos Arredondados 8">
            <a:extLst>
              <a:ext uri="{FF2B5EF4-FFF2-40B4-BE49-F238E27FC236}">
                <a16:creationId xmlns:a16="http://schemas.microsoft.com/office/drawing/2014/main" id="{4A04711B-6B40-A381-48AF-AD8991B2EDD5}"/>
              </a:ext>
            </a:extLst>
          </p:cNvPr>
          <p:cNvSpPr/>
          <p:nvPr/>
        </p:nvSpPr>
        <p:spPr>
          <a:xfrm>
            <a:off x="1909960" y="2528900"/>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Selecionar Parada existente</a:t>
            </a:r>
          </a:p>
        </p:txBody>
      </p:sp>
      <p:cxnSp>
        <p:nvCxnSpPr>
          <p:cNvPr id="11" name="Conector de Seta Reta 10">
            <a:extLst>
              <a:ext uri="{FF2B5EF4-FFF2-40B4-BE49-F238E27FC236}">
                <a16:creationId xmlns:a16="http://schemas.microsoft.com/office/drawing/2014/main" id="{8CCF4A61-4156-1B04-3937-E269D5B0268B}"/>
              </a:ext>
            </a:extLst>
          </p:cNvPr>
          <p:cNvCxnSpPr>
            <a:cxnSpLocks/>
            <a:stCxn id="7" idx="6"/>
            <a:endCxn id="9" idx="1"/>
          </p:cNvCxnSpPr>
          <p:nvPr/>
        </p:nvCxnSpPr>
        <p:spPr>
          <a:xfrm>
            <a:off x="1576919" y="2791418"/>
            <a:ext cx="33304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68C6A23A-8B0F-07FD-D88C-FB5145BEED0E}"/>
              </a:ext>
            </a:extLst>
          </p:cNvPr>
          <p:cNvCxnSpPr>
            <a:cxnSpLocks/>
            <a:stCxn id="9" idx="3"/>
            <a:endCxn id="16" idx="1"/>
          </p:cNvCxnSpPr>
          <p:nvPr/>
        </p:nvCxnSpPr>
        <p:spPr>
          <a:xfrm>
            <a:off x="3398474" y="2791418"/>
            <a:ext cx="1918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tângulo 56">
            <a:extLst>
              <a:ext uri="{FF2B5EF4-FFF2-40B4-BE49-F238E27FC236}">
                <a16:creationId xmlns:a16="http://schemas.microsoft.com/office/drawing/2014/main" id="{A3EDF443-5E8B-E062-DA1A-2637906CA0E4}"/>
              </a:ext>
            </a:extLst>
          </p:cNvPr>
          <p:cNvSpPr/>
          <p:nvPr/>
        </p:nvSpPr>
        <p:spPr>
          <a:xfrm>
            <a:off x="623392" y="3933056"/>
            <a:ext cx="10952113" cy="220229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5" name="CaixaDeTexto 84">
            <a:extLst>
              <a:ext uri="{FF2B5EF4-FFF2-40B4-BE49-F238E27FC236}">
                <a16:creationId xmlns:a16="http://schemas.microsoft.com/office/drawing/2014/main" id="{8C9C2BDA-4752-0DD0-651E-A259CF922265}"/>
              </a:ext>
            </a:extLst>
          </p:cNvPr>
          <p:cNvSpPr txBox="1"/>
          <p:nvPr/>
        </p:nvSpPr>
        <p:spPr>
          <a:xfrm rot="16200000">
            <a:off x="126056" y="4895706"/>
            <a:ext cx="1282973" cy="276999"/>
          </a:xfrm>
          <a:prstGeom prst="rect">
            <a:avLst/>
          </a:prstGeom>
          <a:noFill/>
        </p:spPr>
        <p:txBody>
          <a:bodyPr wrap="square" rtlCol="0">
            <a:spAutoFit/>
          </a:bodyPr>
          <a:lstStyle/>
          <a:p>
            <a:pPr algn="ctr"/>
            <a:r>
              <a:rPr lang="pt-BR" sz="1200" b="1" dirty="0"/>
              <a:t>FP&amp;A</a:t>
            </a:r>
          </a:p>
        </p:txBody>
      </p:sp>
      <p:sp>
        <p:nvSpPr>
          <p:cNvPr id="12" name="Retângulo: Cantos Arredondados 11">
            <a:extLst>
              <a:ext uri="{FF2B5EF4-FFF2-40B4-BE49-F238E27FC236}">
                <a16:creationId xmlns:a16="http://schemas.microsoft.com/office/drawing/2014/main" id="{7C81651C-5900-157E-3206-3379899838D4}"/>
              </a:ext>
            </a:extLst>
          </p:cNvPr>
          <p:cNvSpPr/>
          <p:nvPr/>
        </p:nvSpPr>
        <p:spPr>
          <a:xfrm>
            <a:off x="5288426" y="2528900"/>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Editar nova versão da Parada</a:t>
            </a:r>
          </a:p>
        </p:txBody>
      </p:sp>
      <p:pic>
        <p:nvPicPr>
          <p:cNvPr id="17" name="Imagem 16" descr="Forma&#10;&#10;O conteúdo gerado por IA pode estar incorreto.">
            <a:extLst>
              <a:ext uri="{FF2B5EF4-FFF2-40B4-BE49-F238E27FC236}">
                <a16:creationId xmlns:a16="http://schemas.microsoft.com/office/drawing/2014/main" id="{4E500961-E2C5-5F8D-5598-8E4EA7404C83}"/>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6581275" y="2912163"/>
            <a:ext cx="121379" cy="105309"/>
          </a:xfrm>
          <a:prstGeom prst="rect">
            <a:avLst/>
          </a:prstGeom>
        </p:spPr>
      </p:pic>
      <p:sp>
        <p:nvSpPr>
          <p:cNvPr id="20" name="Retângulo: Cantos Arredondados 19">
            <a:extLst>
              <a:ext uri="{FF2B5EF4-FFF2-40B4-BE49-F238E27FC236}">
                <a16:creationId xmlns:a16="http://schemas.microsoft.com/office/drawing/2014/main" id="{2668B624-806F-0DD4-3156-4E290BAF6949}"/>
              </a:ext>
            </a:extLst>
          </p:cNvPr>
          <p:cNvSpPr/>
          <p:nvPr/>
        </p:nvSpPr>
        <p:spPr>
          <a:xfrm>
            <a:off x="5288426" y="5074695"/>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Analisar impactos financeiros</a:t>
            </a:r>
          </a:p>
        </p:txBody>
      </p:sp>
      <p:cxnSp>
        <p:nvCxnSpPr>
          <p:cNvPr id="21" name="Conector de Seta Reta 20">
            <a:extLst>
              <a:ext uri="{FF2B5EF4-FFF2-40B4-BE49-F238E27FC236}">
                <a16:creationId xmlns:a16="http://schemas.microsoft.com/office/drawing/2014/main" id="{C8667F88-685B-BA71-1333-9782837E6131}"/>
              </a:ext>
            </a:extLst>
          </p:cNvPr>
          <p:cNvCxnSpPr>
            <a:cxnSpLocks/>
            <a:stCxn id="12" idx="2"/>
            <a:endCxn id="24" idx="0"/>
          </p:cNvCxnSpPr>
          <p:nvPr/>
        </p:nvCxnSpPr>
        <p:spPr>
          <a:xfrm>
            <a:off x="6032683" y="3053936"/>
            <a:ext cx="0" cy="10550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tângulo: Cantos Arredondados 35">
            <a:extLst>
              <a:ext uri="{FF2B5EF4-FFF2-40B4-BE49-F238E27FC236}">
                <a16:creationId xmlns:a16="http://schemas.microsoft.com/office/drawing/2014/main" id="{84640903-0C3C-1F0B-2376-54D147883FDF}"/>
              </a:ext>
            </a:extLst>
          </p:cNvPr>
          <p:cNvSpPr/>
          <p:nvPr/>
        </p:nvSpPr>
        <p:spPr>
          <a:xfrm>
            <a:off x="6960850" y="2528900"/>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Definir cenário final</a:t>
            </a:r>
          </a:p>
        </p:txBody>
      </p:sp>
      <p:cxnSp>
        <p:nvCxnSpPr>
          <p:cNvPr id="37" name="Conector: Angulado 36">
            <a:extLst>
              <a:ext uri="{FF2B5EF4-FFF2-40B4-BE49-F238E27FC236}">
                <a16:creationId xmlns:a16="http://schemas.microsoft.com/office/drawing/2014/main" id="{DF4A3E5D-5182-D8F7-9DF1-AA4602CA0C26}"/>
              </a:ext>
            </a:extLst>
          </p:cNvPr>
          <p:cNvCxnSpPr>
            <a:cxnSpLocks/>
            <a:stCxn id="20" idx="3"/>
            <a:endCxn id="36" idx="2"/>
          </p:cNvCxnSpPr>
          <p:nvPr/>
        </p:nvCxnSpPr>
        <p:spPr>
          <a:xfrm flipV="1">
            <a:off x="6776940" y="3053936"/>
            <a:ext cx="928167" cy="228327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Elipse 48">
            <a:extLst>
              <a:ext uri="{FF2B5EF4-FFF2-40B4-BE49-F238E27FC236}">
                <a16:creationId xmlns:a16="http://schemas.microsoft.com/office/drawing/2014/main" id="{16584680-16A2-1FAB-EE57-5F0127D4D3A4}"/>
              </a:ext>
            </a:extLst>
          </p:cNvPr>
          <p:cNvSpPr/>
          <p:nvPr/>
        </p:nvSpPr>
        <p:spPr>
          <a:xfrm>
            <a:off x="10629279" y="2611398"/>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CaixaDeTexto 55">
            <a:extLst>
              <a:ext uri="{FF2B5EF4-FFF2-40B4-BE49-F238E27FC236}">
                <a16:creationId xmlns:a16="http://schemas.microsoft.com/office/drawing/2014/main" id="{75180E7B-18AA-4F46-49E4-B11E0588CD5D}"/>
              </a:ext>
            </a:extLst>
          </p:cNvPr>
          <p:cNvSpPr txBox="1"/>
          <p:nvPr/>
        </p:nvSpPr>
        <p:spPr>
          <a:xfrm>
            <a:off x="10106326" y="3008379"/>
            <a:ext cx="1405947" cy="415498"/>
          </a:xfrm>
          <a:prstGeom prst="rect">
            <a:avLst/>
          </a:prstGeom>
          <a:noFill/>
        </p:spPr>
        <p:txBody>
          <a:bodyPr wrap="square" rtlCol="0">
            <a:spAutoFit/>
          </a:bodyPr>
          <a:lstStyle/>
          <a:p>
            <a:pPr algn="ctr"/>
            <a:r>
              <a:rPr lang="pt-BR" sz="1050" dirty="0"/>
              <a:t>Cenário final da Parada definido</a:t>
            </a:r>
          </a:p>
        </p:txBody>
      </p:sp>
      <p:cxnSp>
        <p:nvCxnSpPr>
          <p:cNvPr id="58" name="Conector de Seta Reta 57">
            <a:extLst>
              <a:ext uri="{FF2B5EF4-FFF2-40B4-BE49-F238E27FC236}">
                <a16:creationId xmlns:a16="http://schemas.microsoft.com/office/drawing/2014/main" id="{4D55BE0F-8812-B247-A5C6-A8A74522636F}"/>
              </a:ext>
            </a:extLst>
          </p:cNvPr>
          <p:cNvCxnSpPr>
            <a:cxnSpLocks/>
            <a:stCxn id="36" idx="3"/>
            <a:endCxn id="51" idx="1"/>
          </p:cNvCxnSpPr>
          <p:nvPr/>
        </p:nvCxnSpPr>
        <p:spPr>
          <a:xfrm>
            <a:off x="8449364" y="2791418"/>
            <a:ext cx="3388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CaixaDeTexto 77">
            <a:extLst>
              <a:ext uri="{FF2B5EF4-FFF2-40B4-BE49-F238E27FC236}">
                <a16:creationId xmlns:a16="http://schemas.microsoft.com/office/drawing/2014/main" id="{C6E1193C-0F1F-4CF9-12A1-31F5ACF41455}"/>
              </a:ext>
            </a:extLst>
          </p:cNvPr>
          <p:cNvSpPr txBox="1"/>
          <p:nvPr/>
        </p:nvSpPr>
        <p:spPr>
          <a:xfrm>
            <a:off x="4416376" y="1345714"/>
            <a:ext cx="1616307" cy="784830"/>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dirty="0"/>
              <a:t>Incluir, excluir ou editar: </a:t>
            </a:r>
            <a:endParaRPr lang="pt-BR" b="0" dirty="0"/>
          </a:p>
          <a:p>
            <a:pPr marL="171450" indent="-171450" algn="l">
              <a:buFont typeface="Wingdings" panose="05000000000000000000" pitchFamily="2" charset="2"/>
              <a:buChar char="§"/>
            </a:pPr>
            <a:r>
              <a:rPr lang="pt-BR" b="0" dirty="0"/>
              <a:t>Obras</a:t>
            </a:r>
          </a:p>
          <a:p>
            <a:pPr marL="171450" indent="-171450" algn="l">
              <a:buFont typeface="Wingdings" panose="05000000000000000000" pitchFamily="2" charset="2"/>
              <a:buChar char="§"/>
            </a:pPr>
            <a:r>
              <a:rPr lang="pt-BR" b="0" dirty="0"/>
              <a:t>Escopo</a:t>
            </a:r>
          </a:p>
          <a:p>
            <a:pPr marL="171450" indent="-171450" algn="l">
              <a:buFont typeface="Wingdings" panose="05000000000000000000" pitchFamily="2" charset="2"/>
              <a:buChar char="§"/>
            </a:pPr>
            <a:r>
              <a:rPr lang="pt-BR" b="0" dirty="0"/>
              <a:t>Linhas de coletor</a:t>
            </a:r>
          </a:p>
          <a:p>
            <a:pPr marL="171450" indent="-171450" algn="l">
              <a:buFont typeface="Wingdings" panose="05000000000000000000" pitchFamily="2" charset="2"/>
              <a:buChar char="§"/>
            </a:pPr>
            <a:r>
              <a:rPr lang="pt-BR" b="0" dirty="0"/>
              <a:t>Datas e durações</a:t>
            </a:r>
          </a:p>
        </p:txBody>
      </p:sp>
      <p:cxnSp>
        <p:nvCxnSpPr>
          <p:cNvPr id="79" name="Conector: Curvo 78">
            <a:extLst>
              <a:ext uri="{FF2B5EF4-FFF2-40B4-BE49-F238E27FC236}">
                <a16:creationId xmlns:a16="http://schemas.microsoft.com/office/drawing/2014/main" id="{CB9E9B60-67EC-5B5E-5714-373618F29C30}"/>
              </a:ext>
            </a:extLst>
          </p:cNvPr>
          <p:cNvCxnSpPr>
            <a:cxnSpLocks/>
            <a:stCxn id="12" idx="0"/>
            <a:endCxn id="78" idx="2"/>
          </p:cNvCxnSpPr>
          <p:nvPr/>
        </p:nvCxnSpPr>
        <p:spPr>
          <a:xfrm rot="16200000" flipV="1">
            <a:off x="5429429" y="1925645"/>
            <a:ext cx="398356" cy="808153"/>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tângulo: Cantos Arredondados 15">
            <a:extLst>
              <a:ext uri="{FF2B5EF4-FFF2-40B4-BE49-F238E27FC236}">
                <a16:creationId xmlns:a16="http://schemas.microsoft.com/office/drawing/2014/main" id="{2DE992FE-4AC3-21C0-08C3-C4903C8CD009}"/>
              </a:ext>
            </a:extLst>
          </p:cNvPr>
          <p:cNvSpPr/>
          <p:nvPr/>
        </p:nvSpPr>
        <p:spPr>
          <a:xfrm>
            <a:off x="3590370" y="2528900"/>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Criar versão da Parada</a:t>
            </a:r>
          </a:p>
        </p:txBody>
      </p:sp>
      <p:cxnSp>
        <p:nvCxnSpPr>
          <p:cNvPr id="19" name="Conector de Seta Reta 18">
            <a:extLst>
              <a:ext uri="{FF2B5EF4-FFF2-40B4-BE49-F238E27FC236}">
                <a16:creationId xmlns:a16="http://schemas.microsoft.com/office/drawing/2014/main" id="{D8F0F566-9B11-F547-3907-D2C8CA1E8819}"/>
              </a:ext>
            </a:extLst>
          </p:cNvPr>
          <p:cNvCxnSpPr>
            <a:cxnSpLocks/>
            <a:stCxn id="16" idx="3"/>
            <a:endCxn id="12" idx="1"/>
          </p:cNvCxnSpPr>
          <p:nvPr/>
        </p:nvCxnSpPr>
        <p:spPr>
          <a:xfrm>
            <a:off x="5078884" y="2791418"/>
            <a:ext cx="20954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4" name="Imagem 13" descr="Forma&#10;&#10;O conteúdo gerado por IA pode estar incorreto.">
            <a:extLst>
              <a:ext uri="{FF2B5EF4-FFF2-40B4-BE49-F238E27FC236}">
                <a16:creationId xmlns:a16="http://schemas.microsoft.com/office/drawing/2014/main" id="{F942FC23-134E-AAF3-EECE-35A9B56C42E7}"/>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4909349" y="2912163"/>
            <a:ext cx="121379" cy="105309"/>
          </a:xfrm>
          <a:prstGeom prst="rect">
            <a:avLst/>
          </a:prstGeom>
        </p:spPr>
      </p:pic>
      <p:pic>
        <p:nvPicPr>
          <p:cNvPr id="27" name="Imagem 26" descr="Forma&#10;&#10;O conteúdo gerado por IA pode estar incorreto.">
            <a:extLst>
              <a:ext uri="{FF2B5EF4-FFF2-40B4-BE49-F238E27FC236}">
                <a16:creationId xmlns:a16="http://schemas.microsoft.com/office/drawing/2014/main" id="{EF16A8AB-60D5-FDD8-45D0-05679F0E797D}"/>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6581275" y="5448117"/>
            <a:ext cx="121379" cy="105309"/>
          </a:xfrm>
          <a:prstGeom prst="rect">
            <a:avLst/>
          </a:prstGeom>
        </p:spPr>
      </p:pic>
      <p:sp>
        <p:nvSpPr>
          <p:cNvPr id="28" name="CaixaDeTexto 27">
            <a:extLst>
              <a:ext uri="{FF2B5EF4-FFF2-40B4-BE49-F238E27FC236}">
                <a16:creationId xmlns:a16="http://schemas.microsoft.com/office/drawing/2014/main" id="{74BF36C5-F7C1-7F45-D967-A2D411A9168D}"/>
              </a:ext>
            </a:extLst>
          </p:cNvPr>
          <p:cNvSpPr txBox="1"/>
          <p:nvPr/>
        </p:nvSpPr>
        <p:spPr>
          <a:xfrm>
            <a:off x="9573909" y="4077072"/>
            <a:ext cx="1248612" cy="369332"/>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r>
              <a:rPr lang="pt-BR" dirty="0"/>
              <a:t>Cenários alternativos salvos no histórico</a:t>
            </a:r>
            <a:endParaRPr lang="pt-BR" b="0" dirty="0"/>
          </a:p>
        </p:txBody>
      </p:sp>
      <p:cxnSp>
        <p:nvCxnSpPr>
          <p:cNvPr id="29" name="Conector: Curvo 28">
            <a:extLst>
              <a:ext uri="{FF2B5EF4-FFF2-40B4-BE49-F238E27FC236}">
                <a16:creationId xmlns:a16="http://schemas.microsoft.com/office/drawing/2014/main" id="{B9BFA4AC-1AC2-A073-A37C-CE3AB50D64DC}"/>
              </a:ext>
            </a:extLst>
          </p:cNvPr>
          <p:cNvCxnSpPr>
            <a:cxnSpLocks/>
            <a:stCxn id="56" idx="2"/>
            <a:endCxn id="28" idx="0"/>
          </p:cNvCxnSpPr>
          <p:nvPr/>
        </p:nvCxnSpPr>
        <p:spPr>
          <a:xfrm rot="5400000">
            <a:off x="10177161" y="3444932"/>
            <a:ext cx="653195" cy="611085"/>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tângulo: Cantos Arredondados 50">
            <a:extLst>
              <a:ext uri="{FF2B5EF4-FFF2-40B4-BE49-F238E27FC236}">
                <a16:creationId xmlns:a16="http://schemas.microsoft.com/office/drawing/2014/main" id="{12AB45CE-0F1A-E4D2-B792-02B4D38A53AF}"/>
              </a:ext>
            </a:extLst>
          </p:cNvPr>
          <p:cNvSpPr/>
          <p:nvPr/>
        </p:nvSpPr>
        <p:spPr>
          <a:xfrm>
            <a:off x="8788164" y="2528900"/>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Atualizar SGO com cenário definido</a:t>
            </a:r>
          </a:p>
        </p:txBody>
      </p:sp>
      <p:pic>
        <p:nvPicPr>
          <p:cNvPr id="53" name="Imagem 52" descr="Forma&#10;&#10;O conteúdo gerado por IA pode estar incorreto.">
            <a:extLst>
              <a:ext uri="{FF2B5EF4-FFF2-40B4-BE49-F238E27FC236}">
                <a16:creationId xmlns:a16="http://schemas.microsoft.com/office/drawing/2014/main" id="{A10D8AC4-0CDD-D7E3-2FEB-036019EEF7F9}"/>
              </a:ext>
            </a:extLst>
          </p:cNvPr>
          <p:cNvPicPr>
            <a:picLocks noChangeAspect="1"/>
          </p:cNvPicPr>
          <p:nvPr/>
        </p:nvPicPr>
        <p:blipFill>
          <a:blip r:embed="rId3" cstate="print">
            <a:extLst>
              <a:ext uri="{28A0092B-C50C-407E-A947-70E740481C1C}">
                <a14:useLocalDpi xmlns:a14="http://schemas.microsoft.com/office/drawing/2010/main" val="0"/>
              </a:ext>
            </a:extLst>
          </a:blip>
          <a:srcRect l="17516" t="7881" r="16521" b="21920"/>
          <a:stretch>
            <a:fillRect/>
          </a:stretch>
        </p:blipFill>
        <p:spPr>
          <a:xfrm>
            <a:off x="10101912" y="2610944"/>
            <a:ext cx="129343" cy="137647"/>
          </a:xfrm>
          <a:prstGeom prst="rect">
            <a:avLst/>
          </a:prstGeom>
        </p:spPr>
      </p:pic>
      <p:cxnSp>
        <p:nvCxnSpPr>
          <p:cNvPr id="54" name="Conector de Seta Reta 53">
            <a:extLst>
              <a:ext uri="{FF2B5EF4-FFF2-40B4-BE49-F238E27FC236}">
                <a16:creationId xmlns:a16="http://schemas.microsoft.com/office/drawing/2014/main" id="{D46FC493-50CA-10F3-9E43-219128228FB5}"/>
              </a:ext>
            </a:extLst>
          </p:cNvPr>
          <p:cNvCxnSpPr>
            <a:cxnSpLocks/>
            <a:stCxn id="51" idx="3"/>
            <a:endCxn id="49" idx="2"/>
          </p:cNvCxnSpPr>
          <p:nvPr/>
        </p:nvCxnSpPr>
        <p:spPr>
          <a:xfrm>
            <a:off x="10276678" y="2791418"/>
            <a:ext cx="3526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CaixaDeTexto 60">
            <a:extLst>
              <a:ext uri="{FF2B5EF4-FFF2-40B4-BE49-F238E27FC236}">
                <a16:creationId xmlns:a16="http://schemas.microsoft.com/office/drawing/2014/main" id="{0DEDEC4C-04B0-1CA1-82C7-E8114F888202}"/>
              </a:ext>
            </a:extLst>
          </p:cNvPr>
          <p:cNvSpPr txBox="1"/>
          <p:nvPr/>
        </p:nvSpPr>
        <p:spPr>
          <a:xfrm>
            <a:off x="9961383" y="1409446"/>
            <a:ext cx="1335791" cy="507831"/>
          </a:xfrm>
          <a:prstGeom prst="rect">
            <a:avLst/>
          </a:prstGeom>
          <a:noFill/>
          <a:ln>
            <a:solidFill>
              <a:srgbClr val="03738E"/>
            </a:solidFill>
            <a:prstDash val="dash"/>
          </a:ln>
        </p:spPr>
        <p:txBody>
          <a:bodyPr wrap="square" rtlCol="0">
            <a:spAutoFit/>
          </a:bodyPr>
          <a:lstStyle>
            <a:defPPr>
              <a:defRPr lang="pt-BR"/>
            </a:defPPr>
            <a:lvl1pPr algn="ctr">
              <a:defRPr sz="900" b="1" i="1"/>
            </a:lvl1pPr>
          </a:lstStyle>
          <a:p>
            <a:pPr algn="l"/>
            <a:r>
              <a:rPr lang="pt-BR" b="0" dirty="0"/>
              <a:t>Atualiza Paradas, datas, duração, tipos de obra e escopo</a:t>
            </a:r>
          </a:p>
        </p:txBody>
      </p:sp>
      <p:cxnSp>
        <p:nvCxnSpPr>
          <p:cNvPr id="62" name="Conector: Curvo 61">
            <a:extLst>
              <a:ext uri="{FF2B5EF4-FFF2-40B4-BE49-F238E27FC236}">
                <a16:creationId xmlns:a16="http://schemas.microsoft.com/office/drawing/2014/main" id="{6F82E406-EE36-E5DE-843A-2845D0FFCDD2}"/>
              </a:ext>
            </a:extLst>
          </p:cNvPr>
          <p:cNvCxnSpPr>
            <a:cxnSpLocks/>
            <a:stCxn id="51" idx="0"/>
            <a:endCxn id="61" idx="1"/>
          </p:cNvCxnSpPr>
          <p:nvPr/>
        </p:nvCxnSpPr>
        <p:spPr>
          <a:xfrm rot="5400000" flipH="1" flipV="1">
            <a:off x="9314133" y="1881650"/>
            <a:ext cx="865538" cy="428962"/>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tângulo: Cantos Arredondados 23">
            <a:extLst>
              <a:ext uri="{FF2B5EF4-FFF2-40B4-BE49-F238E27FC236}">
                <a16:creationId xmlns:a16="http://schemas.microsoft.com/office/drawing/2014/main" id="{BD3D3CEE-CA47-9393-596C-F91E9DD633AC}"/>
              </a:ext>
            </a:extLst>
          </p:cNvPr>
          <p:cNvSpPr/>
          <p:nvPr/>
        </p:nvSpPr>
        <p:spPr>
          <a:xfrm>
            <a:off x="5288426" y="4109027"/>
            <a:ext cx="1488514"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Atualizar premissas financeiras</a:t>
            </a:r>
          </a:p>
        </p:txBody>
      </p:sp>
      <p:cxnSp>
        <p:nvCxnSpPr>
          <p:cNvPr id="32" name="Conector de Seta Reta 31">
            <a:extLst>
              <a:ext uri="{FF2B5EF4-FFF2-40B4-BE49-F238E27FC236}">
                <a16:creationId xmlns:a16="http://schemas.microsoft.com/office/drawing/2014/main" id="{0F835E8E-6C1C-3B26-73BF-F347B7D74C64}"/>
              </a:ext>
            </a:extLst>
          </p:cNvPr>
          <p:cNvCxnSpPr>
            <a:cxnSpLocks/>
            <a:stCxn id="24" idx="2"/>
            <a:endCxn id="20" idx="0"/>
          </p:cNvCxnSpPr>
          <p:nvPr/>
        </p:nvCxnSpPr>
        <p:spPr>
          <a:xfrm>
            <a:off x="6032683" y="4634063"/>
            <a:ext cx="0" cy="440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5" name="Imagem 34" descr="Forma&#10;&#10;O conteúdo gerado por IA pode estar incorreto.">
            <a:extLst>
              <a:ext uri="{FF2B5EF4-FFF2-40B4-BE49-F238E27FC236}">
                <a16:creationId xmlns:a16="http://schemas.microsoft.com/office/drawing/2014/main" id="{A0C4CAFF-0F33-CAB6-5746-D8F488DC39A9}"/>
              </a:ext>
            </a:extLst>
          </p:cNvPr>
          <p:cNvPicPr>
            <a:picLocks noChangeAspect="1"/>
          </p:cNvPicPr>
          <p:nvPr/>
        </p:nvPicPr>
        <p:blipFill>
          <a:blip r:embed="rId2" cstate="print">
            <a:extLst>
              <a:ext uri="{28A0092B-C50C-407E-A947-70E740481C1C}">
                <a14:useLocalDpi xmlns:a14="http://schemas.microsoft.com/office/drawing/2010/main" val="0"/>
              </a:ext>
            </a:extLst>
          </a:blip>
          <a:srcRect l="10182" t="10101" r="12215" b="22571"/>
          <a:stretch>
            <a:fillRect/>
          </a:stretch>
        </p:blipFill>
        <p:spPr>
          <a:xfrm flipV="1">
            <a:off x="6581275" y="4466142"/>
            <a:ext cx="121379" cy="105309"/>
          </a:xfrm>
          <a:prstGeom prst="rect">
            <a:avLst/>
          </a:prstGeom>
        </p:spPr>
      </p:pic>
    </p:spTree>
    <p:extLst>
      <p:ext uri="{BB962C8B-B14F-4D97-AF65-F5344CB8AC3E}">
        <p14:creationId xmlns:p14="http://schemas.microsoft.com/office/powerpoint/2010/main" val="39066240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D4B20-1501-2D8D-2562-8E7ACA478310}"/>
            </a:ext>
          </a:extLst>
        </p:cNvPr>
        <p:cNvGrpSpPr/>
        <p:nvPr/>
      </p:nvGrpSpPr>
      <p:grpSpPr>
        <a:xfrm>
          <a:off x="0" y="0"/>
          <a:ext cx="0" cy="0"/>
          <a:chOff x="0" y="0"/>
          <a:chExt cx="0" cy="0"/>
        </a:xfrm>
      </p:grpSpPr>
      <p:sp>
        <p:nvSpPr>
          <p:cNvPr id="524" name="Título 4">
            <a:extLst>
              <a:ext uri="{FF2B5EF4-FFF2-40B4-BE49-F238E27FC236}">
                <a16:creationId xmlns:a16="http://schemas.microsoft.com/office/drawing/2014/main" id="{96FF6F4C-FB54-FB01-9D5F-AD12AEBF9E5C}"/>
              </a:ext>
            </a:extLst>
          </p:cNvPr>
          <p:cNvSpPr>
            <a:spLocks noGrp="1"/>
          </p:cNvSpPr>
          <p:nvPr>
            <p:ph type="title"/>
          </p:nvPr>
        </p:nvSpPr>
        <p:spPr>
          <a:xfrm>
            <a:off x="1089653" y="303578"/>
            <a:ext cx="10485852" cy="645195"/>
          </a:xfrm>
        </p:spPr>
        <p:txBody>
          <a:bodyPr/>
          <a:lstStyle/>
          <a:p>
            <a:pPr marL="0" marR="0" lvl="0" indent="0" algn="l" defTabSz="1055035" rtl="0" eaLnBrk="1" fontAlgn="auto" latinLnBrk="0" hangingPunct="1">
              <a:lnSpc>
                <a:spcPct val="100000"/>
              </a:lnSpc>
              <a:spcBef>
                <a:spcPts val="0"/>
              </a:spcBef>
              <a:spcAft>
                <a:spcPts val="0"/>
              </a:spcAft>
              <a:buClrTx/>
              <a:buSzTx/>
              <a:buFontTx/>
              <a:buNone/>
              <a:tabLst/>
              <a:defRPr/>
            </a:pPr>
            <a:r>
              <a:rPr lang="pt-BR" dirty="0"/>
              <a:t>Simulação de Cenários</a:t>
            </a:r>
            <a:br>
              <a:rPr lang="pt-BR" dirty="0"/>
            </a:br>
            <a:r>
              <a:rPr lang="pt-BR" sz="1600" b="0" dirty="0"/>
              <a:t>Detalhe do Macro Processo e Fluxo de Dados de Cenário com Quebra de Escopo da Parada</a:t>
            </a:r>
            <a:endParaRPr lang="pt-BR" b="0" dirty="0"/>
          </a:p>
        </p:txBody>
      </p:sp>
      <p:sp>
        <p:nvSpPr>
          <p:cNvPr id="35" name="Retângulo: Cantos Arredondados 34">
            <a:extLst>
              <a:ext uri="{FF2B5EF4-FFF2-40B4-BE49-F238E27FC236}">
                <a16:creationId xmlns:a16="http://schemas.microsoft.com/office/drawing/2014/main" id="{39CB54D0-0103-BC99-D701-27A2EC9B50BE}"/>
              </a:ext>
            </a:extLst>
          </p:cNvPr>
          <p:cNvSpPr/>
          <p:nvPr/>
        </p:nvSpPr>
        <p:spPr>
          <a:xfrm>
            <a:off x="4627233" y="3491578"/>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24-B1</a:t>
            </a:r>
          </a:p>
          <a:p>
            <a:pPr algn="ctr"/>
            <a:r>
              <a:rPr lang="pt-BR" sz="1000" b="1" dirty="0">
                <a:solidFill>
                  <a:schemeClr val="tx1"/>
                </a:solidFill>
              </a:rPr>
              <a:t>Impacto Financeiro</a:t>
            </a:r>
          </a:p>
          <a:p>
            <a:pPr algn="ctr"/>
            <a:r>
              <a:rPr lang="pt-BR" sz="1000" dirty="0">
                <a:solidFill>
                  <a:schemeClr val="tx1"/>
                </a:solidFill>
              </a:rPr>
              <a:t>2025 = R$ 30MM</a:t>
            </a:r>
          </a:p>
          <a:p>
            <a:pPr algn="ctr"/>
            <a:r>
              <a:rPr lang="pt-BR" sz="1000" dirty="0">
                <a:solidFill>
                  <a:schemeClr val="tx1"/>
                </a:solidFill>
              </a:rPr>
              <a:t>2026 = R$ -</a:t>
            </a:r>
            <a:endParaRPr lang="pt-BR" sz="1100" dirty="0">
              <a:solidFill>
                <a:schemeClr val="tx1"/>
              </a:solidFill>
            </a:endParaRPr>
          </a:p>
        </p:txBody>
      </p:sp>
      <p:sp>
        <p:nvSpPr>
          <p:cNvPr id="572" name="CaixaDeTexto 571">
            <a:extLst>
              <a:ext uri="{FF2B5EF4-FFF2-40B4-BE49-F238E27FC236}">
                <a16:creationId xmlns:a16="http://schemas.microsoft.com/office/drawing/2014/main" id="{AA467320-3545-C17E-1D6C-9DC0957BCF5B}"/>
              </a:ext>
            </a:extLst>
          </p:cNvPr>
          <p:cNvSpPr txBox="1"/>
          <p:nvPr/>
        </p:nvSpPr>
        <p:spPr>
          <a:xfrm>
            <a:off x="405124" y="1932454"/>
            <a:ext cx="2035013" cy="461665"/>
          </a:xfrm>
          <a:prstGeom prst="rect">
            <a:avLst/>
          </a:prstGeom>
          <a:noFill/>
        </p:spPr>
        <p:txBody>
          <a:bodyPr wrap="square" rtlCol="0">
            <a:spAutoFit/>
          </a:bodyPr>
          <a:lstStyle/>
          <a:p>
            <a:pPr algn="ctr"/>
            <a:r>
              <a:rPr lang="pt-BR" sz="1200" b="1" dirty="0"/>
              <a:t>Cenário Base </a:t>
            </a:r>
            <a:r>
              <a:rPr lang="pt-BR" sz="1200" dirty="0"/>
              <a:t>selecionado para criação de cenários</a:t>
            </a:r>
          </a:p>
        </p:txBody>
      </p:sp>
      <p:cxnSp>
        <p:nvCxnSpPr>
          <p:cNvPr id="14" name="Conector de Seta Reta 13">
            <a:extLst>
              <a:ext uri="{FF2B5EF4-FFF2-40B4-BE49-F238E27FC236}">
                <a16:creationId xmlns:a16="http://schemas.microsoft.com/office/drawing/2014/main" id="{509EB19C-16D6-6954-5781-39B6E3587590}"/>
              </a:ext>
            </a:extLst>
          </p:cNvPr>
          <p:cNvCxnSpPr>
            <a:cxnSpLocks/>
          </p:cNvCxnSpPr>
          <p:nvPr/>
        </p:nvCxnSpPr>
        <p:spPr>
          <a:xfrm>
            <a:off x="2098815" y="4376532"/>
            <a:ext cx="36469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tângulo: Cantos Arredondados 14">
            <a:extLst>
              <a:ext uri="{FF2B5EF4-FFF2-40B4-BE49-F238E27FC236}">
                <a16:creationId xmlns:a16="http://schemas.microsoft.com/office/drawing/2014/main" id="{C80444C4-EE77-6773-4171-E06ADA204D9E}"/>
              </a:ext>
            </a:extLst>
          </p:cNvPr>
          <p:cNvSpPr/>
          <p:nvPr/>
        </p:nvSpPr>
        <p:spPr>
          <a:xfrm>
            <a:off x="746448" y="4033957"/>
            <a:ext cx="1352367" cy="688477"/>
          </a:xfrm>
          <a:prstGeom prst="roundRect">
            <a:avLst>
              <a:gd name="adj" fmla="val 7297"/>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prstClr val="black"/>
                </a:solidFill>
                <a:effectLst/>
                <a:uLnTx/>
                <a:uFillTx/>
                <a:latin typeface="Calibri"/>
                <a:ea typeface="+mn-ea"/>
                <a:cs typeface="+mn-cs"/>
              </a:rPr>
              <a:t>Impacto Financeiro</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2025 = R$ 50,0MM</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2026 = R$ -</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Retângulo: Cantos Arredondados 7">
            <a:extLst>
              <a:ext uri="{FF2B5EF4-FFF2-40B4-BE49-F238E27FC236}">
                <a16:creationId xmlns:a16="http://schemas.microsoft.com/office/drawing/2014/main" id="{9C15D940-39B3-1844-DC50-A34355597CBA}"/>
              </a:ext>
            </a:extLst>
          </p:cNvPr>
          <p:cNvSpPr/>
          <p:nvPr/>
        </p:nvSpPr>
        <p:spPr>
          <a:xfrm>
            <a:off x="2634358" y="3926460"/>
            <a:ext cx="1352367" cy="688477"/>
          </a:xfrm>
          <a:prstGeom prst="roundRect">
            <a:avLst>
              <a:gd name="adj" fmla="val 7297"/>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prstClr val="black"/>
                </a:solidFill>
                <a:effectLst/>
                <a:uLnTx/>
                <a:uFillTx/>
                <a:latin typeface="Calibri"/>
                <a:ea typeface="+mn-ea"/>
                <a:cs typeface="+mn-cs"/>
              </a:rPr>
              <a:t>Impacto Financeiro</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2025 = R$ 50,0MM</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2026 = R$ -</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Retângulo: Cantos Arredondados 12">
            <a:extLst>
              <a:ext uri="{FF2B5EF4-FFF2-40B4-BE49-F238E27FC236}">
                <a16:creationId xmlns:a16="http://schemas.microsoft.com/office/drawing/2014/main" id="{0CA9808E-4BF7-9AD7-B7C5-53B5EB5ECA7E}"/>
              </a:ext>
            </a:extLst>
          </p:cNvPr>
          <p:cNvSpPr/>
          <p:nvPr/>
        </p:nvSpPr>
        <p:spPr>
          <a:xfrm>
            <a:off x="2548936" y="3976921"/>
            <a:ext cx="1352367" cy="688477"/>
          </a:xfrm>
          <a:prstGeom prst="roundRect">
            <a:avLst>
              <a:gd name="adj" fmla="val 7297"/>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prstClr val="black"/>
                </a:solidFill>
                <a:effectLst/>
                <a:uLnTx/>
                <a:uFillTx/>
                <a:latin typeface="Calibri"/>
                <a:ea typeface="+mn-ea"/>
                <a:cs typeface="+mn-cs"/>
              </a:rPr>
              <a:t>Impacto Financeiro</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2025 = R$ 50,0MM</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2026 = R$ -</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16" name="Retângulo: Cantos Arredondados 15">
            <a:extLst>
              <a:ext uri="{FF2B5EF4-FFF2-40B4-BE49-F238E27FC236}">
                <a16:creationId xmlns:a16="http://schemas.microsoft.com/office/drawing/2014/main" id="{EBE2CCBA-3052-2BD1-5B90-47F823986989}"/>
              </a:ext>
            </a:extLst>
          </p:cNvPr>
          <p:cNvSpPr/>
          <p:nvPr/>
        </p:nvSpPr>
        <p:spPr>
          <a:xfrm>
            <a:off x="2463514" y="4033957"/>
            <a:ext cx="1352367" cy="688477"/>
          </a:xfrm>
          <a:prstGeom prst="roundRect">
            <a:avLst>
              <a:gd name="adj" fmla="val 7297"/>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1" i="0" u="none" strike="noStrike" kern="1200" cap="none" spc="0" normalizeH="0" baseline="0" noProof="0" dirty="0">
                <a:ln>
                  <a:noFill/>
                </a:ln>
                <a:solidFill>
                  <a:prstClr val="black"/>
                </a:solidFill>
                <a:effectLst/>
                <a:uLnTx/>
                <a:uFillTx/>
                <a:latin typeface="Calibri"/>
                <a:ea typeface="+mn-ea"/>
                <a:cs typeface="+mn-cs"/>
              </a:rPr>
              <a:t>Impacto Financeiro</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2025 = R$ 50,0MM</a:t>
            </a:r>
          </a:p>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2026 = R$ -</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20" name="CaixaDeTexto 19">
            <a:extLst>
              <a:ext uri="{FF2B5EF4-FFF2-40B4-BE49-F238E27FC236}">
                <a16:creationId xmlns:a16="http://schemas.microsoft.com/office/drawing/2014/main" id="{743DA223-27D5-F7D6-CE28-59857765BB2D}"/>
              </a:ext>
            </a:extLst>
          </p:cNvPr>
          <p:cNvSpPr txBox="1"/>
          <p:nvPr/>
        </p:nvSpPr>
        <p:spPr>
          <a:xfrm>
            <a:off x="2384204" y="1932454"/>
            <a:ext cx="1681829" cy="461665"/>
          </a:xfrm>
          <a:prstGeom prst="rect">
            <a:avLst/>
          </a:prstGeom>
          <a:noFill/>
        </p:spPr>
        <p:txBody>
          <a:bodyPr wrap="square" rtlCol="0">
            <a:spAutoFit/>
          </a:bodyPr>
          <a:lstStyle/>
          <a:p>
            <a:pPr algn="ctr"/>
            <a:r>
              <a:rPr lang="pt-BR" sz="1200" b="1" dirty="0"/>
              <a:t>Múltiplos cenários </a:t>
            </a:r>
          </a:p>
          <a:p>
            <a:pPr algn="ctr"/>
            <a:r>
              <a:rPr lang="pt-BR" sz="1200" dirty="0"/>
              <a:t>são criados</a:t>
            </a:r>
          </a:p>
        </p:txBody>
      </p:sp>
      <p:sp>
        <p:nvSpPr>
          <p:cNvPr id="26" name="CaixaDeTexto 25">
            <a:extLst>
              <a:ext uri="{FF2B5EF4-FFF2-40B4-BE49-F238E27FC236}">
                <a16:creationId xmlns:a16="http://schemas.microsoft.com/office/drawing/2014/main" id="{8C4400F8-63A9-C02D-AACC-01186CB05385}"/>
              </a:ext>
            </a:extLst>
          </p:cNvPr>
          <p:cNvSpPr txBox="1"/>
          <p:nvPr/>
        </p:nvSpPr>
        <p:spPr>
          <a:xfrm>
            <a:off x="4462502" y="1932454"/>
            <a:ext cx="1681829" cy="761747"/>
          </a:xfrm>
          <a:prstGeom prst="rect">
            <a:avLst/>
          </a:prstGeom>
          <a:noFill/>
        </p:spPr>
        <p:txBody>
          <a:bodyPr wrap="square" rtlCol="0">
            <a:spAutoFit/>
          </a:bodyPr>
          <a:lstStyle/>
          <a:p>
            <a:pPr algn="ctr"/>
            <a:r>
              <a:rPr lang="pt-BR" sz="1200" b="1" dirty="0"/>
              <a:t>Cenário B definido</a:t>
            </a:r>
          </a:p>
          <a:p>
            <a:pPr algn="ctr"/>
            <a:r>
              <a:rPr lang="pt-BR" sz="1050" dirty="0"/>
              <a:t>(com quebra do escopo original em duas partes:</a:t>
            </a:r>
            <a:br>
              <a:rPr lang="pt-BR" sz="1050" dirty="0"/>
            </a:br>
            <a:r>
              <a:rPr lang="pt-BR" sz="1050" dirty="0"/>
              <a:t>B1 e B2) </a:t>
            </a:r>
          </a:p>
        </p:txBody>
      </p:sp>
      <p:sp>
        <p:nvSpPr>
          <p:cNvPr id="29" name="Retângulo: Cantos Arredondados 28">
            <a:extLst>
              <a:ext uri="{FF2B5EF4-FFF2-40B4-BE49-F238E27FC236}">
                <a16:creationId xmlns:a16="http://schemas.microsoft.com/office/drawing/2014/main" id="{068A0D28-88FD-B0EB-59B3-7F8E03F6B269}"/>
              </a:ext>
            </a:extLst>
          </p:cNvPr>
          <p:cNvSpPr/>
          <p:nvPr/>
        </p:nvSpPr>
        <p:spPr>
          <a:xfrm>
            <a:off x="4627233" y="4475260"/>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24-B2</a:t>
            </a:r>
          </a:p>
          <a:p>
            <a:pPr algn="ctr"/>
            <a:r>
              <a:rPr lang="pt-BR" sz="1000" b="1" dirty="0">
                <a:solidFill>
                  <a:schemeClr val="tx1"/>
                </a:solidFill>
              </a:rPr>
              <a:t>Impacto Financeiro</a:t>
            </a:r>
          </a:p>
          <a:p>
            <a:pPr algn="ctr"/>
            <a:r>
              <a:rPr lang="pt-BR" sz="1000" dirty="0">
                <a:solidFill>
                  <a:schemeClr val="tx1"/>
                </a:solidFill>
              </a:rPr>
              <a:t>2025 = R$ -</a:t>
            </a:r>
          </a:p>
          <a:p>
            <a:pPr algn="ctr"/>
            <a:r>
              <a:rPr lang="pt-BR" sz="1000" dirty="0">
                <a:solidFill>
                  <a:schemeClr val="tx1"/>
                </a:solidFill>
              </a:rPr>
              <a:t>2026 = R$ 20MM</a:t>
            </a:r>
            <a:endParaRPr lang="pt-BR" sz="1100" dirty="0">
              <a:solidFill>
                <a:schemeClr val="tx1"/>
              </a:solidFill>
            </a:endParaRPr>
          </a:p>
        </p:txBody>
      </p:sp>
      <p:cxnSp>
        <p:nvCxnSpPr>
          <p:cNvPr id="32" name="Conector: Angulado 31">
            <a:extLst>
              <a:ext uri="{FF2B5EF4-FFF2-40B4-BE49-F238E27FC236}">
                <a16:creationId xmlns:a16="http://schemas.microsoft.com/office/drawing/2014/main" id="{B70D1420-691F-24EF-7B7A-0364CD094CEB}"/>
              </a:ext>
            </a:extLst>
          </p:cNvPr>
          <p:cNvCxnSpPr>
            <a:stCxn id="13" idx="3"/>
            <a:endCxn id="35" idx="1"/>
          </p:cNvCxnSpPr>
          <p:nvPr/>
        </p:nvCxnSpPr>
        <p:spPr>
          <a:xfrm flipV="1">
            <a:off x="3901303" y="3835817"/>
            <a:ext cx="725930" cy="485343"/>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do 32">
            <a:extLst>
              <a:ext uri="{FF2B5EF4-FFF2-40B4-BE49-F238E27FC236}">
                <a16:creationId xmlns:a16="http://schemas.microsoft.com/office/drawing/2014/main" id="{61BC64B2-CF7D-8ABF-0728-BF787EE037B2}"/>
              </a:ext>
            </a:extLst>
          </p:cNvPr>
          <p:cNvCxnSpPr>
            <a:cxnSpLocks/>
            <a:stCxn id="13" idx="3"/>
            <a:endCxn id="29" idx="1"/>
          </p:cNvCxnSpPr>
          <p:nvPr/>
        </p:nvCxnSpPr>
        <p:spPr>
          <a:xfrm>
            <a:off x="3901303" y="4321160"/>
            <a:ext cx="725930" cy="498339"/>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tângulo: Cantos Arredondados 42">
            <a:extLst>
              <a:ext uri="{FF2B5EF4-FFF2-40B4-BE49-F238E27FC236}">
                <a16:creationId xmlns:a16="http://schemas.microsoft.com/office/drawing/2014/main" id="{9286028C-71C8-4926-6963-BD4555F16F76}"/>
              </a:ext>
            </a:extLst>
          </p:cNvPr>
          <p:cNvSpPr/>
          <p:nvPr/>
        </p:nvSpPr>
        <p:spPr>
          <a:xfrm>
            <a:off x="6381070" y="3491578"/>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algn="ctr"/>
            <a:r>
              <a:rPr lang="pt-BR" sz="1000" b="1" dirty="0">
                <a:solidFill>
                  <a:schemeClr val="tx1"/>
                </a:solidFill>
              </a:rPr>
              <a:t>Impacto Financeiro</a:t>
            </a:r>
          </a:p>
          <a:p>
            <a:pPr algn="ctr"/>
            <a:r>
              <a:rPr lang="pt-BR" sz="1000" dirty="0">
                <a:solidFill>
                  <a:schemeClr val="tx1"/>
                </a:solidFill>
              </a:rPr>
              <a:t>2025 = R$ 30MM</a:t>
            </a:r>
          </a:p>
          <a:p>
            <a:pPr algn="ctr"/>
            <a:r>
              <a:rPr lang="pt-BR" sz="1000" dirty="0">
                <a:solidFill>
                  <a:schemeClr val="tx1"/>
                </a:solidFill>
              </a:rPr>
              <a:t>2026 = R$ -</a:t>
            </a:r>
            <a:endParaRPr lang="pt-BR" sz="1100" dirty="0">
              <a:solidFill>
                <a:schemeClr val="tx1"/>
              </a:solidFill>
            </a:endParaRPr>
          </a:p>
        </p:txBody>
      </p:sp>
      <p:sp>
        <p:nvSpPr>
          <p:cNvPr id="44" name="CaixaDeTexto 43">
            <a:extLst>
              <a:ext uri="{FF2B5EF4-FFF2-40B4-BE49-F238E27FC236}">
                <a16:creationId xmlns:a16="http://schemas.microsoft.com/office/drawing/2014/main" id="{2073B091-86F6-FA72-4EB9-AA17C6CCF0F7}"/>
              </a:ext>
            </a:extLst>
          </p:cNvPr>
          <p:cNvSpPr txBox="1"/>
          <p:nvPr/>
        </p:nvSpPr>
        <p:spPr>
          <a:xfrm>
            <a:off x="6216339" y="1932454"/>
            <a:ext cx="1681829" cy="438582"/>
          </a:xfrm>
          <a:prstGeom prst="rect">
            <a:avLst/>
          </a:prstGeom>
          <a:noFill/>
        </p:spPr>
        <p:txBody>
          <a:bodyPr wrap="square" rtlCol="0">
            <a:spAutoFit/>
          </a:bodyPr>
          <a:lstStyle/>
          <a:p>
            <a:pPr algn="ctr"/>
            <a:r>
              <a:rPr lang="pt-BR" sz="1200" b="1" dirty="0"/>
              <a:t>Atualização no HUB</a:t>
            </a:r>
          </a:p>
          <a:p>
            <a:pPr algn="ctr"/>
            <a:r>
              <a:rPr lang="pt-BR" sz="1050" dirty="0"/>
              <a:t>(com quebra de escopo) </a:t>
            </a:r>
          </a:p>
        </p:txBody>
      </p:sp>
      <p:sp>
        <p:nvSpPr>
          <p:cNvPr id="45" name="Retângulo: Cantos Arredondados 44">
            <a:extLst>
              <a:ext uri="{FF2B5EF4-FFF2-40B4-BE49-F238E27FC236}">
                <a16:creationId xmlns:a16="http://schemas.microsoft.com/office/drawing/2014/main" id="{35F9D721-0063-68F8-C63F-6F3FAEADC050}"/>
              </a:ext>
            </a:extLst>
          </p:cNvPr>
          <p:cNvSpPr/>
          <p:nvPr/>
        </p:nvSpPr>
        <p:spPr>
          <a:xfrm>
            <a:off x="8095385" y="4475260"/>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45</a:t>
            </a:r>
          </a:p>
          <a:p>
            <a:pPr algn="ctr"/>
            <a:r>
              <a:rPr lang="pt-BR" sz="1000" b="1" dirty="0">
                <a:solidFill>
                  <a:schemeClr val="tx1"/>
                </a:solidFill>
              </a:rPr>
              <a:t>Impacto Financeiro</a:t>
            </a:r>
          </a:p>
          <a:p>
            <a:pPr algn="ctr"/>
            <a:r>
              <a:rPr lang="pt-BR" sz="1000" dirty="0">
                <a:solidFill>
                  <a:schemeClr val="tx1"/>
                </a:solidFill>
              </a:rPr>
              <a:t>2025 = R$ -</a:t>
            </a:r>
          </a:p>
          <a:p>
            <a:pPr algn="ctr"/>
            <a:r>
              <a:rPr lang="pt-BR" sz="1000" dirty="0">
                <a:solidFill>
                  <a:schemeClr val="tx1"/>
                </a:solidFill>
              </a:rPr>
              <a:t>2026 = R$ 20MM</a:t>
            </a:r>
            <a:endParaRPr lang="pt-BR" sz="1100" dirty="0">
              <a:solidFill>
                <a:schemeClr val="tx1"/>
              </a:solidFill>
            </a:endParaRPr>
          </a:p>
        </p:txBody>
      </p:sp>
      <p:cxnSp>
        <p:nvCxnSpPr>
          <p:cNvPr id="46" name="Conector de Seta Reta 45">
            <a:extLst>
              <a:ext uri="{FF2B5EF4-FFF2-40B4-BE49-F238E27FC236}">
                <a16:creationId xmlns:a16="http://schemas.microsoft.com/office/drawing/2014/main" id="{44DD7F00-A7D2-8E02-BF6E-A5003865120F}"/>
              </a:ext>
            </a:extLst>
          </p:cNvPr>
          <p:cNvCxnSpPr>
            <a:cxnSpLocks/>
            <a:stCxn id="35" idx="3"/>
            <a:endCxn id="43" idx="1"/>
          </p:cNvCxnSpPr>
          <p:nvPr/>
        </p:nvCxnSpPr>
        <p:spPr>
          <a:xfrm>
            <a:off x="5979600" y="3835817"/>
            <a:ext cx="40147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208FEE60-E1C3-DA6B-FE69-447960948B74}"/>
              </a:ext>
            </a:extLst>
          </p:cNvPr>
          <p:cNvCxnSpPr>
            <a:cxnSpLocks/>
            <a:stCxn id="29" idx="3"/>
            <a:endCxn id="45" idx="1"/>
          </p:cNvCxnSpPr>
          <p:nvPr/>
        </p:nvCxnSpPr>
        <p:spPr>
          <a:xfrm>
            <a:off x="5979600" y="4819499"/>
            <a:ext cx="211578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tângulo 51">
            <a:extLst>
              <a:ext uri="{FF2B5EF4-FFF2-40B4-BE49-F238E27FC236}">
                <a16:creationId xmlns:a16="http://schemas.microsoft.com/office/drawing/2014/main" id="{C4CFEA58-9A2C-FE6A-5256-6A34E2BB5A10}"/>
              </a:ext>
            </a:extLst>
          </p:cNvPr>
          <p:cNvSpPr/>
          <p:nvPr/>
        </p:nvSpPr>
        <p:spPr>
          <a:xfrm rot="623766">
            <a:off x="7339297" y="3410427"/>
            <a:ext cx="482335" cy="162302"/>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800" dirty="0">
                <a:solidFill>
                  <a:srgbClr val="FF0000"/>
                </a:solidFill>
              </a:rPr>
              <a:t>Atualizada</a:t>
            </a:r>
          </a:p>
        </p:txBody>
      </p:sp>
      <p:sp>
        <p:nvSpPr>
          <p:cNvPr id="57" name="Retângulo 56">
            <a:extLst>
              <a:ext uri="{FF2B5EF4-FFF2-40B4-BE49-F238E27FC236}">
                <a16:creationId xmlns:a16="http://schemas.microsoft.com/office/drawing/2014/main" id="{A48CFFC2-0C0B-1FA6-2B46-0A90265D46DB}"/>
              </a:ext>
            </a:extLst>
          </p:cNvPr>
          <p:cNvSpPr/>
          <p:nvPr/>
        </p:nvSpPr>
        <p:spPr>
          <a:xfrm rot="828587">
            <a:off x="9015222" y="4396044"/>
            <a:ext cx="583625" cy="162302"/>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800" dirty="0">
                <a:solidFill>
                  <a:srgbClr val="FF0000"/>
                </a:solidFill>
              </a:rPr>
              <a:t>Nova Parada</a:t>
            </a:r>
          </a:p>
        </p:txBody>
      </p:sp>
      <p:sp>
        <p:nvSpPr>
          <p:cNvPr id="59" name="CaixaDeTexto 58">
            <a:extLst>
              <a:ext uri="{FF2B5EF4-FFF2-40B4-BE49-F238E27FC236}">
                <a16:creationId xmlns:a16="http://schemas.microsoft.com/office/drawing/2014/main" id="{11276221-F6D5-E81B-61E2-186685F28FFD}"/>
              </a:ext>
            </a:extLst>
          </p:cNvPr>
          <p:cNvSpPr txBox="1"/>
          <p:nvPr/>
        </p:nvSpPr>
        <p:spPr>
          <a:xfrm>
            <a:off x="7846562" y="1932454"/>
            <a:ext cx="1850012" cy="600164"/>
          </a:xfrm>
          <a:prstGeom prst="rect">
            <a:avLst/>
          </a:prstGeom>
          <a:noFill/>
        </p:spPr>
        <p:txBody>
          <a:bodyPr wrap="square" rtlCol="0">
            <a:spAutoFit/>
          </a:bodyPr>
          <a:lstStyle/>
          <a:p>
            <a:pPr algn="ctr"/>
            <a:r>
              <a:rPr lang="pt-BR" sz="1200" b="1" dirty="0"/>
              <a:t>Atualização no SGO</a:t>
            </a:r>
          </a:p>
          <a:p>
            <a:pPr algn="ctr"/>
            <a:r>
              <a:rPr lang="pt-BR" sz="1050" dirty="0"/>
              <a:t>(Datas, duração e Obras atualizadas ou Parada criada)</a:t>
            </a:r>
          </a:p>
        </p:txBody>
      </p:sp>
      <p:sp>
        <p:nvSpPr>
          <p:cNvPr id="61" name="Retângulo: Cantos Arredondados 60">
            <a:extLst>
              <a:ext uri="{FF2B5EF4-FFF2-40B4-BE49-F238E27FC236}">
                <a16:creationId xmlns:a16="http://schemas.microsoft.com/office/drawing/2014/main" id="{2F2365C0-5674-5FB6-50A9-42860DAD9559}"/>
              </a:ext>
            </a:extLst>
          </p:cNvPr>
          <p:cNvSpPr/>
          <p:nvPr/>
        </p:nvSpPr>
        <p:spPr>
          <a:xfrm>
            <a:off x="8095385" y="3491578"/>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24</a:t>
            </a:r>
          </a:p>
          <a:p>
            <a:pPr algn="ctr"/>
            <a:r>
              <a:rPr lang="pt-BR" sz="1000" b="1" dirty="0">
                <a:solidFill>
                  <a:schemeClr val="tx1"/>
                </a:solidFill>
              </a:rPr>
              <a:t>Impacto Financeiro</a:t>
            </a:r>
          </a:p>
          <a:p>
            <a:pPr algn="ctr"/>
            <a:r>
              <a:rPr lang="pt-BR" sz="1000" dirty="0">
                <a:solidFill>
                  <a:schemeClr val="tx1"/>
                </a:solidFill>
              </a:rPr>
              <a:t>2025 = R$ 30MM</a:t>
            </a:r>
          </a:p>
          <a:p>
            <a:pPr algn="ctr"/>
            <a:r>
              <a:rPr lang="pt-BR" sz="1000" dirty="0">
                <a:solidFill>
                  <a:schemeClr val="tx1"/>
                </a:solidFill>
              </a:rPr>
              <a:t>2026 = R$ -</a:t>
            </a:r>
            <a:endParaRPr lang="pt-BR" sz="1100" dirty="0">
              <a:solidFill>
                <a:schemeClr val="tx1"/>
              </a:solidFill>
            </a:endParaRPr>
          </a:p>
        </p:txBody>
      </p:sp>
      <p:sp>
        <p:nvSpPr>
          <p:cNvPr id="62" name="Retângulo 61">
            <a:extLst>
              <a:ext uri="{FF2B5EF4-FFF2-40B4-BE49-F238E27FC236}">
                <a16:creationId xmlns:a16="http://schemas.microsoft.com/office/drawing/2014/main" id="{D2F17851-7D55-34CC-8393-8E709700D10C}"/>
              </a:ext>
            </a:extLst>
          </p:cNvPr>
          <p:cNvSpPr/>
          <p:nvPr/>
        </p:nvSpPr>
        <p:spPr>
          <a:xfrm rot="623766">
            <a:off x="9059206" y="3410427"/>
            <a:ext cx="482335" cy="162302"/>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800" dirty="0">
                <a:solidFill>
                  <a:srgbClr val="FF0000"/>
                </a:solidFill>
              </a:rPr>
              <a:t>Atualizada</a:t>
            </a:r>
          </a:p>
        </p:txBody>
      </p:sp>
      <p:cxnSp>
        <p:nvCxnSpPr>
          <p:cNvPr id="63" name="Conector de Seta Reta 62">
            <a:extLst>
              <a:ext uri="{FF2B5EF4-FFF2-40B4-BE49-F238E27FC236}">
                <a16:creationId xmlns:a16="http://schemas.microsoft.com/office/drawing/2014/main" id="{DA348B67-BFBC-D204-43B5-33A30A99B771}"/>
              </a:ext>
            </a:extLst>
          </p:cNvPr>
          <p:cNvCxnSpPr>
            <a:cxnSpLocks/>
            <a:stCxn id="43" idx="3"/>
            <a:endCxn id="61" idx="1"/>
          </p:cNvCxnSpPr>
          <p:nvPr/>
        </p:nvCxnSpPr>
        <p:spPr>
          <a:xfrm>
            <a:off x="7733437" y="3835817"/>
            <a:ext cx="3619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5" name="Retângulo: Cantos Arredondados 514">
            <a:extLst>
              <a:ext uri="{FF2B5EF4-FFF2-40B4-BE49-F238E27FC236}">
                <a16:creationId xmlns:a16="http://schemas.microsoft.com/office/drawing/2014/main" id="{8A60EBD6-816D-61BC-772A-DA08A1051DB9}"/>
              </a:ext>
            </a:extLst>
          </p:cNvPr>
          <p:cNvSpPr/>
          <p:nvPr/>
        </p:nvSpPr>
        <p:spPr>
          <a:xfrm>
            <a:off x="10124430" y="4475260"/>
            <a:ext cx="1352367" cy="688477"/>
          </a:xfrm>
          <a:prstGeom prst="roundRect">
            <a:avLst>
              <a:gd name="adj" fmla="val 6256"/>
            </a:avLst>
          </a:prstGeom>
          <a:solidFill>
            <a:schemeClr val="bg1"/>
          </a:solidFill>
          <a:ln w="635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200" b="1" dirty="0">
                <a:solidFill>
                  <a:schemeClr val="tx1"/>
                </a:solidFill>
              </a:rPr>
              <a:t>ID 45</a:t>
            </a:r>
          </a:p>
          <a:p>
            <a:pPr algn="ctr"/>
            <a:r>
              <a:rPr lang="pt-BR" sz="1000" b="1" dirty="0">
                <a:solidFill>
                  <a:schemeClr val="tx1"/>
                </a:solidFill>
              </a:rPr>
              <a:t>Impacto Financeiro</a:t>
            </a:r>
          </a:p>
          <a:p>
            <a:pPr algn="ctr"/>
            <a:r>
              <a:rPr lang="pt-BR" sz="1000" dirty="0">
                <a:solidFill>
                  <a:schemeClr val="tx1"/>
                </a:solidFill>
              </a:rPr>
              <a:t>2025 = R$ -</a:t>
            </a:r>
          </a:p>
          <a:p>
            <a:pPr algn="ctr"/>
            <a:r>
              <a:rPr lang="pt-BR" sz="1000" dirty="0">
                <a:solidFill>
                  <a:schemeClr val="tx1"/>
                </a:solidFill>
              </a:rPr>
              <a:t>2026 = R$ 20MM</a:t>
            </a:r>
            <a:endParaRPr lang="pt-BR" sz="1100" dirty="0">
              <a:solidFill>
                <a:schemeClr val="tx1"/>
              </a:solidFill>
            </a:endParaRPr>
          </a:p>
        </p:txBody>
      </p:sp>
      <p:sp>
        <p:nvSpPr>
          <p:cNvPr id="516" name="Retângulo 515">
            <a:extLst>
              <a:ext uri="{FF2B5EF4-FFF2-40B4-BE49-F238E27FC236}">
                <a16:creationId xmlns:a16="http://schemas.microsoft.com/office/drawing/2014/main" id="{7818ED48-BFD3-DBA9-72DC-6A248469314E}"/>
              </a:ext>
            </a:extLst>
          </p:cNvPr>
          <p:cNvSpPr/>
          <p:nvPr/>
        </p:nvSpPr>
        <p:spPr>
          <a:xfrm rot="828587">
            <a:off x="10959438" y="4396044"/>
            <a:ext cx="583625" cy="162302"/>
          </a:xfrm>
          <a:prstGeom prst="rect">
            <a:avLst/>
          </a:prstGeom>
          <a:solidFill>
            <a:srgbClr val="FFFF99"/>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800" dirty="0">
                <a:solidFill>
                  <a:srgbClr val="FF0000"/>
                </a:solidFill>
              </a:rPr>
              <a:t>Nova Parada</a:t>
            </a:r>
          </a:p>
        </p:txBody>
      </p:sp>
      <p:cxnSp>
        <p:nvCxnSpPr>
          <p:cNvPr id="517" name="Conector de Seta Reta 516">
            <a:extLst>
              <a:ext uri="{FF2B5EF4-FFF2-40B4-BE49-F238E27FC236}">
                <a16:creationId xmlns:a16="http://schemas.microsoft.com/office/drawing/2014/main" id="{980A6FDD-B3F1-5BAB-3F2B-1E37DB2FC17B}"/>
              </a:ext>
            </a:extLst>
          </p:cNvPr>
          <p:cNvCxnSpPr>
            <a:cxnSpLocks/>
            <a:stCxn id="45" idx="3"/>
            <a:endCxn id="515" idx="1"/>
          </p:cNvCxnSpPr>
          <p:nvPr/>
        </p:nvCxnSpPr>
        <p:spPr>
          <a:xfrm>
            <a:off x="9447752" y="4819499"/>
            <a:ext cx="67667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0" name="CaixaDeTexto 519">
            <a:extLst>
              <a:ext uri="{FF2B5EF4-FFF2-40B4-BE49-F238E27FC236}">
                <a16:creationId xmlns:a16="http://schemas.microsoft.com/office/drawing/2014/main" id="{69B2FE02-5525-FDDE-38D8-4A6768EEE1EC}"/>
              </a:ext>
            </a:extLst>
          </p:cNvPr>
          <p:cNvSpPr txBox="1"/>
          <p:nvPr/>
        </p:nvSpPr>
        <p:spPr>
          <a:xfrm>
            <a:off x="9959699" y="1932454"/>
            <a:ext cx="1681829" cy="438582"/>
          </a:xfrm>
          <a:prstGeom prst="rect">
            <a:avLst/>
          </a:prstGeom>
          <a:noFill/>
        </p:spPr>
        <p:txBody>
          <a:bodyPr wrap="square" rtlCol="0">
            <a:spAutoFit/>
          </a:bodyPr>
          <a:lstStyle/>
          <a:p>
            <a:pPr algn="ctr"/>
            <a:r>
              <a:rPr lang="pt-BR" sz="1200" b="1" dirty="0"/>
              <a:t>Atualização no HUB</a:t>
            </a:r>
          </a:p>
          <a:p>
            <a:pPr marR="0" lvl="0" indent="0" algn="ctr" fontAlgn="auto">
              <a:lnSpc>
                <a:spcPct val="100000"/>
              </a:lnSpc>
              <a:spcBef>
                <a:spcPts val="0"/>
              </a:spcBef>
              <a:spcAft>
                <a:spcPts val="0"/>
              </a:spcAft>
              <a:buClrTx/>
              <a:buSzTx/>
              <a:buFontTx/>
              <a:buNone/>
              <a:tabLst/>
              <a:defRPr/>
            </a:pPr>
            <a:r>
              <a:rPr lang="pt-BR" sz="1050" dirty="0"/>
              <a:t>(nova Parada em FEL-0)</a:t>
            </a:r>
          </a:p>
        </p:txBody>
      </p:sp>
      <p:sp>
        <p:nvSpPr>
          <p:cNvPr id="522" name="CaixaDeTexto 521">
            <a:extLst>
              <a:ext uri="{FF2B5EF4-FFF2-40B4-BE49-F238E27FC236}">
                <a16:creationId xmlns:a16="http://schemas.microsoft.com/office/drawing/2014/main" id="{F2F8B4CC-630D-FFDA-19D1-8CA026F31499}"/>
              </a:ext>
            </a:extLst>
          </p:cNvPr>
          <p:cNvSpPr txBox="1"/>
          <p:nvPr/>
        </p:nvSpPr>
        <p:spPr>
          <a:xfrm>
            <a:off x="6292786" y="5388591"/>
            <a:ext cx="1528935" cy="1200329"/>
          </a:xfrm>
          <a:prstGeom prst="rect">
            <a:avLst/>
          </a:prstGeom>
          <a:noFill/>
          <a:ln>
            <a:solidFill>
              <a:srgbClr val="009DC3"/>
            </a:solidFill>
            <a:prstDash val="dash"/>
          </a:ln>
        </p:spPr>
        <p:txBody>
          <a:bodyPr wrap="square" rtlCol="0">
            <a:spAutoFit/>
          </a:bodyPr>
          <a:lstStyle>
            <a:defPPr>
              <a:defRPr lang="pt-BR"/>
            </a:defPPr>
            <a:lvl1pPr algn="ctr">
              <a:defRPr sz="900"/>
            </a:lvl1pPr>
          </a:lstStyle>
          <a:p>
            <a:pPr algn="l"/>
            <a:r>
              <a:rPr lang="pt-BR" dirty="0"/>
              <a:t>Envio de dados para o SGO por integração para criação de nova Parada:</a:t>
            </a:r>
          </a:p>
          <a:p>
            <a:pPr marL="182563" indent="-182563" algn="l">
              <a:buFont typeface="Wingdings" panose="05000000000000000000" pitchFamily="2" charset="2"/>
              <a:buChar char="ü"/>
            </a:pPr>
            <a:r>
              <a:rPr lang="pt-BR" dirty="0"/>
              <a:t>Embarcação</a:t>
            </a:r>
          </a:p>
          <a:p>
            <a:pPr marL="182563" indent="-182563" algn="l">
              <a:buFont typeface="Wingdings" panose="05000000000000000000" pitchFamily="2" charset="2"/>
              <a:buChar char="ü"/>
            </a:pPr>
            <a:r>
              <a:rPr lang="pt-BR" dirty="0"/>
              <a:t>Datas Início e Fim</a:t>
            </a:r>
          </a:p>
          <a:p>
            <a:pPr marL="182563" indent="-182563" algn="l">
              <a:buFont typeface="Wingdings" panose="05000000000000000000" pitchFamily="2" charset="2"/>
              <a:buChar char="ü"/>
            </a:pPr>
            <a:r>
              <a:rPr lang="pt-BR" dirty="0"/>
              <a:t>Duração</a:t>
            </a:r>
          </a:p>
          <a:p>
            <a:pPr marL="182563" indent="-182563" algn="l">
              <a:buFont typeface="Wingdings" panose="05000000000000000000" pitchFamily="2" charset="2"/>
              <a:buChar char="ü"/>
            </a:pPr>
            <a:r>
              <a:rPr lang="pt-BR" dirty="0"/>
              <a:t>Obras</a:t>
            </a:r>
          </a:p>
          <a:p>
            <a:pPr marL="182563" indent="-182563" algn="l">
              <a:buFont typeface="Wingdings" panose="05000000000000000000" pitchFamily="2" charset="2"/>
              <a:buChar char="ü"/>
            </a:pPr>
            <a:r>
              <a:rPr lang="pt-BR" dirty="0"/>
              <a:t>Escopo/Demanda</a:t>
            </a:r>
          </a:p>
        </p:txBody>
      </p:sp>
      <p:sp>
        <p:nvSpPr>
          <p:cNvPr id="523" name="CaixaDeTexto 522">
            <a:extLst>
              <a:ext uri="{FF2B5EF4-FFF2-40B4-BE49-F238E27FC236}">
                <a16:creationId xmlns:a16="http://schemas.microsoft.com/office/drawing/2014/main" id="{7D0C1B99-8E00-C170-004F-8F39C7743351}"/>
              </a:ext>
            </a:extLst>
          </p:cNvPr>
          <p:cNvSpPr txBox="1"/>
          <p:nvPr/>
        </p:nvSpPr>
        <p:spPr>
          <a:xfrm>
            <a:off x="7266376" y="2638653"/>
            <a:ext cx="1263583" cy="646331"/>
          </a:xfrm>
          <a:prstGeom prst="rect">
            <a:avLst/>
          </a:prstGeom>
          <a:noFill/>
          <a:ln>
            <a:solidFill>
              <a:srgbClr val="009DC3"/>
            </a:solidFill>
            <a:prstDash val="dash"/>
          </a:ln>
        </p:spPr>
        <p:txBody>
          <a:bodyPr wrap="square" rtlCol="0">
            <a:spAutoFit/>
          </a:bodyPr>
          <a:lstStyle>
            <a:defPPr>
              <a:defRPr lang="pt-BR"/>
            </a:defPPr>
            <a:lvl1pPr algn="ctr">
              <a:defRPr sz="1050"/>
            </a:lvl1pPr>
          </a:lstStyle>
          <a:p>
            <a:r>
              <a:rPr lang="pt-BR" sz="900" dirty="0"/>
              <a:t>Envio de dados para o SGO por integração para atualização da Parada existente</a:t>
            </a:r>
          </a:p>
        </p:txBody>
      </p:sp>
      <p:sp>
        <p:nvSpPr>
          <p:cNvPr id="525" name="CaixaDeTexto 524">
            <a:extLst>
              <a:ext uri="{FF2B5EF4-FFF2-40B4-BE49-F238E27FC236}">
                <a16:creationId xmlns:a16="http://schemas.microsoft.com/office/drawing/2014/main" id="{D2A763D1-59B3-0145-468A-0372D0397BD0}"/>
              </a:ext>
            </a:extLst>
          </p:cNvPr>
          <p:cNvSpPr txBox="1"/>
          <p:nvPr/>
        </p:nvSpPr>
        <p:spPr>
          <a:xfrm>
            <a:off x="8927839" y="5388591"/>
            <a:ext cx="1681829" cy="646331"/>
          </a:xfrm>
          <a:prstGeom prst="rect">
            <a:avLst/>
          </a:prstGeom>
          <a:noFill/>
          <a:ln>
            <a:solidFill>
              <a:srgbClr val="009DC3"/>
            </a:solidFill>
            <a:prstDash val="dash"/>
          </a:ln>
        </p:spPr>
        <p:txBody>
          <a:bodyPr wrap="square" rtlCol="0">
            <a:spAutoFit/>
          </a:bodyPr>
          <a:lstStyle>
            <a:defPPr>
              <a:defRPr lang="pt-BR"/>
            </a:defPPr>
            <a:lvl1pPr algn="ctr">
              <a:defRPr sz="900"/>
            </a:lvl1pPr>
          </a:lstStyle>
          <a:p>
            <a:r>
              <a:rPr lang="pt-BR" dirty="0"/>
              <a:t>Envio do ID da Parada para o HUB por integração e conexão com os dados financeiros de acordo com o cenário definido</a:t>
            </a:r>
          </a:p>
        </p:txBody>
      </p:sp>
      <p:cxnSp>
        <p:nvCxnSpPr>
          <p:cNvPr id="546" name="Conector de Seta Reta 545">
            <a:extLst>
              <a:ext uri="{FF2B5EF4-FFF2-40B4-BE49-F238E27FC236}">
                <a16:creationId xmlns:a16="http://schemas.microsoft.com/office/drawing/2014/main" id="{0D62FF13-1DE6-155D-1968-A5BEACA17F35}"/>
              </a:ext>
            </a:extLst>
          </p:cNvPr>
          <p:cNvCxnSpPr>
            <a:endCxn id="523" idx="2"/>
          </p:cNvCxnSpPr>
          <p:nvPr/>
        </p:nvCxnSpPr>
        <p:spPr>
          <a:xfrm flipV="1">
            <a:off x="7898168" y="3284984"/>
            <a:ext cx="0" cy="540000"/>
          </a:xfrm>
          <a:prstGeom prst="straightConnector1">
            <a:avLst/>
          </a:prstGeom>
          <a:noFill/>
          <a:ln>
            <a:solidFill>
              <a:srgbClr val="009DC3"/>
            </a:solidFill>
            <a:prstDash val="dash"/>
          </a:ln>
        </p:spPr>
      </p:cxnSp>
      <p:cxnSp>
        <p:nvCxnSpPr>
          <p:cNvPr id="547" name="Conector de Seta Reta 546">
            <a:extLst>
              <a:ext uri="{FF2B5EF4-FFF2-40B4-BE49-F238E27FC236}">
                <a16:creationId xmlns:a16="http://schemas.microsoft.com/office/drawing/2014/main" id="{2DF955DE-31BF-715B-39AA-7D8B62683C42}"/>
              </a:ext>
            </a:extLst>
          </p:cNvPr>
          <p:cNvCxnSpPr>
            <a:cxnSpLocks/>
            <a:stCxn id="522" idx="0"/>
          </p:cNvCxnSpPr>
          <p:nvPr/>
        </p:nvCxnSpPr>
        <p:spPr>
          <a:xfrm flipH="1" flipV="1">
            <a:off x="7057253" y="4819498"/>
            <a:ext cx="1" cy="569093"/>
          </a:xfrm>
          <a:prstGeom prst="straightConnector1">
            <a:avLst/>
          </a:prstGeom>
          <a:noFill/>
          <a:ln>
            <a:solidFill>
              <a:srgbClr val="009DC3"/>
            </a:solidFill>
            <a:prstDash val="dash"/>
          </a:ln>
        </p:spPr>
      </p:cxnSp>
      <p:cxnSp>
        <p:nvCxnSpPr>
          <p:cNvPr id="549" name="Conector de Seta Reta 548">
            <a:extLst>
              <a:ext uri="{FF2B5EF4-FFF2-40B4-BE49-F238E27FC236}">
                <a16:creationId xmlns:a16="http://schemas.microsoft.com/office/drawing/2014/main" id="{A512E6FD-DD60-359A-158C-7292247A39F2}"/>
              </a:ext>
            </a:extLst>
          </p:cNvPr>
          <p:cNvCxnSpPr>
            <a:cxnSpLocks/>
            <a:stCxn id="525" idx="0"/>
          </p:cNvCxnSpPr>
          <p:nvPr/>
        </p:nvCxnSpPr>
        <p:spPr>
          <a:xfrm flipH="1" flipV="1">
            <a:off x="9762483" y="4819498"/>
            <a:ext cx="6271" cy="569093"/>
          </a:xfrm>
          <a:prstGeom prst="straightConnector1">
            <a:avLst/>
          </a:prstGeom>
          <a:noFill/>
          <a:ln>
            <a:solidFill>
              <a:srgbClr val="009DC3"/>
            </a:solidFill>
            <a:prstDash val="dash"/>
          </a:ln>
        </p:spPr>
      </p:cxnSp>
      <p:sp>
        <p:nvSpPr>
          <p:cNvPr id="552" name="Retângulo 551">
            <a:extLst>
              <a:ext uri="{FF2B5EF4-FFF2-40B4-BE49-F238E27FC236}">
                <a16:creationId xmlns:a16="http://schemas.microsoft.com/office/drawing/2014/main" id="{ABDC6F66-FBF0-4EB0-A834-40A832786E69}"/>
              </a:ext>
            </a:extLst>
          </p:cNvPr>
          <p:cNvSpPr/>
          <p:nvPr/>
        </p:nvSpPr>
        <p:spPr>
          <a:xfrm>
            <a:off x="551384" y="1340768"/>
            <a:ext cx="7182054" cy="320741"/>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Executado no HUB</a:t>
            </a:r>
          </a:p>
        </p:txBody>
      </p:sp>
      <p:sp>
        <p:nvSpPr>
          <p:cNvPr id="553" name="Retângulo 552">
            <a:extLst>
              <a:ext uri="{FF2B5EF4-FFF2-40B4-BE49-F238E27FC236}">
                <a16:creationId xmlns:a16="http://schemas.microsoft.com/office/drawing/2014/main" id="{98AEB3F6-B108-F4B8-17A0-1C4086CACB91}"/>
              </a:ext>
            </a:extLst>
          </p:cNvPr>
          <p:cNvSpPr/>
          <p:nvPr/>
        </p:nvSpPr>
        <p:spPr>
          <a:xfrm>
            <a:off x="7780653" y="1340768"/>
            <a:ext cx="1981830" cy="320741"/>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Executado no SGO</a:t>
            </a:r>
          </a:p>
        </p:txBody>
      </p:sp>
      <p:sp>
        <p:nvSpPr>
          <p:cNvPr id="554" name="Retângulo 553">
            <a:extLst>
              <a:ext uri="{FF2B5EF4-FFF2-40B4-BE49-F238E27FC236}">
                <a16:creationId xmlns:a16="http://schemas.microsoft.com/office/drawing/2014/main" id="{31A6A72F-B396-81D3-A19F-D65B7BCAA77A}"/>
              </a:ext>
            </a:extLst>
          </p:cNvPr>
          <p:cNvSpPr/>
          <p:nvPr/>
        </p:nvSpPr>
        <p:spPr>
          <a:xfrm>
            <a:off x="9809698" y="1340768"/>
            <a:ext cx="1981830" cy="320741"/>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Executado no HUB</a:t>
            </a:r>
          </a:p>
        </p:txBody>
      </p:sp>
    </p:spTree>
    <p:extLst>
      <p:ext uri="{BB962C8B-B14F-4D97-AF65-F5344CB8AC3E}">
        <p14:creationId xmlns:p14="http://schemas.microsoft.com/office/powerpoint/2010/main" val="8322883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AD27-9AAA-D63A-D550-091150388417}"/>
            </a:ext>
          </a:extLst>
        </p:cNvPr>
        <p:cNvGrpSpPr/>
        <p:nvPr/>
      </p:nvGrpSpPr>
      <p:grpSpPr>
        <a:xfrm>
          <a:off x="0" y="0"/>
          <a:ext cx="0" cy="0"/>
          <a:chOff x="0" y="0"/>
          <a:chExt cx="0" cy="0"/>
        </a:xfrm>
      </p:grpSpPr>
      <p:sp>
        <p:nvSpPr>
          <p:cNvPr id="26" name="Retângulo: Cantos Arredondados 25">
            <a:extLst>
              <a:ext uri="{FF2B5EF4-FFF2-40B4-BE49-F238E27FC236}">
                <a16:creationId xmlns:a16="http://schemas.microsoft.com/office/drawing/2014/main" id="{217070BF-462B-6E1D-A171-39B73C75AC7C}"/>
              </a:ext>
            </a:extLst>
          </p:cNvPr>
          <p:cNvSpPr/>
          <p:nvPr/>
        </p:nvSpPr>
        <p:spPr>
          <a:xfrm>
            <a:off x="0" y="0"/>
            <a:ext cx="12192000" cy="6858000"/>
          </a:xfrm>
          <a:prstGeom prst="roundRect">
            <a:avLst>
              <a:gd name="adj" fmla="val 339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tângulo: Cantos Arredondados 45">
            <a:extLst>
              <a:ext uri="{FF2B5EF4-FFF2-40B4-BE49-F238E27FC236}">
                <a16:creationId xmlns:a16="http://schemas.microsoft.com/office/drawing/2014/main" id="{01350411-D146-D2CC-7790-7DD24559204F}"/>
              </a:ext>
            </a:extLst>
          </p:cNvPr>
          <p:cNvSpPr/>
          <p:nvPr/>
        </p:nvSpPr>
        <p:spPr>
          <a:xfrm>
            <a:off x="2255594"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FEL-1</a:t>
            </a:r>
          </a:p>
        </p:txBody>
      </p:sp>
      <p:sp>
        <p:nvSpPr>
          <p:cNvPr id="47" name="Retângulo: Cantos Arredondados 46">
            <a:extLst>
              <a:ext uri="{FF2B5EF4-FFF2-40B4-BE49-F238E27FC236}">
                <a16:creationId xmlns:a16="http://schemas.microsoft.com/office/drawing/2014/main" id="{D7EA256F-CDFD-F340-C4F7-8F5BA2578EE0}"/>
              </a:ext>
            </a:extLst>
          </p:cNvPr>
          <p:cNvSpPr/>
          <p:nvPr/>
        </p:nvSpPr>
        <p:spPr>
          <a:xfrm>
            <a:off x="4175828"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FEL-2</a:t>
            </a:r>
          </a:p>
        </p:txBody>
      </p:sp>
      <p:sp>
        <p:nvSpPr>
          <p:cNvPr id="48" name="Retângulo: Cantos Arredondados 47">
            <a:extLst>
              <a:ext uri="{FF2B5EF4-FFF2-40B4-BE49-F238E27FC236}">
                <a16:creationId xmlns:a16="http://schemas.microsoft.com/office/drawing/2014/main" id="{ADA76FEA-5120-E56D-2622-4F1B984F27F6}"/>
              </a:ext>
            </a:extLst>
          </p:cNvPr>
          <p:cNvSpPr/>
          <p:nvPr/>
        </p:nvSpPr>
        <p:spPr>
          <a:xfrm>
            <a:off x="6096062"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FEL-3</a:t>
            </a:r>
          </a:p>
        </p:txBody>
      </p:sp>
      <p:sp>
        <p:nvSpPr>
          <p:cNvPr id="49" name="Retângulo: Cantos Arredondados 48">
            <a:extLst>
              <a:ext uri="{FF2B5EF4-FFF2-40B4-BE49-F238E27FC236}">
                <a16:creationId xmlns:a16="http://schemas.microsoft.com/office/drawing/2014/main" id="{68AD8349-A567-4638-E219-C9B7462A5C9C}"/>
              </a:ext>
            </a:extLst>
          </p:cNvPr>
          <p:cNvSpPr/>
          <p:nvPr/>
        </p:nvSpPr>
        <p:spPr>
          <a:xfrm>
            <a:off x="8016296"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FEL-4</a:t>
            </a:r>
          </a:p>
        </p:txBody>
      </p:sp>
      <p:sp>
        <p:nvSpPr>
          <p:cNvPr id="50" name="Retângulo: Cantos Arredondados 49">
            <a:extLst>
              <a:ext uri="{FF2B5EF4-FFF2-40B4-BE49-F238E27FC236}">
                <a16:creationId xmlns:a16="http://schemas.microsoft.com/office/drawing/2014/main" id="{4296C3ED-C08F-09D5-B7B8-E5F68271BE4B}"/>
              </a:ext>
            </a:extLst>
          </p:cNvPr>
          <p:cNvSpPr/>
          <p:nvPr/>
        </p:nvSpPr>
        <p:spPr>
          <a:xfrm>
            <a:off x="9936532"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Em Execução</a:t>
            </a:r>
          </a:p>
        </p:txBody>
      </p:sp>
      <p:sp>
        <p:nvSpPr>
          <p:cNvPr id="52" name="Retângulo: Cantos Arredondados 51">
            <a:extLst>
              <a:ext uri="{FF2B5EF4-FFF2-40B4-BE49-F238E27FC236}">
                <a16:creationId xmlns:a16="http://schemas.microsoft.com/office/drawing/2014/main" id="{81FA8406-CBA4-2B4C-07A9-BA664A205E97}"/>
              </a:ext>
            </a:extLst>
          </p:cNvPr>
          <p:cNvSpPr/>
          <p:nvPr/>
        </p:nvSpPr>
        <p:spPr>
          <a:xfrm>
            <a:off x="335360" y="3862643"/>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53" name="Agrupar 52">
            <a:extLst>
              <a:ext uri="{FF2B5EF4-FFF2-40B4-BE49-F238E27FC236}">
                <a16:creationId xmlns:a16="http://schemas.microsoft.com/office/drawing/2014/main" id="{64AE30D7-A167-9C81-80FB-E1DBD2696117}"/>
              </a:ext>
            </a:extLst>
          </p:cNvPr>
          <p:cNvGrpSpPr/>
          <p:nvPr/>
        </p:nvGrpSpPr>
        <p:grpSpPr>
          <a:xfrm>
            <a:off x="393680" y="3886628"/>
            <a:ext cx="1728192" cy="175957"/>
            <a:chOff x="807560" y="1796801"/>
            <a:chExt cx="1728192" cy="175957"/>
          </a:xfrm>
        </p:grpSpPr>
        <p:sp>
          <p:nvSpPr>
            <p:cNvPr id="74" name="Retângulo: Cantos Arredondados 73">
              <a:extLst>
                <a:ext uri="{FF2B5EF4-FFF2-40B4-BE49-F238E27FC236}">
                  <a16:creationId xmlns:a16="http://schemas.microsoft.com/office/drawing/2014/main" id="{182235EE-F5B9-F98E-4F0C-6953EAB597A6}"/>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75" name="Retângulo: Cantos Arredondados 74">
              <a:extLst>
                <a:ext uri="{FF2B5EF4-FFF2-40B4-BE49-F238E27FC236}">
                  <a16:creationId xmlns:a16="http://schemas.microsoft.com/office/drawing/2014/main" id="{AA9E938E-34D7-1CBB-B2F4-F9B80AC26220}"/>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76" name="Retângulo: Cantos Arredondados 75">
              <a:extLst>
                <a:ext uri="{FF2B5EF4-FFF2-40B4-BE49-F238E27FC236}">
                  <a16:creationId xmlns:a16="http://schemas.microsoft.com/office/drawing/2014/main" id="{CC6BCD55-EB74-5CD0-BB3D-EBF664A749AA}"/>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54" name="Agrupar 53">
            <a:extLst>
              <a:ext uri="{FF2B5EF4-FFF2-40B4-BE49-F238E27FC236}">
                <a16:creationId xmlns:a16="http://schemas.microsoft.com/office/drawing/2014/main" id="{145BA831-4539-4AE4-3A81-3D49484F64CC}"/>
              </a:ext>
            </a:extLst>
          </p:cNvPr>
          <p:cNvGrpSpPr/>
          <p:nvPr/>
        </p:nvGrpSpPr>
        <p:grpSpPr>
          <a:xfrm>
            <a:off x="472119" y="4566955"/>
            <a:ext cx="1571314" cy="108000"/>
            <a:chOff x="885999" y="2544755"/>
            <a:chExt cx="1571314" cy="108000"/>
          </a:xfrm>
        </p:grpSpPr>
        <p:sp>
          <p:nvSpPr>
            <p:cNvPr id="64" name="Retângulo 63">
              <a:extLst>
                <a:ext uri="{FF2B5EF4-FFF2-40B4-BE49-F238E27FC236}">
                  <a16:creationId xmlns:a16="http://schemas.microsoft.com/office/drawing/2014/main" id="{049D2C82-977E-755E-56AB-C66CCDBE6312}"/>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65" name="CaixaDeTexto 64">
              <a:extLst>
                <a:ext uri="{FF2B5EF4-FFF2-40B4-BE49-F238E27FC236}">
                  <a16:creationId xmlns:a16="http://schemas.microsoft.com/office/drawing/2014/main" id="{8658F3E3-A821-6297-1333-9203548D0363}"/>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66" name="Retângulo 65">
              <a:extLst>
                <a:ext uri="{FF2B5EF4-FFF2-40B4-BE49-F238E27FC236}">
                  <a16:creationId xmlns:a16="http://schemas.microsoft.com/office/drawing/2014/main" id="{5B764860-E344-7208-00F0-E0E5211CC4D8}"/>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67" name="CaixaDeTexto 66">
              <a:extLst>
                <a:ext uri="{FF2B5EF4-FFF2-40B4-BE49-F238E27FC236}">
                  <a16:creationId xmlns:a16="http://schemas.microsoft.com/office/drawing/2014/main" id="{2993AE11-3F74-8A2B-108D-A1100676543E}"/>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68" name="Retângulo 67">
              <a:extLst>
                <a:ext uri="{FF2B5EF4-FFF2-40B4-BE49-F238E27FC236}">
                  <a16:creationId xmlns:a16="http://schemas.microsoft.com/office/drawing/2014/main" id="{BE135CA9-2805-CF01-FD91-49DAF619DF3C}"/>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69" name="CaixaDeTexto 68">
              <a:extLst>
                <a:ext uri="{FF2B5EF4-FFF2-40B4-BE49-F238E27FC236}">
                  <a16:creationId xmlns:a16="http://schemas.microsoft.com/office/drawing/2014/main" id="{1F958DFB-A2BD-D141-A445-AE5C9D841ED6}"/>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70" name="Retângulo 69">
              <a:extLst>
                <a:ext uri="{FF2B5EF4-FFF2-40B4-BE49-F238E27FC236}">
                  <a16:creationId xmlns:a16="http://schemas.microsoft.com/office/drawing/2014/main" id="{BD670B6A-5663-D965-B8CF-1B9F338447C9}"/>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71" name="CaixaDeTexto 70">
              <a:extLst>
                <a:ext uri="{FF2B5EF4-FFF2-40B4-BE49-F238E27FC236}">
                  <a16:creationId xmlns:a16="http://schemas.microsoft.com/office/drawing/2014/main" id="{89F5FF74-5452-C954-500E-A8994DC084B5}"/>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72" name="Retângulo 71">
              <a:extLst>
                <a:ext uri="{FF2B5EF4-FFF2-40B4-BE49-F238E27FC236}">
                  <a16:creationId xmlns:a16="http://schemas.microsoft.com/office/drawing/2014/main" id="{AF1C83ED-3151-5BDF-1E4E-1FC556133BB0}"/>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73" name="CaixaDeTexto 72">
              <a:extLst>
                <a:ext uri="{FF2B5EF4-FFF2-40B4-BE49-F238E27FC236}">
                  <a16:creationId xmlns:a16="http://schemas.microsoft.com/office/drawing/2014/main" id="{007A580F-5904-4A92-B82D-070BEECC4313}"/>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55" name="Agrupar 54">
            <a:extLst>
              <a:ext uri="{FF2B5EF4-FFF2-40B4-BE49-F238E27FC236}">
                <a16:creationId xmlns:a16="http://schemas.microsoft.com/office/drawing/2014/main" id="{1B027AD3-7BAD-821D-FFF1-C20A1B0BFAD0}"/>
              </a:ext>
            </a:extLst>
          </p:cNvPr>
          <p:cNvGrpSpPr/>
          <p:nvPr/>
        </p:nvGrpSpPr>
        <p:grpSpPr>
          <a:xfrm>
            <a:off x="393680" y="4113404"/>
            <a:ext cx="1730548" cy="175957"/>
            <a:chOff x="807560" y="2045707"/>
            <a:chExt cx="1730548" cy="175957"/>
          </a:xfrm>
        </p:grpSpPr>
        <p:sp>
          <p:nvSpPr>
            <p:cNvPr id="60" name="Retângulo: Cantos Arredondados 59">
              <a:extLst>
                <a:ext uri="{FF2B5EF4-FFF2-40B4-BE49-F238E27FC236}">
                  <a16:creationId xmlns:a16="http://schemas.microsoft.com/office/drawing/2014/main" id="{7A3CE0CF-9793-4F55-E04F-67EE8A6C9973}"/>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61" name="Retângulo: Cantos Arredondados 60">
              <a:extLst>
                <a:ext uri="{FF2B5EF4-FFF2-40B4-BE49-F238E27FC236}">
                  <a16:creationId xmlns:a16="http://schemas.microsoft.com/office/drawing/2014/main" id="{8B7768CE-BC0D-4304-343E-13CA6CD9B2B7}"/>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62" name="Retângulo: Cantos Arredondados 61">
              <a:extLst>
                <a:ext uri="{FF2B5EF4-FFF2-40B4-BE49-F238E27FC236}">
                  <a16:creationId xmlns:a16="http://schemas.microsoft.com/office/drawing/2014/main" id="{77D06984-B639-9D55-91FC-804CCCD183E2}"/>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63" name="Retângulo: Cantos Arredondados 62">
              <a:extLst>
                <a:ext uri="{FF2B5EF4-FFF2-40B4-BE49-F238E27FC236}">
                  <a16:creationId xmlns:a16="http://schemas.microsoft.com/office/drawing/2014/main" id="{2AD2859E-E688-2ABC-F018-8FFD0FB4F112}"/>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56" name="Agrupar 55">
            <a:extLst>
              <a:ext uri="{FF2B5EF4-FFF2-40B4-BE49-F238E27FC236}">
                <a16:creationId xmlns:a16="http://schemas.microsoft.com/office/drawing/2014/main" id="{DC58B0C8-878A-B6CD-D89F-382DA19E8C08}"/>
              </a:ext>
            </a:extLst>
          </p:cNvPr>
          <p:cNvGrpSpPr/>
          <p:nvPr/>
        </p:nvGrpSpPr>
        <p:grpSpPr>
          <a:xfrm>
            <a:off x="388419" y="4340180"/>
            <a:ext cx="1735809" cy="175957"/>
            <a:chOff x="802299" y="2294613"/>
            <a:chExt cx="1735809" cy="175957"/>
          </a:xfrm>
        </p:grpSpPr>
        <p:sp>
          <p:nvSpPr>
            <p:cNvPr id="57" name="Retângulo: Cantos Arredondados 56">
              <a:extLst>
                <a:ext uri="{FF2B5EF4-FFF2-40B4-BE49-F238E27FC236}">
                  <a16:creationId xmlns:a16="http://schemas.microsoft.com/office/drawing/2014/main" id="{A53B3835-FC37-0468-3C63-3F6B2B6A569D}"/>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58" name="Retângulo: Cantos Arredondados 57">
              <a:extLst>
                <a:ext uri="{FF2B5EF4-FFF2-40B4-BE49-F238E27FC236}">
                  <a16:creationId xmlns:a16="http://schemas.microsoft.com/office/drawing/2014/main" id="{EE88AC54-3B55-26B0-E85B-9434FEE16579}"/>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59" name="Retângulo: Cantos Arredondados 58">
              <a:extLst>
                <a:ext uri="{FF2B5EF4-FFF2-40B4-BE49-F238E27FC236}">
                  <a16:creationId xmlns:a16="http://schemas.microsoft.com/office/drawing/2014/main" id="{C3606A30-7C5E-2E3B-AD43-0BBB95F801E3}"/>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32" name="Retângulo: Cantos Arredondados 131">
            <a:extLst>
              <a:ext uri="{FF2B5EF4-FFF2-40B4-BE49-F238E27FC236}">
                <a16:creationId xmlns:a16="http://schemas.microsoft.com/office/drawing/2014/main" id="{ED1D3652-666B-6952-A097-83C918906364}"/>
              </a:ext>
            </a:extLst>
          </p:cNvPr>
          <p:cNvSpPr/>
          <p:nvPr/>
        </p:nvSpPr>
        <p:spPr>
          <a:xfrm>
            <a:off x="2255594" y="2826922"/>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33" name="Agrupar 132">
            <a:extLst>
              <a:ext uri="{FF2B5EF4-FFF2-40B4-BE49-F238E27FC236}">
                <a16:creationId xmlns:a16="http://schemas.microsoft.com/office/drawing/2014/main" id="{DB49B633-84E0-2678-0E08-346BE59A7E94}"/>
              </a:ext>
            </a:extLst>
          </p:cNvPr>
          <p:cNvGrpSpPr/>
          <p:nvPr/>
        </p:nvGrpSpPr>
        <p:grpSpPr>
          <a:xfrm>
            <a:off x="2313914" y="2850907"/>
            <a:ext cx="1728192" cy="175957"/>
            <a:chOff x="807560" y="1796801"/>
            <a:chExt cx="1728192" cy="175957"/>
          </a:xfrm>
        </p:grpSpPr>
        <p:sp>
          <p:nvSpPr>
            <p:cNvPr id="154" name="Retângulo: Cantos Arredondados 153">
              <a:extLst>
                <a:ext uri="{FF2B5EF4-FFF2-40B4-BE49-F238E27FC236}">
                  <a16:creationId xmlns:a16="http://schemas.microsoft.com/office/drawing/2014/main" id="{A36E3873-C002-41EA-5406-7F1ECC572C84}"/>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155" name="Retângulo: Cantos Arredondados 154">
              <a:extLst>
                <a:ext uri="{FF2B5EF4-FFF2-40B4-BE49-F238E27FC236}">
                  <a16:creationId xmlns:a16="http://schemas.microsoft.com/office/drawing/2014/main" id="{F3D5BCFF-E672-6B43-F04B-F2CA7CE23E7C}"/>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156" name="Retângulo: Cantos Arredondados 155">
              <a:extLst>
                <a:ext uri="{FF2B5EF4-FFF2-40B4-BE49-F238E27FC236}">
                  <a16:creationId xmlns:a16="http://schemas.microsoft.com/office/drawing/2014/main" id="{931CD50C-87D6-4127-6F7C-36856871556A}"/>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34" name="Agrupar 133">
            <a:extLst>
              <a:ext uri="{FF2B5EF4-FFF2-40B4-BE49-F238E27FC236}">
                <a16:creationId xmlns:a16="http://schemas.microsoft.com/office/drawing/2014/main" id="{4278B9FB-BD93-F76B-7CCC-D1EC9F7EC94A}"/>
              </a:ext>
            </a:extLst>
          </p:cNvPr>
          <p:cNvGrpSpPr/>
          <p:nvPr/>
        </p:nvGrpSpPr>
        <p:grpSpPr>
          <a:xfrm>
            <a:off x="2392353" y="3531234"/>
            <a:ext cx="1571314" cy="108000"/>
            <a:chOff x="885999" y="2544755"/>
            <a:chExt cx="1571314" cy="108000"/>
          </a:xfrm>
        </p:grpSpPr>
        <p:sp>
          <p:nvSpPr>
            <p:cNvPr id="144" name="Retângulo 143">
              <a:extLst>
                <a:ext uri="{FF2B5EF4-FFF2-40B4-BE49-F238E27FC236}">
                  <a16:creationId xmlns:a16="http://schemas.microsoft.com/office/drawing/2014/main" id="{E12B569C-7284-BCF4-15F5-738319CCF83C}"/>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5" name="CaixaDeTexto 144">
              <a:extLst>
                <a:ext uri="{FF2B5EF4-FFF2-40B4-BE49-F238E27FC236}">
                  <a16:creationId xmlns:a16="http://schemas.microsoft.com/office/drawing/2014/main" id="{1C82D3F0-6EF8-2D46-DA84-F75569D789D7}"/>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46" name="Retângulo 145">
              <a:extLst>
                <a:ext uri="{FF2B5EF4-FFF2-40B4-BE49-F238E27FC236}">
                  <a16:creationId xmlns:a16="http://schemas.microsoft.com/office/drawing/2014/main" id="{FE5B2272-D36F-7A23-DBFE-50219CD9FDAF}"/>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7" name="CaixaDeTexto 146">
              <a:extLst>
                <a:ext uri="{FF2B5EF4-FFF2-40B4-BE49-F238E27FC236}">
                  <a16:creationId xmlns:a16="http://schemas.microsoft.com/office/drawing/2014/main" id="{0E22F4EA-0FC5-EC10-BFFE-AE4519D55EFA}"/>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48" name="Retângulo 147">
              <a:extLst>
                <a:ext uri="{FF2B5EF4-FFF2-40B4-BE49-F238E27FC236}">
                  <a16:creationId xmlns:a16="http://schemas.microsoft.com/office/drawing/2014/main" id="{0F7BAA9A-1F6E-ADE0-173D-EA7AF6C30A74}"/>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49" name="CaixaDeTexto 148">
              <a:extLst>
                <a:ext uri="{FF2B5EF4-FFF2-40B4-BE49-F238E27FC236}">
                  <a16:creationId xmlns:a16="http://schemas.microsoft.com/office/drawing/2014/main" id="{9F82F873-0CAF-4F7D-FE34-AA6E6F192D35}"/>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50" name="Retângulo 149">
              <a:extLst>
                <a:ext uri="{FF2B5EF4-FFF2-40B4-BE49-F238E27FC236}">
                  <a16:creationId xmlns:a16="http://schemas.microsoft.com/office/drawing/2014/main" id="{02CAF539-3703-414E-E8B7-2AE2EF1CC5A9}"/>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51" name="CaixaDeTexto 150">
              <a:extLst>
                <a:ext uri="{FF2B5EF4-FFF2-40B4-BE49-F238E27FC236}">
                  <a16:creationId xmlns:a16="http://schemas.microsoft.com/office/drawing/2014/main" id="{C1A51DAC-AC57-C8EC-D391-7BA3547D665D}"/>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52" name="Retângulo 151">
              <a:extLst>
                <a:ext uri="{FF2B5EF4-FFF2-40B4-BE49-F238E27FC236}">
                  <a16:creationId xmlns:a16="http://schemas.microsoft.com/office/drawing/2014/main" id="{28504063-24A4-167C-D1B4-F9B502DE68A2}"/>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53" name="CaixaDeTexto 152">
              <a:extLst>
                <a:ext uri="{FF2B5EF4-FFF2-40B4-BE49-F238E27FC236}">
                  <a16:creationId xmlns:a16="http://schemas.microsoft.com/office/drawing/2014/main" id="{3D30668D-7ABF-A047-F267-A5F7AC552AC0}"/>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35" name="Agrupar 134">
            <a:extLst>
              <a:ext uri="{FF2B5EF4-FFF2-40B4-BE49-F238E27FC236}">
                <a16:creationId xmlns:a16="http://schemas.microsoft.com/office/drawing/2014/main" id="{3CC00999-1523-6963-47F2-7CCBF210BB3D}"/>
              </a:ext>
            </a:extLst>
          </p:cNvPr>
          <p:cNvGrpSpPr/>
          <p:nvPr/>
        </p:nvGrpSpPr>
        <p:grpSpPr>
          <a:xfrm>
            <a:off x="2313914" y="3077683"/>
            <a:ext cx="1730548" cy="175957"/>
            <a:chOff x="807560" y="2045707"/>
            <a:chExt cx="1730548" cy="175957"/>
          </a:xfrm>
        </p:grpSpPr>
        <p:sp>
          <p:nvSpPr>
            <p:cNvPr id="140" name="Retângulo: Cantos Arredondados 139">
              <a:extLst>
                <a:ext uri="{FF2B5EF4-FFF2-40B4-BE49-F238E27FC236}">
                  <a16:creationId xmlns:a16="http://schemas.microsoft.com/office/drawing/2014/main" id="{1E1E6743-ACCC-445C-14B2-2FAA5AA0B80C}"/>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41" name="Retângulo: Cantos Arredondados 140">
              <a:extLst>
                <a:ext uri="{FF2B5EF4-FFF2-40B4-BE49-F238E27FC236}">
                  <a16:creationId xmlns:a16="http://schemas.microsoft.com/office/drawing/2014/main" id="{A8DD14FD-7D78-E3A2-B80C-672C860FA1C4}"/>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42" name="Retângulo: Cantos Arredondados 141">
              <a:extLst>
                <a:ext uri="{FF2B5EF4-FFF2-40B4-BE49-F238E27FC236}">
                  <a16:creationId xmlns:a16="http://schemas.microsoft.com/office/drawing/2014/main" id="{3A54E4CD-B129-B6A6-55B9-7DD07BA2BCFF}"/>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43" name="Retângulo: Cantos Arredondados 142">
              <a:extLst>
                <a:ext uri="{FF2B5EF4-FFF2-40B4-BE49-F238E27FC236}">
                  <a16:creationId xmlns:a16="http://schemas.microsoft.com/office/drawing/2014/main" id="{4E9AB043-45A5-A64B-0031-350C6A3CB3FD}"/>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36" name="Agrupar 135">
            <a:extLst>
              <a:ext uri="{FF2B5EF4-FFF2-40B4-BE49-F238E27FC236}">
                <a16:creationId xmlns:a16="http://schemas.microsoft.com/office/drawing/2014/main" id="{C2B16FA5-5AD5-18FA-9D3A-0706034F14B6}"/>
              </a:ext>
            </a:extLst>
          </p:cNvPr>
          <p:cNvGrpSpPr/>
          <p:nvPr/>
        </p:nvGrpSpPr>
        <p:grpSpPr>
          <a:xfrm>
            <a:off x="2308653" y="3304459"/>
            <a:ext cx="1735809" cy="175957"/>
            <a:chOff x="802299" y="2294613"/>
            <a:chExt cx="1735809" cy="175957"/>
          </a:xfrm>
        </p:grpSpPr>
        <p:sp>
          <p:nvSpPr>
            <p:cNvPr id="137" name="Retângulo: Cantos Arredondados 136">
              <a:extLst>
                <a:ext uri="{FF2B5EF4-FFF2-40B4-BE49-F238E27FC236}">
                  <a16:creationId xmlns:a16="http://schemas.microsoft.com/office/drawing/2014/main" id="{F04EC73C-1EE8-8039-3DB8-D0592B10BA16}"/>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38" name="Retângulo: Cantos Arredondados 137">
              <a:extLst>
                <a:ext uri="{FF2B5EF4-FFF2-40B4-BE49-F238E27FC236}">
                  <a16:creationId xmlns:a16="http://schemas.microsoft.com/office/drawing/2014/main" id="{DFFE19C8-E2A6-C8F9-D36A-AF4A691AAE73}"/>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39" name="Retângulo: Cantos Arredondados 138">
              <a:extLst>
                <a:ext uri="{FF2B5EF4-FFF2-40B4-BE49-F238E27FC236}">
                  <a16:creationId xmlns:a16="http://schemas.microsoft.com/office/drawing/2014/main" id="{ACEF2635-ED08-7F12-D93F-81A1E26868A8}"/>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58" name="Retângulo: Cantos Arredondados 157">
            <a:extLst>
              <a:ext uri="{FF2B5EF4-FFF2-40B4-BE49-F238E27FC236}">
                <a16:creationId xmlns:a16="http://schemas.microsoft.com/office/drawing/2014/main" id="{F2940149-5386-3D30-3C5B-C7EF6535B744}"/>
              </a:ext>
            </a:extLst>
          </p:cNvPr>
          <p:cNvSpPr/>
          <p:nvPr/>
        </p:nvSpPr>
        <p:spPr>
          <a:xfrm>
            <a:off x="2255594"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59" name="Agrupar 158">
            <a:extLst>
              <a:ext uri="{FF2B5EF4-FFF2-40B4-BE49-F238E27FC236}">
                <a16:creationId xmlns:a16="http://schemas.microsoft.com/office/drawing/2014/main" id="{2E59C695-86A4-B78A-592F-1A4C901C8428}"/>
              </a:ext>
            </a:extLst>
          </p:cNvPr>
          <p:cNvGrpSpPr/>
          <p:nvPr/>
        </p:nvGrpSpPr>
        <p:grpSpPr>
          <a:xfrm>
            <a:off x="2313914" y="3767821"/>
            <a:ext cx="1728192" cy="175957"/>
            <a:chOff x="807560" y="1796801"/>
            <a:chExt cx="1728192" cy="175957"/>
          </a:xfrm>
        </p:grpSpPr>
        <p:sp>
          <p:nvSpPr>
            <p:cNvPr id="180" name="Retângulo: Cantos Arredondados 179">
              <a:extLst>
                <a:ext uri="{FF2B5EF4-FFF2-40B4-BE49-F238E27FC236}">
                  <a16:creationId xmlns:a16="http://schemas.microsoft.com/office/drawing/2014/main" id="{90C3C96E-AAE3-1078-52F2-A42EAE8ADD63}"/>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181" name="Retângulo: Cantos Arredondados 180">
              <a:extLst>
                <a:ext uri="{FF2B5EF4-FFF2-40B4-BE49-F238E27FC236}">
                  <a16:creationId xmlns:a16="http://schemas.microsoft.com/office/drawing/2014/main" id="{2C5C0FAD-ABF3-85C2-9778-B27ACC06B142}"/>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182" name="Retângulo: Cantos Arredondados 181">
              <a:extLst>
                <a:ext uri="{FF2B5EF4-FFF2-40B4-BE49-F238E27FC236}">
                  <a16:creationId xmlns:a16="http://schemas.microsoft.com/office/drawing/2014/main" id="{21D795E8-C86E-1E47-4B12-7461ECF28A39}"/>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60" name="Agrupar 159">
            <a:extLst>
              <a:ext uri="{FF2B5EF4-FFF2-40B4-BE49-F238E27FC236}">
                <a16:creationId xmlns:a16="http://schemas.microsoft.com/office/drawing/2014/main" id="{CEEB20CC-6B7E-0D07-7ED6-07B4C07955BB}"/>
              </a:ext>
            </a:extLst>
          </p:cNvPr>
          <p:cNvGrpSpPr/>
          <p:nvPr/>
        </p:nvGrpSpPr>
        <p:grpSpPr>
          <a:xfrm>
            <a:off x="2392353" y="4448148"/>
            <a:ext cx="1571314" cy="108000"/>
            <a:chOff x="885999" y="2544755"/>
            <a:chExt cx="1571314" cy="108000"/>
          </a:xfrm>
        </p:grpSpPr>
        <p:sp>
          <p:nvSpPr>
            <p:cNvPr id="170" name="Retângulo 169">
              <a:extLst>
                <a:ext uri="{FF2B5EF4-FFF2-40B4-BE49-F238E27FC236}">
                  <a16:creationId xmlns:a16="http://schemas.microsoft.com/office/drawing/2014/main" id="{8E17DF1C-00F4-0171-5B47-B11CAED37AA6}"/>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1" name="CaixaDeTexto 170">
              <a:extLst>
                <a:ext uri="{FF2B5EF4-FFF2-40B4-BE49-F238E27FC236}">
                  <a16:creationId xmlns:a16="http://schemas.microsoft.com/office/drawing/2014/main" id="{C6FE74A3-0551-3A69-01BA-D3083D625DC4}"/>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72" name="Retângulo 171">
              <a:extLst>
                <a:ext uri="{FF2B5EF4-FFF2-40B4-BE49-F238E27FC236}">
                  <a16:creationId xmlns:a16="http://schemas.microsoft.com/office/drawing/2014/main" id="{DB73E1B1-8A24-E929-80F2-2283A54E2CAC}"/>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3" name="CaixaDeTexto 172">
              <a:extLst>
                <a:ext uri="{FF2B5EF4-FFF2-40B4-BE49-F238E27FC236}">
                  <a16:creationId xmlns:a16="http://schemas.microsoft.com/office/drawing/2014/main" id="{CE15D13F-F17E-909B-A47C-150C6C8D045E}"/>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74" name="Retângulo 173">
              <a:extLst>
                <a:ext uri="{FF2B5EF4-FFF2-40B4-BE49-F238E27FC236}">
                  <a16:creationId xmlns:a16="http://schemas.microsoft.com/office/drawing/2014/main" id="{2404E61D-641A-3269-4F1A-155B4CF80F27}"/>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75" name="CaixaDeTexto 174">
              <a:extLst>
                <a:ext uri="{FF2B5EF4-FFF2-40B4-BE49-F238E27FC236}">
                  <a16:creationId xmlns:a16="http://schemas.microsoft.com/office/drawing/2014/main" id="{1598287B-3B99-D0A4-29CF-96DB9CBB0CAD}"/>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76" name="Retângulo 175">
              <a:extLst>
                <a:ext uri="{FF2B5EF4-FFF2-40B4-BE49-F238E27FC236}">
                  <a16:creationId xmlns:a16="http://schemas.microsoft.com/office/drawing/2014/main" id="{AC95A5DB-87C1-6584-3CF0-AAB24A151386}"/>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77" name="CaixaDeTexto 176">
              <a:extLst>
                <a:ext uri="{FF2B5EF4-FFF2-40B4-BE49-F238E27FC236}">
                  <a16:creationId xmlns:a16="http://schemas.microsoft.com/office/drawing/2014/main" id="{25EFE338-DC10-BE95-74DA-303CFB832D26}"/>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78" name="Retângulo 177">
              <a:extLst>
                <a:ext uri="{FF2B5EF4-FFF2-40B4-BE49-F238E27FC236}">
                  <a16:creationId xmlns:a16="http://schemas.microsoft.com/office/drawing/2014/main" id="{11159FFB-D8A2-D1C5-1CCF-A79EA7FE3A83}"/>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79" name="CaixaDeTexto 178">
              <a:extLst>
                <a:ext uri="{FF2B5EF4-FFF2-40B4-BE49-F238E27FC236}">
                  <a16:creationId xmlns:a16="http://schemas.microsoft.com/office/drawing/2014/main" id="{22AA0464-CC0A-B40C-9C38-BC6244F1A78C}"/>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61" name="Agrupar 160">
            <a:extLst>
              <a:ext uri="{FF2B5EF4-FFF2-40B4-BE49-F238E27FC236}">
                <a16:creationId xmlns:a16="http://schemas.microsoft.com/office/drawing/2014/main" id="{FA66FBC1-67E8-EEA1-C281-E6C02029D2CE}"/>
              </a:ext>
            </a:extLst>
          </p:cNvPr>
          <p:cNvGrpSpPr/>
          <p:nvPr/>
        </p:nvGrpSpPr>
        <p:grpSpPr>
          <a:xfrm>
            <a:off x="2313914" y="3994597"/>
            <a:ext cx="1730548" cy="175957"/>
            <a:chOff x="807560" y="2045707"/>
            <a:chExt cx="1730548" cy="175957"/>
          </a:xfrm>
        </p:grpSpPr>
        <p:sp>
          <p:nvSpPr>
            <p:cNvPr id="166" name="Retângulo: Cantos Arredondados 165">
              <a:extLst>
                <a:ext uri="{FF2B5EF4-FFF2-40B4-BE49-F238E27FC236}">
                  <a16:creationId xmlns:a16="http://schemas.microsoft.com/office/drawing/2014/main" id="{4DAF638A-8E15-9E09-9158-9E5BCD3CBDDA}"/>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67" name="Retângulo: Cantos Arredondados 166">
              <a:extLst>
                <a:ext uri="{FF2B5EF4-FFF2-40B4-BE49-F238E27FC236}">
                  <a16:creationId xmlns:a16="http://schemas.microsoft.com/office/drawing/2014/main" id="{02545BBE-1877-A93F-E763-59E7B47800EA}"/>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68" name="Retângulo: Cantos Arredondados 167">
              <a:extLst>
                <a:ext uri="{FF2B5EF4-FFF2-40B4-BE49-F238E27FC236}">
                  <a16:creationId xmlns:a16="http://schemas.microsoft.com/office/drawing/2014/main" id="{9824B3CF-8A3A-BCE8-1CDE-FAB99D1D138D}"/>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69" name="Retângulo: Cantos Arredondados 168">
              <a:extLst>
                <a:ext uri="{FF2B5EF4-FFF2-40B4-BE49-F238E27FC236}">
                  <a16:creationId xmlns:a16="http://schemas.microsoft.com/office/drawing/2014/main" id="{89745B6C-E783-4FE2-4268-57237BB153B3}"/>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62" name="Agrupar 161">
            <a:extLst>
              <a:ext uri="{FF2B5EF4-FFF2-40B4-BE49-F238E27FC236}">
                <a16:creationId xmlns:a16="http://schemas.microsoft.com/office/drawing/2014/main" id="{FAF2E267-8B55-2EF5-D589-4DD5355FA449}"/>
              </a:ext>
            </a:extLst>
          </p:cNvPr>
          <p:cNvGrpSpPr/>
          <p:nvPr/>
        </p:nvGrpSpPr>
        <p:grpSpPr>
          <a:xfrm>
            <a:off x="2308653" y="4221373"/>
            <a:ext cx="1735809" cy="175957"/>
            <a:chOff x="802299" y="2294613"/>
            <a:chExt cx="1735809" cy="175957"/>
          </a:xfrm>
        </p:grpSpPr>
        <p:sp>
          <p:nvSpPr>
            <p:cNvPr id="163" name="Retângulo: Cantos Arredondados 162">
              <a:extLst>
                <a:ext uri="{FF2B5EF4-FFF2-40B4-BE49-F238E27FC236}">
                  <a16:creationId xmlns:a16="http://schemas.microsoft.com/office/drawing/2014/main" id="{D4E413BB-F63B-48A9-1AD6-28099371BD21}"/>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64" name="Retângulo: Cantos Arredondados 163">
              <a:extLst>
                <a:ext uri="{FF2B5EF4-FFF2-40B4-BE49-F238E27FC236}">
                  <a16:creationId xmlns:a16="http://schemas.microsoft.com/office/drawing/2014/main" id="{8355132A-3EF2-06D9-0505-0DEE820800A2}"/>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65" name="Retângulo: Cantos Arredondados 164">
              <a:extLst>
                <a:ext uri="{FF2B5EF4-FFF2-40B4-BE49-F238E27FC236}">
                  <a16:creationId xmlns:a16="http://schemas.microsoft.com/office/drawing/2014/main" id="{A6F41E9F-4AE8-29B3-9291-C75A6A960B26}"/>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184" name="Retângulo: Cantos Arredondados 183">
            <a:extLst>
              <a:ext uri="{FF2B5EF4-FFF2-40B4-BE49-F238E27FC236}">
                <a16:creationId xmlns:a16="http://schemas.microsoft.com/office/drawing/2014/main" id="{7E70D6E9-3508-0D58-B518-B90EF12F95A0}"/>
              </a:ext>
            </a:extLst>
          </p:cNvPr>
          <p:cNvSpPr/>
          <p:nvPr/>
        </p:nvSpPr>
        <p:spPr>
          <a:xfrm>
            <a:off x="2255594" y="466075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185" name="Agrupar 184">
            <a:extLst>
              <a:ext uri="{FF2B5EF4-FFF2-40B4-BE49-F238E27FC236}">
                <a16:creationId xmlns:a16="http://schemas.microsoft.com/office/drawing/2014/main" id="{98F2476C-4092-5110-E50E-8C10187843A2}"/>
              </a:ext>
            </a:extLst>
          </p:cNvPr>
          <p:cNvGrpSpPr/>
          <p:nvPr/>
        </p:nvGrpSpPr>
        <p:grpSpPr>
          <a:xfrm>
            <a:off x="2313914" y="4684735"/>
            <a:ext cx="1728192" cy="175957"/>
            <a:chOff x="807560" y="1796801"/>
            <a:chExt cx="1728192" cy="175957"/>
          </a:xfrm>
        </p:grpSpPr>
        <p:sp>
          <p:nvSpPr>
            <p:cNvPr id="206" name="Retângulo: Cantos Arredondados 205">
              <a:extLst>
                <a:ext uri="{FF2B5EF4-FFF2-40B4-BE49-F238E27FC236}">
                  <a16:creationId xmlns:a16="http://schemas.microsoft.com/office/drawing/2014/main" id="{58873396-6BB4-531B-6FA1-0F4156536C85}"/>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207" name="Retângulo: Cantos Arredondados 206">
              <a:extLst>
                <a:ext uri="{FF2B5EF4-FFF2-40B4-BE49-F238E27FC236}">
                  <a16:creationId xmlns:a16="http://schemas.microsoft.com/office/drawing/2014/main" id="{7741A5BD-E1E2-FFB3-2E2E-66AA288DBF21}"/>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208" name="Retângulo: Cantos Arredondados 207">
              <a:extLst>
                <a:ext uri="{FF2B5EF4-FFF2-40B4-BE49-F238E27FC236}">
                  <a16:creationId xmlns:a16="http://schemas.microsoft.com/office/drawing/2014/main" id="{44EF8C06-244A-FBA4-BE38-62E182C404F4}"/>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186" name="Agrupar 185">
            <a:extLst>
              <a:ext uri="{FF2B5EF4-FFF2-40B4-BE49-F238E27FC236}">
                <a16:creationId xmlns:a16="http://schemas.microsoft.com/office/drawing/2014/main" id="{456CACA1-8577-866D-C07D-526F3EA8F654}"/>
              </a:ext>
            </a:extLst>
          </p:cNvPr>
          <p:cNvGrpSpPr/>
          <p:nvPr/>
        </p:nvGrpSpPr>
        <p:grpSpPr>
          <a:xfrm>
            <a:off x="2392353" y="5365062"/>
            <a:ext cx="1571314" cy="108000"/>
            <a:chOff x="885999" y="2544755"/>
            <a:chExt cx="1571314" cy="108000"/>
          </a:xfrm>
        </p:grpSpPr>
        <p:sp>
          <p:nvSpPr>
            <p:cNvPr id="196" name="Retângulo 195">
              <a:extLst>
                <a:ext uri="{FF2B5EF4-FFF2-40B4-BE49-F238E27FC236}">
                  <a16:creationId xmlns:a16="http://schemas.microsoft.com/office/drawing/2014/main" id="{900EF2AF-8F6D-A122-F192-98148EB48DD1}"/>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97" name="CaixaDeTexto 196">
              <a:extLst>
                <a:ext uri="{FF2B5EF4-FFF2-40B4-BE49-F238E27FC236}">
                  <a16:creationId xmlns:a16="http://schemas.microsoft.com/office/drawing/2014/main" id="{ECA1A5D5-9479-4260-3B59-5692ABD22880}"/>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198" name="Retângulo 197">
              <a:extLst>
                <a:ext uri="{FF2B5EF4-FFF2-40B4-BE49-F238E27FC236}">
                  <a16:creationId xmlns:a16="http://schemas.microsoft.com/office/drawing/2014/main" id="{BCE4FB36-D64B-7472-CCDC-7CBD9AE907F0}"/>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99" name="CaixaDeTexto 198">
              <a:extLst>
                <a:ext uri="{FF2B5EF4-FFF2-40B4-BE49-F238E27FC236}">
                  <a16:creationId xmlns:a16="http://schemas.microsoft.com/office/drawing/2014/main" id="{D88C4D38-0B4D-E924-CFAC-1A1C7C4703BA}"/>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200" name="Retângulo 199">
              <a:extLst>
                <a:ext uri="{FF2B5EF4-FFF2-40B4-BE49-F238E27FC236}">
                  <a16:creationId xmlns:a16="http://schemas.microsoft.com/office/drawing/2014/main" id="{2FFC23AA-0921-28F9-5A32-40A8FADA8EEF}"/>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201" name="CaixaDeTexto 200">
              <a:extLst>
                <a:ext uri="{FF2B5EF4-FFF2-40B4-BE49-F238E27FC236}">
                  <a16:creationId xmlns:a16="http://schemas.microsoft.com/office/drawing/2014/main" id="{BB89902B-3CBD-7F25-EB11-0C24B1CBD3F9}"/>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202" name="Retângulo 201">
              <a:extLst>
                <a:ext uri="{FF2B5EF4-FFF2-40B4-BE49-F238E27FC236}">
                  <a16:creationId xmlns:a16="http://schemas.microsoft.com/office/drawing/2014/main" id="{4900C46A-AB73-46C2-8DA5-6E3CC1498F37}"/>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203" name="CaixaDeTexto 202">
              <a:extLst>
                <a:ext uri="{FF2B5EF4-FFF2-40B4-BE49-F238E27FC236}">
                  <a16:creationId xmlns:a16="http://schemas.microsoft.com/office/drawing/2014/main" id="{B9DAD7F5-B038-8815-79B4-47F2541B15A1}"/>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204" name="Retângulo 203">
              <a:extLst>
                <a:ext uri="{FF2B5EF4-FFF2-40B4-BE49-F238E27FC236}">
                  <a16:creationId xmlns:a16="http://schemas.microsoft.com/office/drawing/2014/main" id="{1DC081BC-4C8F-1C91-5C74-E0BF43BD2DC9}"/>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205" name="CaixaDeTexto 204">
              <a:extLst>
                <a:ext uri="{FF2B5EF4-FFF2-40B4-BE49-F238E27FC236}">
                  <a16:creationId xmlns:a16="http://schemas.microsoft.com/office/drawing/2014/main" id="{308EE754-A8A6-7FD6-0FD5-15D8313505A0}"/>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187" name="Agrupar 186">
            <a:extLst>
              <a:ext uri="{FF2B5EF4-FFF2-40B4-BE49-F238E27FC236}">
                <a16:creationId xmlns:a16="http://schemas.microsoft.com/office/drawing/2014/main" id="{181F1C75-D1B8-07F3-7FEE-4921488CF8E9}"/>
              </a:ext>
            </a:extLst>
          </p:cNvPr>
          <p:cNvGrpSpPr/>
          <p:nvPr/>
        </p:nvGrpSpPr>
        <p:grpSpPr>
          <a:xfrm>
            <a:off x="2313914" y="4911511"/>
            <a:ext cx="1730548" cy="175957"/>
            <a:chOff x="807560" y="2045707"/>
            <a:chExt cx="1730548" cy="175957"/>
          </a:xfrm>
        </p:grpSpPr>
        <p:sp>
          <p:nvSpPr>
            <p:cNvPr id="192" name="Retângulo: Cantos Arredondados 191">
              <a:extLst>
                <a:ext uri="{FF2B5EF4-FFF2-40B4-BE49-F238E27FC236}">
                  <a16:creationId xmlns:a16="http://schemas.microsoft.com/office/drawing/2014/main" id="{CE154272-63A9-93E2-C813-54A70147AE70}"/>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193" name="Retângulo: Cantos Arredondados 192">
              <a:extLst>
                <a:ext uri="{FF2B5EF4-FFF2-40B4-BE49-F238E27FC236}">
                  <a16:creationId xmlns:a16="http://schemas.microsoft.com/office/drawing/2014/main" id="{5BFFCAE5-A38A-5361-D1F0-9D23696545A4}"/>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94" name="Retângulo: Cantos Arredondados 193">
              <a:extLst>
                <a:ext uri="{FF2B5EF4-FFF2-40B4-BE49-F238E27FC236}">
                  <a16:creationId xmlns:a16="http://schemas.microsoft.com/office/drawing/2014/main" id="{96CACBD5-CBB5-14B0-53C7-AC24DDC97CF8}"/>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195" name="Retângulo: Cantos Arredondados 194">
              <a:extLst>
                <a:ext uri="{FF2B5EF4-FFF2-40B4-BE49-F238E27FC236}">
                  <a16:creationId xmlns:a16="http://schemas.microsoft.com/office/drawing/2014/main" id="{72C18E06-22DF-905C-0ABF-F7F4654FE44B}"/>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188" name="Agrupar 187">
            <a:extLst>
              <a:ext uri="{FF2B5EF4-FFF2-40B4-BE49-F238E27FC236}">
                <a16:creationId xmlns:a16="http://schemas.microsoft.com/office/drawing/2014/main" id="{D332BDFE-6131-217B-18F8-6D692A5ADBF6}"/>
              </a:ext>
            </a:extLst>
          </p:cNvPr>
          <p:cNvGrpSpPr/>
          <p:nvPr/>
        </p:nvGrpSpPr>
        <p:grpSpPr>
          <a:xfrm>
            <a:off x="2308653" y="5138287"/>
            <a:ext cx="1735809" cy="175957"/>
            <a:chOff x="802299" y="2294613"/>
            <a:chExt cx="1735809" cy="175957"/>
          </a:xfrm>
        </p:grpSpPr>
        <p:sp>
          <p:nvSpPr>
            <p:cNvPr id="189" name="Retângulo: Cantos Arredondados 188">
              <a:extLst>
                <a:ext uri="{FF2B5EF4-FFF2-40B4-BE49-F238E27FC236}">
                  <a16:creationId xmlns:a16="http://schemas.microsoft.com/office/drawing/2014/main" id="{EEBF6BA6-8647-5324-495B-636F73F478AA}"/>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190" name="Retângulo: Cantos Arredondados 189">
              <a:extLst>
                <a:ext uri="{FF2B5EF4-FFF2-40B4-BE49-F238E27FC236}">
                  <a16:creationId xmlns:a16="http://schemas.microsoft.com/office/drawing/2014/main" id="{93DF39F5-8882-1E2E-3735-445DA9AACE98}"/>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191" name="Retângulo: Cantos Arredondados 190">
              <a:extLst>
                <a:ext uri="{FF2B5EF4-FFF2-40B4-BE49-F238E27FC236}">
                  <a16:creationId xmlns:a16="http://schemas.microsoft.com/office/drawing/2014/main" id="{25174180-52BF-F8CA-EC6B-19A786D7BFB0}"/>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289" name="Retângulo: Cantos Arredondados 288">
            <a:extLst>
              <a:ext uri="{FF2B5EF4-FFF2-40B4-BE49-F238E27FC236}">
                <a16:creationId xmlns:a16="http://schemas.microsoft.com/office/drawing/2014/main" id="{6801CBFD-A953-4989-C805-EF04FB1605A9}"/>
              </a:ext>
            </a:extLst>
          </p:cNvPr>
          <p:cNvSpPr/>
          <p:nvPr/>
        </p:nvSpPr>
        <p:spPr>
          <a:xfrm>
            <a:off x="4175828" y="2826922"/>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290" name="Agrupar 289">
            <a:extLst>
              <a:ext uri="{FF2B5EF4-FFF2-40B4-BE49-F238E27FC236}">
                <a16:creationId xmlns:a16="http://schemas.microsoft.com/office/drawing/2014/main" id="{3E854DFF-F998-0A74-96E6-49BB0C2627FE}"/>
              </a:ext>
            </a:extLst>
          </p:cNvPr>
          <p:cNvGrpSpPr/>
          <p:nvPr/>
        </p:nvGrpSpPr>
        <p:grpSpPr>
          <a:xfrm>
            <a:off x="4234148" y="2850907"/>
            <a:ext cx="1728192" cy="175957"/>
            <a:chOff x="807560" y="1796801"/>
            <a:chExt cx="1728192" cy="175957"/>
          </a:xfrm>
        </p:grpSpPr>
        <p:sp>
          <p:nvSpPr>
            <p:cNvPr id="311" name="Retângulo: Cantos Arredondados 310">
              <a:extLst>
                <a:ext uri="{FF2B5EF4-FFF2-40B4-BE49-F238E27FC236}">
                  <a16:creationId xmlns:a16="http://schemas.microsoft.com/office/drawing/2014/main" id="{D91B023A-62FE-AC86-0CA0-50B1BF94A353}"/>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12" name="Retângulo: Cantos Arredondados 311">
              <a:extLst>
                <a:ext uri="{FF2B5EF4-FFF2-40B4-BE49-F238E27FC236}">
                  <a16:creationId xmlns:a16="http://schemas.microsoft.com/office/drawing/2014/main" id="{E2453D0D-10C1-9438-2350-1F744A9F77C3}"/>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13" name="Retângulo: Cantos Arredondados 312">
              <a:extLst>
                <a:ext uri="{FF2B5EF4-FFF2-40B4-BE49-F238E27FC236}">
                  <a16:creationId xmlns:a16="http://schemas.microsoft.com/office/drawing/2014/main" id="{2135D396-508D-BE57-71F5-D72B48943947}"/>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291" name="Agrupar 290">
            <a:extLst>
              <a:ext uri="{FF2B5EF4-FFF2-40B4-BE49-F238E27FC236}">
                <a16:creationId xmlns:a16="http://schemas.microsoft.com/office/drawing/2014/main" id="{9CC342A6-583F-DF3A-4379-34CE8FCD199F}"/>
              </a:ext>
            </a:extLst>
          </p:cNvPr>
          <p:cNvGrpSpPr/>
          <p:nvPr/>
        </p:nvGrpSpPr>
        <p:grpSpPr>
          <a:xfrm>
            <a:off x="4312587" y="3531234"/>
            <a:ext cx="1571314" cy="108000"/>
            <a:chOff x="885999" y="2544755"/>
            <a:chExt cx="1571314" cy="108000"/>
          </a:xfrm>
        </p:grpSpPr>
        <p:sp>
          <p:nvSpPr>
            <p:cNvPr id="301" name="Retângulo 300">
              <a:extLst>
                <a:ext uri="{FF2B5EF4-FFF2-40B4-BE49-F238E27FC236}">
                  <a16:creationId xmlns:a16="http://schemas.microsoft.com/office/drawing/2014/main" id="{F4366CAA-F29D-15A9-849A-BE0908978E66}"/>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2" name="CaixaDeTexto 301">
              <a:extLst>
                <a:ext uri="{FF2B5EF4-FFF2-40B4-BE49-F238E27FC236}">
                  <a16:creationId xmlns:a16="http://schemas.microsoft.com/office/drawing/2014/main" id="{DED87555-C409-D390-5B5E-9DF4B0C3CF4F}"/>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03" name="Retângulo 302">
              <a:extLst>
                <a:ext uri="{FF2B5EF4-FFF2-40B4-BE49-F238E27FC236}">
                  <a16:creationId xmlns:a16="http://schemas.microsoft.com/office/drawing/2014/main" id="{2D288444-A7A1-AFA8-8CC6-E8E133951034}"/>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4" name="CaixaDeTexto 303">
              <a:extLst>
                <a:ext uri="{FF2B5EF4-FFF2-40B4-BE49-F238E27FC236}">
                  <a16:creationId xmlns:a16="http://schemas.microsoft.com/office/drawing/2014/main" id="{10948978-1479-B952-1BD0-17EEA70A1C73}"/>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05" name="Retângulo 304">
              <a:extLst>
                <a:ext uri="{FF2B5EF4-FFF2-40B4-BE49-F238E27FC236}">
                  <a16:creationId xmlns:a16="http://schemas.microsoft.com/office/drawing/2014/main" id="{0ECF93A2-A4F1-AA99-5B90-D682437D0C40}"/>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06" name="CaixaDeTexto 305">
              <a:extLst>
                <a:ext uri="{FF2B5EF4-FFF2-40B4-BE49-F238E27FC236}">
                  <a16:creationId xmlns:a16="http://schemas.microsoft.com/office/drawing/2014/main" id="{993729DB-CA39-3ED7-E2D0-C4BA0C97FF25}"/>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07" name="Retângulo 306">
              <a:extLst>
                <a:ext uri="{FF2B5EF4-FFF2-40B4-BE49-F238E27FC236}">
                  <a16:creationId xmlns:a16="http://schemas.microsoft.com/office/drawing/2014/main" id="{5C93FB6F-FFA5-696E-5415-25866F5F74DB}"/>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08" name="CaixaDeTexto 307">
              <a:extLst>
                <a:ext uri="{FF2B5EF4-FFF2-40B4-BE49-F238E27FC236}">
                  <a16:creationId xmlns:a16="http://schemas.microsoft.com/office/drawing/2014/main" id="{AC21FE69-B5A2-49C4-6338-DB46C23B3545}"/>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09" name="Retângulo 308">
              <a:extLst>
                <a:ext uri="{FF2B5EF4-FFF2-40B4-BE49-F238E27FC236}">
                  <a16:creationId xmlns:a16="http://schemas.microsoft.com/office/drawing/2014/main" id="{37B8AECC-3F17-1309-782D-BB7AC32C2D97}"/>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10" name="CaixaDeTexto 309">
              <a:extLst>
                <a:ext uri="{FF2B5EF4-FFF2-40B4-BE49-F238E27FC236}">
                  <a16:creationId xmlns:a16="http://schemas.microsoft.com/office/drawing/2014/main" id="{F5691D85-119D-FCD4-7A18-69B1B74C4E75}"/>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292" name="Agrupar 291">
            <a:extLst>
              <a:ext uri="{FF2B5EF4-FFF2-40B4-BE49-F238E27FC236}">
                <a16:creationId xmlns:a16="http://schemas.microsoft.com/office/drawing/2014/main" id="{4C382C8B-B32D-EBE8-DA6F-DB625BC09274}"/>
              </a:ext>
            </a:extLst>
          </p:cNvPr>
          <p:cNvGrpSpPr/>
          <p:nvPr/>
        </p:nvGrpSpPr>
        <p:grpSpPr>
          <a:xfrm>
            <a:off x="4234148" y="3077683"/>
            <a:ext cx="1730548" cy="175957"/>
            <a:chOff x="807560" y="2045707"/>
            <a:chExt cx="1730548" cy="175957"/>
          </a:xfrm>
        </p:grpSpPr>
        <p:sp>
          <p:nvSpPr>
            <p:cNvPr id="297" name="Retângulo: Cantos Arredondados 296">
              <a:extLst>
                <a:ext uri="{FF2B5EF4-FFF2-40B4-BE49-F238E27FC236}">
                  <a16:creationId xmlns:a16="http://schemas.microsoft.com/office/drawing/2014/main" id="{E6B75B1E-EF38-50B7-A131-F839DE5FD5A1}"/>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298" name="Retângulo: Cantos Arredondados 297">
              <a:extLst>
                <a:ext uri="{FF2B5EF4-FFF2-40B4-BE49-F238E27FC236}">
                  <a16:creationId xmlns:a16="http://schemas.microsoft.com/office/drawing/2014/main" id="{21B13A1A-8C15-4E89-1E76-5763AFAAAAA4}"/>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99" name="Retângulo: Cantos Arredondados 298">
              <a:extLst>
                <a:ext uri="{FF2B5EF4-FFF2-40B4-BE49-F238E27FC236}">
                  <a16:creationId xmlns:a16="http://schemas.microsoft.com/office/drawing/2014/main" id="{37CA4F55-0606-7C65-9718-0AE7E7188767}"/>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00" name="Retângulo: Cantos Arredondados 299">
              <a:extLst>
                <a:ext uri="{FF2B5EF4-FFF2-40B4-BE49-F238E27FC236}">
                  <a16:creationId xmlns:a16="http://schemas.microsoft.com/office/drawing/2014/main" id="{126DA002-EB72-3CB7-EE67-8F91773041E5}"/>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293" name="Agrupar 292">
            <a:extLst>
              <a:ext uri="{FF2B5EF4-FFF2-40B4-BE49-F238E27FC236}">
                <a16:creationId xmlns:a16="http://schemas.microsoft.com/office/drawing/2014/main" id="{6FC5105F-E846-EB0F-A050-C752EDEC0862}"/>
              </a:ext>
            </a:extLst>
          </p:cNvPr>
          <p:cNvGrpSpPr/>
          <p:nvPr/>
        </p:nvGrpSpPr>
        <p:grpSpPr>
          <a:xfrm>
            <a:off x="4228887" y="3304459"/>
            <a:ext cx="1735809" cy="175957"/>
            <a:chOff x="802299" y="2294613"/>
            <a:chExt cx="1735809" cy="175957"/>
          </a:xfrm>
        </p:grpSpPr>
        <p:sp>
          <p:nvSpPr>
            <p:cNvPr id="294" name="Retângulo: Cantos Arredondados 293">
              <a:extLst>
                <a:ext uri="{FF2B5EF4-FFF2-40B4-BE49-F238E27FC236}">
                  <a16:creationId xmlns:a16="http://schemas.microsoft.com/office/drawing/2014/main" id="{578CC907-5502-7EC2-9065-F498CC2AB9CF}"/>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295" name="Retângulo: Cantos Arredondados 294">
              <a:extLst>
                <a:ext uri="{FF2B5EF4-FFF2-40B4-BE49-F238E27FC236}">
                  <a16:creationId xmlns:a16="http://schemas.microsoft.com/office/drawing/2014/main" id="{E36DDA2A-F5B1-8D7A-B9B8-507C6F8BF87F}"/>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296" name="Retângulo: Cantos Arredondados 295">
              <a:extLst>
                <a:ext uri="{FF2B5EF4-FFF2-40B4-BE49-F238E27FC236}">
                  <a16:creationId xmlns:a16="http://schemas.microsoft.com/office/drawing/2014/main" id="{FFEC5BB6-91DE-51EC-FA6D-5C378AFEC53D}"/>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15" name="Retângulo: Cantos Arredondados 314">
            <a:extLst>
              <a:ext uri="{FF2B5EF4-FFF2-40B4-BE49-F238E27FC236}">
                <a16:creationId xmlns:a16="http://schemas.microsoft.com/office/drawing/2014/main" id="{2F43880A-81DE-3CDD-2C85-87C8FB15830E}"/>
              </a:ext>
            </a:extLst>
          </p:cNvPr>
          <p:cNvSpPr/>
          <p:nvPr/>
        </p:nvSpPr>
        <p:spPr>
          <a:xfrm>
            <a:off x="4175828"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16" name="Agrupar 315">
            <a:extLst>
              <a:ext uri="{FF2B5EF4-FFF2-40B4-BE49-F238E27FC236}">
                <a16:creationId xmlns:a16="http://schemas.microsoft.com/office/drawing/2014/main" id="{13C43CED-6D31-78EC-1442-46F25C2C19E9}"/>
              </a:ext>
            </a:extLst>
          </p:cNvPr>
          <p:cNvGrpSpPr/>
          <p:nvPr/>
        </p:nvGrpSpPr>
        <p:grpSpPr>
          <a:xfrm>
            <a:off x="4234148" y="3767821"/>
            <a:ext cx="1728192" cy="175957"/>
            <a:chOff x="807560" y="1796801"/>
            <a:chExt cx="1728192" cy="175957"/>
          </a:xfrm>
        </p:grpSpPr>
        <p:sp>
          <p:nvSpPr>
            <p:cNvPr id="337" name="Retângulo: Cantos Arredondados 336">
              <a:extLst>
                <a:ext uri="{FF2B5EF4-FFF2-40B4-BE49-F238E27FC236}">
                  <a16:creationId xmlns:a16="http://schemas.microsoft.com/office/drawing/2014/main" id="{F5796AFA-195D-B0B6-E232-F2D0EB9CF121}"/>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38" name="Retângulo: Cantos Arredondados 337">
              <a:extLst>
                <a:ext uri="{FF2B5EF4-FFF2-40B4-BE49-F238E27FC236}">
                  <a16:creationId xmlns:a16="http://schemas.microsoft.com/office/drawing/2014/main" id="{E942A964-2668-DBA6-C556-257C62D1FDD5}"/>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39" name="Retângulo: Cantos Arredondados 338">
              <a:extLst>
                <a:ext uri="{FF2B5EF4-FFF2-40B4-BE49-F238E27FC236}">
                  <a16:creationId xmlns:a16="http://schemas.microsoft.com/office/drawing/2014/main" id="{AC275FE5-A247-DD7C-1C1E-36C4E02D77CC}"/>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17" name="Agrupar 316">
            <a:extLst>
              <a:ext uri="{FF2B5EF4-FFF2-40B4-BE49-F238E27FC236}">
                <a16:creationId xmlns:a16="http://schemas.microsoft.com/office/drawing/2014/main" id="{AE0E4BC6-0F54-365A-A2DF-767F2FA0F329}"/>
              </a:ext>
            </a:extLst>
          </p:cNvPr>
          <p:cNvGrpSpPr/>
          <p:nvPr/>
        </p:nvGrpSpPr>
        <p:grpSpPr>
          <a:xfrm>
            <a:off x="4312587" y="4448148"/>
            <a:ext cx="1571314" cy="108000"/>
            <a:chOff x="885999" y="2544755"/>
            <a:chExt cx="1571314" cy="108000"/>
          </a:xfrm>
        </p:grpSpPr>
        <p:sp>
          <p:nvSpPr>
            <p:cNvPr id="327" name="Retângulo 326">
              <a:extLst>
                <a:ext uri="{FF2B5EF4-FFF2-40B4-BE49-F238E27FC236}">
                  <a16:creationId xmlns:a16="http://schemas.microsoft.com/office/drawing/2014/main" id="{28E4507E-BDB2-3B27-ACE5-DAAB0BA3373D}"/>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28" name="CaixaDeTexto 327">
              <a:extLst>
                <a:ext uri="{FF2B5EF4-FFF2-40B4-BE49-F238E27FC236}">
                  <a16:creationId xmlns:a16="http://schemas.microsoft.com/office/drawing/2014/main" id="{40F3474A-1B45-534B-485B-2C917CC72CCA}"/>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29" name="Retângulo 328">
              <a:extLst>
                <a:ext uri="{FF2B5EF4-FFF2-40B4-BE49-F238E27FC236}">
                  <a16:creationId xmlns:a16="http://schemas.microsoft.com/office/drawing/2014/main" id="{D50298AD-6892-4DD7-FEBB-B07CF95E2B9E}"/>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30" name="CaixaDeTexto 329">
              <a:extLst>
                <a:ext uri="{FF2B5EF4-FFF2-40B4-BE49-F238E27FC236}">
                  <a16:creationId xmlns:a16="http://schemas.microsoft.com/office/drawing/2014/main" id="{3A6BD6B2-DE14-C410-A13D-DBE5285B3DE8}"/>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31" name="Retângulo 330">
              <a:extLst>
                <a:ext uri="{FF2B5EF4-FFF2-40B4-BE49-F238E27FC236}">
                  <a16:creationId xmlns:a16="http://schemas.microsoft.com/office/drawing/2014/main" id="{CA3653CC-5A3E-CB56-3475-56367D411372}"/>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32" name="CaixaDeTexto 331">
              <a:extLst>
                <a:ext uri="{FF2B5EF4-FFF2-40B4-BE49-F238E27FC236}">
                  <a16:creationId xmlns:a16="http://schemas.microsoft.com/office/drawing/2014/main" id="{B7847E54-3833-ED95-0A70-CB80AA4DD85D}"/>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33" name="Retângulo 332">
              <a:extLst>
                <a:ext uri="{FF2B5EF4-FFF2-40B4-BE49-F238E27FC236}">
                  <a16:creationId xmlns:a16="http://schemas.microsoft.com/office/drawing/2014/main" id="{BD9709F5-90C0-7D50-BF63-C2B9CE32FEE3}"/>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34" name="CaixaDeTexto 333">
              <a:extLst>
                <a:ext uri="{FF2B5EF4-FFF2-40B4-BE49-F238E27FC236}">
                  <a16:creationId xmlns:a16="http://schemas.microsoft.com/office/drawing/2014/main" id="{3DAA4836-3522-99D8-E3EB-C3A2EC8329F2}"/>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35" name="Retângulo 334">
              <a:extLst>
                <a:ext uri="{FF2B5EF4-FFF2-40B4-BE49-F238E27FC236}">
                  <a16:creationId xmlns:a16="http://schemas.microsoft.com/office/drawing/2014/main" id="{66231D1C-2610-276C-EC8C-4FF960D4DEA2}"/>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36" name="CaixaDeTexto 335">
              <a:extLst>
                <a:ext uri="{FF2B5EF4-FFF2-40B4-BE49-F238E27FC236}">
                  <a16:creationId xmlns:a16="http://schemas.microsoft.com/office/drawing/2014/main" id="{2807A8FE-2C75-DEB1-9AAE-B8E4D7C1843E}"/>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18" name="Agrupar 317">
            <a:extLst>
              <a:ext uri="{FF2B5EF4-FFF2-40B4-BE49-F238E27FC236}">
                <a16:creationId xmlns:a16="http://schemas.microsoft.com/office/drawing/2014/main" id="{BA32775A-A082-2A0B-B9CE-1A1D80991330}"/>
              </a:ext>
            </a:extLst>
          </p:cNvPr>
          <p:cNvGrpSpPr/>
          <p:nvPr/>
        </p:nvGrpSpPr>
        <p:grpSpPr>
          <a:xfrm>
            <a:off x="4234148" y="3994597"/>
            <a:ext cx="1730548" cy="175957"/>
            <a:chOff x="807560" y="2045707"/>
            <a:chExt cx="1730548" cy="175957"/>
          </a:xfrm>
        </p:grpSpPr>
        <p:sp>
          <p:nvSpPr>
            <p:cNvPr id="323" name="Retângulo: Cantos Arredondados 322">
              <a:extLst>
                <a:ext uri="{FF2B5EF4-FFF2-40B4-BE49-F238E27FC236}">
                  <a16:creationId xmlns:a16="http://schemas.microsoft.com/office/drawing/2014/main" id="{57774121-086A-213A-586A-550EF45FAFCF}"/>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324" name="Retângulo: Cantos Arredondados 323">
              <a:extLst>
                <a:ext uri="{FF2B5EF4-FFF2-40B4-BE49-F238E27FC236}">
                  <a16:creationId xmlns:a16="http://schemas.microsoft.com/office/drawing/2014/main" id="{76F35D8A-ADEB-320A-63E6-6947BBFA0323}"/>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25" name="Retângulo: Cantos Arredondados 324">
              <a:extLst>
                <a:ext uri="{FF2B5EF4-FFF2-40B4-BE49-F238E27FC236}">
                  <a16:creationId xmlns:a16="http://schemas.microsoft.com/office/drawing/2014/main" id="{A27899AD-1168-B813-8EAC-45D63F0BDDD7}"/>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26" name="Retângulo: Cantos Arredondados 325">
              <a:extLst>
                <a:ext uri="{FF2B5EF4-FFF2-40B4-BE49-F238E27FC236}">
                  <a16:creationId xmlns:a16="http://schemas.microsoft.com/office/drawing/2014/main" id="{2B7BB081-E525-02C5-56F7-92F6AE51D091}"/>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19" name="Agrupar 318">
            <a:extLst>
              <a:ext uri="{FF2B5EF4-FFF2-40B4-BE49-F238E27FC236}">
                <a16:creationId xmlns:a16="http://schemas.microsoft.com/office/drawing/2014/main" id="{17A5D0C1-8A66-7BC3-E463-C0A431C089F9}"/>
              </a:ext>
            </a:extLst>
          </p:cNvPr>
          <p:cNvGrpSpPr/>
          <p:nvPr/>
        </p:nvGrpSpPr>
        <p:grpSpPr>
          <a:xfrm>
            <a:off x="4228887" y="4221373"/>
            <a:ext cx="1735809" cy="175957"/>
            <a:chOff x="802299" y="2294613"/>
            <a:chExt cx="1735809" cy="175957"/>
          </a:xfrm>
        </p:grpSpPr>
        <p:sp>
          <p:nvSpPr>
            <p:cNvPr id="320" name="Retângulo: Cantos Arredondados 319">
              <a:extLst>
                <a:ext uri="{FF2B5EF4-FFF2-40B4-BE49-F238E27FC236}">
                  <a16:creationId xmlns:a16="http://schemas.microsoft.com/office/drawing/2014/main" id="{FB32D206-1049-39CE-B23F-D31BF2C99A94}"/>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21" name="Retângulo: Cantos Arredondados 320">
              <a:extLst>
                <a:ext uri="{FF2B5EF4-FFF2-40B4-BE49-F238E27FC236}">
                  <a16:creationId xmlns:a16="http://schemas.microsoft.com/office/drawing/2014/main" id="{872F2A01-D66F-5534-78B3-4C6978DB2CC9}"/>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22" name="Retângulo: Cantos Arredondados 321">
              <a:extLst>
                <a:ext uri="{FF2B5EF4-FFF2-40B4-BE49-F238E27FC236}">
                  <a16:creationId xmlns:a16="http://schemas.microsoft.com/office/drawing/2014/main" id="{B1206CEE-0E72-11C0-1F76-7D6757118C07}"/>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67" name="Retângulo: Cantos Arredondados 366">
            <a:extLst>
              <a:ext uri="{FF2B5EF4-FFF2-40B4-BE49-F238E27FC236}">
                <a16:creationId xmlns:a16="http://schemas.microsoft.com/office/drawing/2014/main" id="{4AE0A879-01B6-397A-70D2-5F7B5E0B7B8A}"/>
              </a:ext>
            </a:extLst>
          </p:cNvPr>
          <p:cNvSpPr/>
          <p:nvPr/>
        </p:nvSpPr>
        <p:spPr>
          <a:xfrm>
            <a:off x="6113863" y="2826922"/>
            <a:ext cx="1844833" cy="864096"/>
          </a:xfrm>
          <a:prstGeom prst="roundRect">
            <a:avLst>
              <a:gd name="adj" fmla="val 5694"/>
            </a:avLst>
          </a:prstGeom>
          <a:solidFill>
            <a:srgbClr val="FFFF99"/>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68" name="Agrupar 367">
            <a:extLst>
              <a:ext uri="{FF2B5EF4-FFF2-40B4-BE49-F238E27FC236}">
                <a16:creationId xmlns:a16="http://schemas.microsoft.com/office/drawing/2014/main" id="{AE9595E7-335D-EFA6-9B9E-7F23B5970674}"/>
              </a:ext>
            </a:extLst>
          </p:cNvPr>
          <p:cNvGrpSpPr/>
          <p:nvPr/>
        </p:nvGrpSpPr>
        <p:grpSpPr>
          <a:xfrm>
            <a:off x="6154320" y="2850907"/>
            <a:ext cx="1728192" cy="175957"/>
            <a:chOff x="807560" y="1796801"/>
            <a:chExt cx="1728192" cy="175957"/>
          </a:xfrm>
        </p:grpSpPr>
        <p:sp>
          <p:nvSpPr>
            <p:cNvPr id="389" name="Retângulo: Cantos Arredondados 388">
              <a:extLst>
                <a:ext uri="{FF2B5EF4-FFF2-40B4-BE49-F238E27FC236}">
                  <a16:creationId xmlns:a16="http://schemas.microsoft.com/office/drawing/2014/main" id="{968C5B0D-9ECA-D2D5-F30E-F60DE531A5B9}"/>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390" name="Retângulo: Cantos Arredondados 389">
              <a:extLst>
                <a:ext uri="{FF2B5EF4-FFF2-40B4-BE49-F238E27FC236}">
                  <a16:creationId xmlns:a16="http://schemas.microsoft.com/office/drawing/2014/main" id="{4D12EA11-327A-16DE-9FD7-9AE269FA87B1}"/>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391" name="Retângulo: Cantos Arredondados 390">
              <a:extLst>
                <a:ext uri="{FF2B5EF4-FFF2-40B4-BE49-F238E27FC236}">
                  <a16:creationId xmlns:a16="http://schemas.microsoft.com/office/drawing/2014/main" id="{15FA981F-1A21-7EDB-5A02-F4D010581977}"/>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69" name="Agrupar 368">
            <a:extLst>
              <a:ext uri="{FF2B5EF4-FFF2-40B4-BE49-F238E27FC236}">
                <a16:creationId xmlns:a16="http://schemas.microsoft.com/office/drawing/2014/main" id="{854401B8-C2AF-5163-9556-E261DA690662}"/>
              </a:ext>
            </a:extLst>
          </p:cNvPr>
          <p:cNvGrpSpPr/>
          <p:nvPr/>
        </p:nvGrpSpPr>
        <p:grpSpPr>
          <a:xfrm>
            <a:off x="6232759" y="3531234"/>
            <a:ext cx="1571314" cy="108000"/>
            <a:chOff x="885999" y="2544755"/>
            <a:chExt cx="1571314" cy="108000"/>
          </a:xfrm>
        </p:grpSpPr>
        <p:sp>
          <p:nvSpPr>
            <p:cNvPr id="379" name="Retângulo 378">
              <a:extLst>
                <a:ext uri="{FF2B5EF4-FFF2-40B4-BE49-F238E27FC236}">
                  <a16:creationId xmlns:a16="http://schemas.microsoft.com/office/drawing/2014/main" id="{1DA063C3-0748-5E5B-9A2A-4FBB5D0AC9A7}"/>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0" name="CaixaDeTexto 379">
              <a:extLst>
                <a:ext uri="{FF2B5EF4-FFF2-40B4-BE49-F238E27FC236}">
                  <a16:creationId xmlns:a16="http://schemas.microsoft.com/office/drawing/2014/main" id="{419E15FD-CACE-C500-87D1-D73BBEA51370}"/>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381" name="Retângulo 380">
              <a:extLst>
                <a:ext uri="{FF2B5EF4-FFF2-40B4-BE49-F238E27FC236}">
                  <a16:creationId xmlns:a16="http://schemas.microsoft.com/office/drawing/2014/main" id="{256748D8-E64D-9333-751A-45B525262C5A}"/>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2" name="CaixaDeTexto 381">
              <a:extLst>
                <a:ext uri="{FF2B5EF4-FFF2-40B4-BE49-F238E27FC236}">
                  <a16:creationId xmlns:a16="http://schemas.microsoft.com/office/drawing/2014/main" id="{5C6B688C-919A-73BD-F45F-03BB64FD575F}"/>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383" name="Retângulo 382">
              <a:extLst>
                <a:ext uri="{FF2B5EF4-FFF2-40B4-BE49-F238E27FC236}">
                  <a16:creationId xmlns:a16="http://schemas.microsoft.com/office/drawing/2014/main" id="{FF1826F7-4817-FFDC-5A4A-7784ADAA05E3}"/>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84" name="CaixaDeTexto 383">
              <a:extLst>
                <a:ext uri="{FF2B5EF4-FFF2-40B4-BE49-F238E27FC236}">
                  <a16:creationId xmlns:a16="http://schemas.microsoft.com/office/drawing/2014/main" id="{7A492D7F-C84F-6206-F31C-134CC19B8628}"/>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385" name="Retângulo 384">
              <a:extLst>
                <a:ext uri="{FF2B5EF4-FFF2-40B4-BE49-F238E27FC236}">
                  <a16:creationId xmlns:a16="http://schemas.microsoft.com/office/drawing/2014/main" id="{FAA608A4-63FE-A6E6-81CC-E15531B702A4}"/>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386" name="CaixaDeTexto 385">
              <a:extLst>
                <a:ext uri="{FF2B5EF4-FFF2-40B4-BE49-F238E27FC236}">
                  <a16:creationId xmlns:a16="http://schemas.microsoft.com/office/drawing/2014/main" id="{0E02B19A-A023-94B2-630E-81C7FC9833B5}"/>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387" name="Retângulo 386">
              <a:extLst>
                <a:ext uri="{FF2B5EF4-FFF2-40B4-BE49-F238E27FC236}">
                  <a16:creationId xmlns:a16="http://schemas.microsoft.com/office/drawing/2014/main" id="{BF9ED1EA-93B7-51DB-830A-121E6266BC25}"/>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388" name="CaixaDeTexto 387">
              <a:extLst>
                <a:ext uri="{FF2B5EF4-FFF2-40B4-BE49-F238E27FC236}">
                  <a16:creationId xmlns:a16="http://schemas.microsoft.com/office/drawing/2014/main" id="{3A5576AE-CB78-AC05-1447-A9952B2ED33B}"/>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70" name="Agrupar 369">
            <a:extLst>
              <a:ext uri="{FF2B5EF4-FFF2-40B4-BE49-F238E27FC236}">
                <a16:creationId xmlns:a16="http://schemas.microsoft.com/office/drawing/2014/main" id="{478FBC85-F28A-956D-0F1B-D4E9E95D0B79}"/>
              </a:ext>
            </a:extLst>
          </p:cNvPr>
          <p:cNvGrpSpPr/>
          <p:nvPr/>
        </p:nvGrpSpPr>
        <p:grpSpPr>
          <a:xfrm>
            <a:off x="6154320" y="3077683"/>
            <a:ext cx="1730548" cy="175957"/>
            <a:chOff x="807560" y="2045707"/>
            <a:chExt cx="1730548" cy="175957"/>
          </a:xfrm>
        </p:grpSpPr>
        <p:sp>
          <p:nvSpPr>
            <p:cNvPr id="375" name="Retângulo: Cantos Arredondados 374">
              <a:extLst>
                <a:ext uri="{FF2B5EF4-FFF2-40B4-BE49-F238E27FC236}">
                  <a16:creationId xmlns:a16="http://schemas.microsoft.com/office/drawing/2014/main" id="{D691CF6D-0C72-6ECA-AFB3-B1891299250C}"/>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376" name="Retângulo: Cantos Arredondados 375">
              <a:extLst>
                <a:ext uri="{FF2B5EF4-FFF2-40B4-BE49-F238E27FC236}">
                  <a16:creationId xmlns:a16="http://schemas.microsoft.com/office/drawing/2014/main" id="{2173FEC8-B820-CBDF-C85F-30D76BAB2CE4}"/>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377" name="Retângulo: Cantos Arredondados 376">
              <a:extLst>
                <a:ext uri="{FF2B5EF4-FFF2-40B4-BE49-F238E27FC236}">
                  <a16:creationId xmlns:a16="http://schemas.microsoft.com/office/drawing/2014/main" id="{F7B9ED4B-EAB2-4CE8-F2F1-32BCEDF18A26}"/>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378" name="Retângulo: Cantos Arredondados 377">
              <a:extLst>
                <a:ext uri="{FF2B5EF4-FFF2-40B4-BE49-F238E27FC236}">
                  <a16:creationId xmlns:a16="http://schemas.microsoft.com/office/drawing/2014/main" id="{3D9D6B31-161C-CC65-A47B-6E2DA7CD1FD1}"/>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71" name="Agrupar 370">
            <a:extLst>
              <a:ext uri="{FF2B5EF4-FFF2-40B4-BE49-F238E27FC236}">
                <a16:creationId xmlns:a16="http://schemas.microsoft.com/office/drawing/2014/main" id="{63E11755-5272-0F14-2342-8DEF82AA4844}"/>
              </a:ext>
            </a:extLst>
          </p:cNvPr>
          <p:cNvGrpSpPr/>
          <p:nvPr/>
        </p:nvGrpSpPr>
        <p:grpSpPr>
          <a:xfrm>
            <a:off x="6149059" y="3304459"/>
            <a:ext cx="1735809" cy="175957"/>
            <a:chOff x="802299" y="2294613"/>
            <a:chExt cx="1735809" cy="175957"/>
          </a:xfrm>
        </p:grpSpPr>
        <p:sp>
          <p:nvSpPr>
            <p:cNvPr id="372" name="Retângulo: Cantos Arredondados 371">
              <a:extLst>
                <a:ext uri="{FF2B5EF4-FFF2-40B4-BE49-F238E27FC236}">
                  <a16:creationId xmlns:a16="http://schemas.microsoft.com/office/drawing/2014/main" id="{2ED5173F-548B-C847-3938-8C07A665B1E2}"/>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73" name="Retângulo: Cantos Arredondados 372">
              <a:extLst>
                <a:ext uri="{FF2B5EF4-FFF2-40B4-BE49-F238E27FC236}">
                  <a16:creationId xmlns:a16="http://schemas.microsoft.com/office/drawing/2014/main" id="{B2F0CE1C-A79C-C598-21FF-C9E7058EFB46}"/>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74" name="Retângulo: Cantos Arredondados 373">
              <a:extLst>
                <a:ext uri="{FF2B5EF4-FFF2-40B4-BE49-F238E27FC236}">
                  <a16:creationId xmlns:a16="http://schemas.microsoft.com/office/drawing/2014/main" id="{A9F6CD65-8882-9781-9855-E4FA869BA4D6}"/>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93" name="Retângulo: Cantos Arredondados 392">
            <a:extLst>
              <a:ext uri="{FF2B5EF4-FFF2-40B4-BE49-F238E27FC236}">
                <a16:creationId xmlns:a16="http://schemas.microsoft.com/office/drawing/2014/main" id="{0203F6C4-324D-5AFD-96D1-550E5ABA965B}"/>
              </a:ext>
            </a:extLst>
          </p:cNvPr>
          <p:cNvSpPr/>
          <p:nvPr/>
        </p:nvSpPr>
        <p:spPr>
          <a:xfrm>
            <a:off x="6096000" y="3743836"/>
            <a:ext cx="1844833" cy="864096"/>
          </a:xfrm>
          <a:prstGeom prst="roundRect">
            <a:avLst>
              <a:gd name="adj" fmla="val 5694"/>
            </a:avLst>
          </a:prstGeom>
          <a:solidFill>
            <a:schemeClr val="tx2">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394" name="Agrupar 393">
            <a:extLst>
              <a:ext uri="{FF2B5EF4-FFF2-40B4-BE49-F238E27FC236}">
                <a16:creationId xmlns:a16="http://schemas.microsoft.com/office/drawing/2014/main" id="{822BAF10-1A14-3568-B99F-6B765FCCE361}"/>
              </a:ext>
            </a:extLst>
          </p:cNvPr>
          <p:cNvGrpSpPr/>
          <p:nvPr/>
        </p:nvGrpSpPr>
        <p:grpSpPr>
          <a:xfrm>
            <a:off x="6154320" y="3767821"/>
            <a:ext cx="1728192" cy="175957"/>
            <a:chOff x="807560" y="1796801"/>
            <a:chExt cx="1728192" cy="175957"/>
          </a:xfrm>
        </p:grpSpPr>
        <p:sp>
          <p:nvSpPr>
            <p:cNvPr id="415" name="Retângulo: Cantos Arredondados 414">
              <a:extLst>
                <a:ext uri="{FF2B5EF4-FFF2-40B4-BE49-F238E27FC236}">
                  <a16:creationId xmlns:a16="http://schemas.microsoft.com/office/drawing/2014/main" id="{8EA840FE-DA85-89BD-C151-3B7A8CCE2ADF}"/>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16" name="Retângulo: Cantos Arredondados 415">
              <a:extLst>
                <a:ext uri="{FF2B5EF4-FFF2-40B4-BE49-F238E27FC236}">
                  <a16:creationId xmlns:a16="http://schemas.microsoft.com/office/drawing/2014/main" id="{47BF5E84-C51F-4C4C-0AB3-15B71F93E3F1}"/>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17" name="Retângulo: Cantos Arredondados 416">
              <a:extLst>
                <a:ext uri="{FF2B5EF4-FFF2-40B4-BE49-F238E27FC236}">
                  <a16:creationId xmlns:a16="http://schemas.microsoft.com/office/drawing/2014/main" id="{DE69E1F1-4B07-3F03-9709-A248731E6CC2}"/>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395" name="Agrupar 394">
            <a:extLst>
              <a:ext uri="{FF2B5EF4-FFF2-40B4-BE49-F238E27FC236}">
                <a16:creationId xmlns:a16="http://schemas.microsoft.com/office/drawing/2014/main" id="{57A04239-69C6-632E-0060-CCD3146635BB}"/>
              </a:ext>
            </a:extLst>
          </p:cNvPr>
          <p:cNvGrpSpPr/>
          <p:nvPr/>
        </p:nvGrpSpPr>
        <p:grpSpPr>
          <a:xfrm>
            <a:off x="6232759" y="4448148"/>
            <a:ext cx="1571314" cy="108000"/>
            <a:chOff x="885999" y="2544755"/>
            <a:chExt cx="1571314" cy="108000"/>
          </a:xfrm>
        </p:grpSpPr>
        <p:sp>
          <p:nvSpPr>
            <p:cNvPr id="405" name="Retângulo 404">
              <a:extLst>
                <a:ext uri="{FF2B5EF4-FFF2-40B4-BE49-F238E27FC236}">
                  <a16:creationId xmlns:a16="http://schemas.microsoft.com/office/drawing/2014/main" id="{37F9A5AE-109E-7D90-4FFE-1B6A3E7E6E4B}"/>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06" name="CaixaDeTexto 405">
              <a:extLst>
                <a:ext uri="{FF2B5EF4-FFF2-40B4-BE49-F238E27FC236}">
                  <a16:creationId xmlns:a16="http://schemas.microsoft.com/office/drawing/2014/main" id="{9384B1F4-4B1E-3751-F848-ACD6DB5AD8FC}"/>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07" name="Retângulo 406">
              <a:extLst>
                <a:ext uri="{FF2B5EF4-FFF2-40B4-BE49-F238E27FC236}">
                  <a16:creationId xmlns:a16="http://schemas.microsoft.com/office/drawing/2014/main" id="{257ED520-4762-B90B-9C92-3AE1DFC30D42}"/>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08" name="CaixaDeTexto 407">
              <a:extLst>
                <a:ext uri="{FF2B5EF4-FFF2-40B4-BE49-F238E27FC236}">
                  <a16:creationId xmlns:a16="http://schemas.microsoft.com/office/drawing/2014/main" id="{AC53409A-FEA2-AA6A-6AE4-4FC6988CC798}"/>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09" name="Retângulo 408">
              <a:extLst>
                <a:ext uri="{FF2B5EF4-FFF2-40B4-BE49-F238E27FC236}">
                  <a16:creationId xmlns:a16="http://schemas.microsoft.com/office/drawing/2014/main" id="{7E16C597-5371-C7C7-0737-68BC96B2F966}"/>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10" name="CaixaDeTexto 409">
              <a:extLst>
                <a:ext uri="{FF2B5EF4-FFF2-40B4-BE49-F238E27FC236}">
                  <a16:creationId xmlns:a16="http://schemas.microsoft.com/office/drawing/2014/main" id="{BB94C9BB-10EB-1C23-0C26-F17DEAE3863D}"/>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11" name="Retângulo 410">
              <a:extLst>
                <a:ext uri="{FF2B5EF4-FFF2-40B4-BE49-F238E27FC236}">
                  <a16:creationId xmlns:a16="http://schemas.microsoft.com/office/drawing/2014/main" id="{8B819A26-5D2E-BBF5-C1C8-69CACF8F552A}"/>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12" name="CaixaDeTexto 411">
              <a:extLst>
                <a:ext uri="{FF2B5EF4-FFF2-40B4-BE49-F238E27FC236}">
                  <a16:creationId xmlns:a16="http://schemas.microsoft.com/office/drawing/2014/main" id="{7B7BBAE8-BE28-F488-C375-36BE2AE05F0E}"/>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13" name="Retângulo 412">
              <a:extLst>
                <a:ext uri="{FF2B5EF4-FFF2-40B4-BE49-F238E27FC236}">
                  <a16:creationId xmlns:a16="http://schemas.microsoft.com/office/drawing/2014/main" id="{55CD0FC8-39CE-496F-7861-E729C1E5A35A}"/>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14" name="CaixaDeTexto 413">
              <a:extLst>
                <a:ext uri="{FF2B5EF4-FFF2-40B4-BE49-F238E27FC236}">
                  <a16:creationId xmlns:a16="http://schemas.microsoft.com/office/drawing/2014/main" id="{1905EC6E-21DE-DC9B-0E39-E7E2B5C90261}"/>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396" name="Agrupar 395">
            <a:extLst>
              <a:ext uri="{FF2B5EF4-FFF2-40B4-BE49-F238E27FC236}">
                <a16:creationId xmlns:a16="http://schemas.microsoft.com/office/drawing/2014/main" id="{FD913622-615D-FB02-959E-A36E8C4B797E}"/>
              </a:ext>
            </a:extLst>
          </p:cNvPr>
          <p:cNvGrpSpPr/>
          <p:nvPr/>
        </p:nvGrpSpPr>
        <p:grpSpPr>
          <a:xfrm>
            <a:off x="6154320" y="3994597"/>
            <a:ext cx="1730548" cy="175957"/>
            <a:chOff x="807560" y="2045707"/>
            <a:chExt cx="1730548" cy="175957"/>
          </a:xfrm>
        </p:grpSpPr>
        <p:sp>
          <p:nvSpPr>
            <p:cNvPr id="401" name="Retângulo: Cantos Arredondados 400">
              <a:extLst>
                <a:ext uri="{FF2B5EF4-FFF2-40B4-BE49-F238E27FC236}">
                  <a16:creationId xmlns:a16="http://schemas.microsoft.com/office/drawing/2014/main" id="{772ED66F-95B1-6C93-A8E1-6EB44F55E2B9}"/>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02" name="Retângulo: Cantos Arredondados 401">
              <a:extLst>
                <a:ext uri="{FF2B5EF4-FFF2-40B4-BE49-F238E27FC236}">
                  <a16:creationId xmlns:a16="http://schemas.microsoft.com/office/drawing/2014/main" id="{C6EBE205-71D4-8F0D-B7CC-A63B698ACE59}"/>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03" name="Retângulo: Cantos Arredondados 402">
              <a:extLst>
                <a:ext uri="{FF2B5EF4-FFF2-40B4-BE49-F238E27FC236}">
                  <a16:creationId xmlns:a16="http://schemas.microsoft.com/office/drawing/2014/main" id="{C5305C5D-6D77-8456-F122-59B4D768E31C}"/>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04" name="Retângulo: Cantos Arredondados 403">
              <a:extLst>
                <a:ext uri="{FF2B5EF4-FFF2-40B4-BE49-F238E27FC236}">
                  <a16:creationId xmlns:a16="http://schemas.microsoft.com/office/drawing/2014/main" id="{EDB0EFEC-24A6-9E5C-FD8D-3EFE3960777C}"/>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397" name="Agrupar 396">
            <a:extLst>
              <a:ext uri="{FF2B5EF4-FFF2-40B4-BE49-F238E27FC236}">
                <a16:creationId xmlns:a16="http://schemas.microsoft.com/office/drawing/2014/main" id="{E10EDF63-1927-4213-8827-F40AEBD4A472}"/>
              </a:ext>
            </a:extLst>
          </p:cNvPr>
          <p:cNvGrpSpPr/>
          <p:nvPr/>
        </p:nvGrpSpPr>
        <p:grpSpPr>
          <a:xfrm>
            <a:off x="6149059" y="4221373"/>
            <a:ext cx="1735809" cy="175957"/>
            <a:chOff x="802299" y="2294613"/>
            <a:chExt cx="1735809" cy="175957"/>
          </a:xfrm>
        </p:grpSpPr>
        <p:sp>
          <p:nvSpPr>
            <p:cNvPr id="398" name="Retângulo: Cantos Arredondados 397">
              <a:extLst>
                <a:ext uri="{FF2B5EF4-FFF2-40B4-BE49-F238E27FC236}">
                  <a16:creationId xmlns:a16="http://schemas.microsoft.com/office/drawing/2014/main" id="{BD57DAFA-963E-3175-298A-85A4622CBD02}"/>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99" name="Retângulo: Cantos Arredondados 398">
              <a:extLst>
                <a:ext uri="{FF2B5EF4-FFF2-40B4-BE49-F238E27FC236}">
                  <a16:creationId xmlns:a16="http://schemas.microsoft.com/office/drawing/2014/main" id="{243454C6-9731-1C0A-CD60-1F7F0E1820C8}"/>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00" name="Retângulo: Cantos Arredondados 399">
              <a:extLst>
                <a:ext uri="{FF2B5EF4-FFF2-40B4-BE49-F238E27FC236}">
                  <a16:creationId xmlns:a16="http://schemas.microsoft.com/office/drawing/2014/main" id="{850146B0-41B8-9449-50D5-840B08D00B31}"/>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19" name="Retângulo: Cantos Arredondados 418">
            <a:extLst>
              <a:ext uri="{FF2B5EF4-FFF2-40B4-BE49-F238E27FC236}">
                <a16:creationId xmlns:a16="http://schemas.microsoft.com/office/drawing/2014/main" id="{A3523C42-B909-5AD5-A41E-B6C479F58655}"/>
              </a:ext>
            </a:extLst>
          </p:cNvPr>
          <p:cNvSpPr/>
          <p:nvPr/>
        </p:nvSpPr>
        <p:spPr>
          <a:xfrm>
            <a:off x="8016296"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20" name="Agrupar 419">
            <a:extLst>
              <a:ext uri="{FF2B5EF4-FFF2-40B4-BE49-F238E27FC236}">
                <a16:creationId xmlns:a16="http://schemas.microsoft.com/office/drawing/2014/main" id="{2256378F-BB8A-C992-832E-2E3195B298AB}"/>
              </a:ext>
            </a:extLst>
          </p:cNvPr>
          <p:cNvGrpSpPr/>
          <p:nvPr/>
        </p:nvGrpSpPr>
        <p:grpSpPr>
          <a:xfrm>
            <a:off x="8074616" y="2850907"/>
            <a:ext cx="1728192" cy="175957"/>
            <a:chOff x="807560" y="1796801"/>
            <a:chExt cx="1728192" cy="175957"/>
          </a:xfrm>
        </p:grpSpPr>
        <p:sp>
          <p:nvSpPr>
            <p:cNvPr id="441" name="Retângulo: Cantos Arredondados 440">
              <a:extLst>
                <a:ext uri="{FF2B5EF4-FFF2-40B4-BE49-F238E27FC236}">
                  <a16:creationId xmlns:a16="http://schemas.microsoft.com/office/drawing/2014/main" id="{7CDA5FCA-AE0A-B286-B66F-799C4488F3E4}"/>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42" name="Retângulo: Cantos Arredondados 441">
              <a:extLst>
                <a:ext uri="{FF2B5EF4-FFF2-40B4-BE49-F238E27FC236}">
                  <a16:creationId xmlns:a16="http://schemas.microsoft.com/office/drawing/2014/main" id="{AC02391E-9DAF-5110-3ECB-452296D8B49B}"/>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43" name="Retângulo: Cantos Arredondados 442">
              <a:extLst>
                <a:ext uri="{FF2B5EF4-FFF2-40B4-BE49-F238E27FC236}">
                  <a16:creationId xmlns:a16="http://schemas.microsoft.com/office/drawing/2014/main" id="{01C5D78B-64E1-DB8F-5F93-5B5E9026855E}"/>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21" name="Agrupar 420">
            <a:extLst>
              <a:ext uri="{FF2B5EF4-FFF2-40B4-BE49-F238E27FC236}">
                <a16:creationId xmlns:a16="http://schemas.microsoft.com/office/drawing/2014/main" id="{1E8D45E8-2EE6-475D-4F2D-B2A3E9EB3DB6}"/>
              </a:ext>
            </a:extLst>
          </p:cNvPr>
          <p:cNvGrpSpPr/>
          <p:nvPr/>
        </p:nvGrpSpPr>
        <p:grpSpPr>
          <a:xfrm>
            <a:off x="8153055" y="3531234"/>
            <a:ext cx="1571314" cy="108000"/>
            <a:chOff x="885999" y="2544755"/>
            <a:chExt cx="1571314" cy="108000"/>
          </a:xfrm>
        </p:grpSpPr>
        <p:sp>
          <p:nvSpPr>
            <p:cNvPr id="431" name="Retângulo 430">
              <a:extLst>
                <a:ext uri="{FF2B5EF4-FFF2-40B4-BE49-F238E27FC236}">
                  <a16:creationId xmlns:a16="http://schemas.microsoft.com/office/drawing/2014/main" id="{A25FA4C4-40AC-162C-B86C-FC733141158F}"/>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2" name="CaixaDeTexto 431">
              <a:extLst>
                <a:ext uri="{FF2B5EF4-FFF2-40B4-BE49-F238E27FC236}">
                  <a16:creationId xmlns:a16="http://schemas.microsoft.com/office/drawing/2014/main" id="{DEFD8812-ED0F-FB12-FC3B-B6798B4DA83D}"/>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33" name="Retângulo 432">
              <a:extLst>
                <a:ext uri="{FF2B5EF4-FFF2-40B4-BE49-F238E27FC236}">
                  <a16:creationId xmlns:a16="http://schemas.microsoft.com/office/drawing/2014/main" id="{40EDAED0-4CE6-CC9A-FDE6-E26143A4473C}"/>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4" name="CaixaDeTexto 433">
              <a:extLst>
                <a:ext uri="{FF2B5EF4-FFF2-40B4-BE49-F238E27FC236}">
                  <a16:creationId xmlns:a16="http://schemas.microsoft.com/office/drawing/2014/main" id="{E8B26C6E-BF7F-04DA-EC90-A70B2067495B}"/>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35" name="Retângulo 434">
              <a:extLst>
                <a:ext uri="{FF2B5EF4-FFF2-40B4-BE49-F238E27FC236}">
                  <a16:creationId xmlns:a16="http://schemas.microsoft.com/office/drawing/2014/main" id="{C5461830-480E-E537-EEDD-524CD57FD063}"/>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36" name="CaixaDeTexto 435">
              <a:extLst>
                <a:ext uri="{FF2B5EF4-FFF2-40B4-BE49-F238E27FC236}">
                  <a16:creationId xmlns:a16="http://schemas.microsoft.com/office/drawing/2014/main" id="{6CE44A90-9962-67F9-369B-9EA3FE1FD88D}"/>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37" name="Retângulo 436">
              <a:extLst>
                <a:ext uri="{FF2B5EF4-FFF2-40B4-BE49-F238E27FC236}">
                  <a16:creationId xmlns:a16="http://schemas.microsoft.com/office/drawing/2014/main" id="{1C0441DB-4A05-9063-B199-91CD472F65D8}"/>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38" name="CaixaDeTexto 437">
              <a:extLst>
                <a:ext uri="{FF2B5EF4-FFF2-40B4-BE49-F238E27FC236}">
                  <a16:creationId xmlns:a16="http://schemas.microsoft.com/office/drawing/2014/main" id="{75152976-EFAF-E32D-4B6F-AB075AA784A0}"/>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39" name="Retângulo 438">
              <a:extLst>
                <a:ext uri="{FF2B5EF4-FFF2-40B4-BE49-F238E27FC236}">
                  <a16:creationId xmlns:a16="http://schemas.microsoft.com/office/drawing/2014/main" id="{1C65BCFE-5CCB-7421-374F-F6A35EF35BD9}"/>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40" name="CaixaDeTexto 439">
              <a:extLst>
                <a:ext uri="{FF2B5EF4-FFF2-40B4-BE49-F238E27FC236}">
                  <a16:creationId xmlns:a16="http://schemas.microsoft.com/office/drawing/2014/main" id="{EB69562E-6C52-57E8-3D82-448DEE7AD31C}"/>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22" name="Agrupar 421">
            <a:extLst>
              <a:ext uri="{FF2B5EF4-FFF2-40B4-BE49-F238E27FC236}">
                <a16:creationId xmlns:a16="http://schemas.microsoft.com/office/drawing/2014/main" id="{0407E7C6-DCF6-499A-82BE-9CE05E7CD025}"/>
              </a:ext>
            </a:extLst>
          </p:cNvPr>
          <p:cNvGrpSpPr/>
          <p:nvPr/>
        </p:nvGrpSpPr>
        <p:grpSpPr>
          <a:xfrm>
            <a:off x="8074616" y="3077683"/>
            <a:ext cx="1730548" cy="175957"/>
            <a:chOff x="807560" y="2045707"/>
            <a:chExt cx="1730548" cy="175957"/>
          </a:xfrm>
        </p:grpSpPr>
        <p:sp>
          <p:nvSpPr>
            <p:cNvPr id="427" name="Retângulo: Cantos Arredondados 426">
              <a:extLst>
                <a:ext uri="{FF2B5EF4-FFF2-40B4-BE49-F238E27FC236}">
                  <a16:creationId xmlns:a16="http://schemas.microsoft.com/office/drawing/2014/main" id="{F01CE7A8-F42D-29DF-C556-C2B23912507B}"/>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28" name="Retângulo: Cantos Arredondados 427">
              <a:extLst>
                <a:ext uri="{FF2B5EF4-FFF2-40B4-BE49-F238E27FC236}">
                  <a16:creationId xmlns:a16="http://schemas.microsoft.com/office/drawing/2014/main" id="{46AD0B1A-3AAB-DCDA-148A-03E9CC22A408}"/>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29" name="Retângulo: Cantos Arredondados 428">
              <a:extLst>
                <a:ext uri="{FF2B5EF4-FFF2-40B4-BE49-F238E27FC236}">
                  <a16:creationId xmlns:a16="http://schemas.microsoft.com/office/drawing/2014/main" id="{B508EE3A-40AE-C88C-4647-BE726A2EB8A3}"/>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30" name="Retângulo: Cantos Arredondados 429">
              <a:extLst>
                <a:ext uri="{FF2B5EF4-FFF2-40B4-BE49-F238E27FC236}">
                  <a16:creationId xmlns:a16="http://schemas.microsoft.com/office/drawing/2014/main" id="{E56C5324-27BE-0508-369F-D3A12C8CEA02}"/>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23" name="Agrupar 422">
            <a:extLst>
              <a:ext uri="{FF2B5EF4-FFF2-40B4-BE49-F238E27FC236}">
                <a16:creationId xmlns:a16="http://schemas.microsoft.com/office/drawing/2014/main" id="{C06B21BF-7934-B5E6-70FE-F10A59A148CD}"/>
              </a:ext>
            </a:extLst>
          </p:cNvPr>
          <p:cNvGrpSpPr/>
          <p:nvPr/>
        </p:nvGrpSpPr>
        <p:grpSpPr>
          <a:xfrm>
            <a:off x="8069355" y="3304459"/>
            <a:ext cx="1735809" cy="175957"/>
            <a:chOff x="802299" y="2294613"/>
            <a:chExt cx="1735809" cy="175957"/>
          </a:xfrm>
        </p:grpSpPr>
        <p:sp>
          <p:nvSpPr>
            <p:cNvPr id="424" name="Retângulo: Cantos Arredondados 423">
              <a:extLst>
                <a:ext uri="{FF2B5EF4-FFF2-40B4-BE49-F238E27FC236}">
                  <a16:creationId xmlns:a16="http://schemas.microsoft.com/office/drawing/2014/main" id="{7E297FC5-9D51-62AE-2BE9-ED0E2D0432E6}"/>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25" name="Retângulo: Cantos Arredondados 424">
              <a:extLst>
                <a:ext uri="{FF2B5EF4-FFF2-40B4-BE49-F238E27FC236}">
                  <a16:creationId xmlns:a16="http://schemas.microsoft.com/office/drawing/2014/main" id="{CABFDA27-DC47-D42E-62D1-BA1A2E0D4027}"/>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26" name="Retângulo: Cantos Arredondados 425">
              <a:extLst>
                <a:ext uri="{FF2B5EF4-FFF2-40B4-BE49-F238E27FC236}">
                  <a16:creationId xmlns:a16="http://schemas.microsoft.com/office/drawing/2014/main" id="{A6EE98B0-DAFC-CC7C-3969-4E9C354D2755}"/>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45" name="Retângulo: Cantos Arredondados 444">
            <a:extLst>
              <a:ext uri="{FF2B5EF4-FFF2-40B4-BE49-F238E27FC236}">
                <a16:creationId xmlns:a16="http://schemas.microsoft.com/office/drawing/2014/main" id="{3BA8B133-968C-BAA7-E258-E19EECA24D04}"/>
              </a:ext>
            </a:extLst>
          </p:cNvPr>
          <p:cNvSpPr/>
          <p:nvPr/>
        </p:nvSpPr>
        <p:spPr>
          <a:xfrm>
            <a:off x="9936532"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46" name="Agrupar 445">
            <a:extLst>
              <a:ext uri="{FF2B5EF4-FFF2-40B4-BE49-F238E27FC236}">
                <a16:creationId xmlns:a16="http://schemas.microsoft.com/office/drawing/2014/main" id="{7BCFD215-EF7B-65A9-8990-B2B9E3E4ACB6}"/>
              </a:ext>
            </a:extLst>
          </p:cNvPr>
          <p:cNvGrpSpPr/>
          <p:nvPr/>
        </p:nvGrpSpPr>
        <p:grpSpPr>
          <a:xfrm>
            <a:off x="9994852" y="2850907"/>
            <a:ext cx="1728192" cy="175957"/>
            <a:chOff x="807560" y="1796801"/>
            <a:chExt cx="1728192" cy="175957"/>
          </a:xfrm>
        </p:grpSpPr>
        <p:sp>
          <p:nvSpPr>
            <p:cNvPr id="467" name="Retângulo: Cantos Arredondados 466">
              <a:extLst>
                <a:ext uri="{FF2B5EF4-FFF2-40B4-BE49-F238E27FC236}">
                  <a16:creationId xmlns:a16="http://schemas.microsoft.com/office/drawing/2014/main" id="{4DD0DA82-03E8-F974-A12E-92B0E7EB8843}"/>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68" name="Retângulo: Cantos Arredondados 467">
              <a:extLst>
                <a:ext uri="{FF2B5EF4-FFF2-40B4-BE49-F238E27FC236}">
                  <a16:creationId xmlns:a16="http://schemas.microsoft.com/office/drawing/2014/main" id="{F1E4D618-9616-74A3-8396-289191D23AC7}"/>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69" name="Retângulo: Cantos Arredondados 468">
              <a:extLst>
                <a:ext uri="{FF2B5EF4-FFF2-40B4-BE49-F238E27FC236}">
                  <a16:creationId xmlns:a16="http://schemas.microsoft.com/office/drawing/2014/main" id="{1E54AB6B-FA22-C8A4-FC56-8CE195FC2093}"/>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47" name="Agrupar 446">
            <a:extLst>
              <a:ext uri="{FF2B5EF4-FFF2-40B4-BE49-F238E27FC236}">
                <a16:creationId xmlns:a16="http://schemas.microsoft.com/office/drawing/2014/main" id="{7393FF0E-9B3F-0297-89CB-656F510A19EB}"/>
              </a:ext>
            </a:extLst>
          </p:cNvPr>
          <p:cNvGrpSpPr/>
          <p:nvPr/>
        </p:nvGrpSpPr>
        <p:grpSpPr>
          <a:xfrm>
            <a:off x="10073291" y="3531234"/>
            <a:ext cx="1571314" cy="108000"/>
            <a:chOff x="885999" y="2544755"/>
            <a:chExt cx="1571314" cy="108000"/>
          </a:xfrm>
        </p:grpSpPr>
        <p:sp>
          <p:nvSpPr>
            <p:cNvPr id="457" name="Retângulo 456">
              <a:extLst>
                <a:ext uri="{FF2B5EF4-FFF2-40B4-BE49-F238E27FC236}">
                  <a16:creationId xmlns:a16="http://schemas.microsoft.com/office/drawing/2014/main" id="{98993FBC-D765-F15C-1B89-0B3F67AE83BA}"/>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58" name="CaixaDeTexto 457">
              <a:extLst>
                <a:ext uri="{FF2B5EF4-FFF2-40B4-BE49-F238E27FC236}">
                  <a16:creationId xmlns:a16="http://schemas.microsoft.com/office/drawing/2014/main" id="{B97E632B-F5C5-05C0-557F-C1F6589A1B1A}"/>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59" name="Retângulo 458">
              <a:extLst>
                <a:ext uri="{FF2B5EF4-FFF2-40B4-BE49-F238E27FC236}">
                  <a16:creationId xmlns:a16="http://schemas.microsoft.com/office/drawing/2014/main" id="{2B33C5D6-9806-2B2D-31CD-CBAE03249F46}"/>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60" name="CaixaDeTexto 459">
              <a:extLst>
                <a:ext uri="{FF2B5EF4-FFF2-40B4-BE49-F238E27FC236}">
                  <a16:creationId xmlns:a16="http://schemas.microsoft.com/office/drawing/2014/main" id="{14CEE29D-5809-8048-A907-B58E9B032DF7}"/>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61" name="Retângulo 460">
              <a:extLst>
                <a:ext uri="{FF2B5EF4-FFF2-40B4-BE49-F238E27FC236}">
                  <a16:creationId xmlns:a16="http://schemas.microsoft.com/office/drawing/2014/main" id="{5260418C-D426-A804-114D-D50F99E22F75}"/>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62" name="CaixaDeTexto 461">
              <a:extLst>
                <a:ext uri="{FF2B5EF4-FFF2-40B4-BE49-F238E27FC236}">
                  <a16:creationId xmlns:a16="http://schemas.microsoft.com/office/drawing/2014/main" id="{CC484FF0-1D8A-F9D9-BCD0-952F3D63114D}"/>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63" name="Retângulo 462">
              <a:extLst>
                <a:ext uri="{FF2B5EF4-FFF2-40B4-BE49-F238E27FC236}">
                  <a16:creationId xmlns:a16="http://schemas.microsoft.com/office/drawing/2014/main" id="{1060C43D-CCFA-918A-9C46-759E1CF67F07}"/>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64" name="CaixaDeTexto 463">
              <a:extLst>
                <a:ext uri="{FF2B5EF4-FFF2-40B4-BE49-F238E27FC236}">
                  <a16:creationId xmlns:a16="http://schemas.microsoft.com/office/drawing/2014/main" id="{14EE0D0A-4DB5-6008-FBDF-EB8DFCDC0684}"/>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65" name="Retângulo 464">
              <a:extLst>
                <a:ext uri="{FF2B5EF4-FFF2-40B4-BE49-F238E27FC236}">
                  <a16:creationId xmlns:a16="http://schemas.microsoft.com/office/drawing/2014/main" id="{7DADBBEF-42A9-CE38-8386-21329DDABFE2}"/>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66" name="CaixaDeTexto 465">
              <a:extLst>
                <a:ext uri="{FF2B5EF4-FFF2-40B4-BE49-F238E27FC236}">
                  <a16:creationId xmlns:a16="http://schemas.microsoft.com/office/drawing/2014/main" id="{B010F039-E4D1-E10C-D577-4B017869B04E}"/>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48" name="Agrupar 447">
            <a:extLst>
              <a:ext uri="{FF2B5EF4-FFF2-40B4-BE49-F238E27FC236}">
                <a16:creationId xmlns:a16="http://schemas.microsoft.com/office/drawing/2014/main" id="{7FA2EBDF-655B-5F21-624D-AF4C33B118E4}"/>
              </a:ext>
            </a:extLst>
          </p:cNvPr>
          <p:cNvGrpSpPr/>
          <p:nvPr/>
        </p:nvGrpSpPr>
        <p:grpSpPr>
          <a:xfrm>
            <a:off x="9994852" y="3077683"/>
            <a:ext cx="1730548" cy="175957"/>
            <a:chOff x="807560" y="2045707"/>
            <a:chExt cx="1730548" cy="175957"/>
          </a:xfrm>
        </p:grpSpPr>
        <p:sp>
          <p:nvSpPr>
            <p:cNvPr id="453" name="Retângulo: Cantos Arredondados 452">
              <a:extLst>
                <a:ext uri="{FF2B5EF4-FFF2-40B4-BE49-F238E27FC236}">
                  <a16:creationId xmlns:a16="http://schemas.microsoft.com/office/drawing/2014/main" id="{82055B8A-11BD-9C80-F4AB-298D98431862}"/>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54" name="Retângulo: Cantos Arredondados 453">
              <a:extLst>
                <a:ext uri="{FF2B5EF4-FFF2-40B4-BE49-F238E27FC236}">
                  <a16:creationId xmlns:a16="http://schemas.microsoft.com/office/drawing/2014/main" id="{B1C91ECB-8E56-0D89-6DFE-16B145B7B6BB}"/>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55" name="Retângulo: Cantos Arredondados 454">
              <a:extLst>
                <a:ext uri="{FF2B5EF4-FFF2-40B4-BE49-F238E27FC236}">
                  <a16:creationId xmlns:a16="http://schemas.microsoft.com/office/drawing/2014/main" id="{E9914ADE-5366-B0E9-8115-821DAB579C7B}"/>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56" name="Retângulo: Cantos Arredondados 455">
              <a:extLst>
                <a:ext uri="{FF2B5EF4-FFF2-40B4-BE49-F238E27FC236}">
                  <a16:creationId xmlns:a16="http://schemas.microsoft.com/office/drawing/2014/main" id="{5EE336F4-A871-1379-1DA7-40DDE11221C1}"/>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49" name="Agrupar 448">
            <a:extLst>
              <a:ext uri="{FF2B5EF4-FFF2-40B4-BE49-F238E27FC236}">
                <a16:creationId xmlns:a16="http://schemas.microsoft.com/office/drawing/2014/main" id="{78158443-BA65-D76C-6349-1DA44FEC933A}"/>
              </a:ext>
            </a:extLst>
          </p:cNvPr>
          <p:cNvGrpSpPr/>
          <p:nvPr/>
        </p:nvGrpSpPr>
        <p:grpSpPr>
          <a:xfrm>
            <a:off x="9989591" y="3304459"/>
            <a:ext cx="1735809" cy="175957"/>
            <a:chOff x="802299" y="2294613"/>
            <a:chExt cx="1735809" cy="175957"/>
          </a:xfrm>
        </p:grpSpPr>
        <p:sp>
          <p:nvSpPr>
            <p:cNvPr id="450" name="Retângulo: Cantos Arredondados 449">
              <a:extLst>
                <a:ext uri="{FF2B5EF4-FFF2-40B4-BE49-F238E27FC236}">
                  <a16:creationId xmlns:a16="http://schemas.microsoft.com/office/drawing/2014/main" id="{F692F3AF-B5E3-6645-C4E0-3CBF35EF6317}"/>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51" name="Retângulo: Cantos Arredondados 450">
              <a:extLst>
                <a:ext uri="{FF2B5EF4-FFF2-40B4-BE49-F238E27FC236}">
                  <a16:creationId xmlns:a16="http://schemas.microsoft.com/office/drawing/2014/main" id="{D0686EAF-CFFC-823D-75DC-73EE5154ED71}"/>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52" name="Retângulo: Cantos Arredondados 451">
              <a:extLst>
                <a:ext uri="{FF2B5EF4-FFF2-40B4-BE49-F238E27FC236}">
                  <a16:creationId xmlns:a16="http://schemas.microsoft.com/office/drawing/2014/main" id="{3288C027-353A-3C86-571D-C0B4BF4215F4}"/>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71" name="Retângulo: Cantos Arredondados 470">
            <a:extLst>
              <a:ext uri="{FF2B5EF4-FFF2-40B4-BE49-F238E27FC236}">
                <a16:creationId xmlns:a16="http://schemas.microsoft.com/office/drawing/2014/main" id="{04737182-E03E-ACE3-732F-C58C3347049C}"/>
              </a:ext>
            </a:extLst>
          </p:cNvPr>
          <p:cNvSpPr/>
          <p:nvPr/>
        </p:nvSpPr>
        <p:spPr>
          <a:xfrm>
            <a:off x="9936532" y="3743836"/>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72" name="Agrupar 471">
            <a:extLst>
              <a:ext uri="{FF2B5EF4-FFF2-40B4-BE49-F238E27FC236}">
                <a16:creationId xmlns:a16="http://schemas.microsoft.com/office/drawing/2014/main" id="{3EDF81EC-B8D5-86E3-BED3-50A8D07841B5}"/>
              </a:ext>
            </a:extLst>
          </p:cNvPr>
          <p:cNvGrpSpPr/>
          <p:nvPr/>
        </p:nvGrpSpPr>
        <p:grpSpPr>
          <a:xfrm>
            <a:off x="9994852" y="3767821"/>
            <a:ext cx="1728192" cy="175957"/>
            <a:chOff x="807560" y="1796801"/>
            <a:chExt cx="1728192" cy="175957"/>
          </a:xfrm>
        </p:grpSpPr>
        <p:sp>
          <p:nvSpPr>
            <p:cNvPr id="493" name="Retângulo: Cantos Arredondados 492">
              <a:extLst>
                <a:ext uri="{FF2B5EF4-FFF2-40B4-BE49-F238E27FC236}">
                  <a16:creationId xmlns:a16="http://schemas.microsoft.com/office/drawing/2014/main" id="{65AEF8E7-154A-097E-16B3-FE9E01323630}"/>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494" name="Retângulo: Cantos Arredondados 493">
              <a:extLst>
                <a:ext uri="{FF2B5EF4-FFF2-40B4-BE49-F238E27FC236}">
                  <a16:creationId xmlns:a16="http://schemas.microsoft.com/office/drawing/2014/main" id="{F21EF84A-0E4D-74F4-CA42-DDB918A1CB6C}"/>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495" name="Retângulo: Cantos Arredondados 494">
              <a:extLst>
                <a:ext uri="{FF2B5EF4-FFF2-40B4-BE49-F238E27FC236}">
                  <a16:creationId xmlns:a16="http://schemas.microsoft.com/office/drawing/2014/main" id="{18DF2DE1-AF0D-29EE-835C-E6117F720280}"/>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73" name="Agrupar 472">
            <a:extLst>
              <a:ext uri="{FF2B5EF4-FFF2-40B4-BE49-F238E27FC236}">
                <a16:creationId xmlns:a16="http://schemas.microsoft.com/office/drawing/2014/main" id="{72B1FB20-0447-D397-65B3-37BEAB6B2498}"/>
              </a:ext>
            </a:extLst>
          </p:cNvPr>
          <p:cNvGrpSpPr/>
          <p:nvPr/>
        </p:nvGrpSpPr>
        <p:grpSpPr>
          <a:xfrm>
            <a:off x="10073291" y="4448148"/>
            <a:ext cx="1571314" cy="108000"/>
            <a:chOff x="885999" y="2544755"/>
            <a:chExt cx="1571314" cy="108000"/>
          </a:xfrm>
        </p:grpSpPr>
        <p:sp>
          <p:nvSpPr>
            <p:cNvPr id="483" name="Retângulo 482">
              <a:extLst>
                <a:ext uri="{FF2B5EF4-FFF2-40B4-BE49-F238E27FC236}">
                  <a16:creationId xmlns:a16="http://schemas.microsoft.com/office/drawing/2014/main" id="{339BEED6-232F-7EF8-FA10-CABFD0220BAB}"/>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84" name="CaixaDeTexto 483">
              <a:extLst>
                <a:ext uri="{FF2B5EF4-FFF2-40B4-BE49-F238E27FC236}">
                  <a16:creationId xmlns:a16="http://schemas.microsoft.com/office/drawing/2014/main" id="{441EC489-F938-0332-AD29-88ADB9858E30}"/>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485" name="Retângulo 484">
              <a:extLst>
                <a:ext uri="{FF2B5EF4-FFF2-40B4-BE49-F238E27FC236}">
                  <a16:creationId xmlns:a16="http://schemas.microsoft.com/office/drawing/2014/main" id="{41823DC5-85D3-A83D-FCAB-2006609D5A95}"/>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86" name="CaixaDeTexto 485">
              <a:extLst>
                <a:ext uri="{FF2B5EF4-FFF2-40B4-BE49-F238E27FC236}">
                  <a16:creationId xmlns:a16="http://schemas.microsoft.com/office/drawing/2014/main" id="{32AA32B8-5EE9-08E3-AE29-C0B2CEB9F814}"/>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487" name="Retângulo 486">
              <a:extLst>
                <a:ext uri="{FF2B5EF4-FFF2-40B4-BE49-F238E27FC236}">
                  <a16:creationId xmlns:a16="http://schemas.microsoft.com/office/drawing/2014/main" id="{59138144-816D-62E0-08C5-6BD44806BAB5}"/>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88" name="CaixaDeTexto 487">
              <a:extLst>
                <a:ext uri="{FF2B5EF4-FFF2-40B4-BE49-F238E27FC236}">
                  <a16:creationId xmlns:a16="http://schemas.microsoft.com/office/drawing/2014/main" id="{7CB0808C-1DFF-C246-6E15-B3B29BC286D9}"/>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489" name="Retângulo 488">
              <a:extLst>
                <a:ext uri="{FF2B5EF4-FFF2-40B4-BE49-F238E27FC236}">
                  <a16:creationId xmlns:a16="http://schemas.microsoft.com/office/drawing/2014/main" id="{8CB984A8-85AB-30F6-CC71-14CDFED8225F}"/>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90" name="CaixaDeTexto 489">
              <a:extLst>
                <a:ext uri="{FF2B5EF4-FFF2-40B4-BE49-F238E27FC236}">
                  <a16:creationId xmlns:a16="http://schemas.microsoft.com/office/drawing/2014/main" id="{69C0F49D-B6A5-619F-25A0-2F39E99F5D8A}"/>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491" name="Retângulo 490">
              <a:extLst>
                <a:ext uri="{FF2B5EF4-FFF2-40B4-BE49-F238E27FC236}">
                  <a16:creationId xmlns:a16="http://schemas.microsoft.com/office/drawing/2014/main" id="{548406CA-F62A-FDDD-7206-4C4C3FCCB4FE}"/>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492" name="CaixaDeTexto 491">
              <a:extLst>
                <a:ext uri="{FF2B5EF4-FFF2-40B4-BE49-F238E27FC236}">
                  <a16:creationId xmlns:a16="http://schemas.microsoft.com/office/drawing/2014/main" id="{AA3D2786-6501-C464-D251-56DD61F20618}"/>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74" name="Agrupar 473">
            <a:extLst>
              <a:ext uri="{FF2B5EF4-FFF2-40B4-BE49-F238E27FC236}">
                <a16:creationId xmlns:a16="http://schemas.microsoft.com/office/drawing/2014/main" id="{D6DC634D-A4B9-C1F5-1C7F-A263FA69EF54}"/>
              </a:ext>
            </a:extLst>
          </p:cNvPr>
          <p:cNvGrpSpPr/>
          <p:nvPr/>
        </p:nvGrpSpPr>
        <p:grpSpPr>
          <a:xfrm>
            <a:off x="9994852" y="3994597"/>
            <a:ext cx="1730548" cy="175957"/>
            <a:chOff x="807560" y="2045707"/>
            <a:chExt cx="1730548" cy="175957"/>
          </a:xfrm>
        </p:grpSpPr>
        <p:sp>
          <p:nvSpPr>
            <p:cNvPr id="479" name="Retângulo: Cantos Arredondados 478">
              <a:extLst>
                <a:ext uri="{FF2B5EF4-FFF2-40B4-BE49-F238E27FC236}">
                  <a16:creationId xmlns:a16="http://schemas.microsoft.com/office/drawing/2014/main" id="{4475DB71-6B07-3129-276B-F1AC9E80CF12}"/>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480" name="Retângulo: Cantos Arredondados 479">
              <a:extLst>
                <a:ext uri="{FF2B5EF4-FFF2-40B4-BE49-F238E27FC236}">
                  <a16:creationId xmlns:a16="http://schemas.microsoft.com/office/drawing/2014/main" id="{011A63F1-4C71-A9FF-2FB9-B53666BAB7A7}"/>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81" name="Retângulo: Cantos Arredondados 480">
              <a:extLst>
                <a:ext uri="{FF2B5EF4-FFF2-40B4-BE49-F238E27FC236}">
                  <a16:creationId xmlns:a16="http://schemas.microsoft.com/office/drawing/2014/main" id="{95C9D283-2DB3-0565-EC1C-9904128DDEE0}"/>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82" name="Retângulo: Cantos Arredondados 481">
              <a:extLst>
                <a:ext uri="{FF2B5EF4-FFF2-40B4-BE49-F238E27FC236}">
                  <a16:creationId xmlns:a16="http://schemas.microsoft.com/office/drawing/2014/main" id="{CBBE4137-13B6-F3F3-01C3-B706C391E91D}"/>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75" name="Agrupar 474">
            <a:extLst>
              <a:ext uri="{FF2B5EF4-FFF2-40B4-BE49-F238E27FC236}">
                <a16:creationId xmlns:a16="http://schemas.microsoft.com/office/drawing/2014/main" id="{1A69CF31-D638-56A7-E128-21781E1820A2}"/>
              </a:ext>
            </a:extLst>
          </p:cNvPr>
          <p:cNvGrpSpPr/>
          <p:nvPr/>
        </p:nvGrpSpPr>
        <p:grpSpPr>
          <a:xfrm>
            <a:off x="9989591" y="4221373"/>
            <a:ext cx="1735809" cy="175957"/>
            <a:chOff x="802299" y="2294613"/>
            <a:chExt cx="1735809" cy="175957"/>
          </a:xfrm>
        </p:grpSpPr>
        <p:sp>
          <p:nvSpPr>
            <p:cNvPr id="476" name="Retângulo: Cantos Arredondados 475">
              <a:extLst>
                <a:ext uri="{FF2B5EF4-FFF2-40B4-BE49-F238E27FC236}">
                  <a16:creationId xmlns:a16="http://schemas.microsoft.com/office/drawing/2014/main" id="{0252D03E-B735-3C00-4461-BEB17A32DDCC}"/>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477" name="Retângulo: Cantos Arredondados 476">
              <a:extLst>
                <a:ext uri="{FF2B5EF4-FFF2-40B4-BE49-F238E27FC236}">
                  <a16:creationId xmlns:a16="http://schemas.microsoft.com/office/drawing/2014/main" id="{460240EB-A45E-9869-714E-4E5DEC4B37C7}"/>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478" name="Retângulo: Cantos Arredondados 477">
              <a:extLst>
                <a:ext uri="{FF2B5EF4-FFF2-40B4-BE49-F238E27FC236}">
                  <a16:creationId xmlns:a16="http://schemas.microsoft.com/office/drawing/2014/main" id="{DC5DF3D5-E6A0-0949-A2A9-D247169627FB}"/>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497" name="Retângulo: Cantos Arredondados 496">
            <a:extLst>
              <a:ext uri="{FF2B5EF4-FFF2-40B4-BE49-F238E27FC236}">
                <a16:creationId xmlns:a16="http://schemas.microsoft.com/office/drawing/2014/main" id="{644CB451-E5C6-42DB-1D2E-F758CA15677F}"/>
              </a:ext>
            </a:extLst>
          </p:cNvPr>
          <p:cNvSpPr/>
          <p:nvPr/>
        </p:nvSpPr>
        <p:spPr>
          <a:xfrm>
            <a:off x="9936532" y="466075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98" name="Agrupar 497">
            <a:extLst>
              <a:ext uri="{FF2B5EF4-FFF2-40B4-BE49-F238E27FC236}">
                <a16:creationId xmlns:a16="http://schemas.microsoft.com/office/drawing/2014/main" id="{96B891BE-02E1-CC40-EBE0-B51828E16FC5}"/>
              </a:ext>
            </a:extLst>
          </p:cNvPr>
          <p:cNvGrpSpPr/>
          <p:nvPr/>
        </p:nvGrpSpPr>
        <p:grpSpPr>
          <a:xfrm>
            <a:off x="9994852" y="4684735"/>
            <a:ext cx="1728192" cy="175957"/>
            <a:chOff x="807560" y="1796801"/>
            <a:chExt cx="1728192" cy="175957"/>
          </a:xfrm>
        </p:grpSpPr>
        <p:sp>
          <p:nvSpPr>
            <p:cNvPr id="519" name="Retângulo: Cantos Arredondados 518">
              <a:extLst>
                <a:ext uri="{FF2B5EF4-FFF2-40B4-BE49-F238E27FC236}">
                  <a16:creationId xmlns:a16="http://schemas.microsoft.com/office/drawing/2014/main" id="{993FD381-A655-2B4A-2FAD-06E08759AFA9}"/>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520" name="Retângulo: Cantos Arredondados 519">
              <a:extLst>
                <a:ext uri="{FF2B5EF4-FFF2-40B4-BE49-F238E27FC236}">
                  <a16:creationId xmlns:a16="http://schemas.microsoft.com/office/drawing/2014/main" id="{F4286139-3FF5-05FD-EFFD-0E10A42D15AC}"/>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521" name="Retângulo: Cantos Arredondados 520">
              <a:extLst>
                <a:ext uri="{FF2B5EF4-FFF2-40B4-BE49-F238E27FC236}">
                  <a16:creationId xmlns:a16="http://schemas.microsoft.com/office/drawing/2014/main" id="{067B5136-F690-78C7-A28D-1747FC9A33D8}"/>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99" name="Agrupar 498">
            <a:extLst>
              <a:ext uri="{FF2B5EF4-FFF2-40B4-BE49-F238E27FC236}">
                <a16:creationId xmlns:a16="http://schemas.microsoft.com/office/drawing/2014/main" id="{96C0EDA8-6415-6614-61AE-5F55C948DBD9}"/>
              </a:ext>
            </a:extLst>
          </p:cNvPr>
          <p:cNvGrpSpPr/>
          <p:nvPr/>
        </p:nvGrpSpPr>
        <p:grpSpPr>
          <a:xfrm>
            <a:off x="10073291" y="5365062"/>
            <a:ext cx="1571314" cy="108000"/>
            <a:chOff x="885999" y="2544755"/>
            <a:chExt cx="1571314" cy="108000"/>
          </a:xfrm>
        </p:grpSpPr>
        <p:sp>
          <p:nvSpPr>
            <p:cNvPr id="509" name="Retângulo 508">
              <a:extLst>
                <a:ext uri="{FF2B5EF4-FFF2-40B4-BE49-F238E27FC236}">
                  <a16:creationId xmlns:a16="http://schemas.microsoft.com/office/drawing/2014/main" id="{0A40517C-6B2E-50C9-6DD7-92EC7235CD87}"/>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0" name="CaixaDeTexto 509">
              <a:extLst>
                <a:ext uri="{FF2B5EF4-FFF2-40B4-BE49-F238E27FC236}">
                  <a16:creationId xmlns:a16="http://schemas.microsoft.com/office/drawing/2014/main" id="{8812CDAE-F85E-4AC8-FAE6-6532E172596B}"/>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511" name="Retângulo 510">
              <a:extLst>
                <a:ext uri="{FF2B5EF4-FFF2-40B4-BE49-F238E27FC236}">
                  <a16:creationId xmlns:a16="http://schemas.microsoft.com/office/drawing/2014/main" id="{5AF1BB9A-8CCE-A7CD-FF1A-FB8E160B97E6}"/>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2" name="CaixaDeTexto 511">
              <a:extLst>
                <a:ext uri="{FF2B5EF4-FFF2-40B4-BE49-F238E27FC236}">
                  <a16:creationId xmlns:a16="http://schemas.microsoft.com/office/drawing/2014/main" id="{3A911CB8-C975-4F83-09A2-3E879CA05DF0}"/>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513" name="Retângulo 512">
              <a:extLst>
                <a:ext uri="{FF2B5EF4-FFF2-40B4-BE49-F238E27FC236}">
                  <a16:creationId xmlns:a16="http://schemas.microsoft.com/office/drawing/2014/main" id="{076E35EB-25DD-C375-97F4-B258E3D8A6D2}"/>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514" name="CaixaDeTexto 513">
              <a:extLst>
                <a:ext uri="{FF2B5EF4-FFF2-40B4-BE49-F238E27FC236}">
                  <a16:creationId xmlns:a16="http://schemas.microsoft.com/office/drawing/2014/main" id="{C754D416-49BC-FF5B-1DB0-F77B6BCAF19C}"/>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515" name="Retângulo 514">
              <a:extLst>
                <a:ext uri="{FF2B5EF4-FFF2-40B4-BE49-F238E27FC236}">
                  <a16:creationId xmlns:a16="http://schemas.microsoft.com/office/drawing/2014/main" id="{6F349A33-9C43-A29F-F503-0B8BC093D703}"/>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516" name="CaixaDeTexto 515">
              <a:extLst>
                <a:ext uri="{FF2B5EF4-FFF2-40B4-BE49-F238E27FC236}">
                  <a16:creationId xmlns:a16="http://schemas.microsoft.com/office/drawing/2014/main" id="{CC98486A-0011-C0DA-2745-CFDB0ED5BBC0}"/>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517" name="Retângulo 516">
              <a:extLst>
                <a:ext uri="{FF2B5EF4-FFF2-40B4-BE49-F238E27FC236}">
                  <a16:creationId xmlns:a16="http://schemas.microsoft.com/office/drawing/2014/main" id="{40E7F86D-366D-22ED-859F-53B6A5B8A2B0}"/>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518" name="CaixaDeTexto 517">
              <a:extLst>
                <a:ext uri="{FF2B5EF4-FFF2-40B4-BE49-F238E27FC236}">
                  <a16:creationId xmlns:a16="http://schemas.microsoft.com/office/drawing/2014/main" id="{73CE856E-6F32-941F-0286-CE7752D6FDF3}"/>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500" name="Agrupar 499">
            <a:extLst>
              <a:ext uri="{FF2B5EF4-FFF2-40B4-BE49-F238E27FC236}">
                <a16:creationId xmlns:a16="http://schemas.microsoft.com/office/drawing/2014/main" id="{1EBF4B63-D8E4-34C1-6EB2-C874E1B6E651}"/>
              </a:ext>
            </a:extLst>
          </p:cNvPr>
          <p:cNvGrpSpPr/>
          <p:nvPr/>
        </p:nvGrpSpPr>
        <p:grpSpPr>
          <a:xfrm>
            <a:off x="9994852" y="4911511"/>
            <a:ext cx="1730548" cy="175957"/>
            <a:chOff x="807560" y="2045707"/>
            <a:chExt cx="1730548" cy="175957"/>
          </a:xfrm>
        </p:grpSpPr>
        <p:sp>
          <p:nvSpPr>
            <p:cNvPr id="505" name="Retângulo: Cantos Arredondados 504">
              <a:extLst>
                <a:ext uri="{FF2B5EF4-FFF2-40B4-BE49-F238E27FC236}">
                  <a16:creationId xmlns:a16="http://schemas.microsoft.com/office/drawing/2014/main" id="{E4A4F9D2-FB9E-6EA9-5C09-8312E5ED303C}"/>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506" name="Retângulo: Cantos Arredondados 505">
              <a:extLst>
                <a:ext uri="{FF2B5EF4-FFF2-40B4-BE49-F238E27FC236}">
                  <a16:creationId xmlns:a16="http://schemas.microsoft.com/office/drawing/2014/main" id="{19B9C8E5-199A-7D77-77A4-420469D48DC6}"/>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07" name="Retângulo: Cantos Arredondados 506">
              <a:extLst>
                <a:ext uri="{FF2B5EF4-FFF2-40B4-BE49-F238E27FC236}">
                  <a16:creationId xmlns:a16="http://schemas.microsoft.com/office/drawing/2014/main" id="{AA320747-6EC1-D466-AEAB-BB718FAB1B8E}"/>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508" name="Retângulo: Cantos Arredondados 507">
              <a:extLst>
                <a:ext uri="{FF2B5EF4-FFF2-40B4-BE49-F238E27FC236}">
                  <a16:creationId xmlns:a16="http://schemas.microsoft.com/office/drawing/2014/main" id="{F4E6CA00-4BE4-4FB6-A6E7-3C6FC9910B31}"/>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501" name="Agrupar 500">
            <a:extLst>
              <a:ext uri="{FF2B5EF4-FFF2-40B4-BE49-F238E27FC236}">
                <a16:creationId xmlns:a16="http://schemas.microsoft.com/office/drawing/2014/main" id="{FF5A2898-963B-4113-6456-4744558A17B3}"/>
              </a:ext>
            </a:extLst>
          </p:cNvPr>
          <p:cNvGrpSpPr/>
          <p:nvPr/>
        </p:nvGrpSpPr>
        <p:grpSpPr>
          <a:xfrm>
            <a:off x="9989591" y="5138287"/>
            <a:ext cx="1735809" cy="175957"/>
            <a:chOff x="802299" y="2294613"/>
            <a:chExt cx="1735809" cy="175957"/>
          </a:xfrm>
        </p:grpSpPr>
        <p:sp>
          <p:nvSpPr>
            <p:cNvPr id="502" name="Retângulo: Cantos Arredondados 501">
              <a:extLst>
                <a:ext uri="{FF2B5EF4-FFF2-40B4-BE49-F238E27FC236}">
                  <a16:creationId xmlns:a16="http://schemas.microsoft.com/office/drawing/2014/main" id="{18F63D41-EEE3-7E6B-7D2C-42A0147FCD4F}"/>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503" name="Retângulo: Cantos Arredondados 502">
              <a:extLst>
                <a:ext uri="{FF2B5EF4-FFF2-40B4-BE49-F238E27FC236}">
                  <a16:creationId xmlns:a16="http://schemas.microsoft.com/office/drawing/2014/main" id="{D494B03C-5F37-FDFE-0F69-CDA1D9744ED3}"/>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504" name="Retângulo: Cantos Arredondados 503">
              <a:extLst>
                <a:ext uri="{FF2B5EF4-FFF2-40B4-BE49-F238E27FC236}">
                  <a16:creationId xmlns:a16="http://schemas.microsoft.com/office/drawing/2014/main" id="{0176CD8A-5D96-3879-AD36-5765153383FF}"/>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524" name="Título 4">
            <a:extLst>
              <a:ext uri="{FF2B5EF4-FFF2-40B4-BE49-F238E27FC236}">
                <a16:creationId xmlns:a16="http://schemas.microsoft.com/office/drawing/2014/main" id="{3420FA38-D7DE-2E21-005C-C748651C0F1E}"/>
              </a:ext>
            </a:extLst>
          </p:cNvPr>
          <p:cNvSpPr>
            <a:spLocks noGrp="1"/>
          </p:cNvSpPr>
          <p:nvPr>
            <p:ph type="title"/>
          </p:nvPr>
        </p:nvSpPr>
        <p:spPr>
          <a:xfrm>
            <a:off x="1089653" y="303578"/>
            <a:ext cx="10485852" cy="645195"/>
          </a:xfrm>
        </p:spPr>
        <p:txBody>
          <a:bodyPr vert="horz" lIns="91440" tIns="45720" rIns="91440" bIns="45720" rtlCol="0" anchor="ctr">
            <a:noAutofit/>
          </a:bodyPr>
          <a:lstStyle/>
          <a:p>
            <a:pPr defTabSz="1055035">
              <a:lnSpc>
                <a:spcPct val="100000"/>
              </a:lnSpc>
              <a:spcBef>
                <a:spcPts val="0"/>
              </a:spcBef>
            </a:pPr>
            <a:r>
              <a:rPr lang="pt-BR" dirty="0"/>
              <a:t>Simulação de Cenários</a:t>
            </a:r>
            <a:br>
              <a:rPr lang="pt-BR" dirty="0"/>
            </a:br>
            <a:r>
              <a:rPr lang="pt-BR" sz="1600" b="0" dirty="0" err="1">
                <a:solidFill>
                  <a:prstClr val="black"/>
                </a:solidFill>
                <a:latin typeface="Calibri"/>
              </a:rPr>
              <a:t>Mock-up</a:t>
            </a:r>
            <a:r>
              <a:rPr lang="pt-BR" sz="1600" b="0" dirty="0">
                <a:solidFill>
                  <a:prstClr val="black"/>
                </a:solidFill>
                <a:latin typeface="Calibri"/>
              </a:rPr>
              <a:t> tela inicial – Ilustração de Parada com simulação de cenários em andamento</a:t>
            </a:r>
          </a:p>
        </p:txBody>
      </p:sp>
      <p:sp>
        <p:nvSpPr>
          <p:cNvPr id="525" name="Retângulo 524">
            <a:extLst>
              <a:ext uri="{FF2B5EF4-FFF2-40B4-BE49-F238E27FC236}">
                <a16:creationId xmlns:a16="http://schemas.microsoft.com/office/drawing/2014/main" id="{4DD7C88C-A185-1DEC-504B-1913862DE22F}"/>
              </a:ext>
            </a:extLst>
          </p:cNvPr>
          <p:cNvSpPr/>
          <p:nvPr/>
        </p:nvSpPr>
        <p:spPr>
          <a:xfrm>
            <a:off x="335360" y="1037696"/>
            <a:ext cx="11446005" cy="360040"/>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26" name="CaixaDeTexto 525">
            <a:extLst>
              <a:ext uri="{FF2B5EF4-FFF2-40B4-BE49-F238E27FC236}">
                <a16:creationId xmlns:a16="http://schemas.microsoft.com/office/drawing/2014/main" id="{4D1D20D0-BC0D-F607-6E6F-DB5342F00670}"/>
              </a:ext>
            </a:extLst>
          </p:cNvPr>
          <p:cNvSpPr txBox="1"/>
          <p:nvPr/>
        </p:nvSpPr>
        <p:spPr>
          <a:xfrm>
            <a:off x="335360" y="1086911"/>
            <a:ext cx="1584176" cy="261610"/>
          </a:xfrm>
          <a:prstGeom prst="rect">
            <a:avLst/>
          </a:prstGeom>
          <a:noFill/>
        </p:spPr>
        <p:txBody>
          <a:bodyPr wrap="square" rtlCol="0">
            <a:spAutoFit/>
          </a:bodyPr>
          <a:lstStyle/>
          <a:p>
            <a:pPr algn="ctr"/>
            <a:r>
              <a:rPr lang="pt-BR" sz="1100" dirty="0">
                <a:solidFill>
                  <a:schemeClr val="bg1"/>
                </a:solidFill>
              </a:rPr>
              <a:t>Painel Geral de Paradas</a:t>
            </a:r>
          </a:p>
        </p:txBody>
      </p:sp>
      <p:sp>
        <p:nvSpPr>
          <p:cNvPr id="529" name="CaixaDeTexto 528">
            <a:extLst>
              <a:ext uri="{FF2B5EF4-FFF2-40B4-BE49-F238E27FC236}">
                <a16:creationId xmlns:a16="http://schemas.microsoft.com/office/drawing/2014/main" id="{0D01697F-C38E-7FDA-A0E5-1798E9F20043}"/>
              </a:ext>
            </a:extLst>
          </p:cNvPr>
          <p:cNvSpPr txBox="1"/>
          <p:nvPr/>
        </p:nvSpPr>
        <p:spPr>
          <a:xfrm>
            <a:off x="2107287" y="1086911"/>
            <a:ext cx="720080" cy="261610"/>
          </a:xfrm>
          <a:prstGeom prst="rect">
            <a:avLst/>
          </a:prstGeom>
          <a:noFill/>
        </p:spPr>
        <p:txBody>
          <a:bodyPr wrap="square" rtlCol="0">
            <a:spAutoFit/>
          </a:bodyPr>
          <a:lstStyle/>
          <a:p>
            <a:pPr algn="ctr"/>
            <a:r>
              <a:rPr lang="pt-BR" sz="1100" dirty="0">
                <a:solidFill>
                  <a:schemeClr val="bg1"/>
                </a:solidFill>
              </a:rPr>
              <a:t>Outlook</a:t>
            </a:r>
          </a:p>
        </p:txBody>
      </p:sp>
      <p:pic>
        <p:nvPicPr>
          <p:cNvPr id="531" name="Imagem 530" descr="Forma&#10;&#10;O conteúdo gerado por IA pode estar incorreto.">
            <a:extLst>
              <a:ext uri="{FF2B5EF4-FFF2-40B4-BE49-F238E27FC236}">
                <a16:creationId xmlns:a16="http://schemas.microsoft.com/office/drawing/2014/main" id="{B3EC7804-9745-2A7A-40F2-80621BFBEE89}"/>
              </a:ext>
            </a:extLst>
          </p:cNvPr>
          <p:cNvPicPr>
            <a:picLocks noChangeAspect="1"/>
          </p:cNvPicPr>
          <p:nvPr/>
        </p:nvPicPr>
        <p:blipFill>
          <a:blip r:embed="rId2" cstate="print">
            <a:duotone>
              <a:prstClr val="black"/>
              <a:schemeClr val="bg1">
                <a:tint val="45000"/>
                <a:satMod val="400000"/>
              </a:schemeClr>
            </a:duotone>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l="18329" t="10750" r="17592" b="25755"/>
          <a:stretch>
            <a:fillRect/>
          </a:stretch>
        </p:blipFill>
        <p:spPr>
          <a:xfrm>
            <a:off x="11447964" y="1110070"/>
            <a:ext cx="222590" cy="220560"/>
          </a:xfrm>
          <a:prstGeom prst="rect">
            <a:avLst/>
          </a:prstGeom>
        </p:spPr>
      </p:pic>
      <p:sp>
        <p:nvSpPr>
          <p:cNvPr id="532" name="Retângulo 531">
            <a:extLst>
              <a:ext uri="{FF2B5EF4-FFF2-40B4-BE49-F238E27FC236}">
                <a16:creationId xmlns:a16="http://schemas.microsoft.com/office/drawing/2014/main" id="{0B14E693-3EDA-9F4A-033E-D6738A29ECD6}"/>
              </a:ext>
            </a:extLst>
          </p:cNvPr>
          <p:cNvSpPr/>
          <p:nvPr/>
        </p:nvSpPr>
        <p:spPr>
          <a:xfrm>
            <a:off x="335360" y="1438177"/>
            <a:ext cx="11446005" cy="900000"/>
          </a:xfrm>
          <a:prstGeom prst="rect">
            <a:avLst/>
          </a:prstGeom>
          <a:solidFill>
            <a:srgbClr val="FFFF99"/>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solidFill>
                  <a:srgbClr val="FF0000"/>
                </a:solidFill>
              </a:rPr>
              <a:t>Indicadores Financeiros</a:t>
            </a:r>
          </a:p>
        </p:txBody>
      </p:sp>
      <p:sp>
        <p:nvSpPr>
          <p:cNvPr id="533" name="CaixaDeTexto 532">
            <a:extLst>
              <a:ext uri="{FF2B5EF4-FFF2-40B4-BE49-F238E27FC236}">
                <a16:creationId xmlns:a16="http://schemas.microsoft.com/office/drawing/2014/main" id="{9A77AE5C-7D28-3925-401D-B14C78554186}"/>
              </a:ext>
            </a:extLst>
          </p:cNvPr>
          <p:cNvSpPr txBox="1"/>
          <p:nvPr/>
        </p:nvSpPr>
        <p:spPr>
          <a:xfrm>
            <a:off x="3015118" y="1086911"/>
            <a:ext cx="960784" cy="261610"/>
          </a:xfrm>
          <a:prstGeom prst="rect">
            <a:avLst/>
          </a:prstGeom>
          <a:noFill/>
        </p:spPr>
        <p:txBody>
          <a:bodyPr wrap="square" rtlCol="0">
            <a:spAutoFit/>
          </a:bodyPr>
          <a:lstStyle/>
          <a:p>
            <a:pPr algn="ctr"/>
            <a:r>
              <a:rPr lang="pt-BR" sz="1100" dirty="0">
                <a:solidFill>
                  <a:schemeClr val="bg1"/>
                </a:solidFill>
              </a:rPr>
              <a:t>nav_btn_3</a:t>
            </a:r>
          </a:p>
        </p:txBody>
      </p:sp>
      <p:sp>
        <p:nvSpPr>
          <p:cNvPr id="534" name="CaixaDeTexto 533">
            <a:extLst>
              <a:ext uri="{FF2B5EF4-FFF2-40B4-BE49-F238E27FC236}">
                <a16:creationId xmlns:a16="http://schemas.microsoft.com/office/drawing/2014/main" id="{B58985ED-81A0-8D7A-29A4-AD800D9458C3}"/>
              </a:ext>
            </a:extLst>
          </p:cNvPr>
          <p:cNvSpPr txBox="1"/>
          <p:nvPr/>
        </p:nvSpPr>
        <p:spPr>
          <a:xfrm>
            <a:off x="4163654" y="1086911"/>
            <a:ext cx="960784" cy="261610"/>
          </a:xfrm>
          <a:prstGeom prst="rect">
            <a:avLst/>
          </a:prstGeom>
          <a:noFill/>
        </p:spPr>
        <p:txBody>
          <a:bodyPr wrap="square" rtlCol="0">
            <a:spAutoFit/>
          </a:bodyPr>
          <a:lstStyle/>
          <a:p>
            <a:pPr algn="ctr"/>
            <a:r>
              <a:rPr lang="pt-BR" sz="1100" dirty="0">
                <a:solidFill>
                  <a:schemeClr val="bg1"/>
                </a:solidFill>
              </a:rPr>
              <a:t>nav_btn_4</a:t>
            </a:r>
          </a:p>
        </p:txBody>
      </p:sp>
      <p:sp>
        <p:nvSpPr>
          <p:cNvPr id="19" name="Retângulo 18">
            <a:extLst>
              <a:ext uri="{FF2B5EF4-FFF2-40B4-BE49-F238E27FC236}">
                <a16:creationId xmlns:a16="http://schemas.microsoft.com/office/drawing/2014/main" id="{5E43C2F4-233B-26A3-E3CC-477230FEBE29}"/>
              </a:ext>
            </a:extLst>
          </p:cNvPr>
          <p:cNvSpPr/>
          <p:nvPr/>
        </p:nvSpPr>
        <p:spPr>
          <a:xfrm>
            <a:off x="194132" y="2378619"/>
            <a:ext cx="11753184" cy="3173726"/>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Cantos Arredondados 17">
            <a:hlinkClick r:id="" action="ppaction://noaction"/>
            <a:extLst>
              <a:ext uri="{FF2B5EF4-FFF2-40B4-BE49-F238E27FC236}">
                <a16:creationId xmlns:a16="http://schemas.microsoft.com/office/drawing/2014/main" id="{53F65263-C946-3B26-D390-C552EBE9E0E5}"/>
              </a:ext>
            </a:extLst>
          </p:cNvPr>
          <p:cNvSpPr/>
          <p:nvPr/>
        </p:nvSpPr>
        <p:spPr>
          <a:xfrm>
            <a:off x="244684" y="2932564"/>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7" name="Retângulo: Cantos Arredondados 16">
            <a:hlinkClick r:id="" action="ppaction://noaction"/>
            <a:extLst>
              <a:ext uri="{FF2B5EF4-FFF2-40B4-BE49-F238E27FC236}">
                <a16:creationId xmlns:a16="http://schemas.microsoft.com/office/drawing/2014/main" id="{7900D5AC-9360-3D39-AE24-A322112C8DAC}"/>
              </a:ext>
            </a:extLst>
          </p:cNvPr>
          <p:cNvSpPr/>
          <p:nvPr/>
        </p:nvSpPr>
        <p:spPr>
          <a:xfrm>
            <a:off x="290375" y="2879740"/>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 name="Retângulo: Cantos Arredondados 1">
            <a:hlinkClick r:id="" action="ppaction://noaction"/>
            <a:extLst>
              <a:ext uri="{FF2B5EF4-FFF2-40B4-BE49-F238E27FC236}">
                <a16:creationId xmlns:a16="http://schemas.microsoft.com/office/drawing/2014/main" id="{1E633129-B932-8CC6-4300-7C34BD2F5BCD}"/>
              </a:ext>
            </a:extLst>
          </p:cNvPr>
          <p:cNvSpPr/>
          <p:nvPr/>
        </p:nvSpPr>
        <p:spPr>
          <a:xfrm>
            <a:off x="335360" y="2826922"/>
            <a:ext cx="1844833" cy="864096"/>
          </a:xfrm>
          <a:prstGeom prst="roundRect">
            <a:avLst>
              <a:gd name="adj" fmla="val 5694"/>
            </a:avLst>
          </a:prstGeom>
          <a:solidFill>
            <a:schemeClr val="bg1">
              <a:lumMod val="85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grpSp>
        <p:nvGrpSpPr>
          <p:cNvPr id="43" name="Agrupar 42">
            <a:extLst>
              <a:ext uri="{FF2B5EF4-FFF2-40B4-BE49-F238E27FC236}">
                <a16:creationId xmlns:a16="http://schemas.microsoft.com/office/drawing/2014/main" id="{48687951-A077-DE43-D61D-64BF675EB710}"/>
              </a:ext>
            </a:extLst>
          </p:cNvPr>
          <p:cNvGrpSpPr/>
          <p:nvPr/>
        </p:nvGrpSpPr>
        <p:grpSpPr>
          <a:xfrm>
            <a:off x="393680" y="2850907"/>
            <a:ext cx="1728192" cy="175957"/>
            <a:chOff x="807560" y="1796801"/>
            <a:chExt cx="1728192" cy="175957"/>
          </a:xfrm>
        </p:grpSpPr>
        <p:sp>
          <p:nvSpPr>
            <p:cNvPr id="7" name="Retângulo: Cantos Arredondados 6">
              <a:extLst>
                <a:ext uri="{FF2B5EF4-FFF2-40B4-BE49-F238E27FC236}">
                  <a16:creationId xmlns:a16="http://schemas.microsoft.com/office/drawing/2014/main" id="{BC4C4837-55FD-CC20-D1F7-E40B313016D1}"/>
                </a:ext>
              </a:extLst>
            </p:cNvPr>
            <p:cNvSpPr/>
            <p:nvPr/>
          </p:nvSpPr>
          <p:spPr>
            <a:xfrm>
              <a:off x="807560"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8" name="Retângulo: Cantos Arredondados 7">
              <a:extLst>
                <a:ext uri="{FF2B5EF4-FFF2-40B4-BE49-F238E27FC236}">
                  <a16:creationId xmlns:a16="http://schemas.microsoft.com/office/drawing/2014/main" id="{1F8416EE-D1E7-079C-8F3A-1F73EAEDD383}"/>
                </a:ext>
              </a:extLst>
            </p:cNvPr>
            <p:cNvSpPr/>
            <p:nvPr/>
          </p:nvSpPr>
          <p:spPr>
            <a:xfrm>
              <a:off x="1165814" y="1796801"/>
              <a:ext cx="101168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[Embarcação]</a:t>
              </a:r>
            </a:p>
          </p:txBody>
        </p:sp>
        <p:sp>
          <p:nvSpPr>
            <p:cNvPr id="9" name="Retângulo: Cantos Arredondados 8">
              <a:extLst>
                <a:ext uri="{FF2B5EF4-FFF2-40B4-BE49-F238E27FC236}">
                  <a16:creationId xmlns:a16="http://schemas.microsoft.com/office/drawing/2014/main" id="{DD2F6EFD-223F-8A55-58A0-9C3693765B54}"/>
                </a:ext>
              </a:extLst>
            </p:cNvPr>
            <p:cNvSpPr/>
            <p:nvPr/>
          </p:nvSpPr>
          <p:spPr>
            <a:xfrm>
              <a:off x="2208479" y="1796801"/>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[Status]</a:t>
              </a:r>
            </a:p>
          </p:txBody>
        </p:sp>
      </p:grpSp>
      <p:grpSp>
        <p:nvGrpSpPr>
          <p:cNvPr id="44" name="Agrupar 43">
            <a:extLst>
              <a:ext uri="{FF2B5EF4-FFF2-40B4-BE49-F238E27FC236}">
                <a16:creationId xmlns:a16="http://schemas.microsoft.com/office/drawing/2014/main" id="{558E21A8-6BF1-718A-418F-DC638ACF36C6}"/>
              </a:ext>
            </a:extLst>
          </p:cNvPr>
          <p:cNvGrpSpPr/>
          <p:nvPr/>
        </p:nvGrpSpPr>
        <p:grpSpPr>
          <a:xfrm>
            <a:off x="472119" y="3531234"/>
            <a:ext cx="1571314" cy="108000"/>
            <a:chOff x="885999" y="2544755"/>
            <a:chExt cx="1571314" cy="108000"/>
          </a:xfrm>
        </p:grpSpPr>
        <p:sp>
          <p:nvSpPr>
            <p:cNvPr id="3" name="Retângulo 2">
              <a:extLst>
                <a:ext uri="{FF2B5EF4-FFF2-40B4-BE49-F238E27FC236}">
                  <a16:creationId xmlns:a16="http://schemas.microsoft.com/office/drawing/2014/main" id="{85461681-6F07-5EB9-B8F7-77C3D8531996}"/>
                </a:ext>
              </a:extLst>
            </p:cNvPr>
            <p:cNvSpPr/>
            <p:nvPr/>
          </p:nvSpPr>
          <p:spPr>
            <a:xfrm>
              <a:off x="885999"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4" name="CaixaDeTexto 3">
              <a:extLst>
                <a:ext uri="{FF2B5EF4-FFF2-40B4-BE49-F238E27FC236}">
                  <a16:creationId xmlns:a16="http://schemas.microsoft.com/office/drawing/2014/main" id="{D55C2B7B-7D38-890B-126E-6CD48C825FE8}"/>
                </a:ext>
              </a:extLst>
            </p:cNvPr>
            <p:cNvSpPr txBox="1"/>
            <p:nvPr/>
          </p:nvSpPr>
          <p:spPr>
            <a:xfrm>
              <a:off x="1003494" y="2544894"/>
              <a:ext cx="183708" cy="107722"/>
            </a:xfrm>
            <a:prstGeom prst="rect">
              <a:avLst/>
            </a:prstGeom>
            <a:noFill/>
          </p:spPr>
          <p:txBody>
            <a:bodyPr wrap="square" lIns="0" tIns="0" rIns="0" bIns="0" rtlCol="0">
              <a:spAutoFit/>
            </a:bodyPr>
            <a:lstStyle/>
            <a:p>
              <a:r>
                <a:rPr lang="pt-BR" sz="700" dirty="0"/>
                <a:t>100</a:t>
              </a:r>
            </a:p>
          </p:txBody>
        </p:sp>
        <p:sp>
          <p:nvSpPr>
            <p:cNvPr id="6" name="Retângulo 5">
              <a:extLst>
                <a:ext uri="{FF2B5EF4-FFF2-40B4-BE49-F238E27FC236}">
                  <a16:creationId xmlns:a16="http://schemas.microsoft.com/office/drawing/2014/main" id="{73E1E9C8-566C-4BA2-4DA6-6E1CF6244ABB}"/>
                </a:ext>
              </a:extLst>
            </p:cNvPr>
            <p:cNvSpPr/>
            <p:nvPr/>
          </p:nvSpPr>
          <p:spPr>
            <a:xfrm>
              <a:off x="1203527"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0" name="CaixaDeTexto 9">
              <a:extLst>
                <a:ext uri="{FF2B5EF4-FFF2-40B4-BE49-F238E27FC236}">
                  <a16:creationId xmlns:a16="http://schemas.microsoft.com/office/drawing/2014/main" id="{CE16812D-4E05-A8AC-6602-3B2232778639}"/>
                </a:ext>
              </a:extLst>
            </p:cNvPr>
            <p:cNvSpPr txBox="1"/>
            <p:nvPr/>
          </p:nvSpPr>
          <p:spPr>
            <a:xfrm>
              <a:off x="1321022" y="2544894"/>
              <a:ext cx="183708" cy="107722"/>
            </a:xfrm>
            <a:prstGeom prst="rect">
              <a:avLst/>
            </a:prstGeom>
            <a:noFill/>
          </p:spPr>
          <p:txBody>
            <a:bodyPr wrap="square" lIns="0" tIns="0" rIns="0" bIns="0" rtlCol="0">
              <a:spAutoFit/>
            </a:bodyPr>
            <a:lstStyle/>
            <a:p>
              <a:r>
                <a:rPr lang="pt-BR" sz="700" dirty="0"/>
                <a:t>101</a:t>
              </a:r>
            </a:p>
          </p:txBody>
        </p:sp>
        <p:sp>
          <p:nvSpPr>
            <p:cNvPr id="11" name="Retângulo 10">
              <a:extLst>
                <a:ext uri="{FF2B5EF4-FFF2-40B4-BE49-F238E27FC236}">
                  <a16:creationId xmlns:a16="http://schemas.microsoft.com/office/drawing/2014/main" id="{1D2FEE63-A4F9-56A9-5512-A6F1A1C7F38D}"/>
                </a:ext>
              </a:extLst>
            </p:cNvPr>
            <p:cNvSpPr/>
            <p:nvPr/>
          </p:nvSpPr>
          <p:spPr>
            <a:xfrm>
              <a:off x="1521055"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2" name="CaixaDeTexto 11">
              <a:extLst>
                <a:ext uri="{FF2B5EF4-FFF2-40B4-BE49-F238E27FC236}">
                  <a16:creationId xmlns:a16="http://schemas.microsoft.com/office/drawing/2014/main" id="{D8D18C7F-ADC6-1082-4A53-46A48567E76E}"/>
                </a:ext>
              </a:extLst>
            </p:cNvPr>
            <p:cNvSpPr txBox="1"/>
            <p:nvPr/>
          </p:nvSpPr>
          <p:spPr>
            <a:xfrm>
              <a:off x="1638550" y="2544894"/>
              <a:ext cx="183708" cy="107722"/>
            </a:xfrm>
            <a:prstGeom prst="rect">
              <a:avLst/>
            </a:prstGeom>
            <a:noFill/>
          </p:spPr>
          <p:txBody>
            <a:bodyPr wrap="square" lIns="0" tIns="0" rIns="0" bIns="0" rtlCol="0">
              <a:spAutoFit/>
            </a:bodyPr>
            <a:lstStyle/>
            <a:p>
              <a:r>
                <a:rPr lang="pt-BR" sz="700" dirty="0"/>
                <a:t>102</a:t>
              </a:r>
            </a:p>
          </p:txBody>
        </p:sp>
        <p:sp>
          <p:nvSpPr>
            <p:cNvPr id="13" name="Retângulo 12">
              <a:extLst>
                <a:ext uri="{FF2B5EF4-FFF2-40B4-BE49-F238E27FC236}">
                  <a16:creationId xmlns:a16="http://schemas.microsoft.com/office/drawing/2014/main" id="{8E96F3A6-FDE3-4028-B605-DF59602940D3}"/>
                </a:ext>
              </a:extLst>
            </p:cNvPr>
            <p:cNvSpPr/>
            <p:nvPr/>
          </p:nvSpPr>
          <p:spPr>
            <a:xfrm>
              <a:off x="1838583"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900" dirty="0">
                  <a:solidFill>
                    <a:srgbClr val="00B050"/>
                  </a:solidFill>
                  <a:latin typeface="Webdings" panose="05030102010509060703" pitchFamily="18" charset="2"/>
                </a:rPr>
                <a:t>a</a:t>
              </a:r>
              <a:endParaRPr lang="pt-BR" sz="3600" dirty="0">
                <a:solidFill>
                  <a:srgbClr val="00B050"/>
                </a:solidFill>
                <a:latin typeface="Webdings" panose="05030102010509060703" pitchFamily="18" charset="2"/>
              </a:endParaRPr>
            </a:p>
          </p:txBody>
        </p:sp>
        <p:sp>
          <p:nvSpPr>
            <p:cNvPr id="14" name="CaixaDeTexto 13">
              <a:extLst>
                <a:ext uri="{FF2B5EF4-FFF2-40B4-BE49-F238E27FC236}">
                  <a16:creationId xmlns:a16="http://schemas.microsoft.com/office/drawing/2014/main" id="{F56D53B0-CE9A-EBE8-1B23-2EE571371141}"/>
                </a:ext>
              </a:extLst>
            </p:cNvPr>
            <p:cNvSpPr txBox="1"/>
            <p:nvPr/>
          </p:nvSpPr>
          <p:spPr>
            <a:xfrm>
              <a:off x="1956078" y="2544894"/>
              <a:ext cx="183708" cy="107722"/>
            </a:xfrm>
            <a:prstGeom prst="rect">
              <a:avLst/>
            </a:prstGeom>
            <a:noFill/>
          </p:spPr>
          <p:txBody>
            <a:bodyPr wrap="square" lIns="0" tIns="0" rIns="0" bIns="0" rtlCol="0">
              <a:spAutoFit/>
            </a:bodyPr>
            <a:lstStyle/>
            <a:p>
              <a:r>
                <a:rPr lang="pt-BR" sz="700" dirty="0"/>
                <a:t>103</a:t>
              </a:r>
            </a:p>
          </p:txBody>
        </p:sp>
        <p:sp>
          <p:nvSpPr>
            <p:cNvPr id="15" name="Retângulo 14">
              <a:extLst>
                <a:ext uri="{FF2B5EF4-FFF2-40B4-BE49-F238E27FC236}">
                  <a16:creationId xmlns:a16="http://schemas.microsoft.com/office/drawing/2014/main" id="{E9C41B74-3CC4-8CB3-9D73-85B5FF543700}"/>
                </a:ext>
              </a:extLst>
            </p:cNvPr>
            <p:cNvSpPr/>
            <p:nvPr/>
          </p:nvSpPr>
          <p:spPr>
            <a:xfrm>
              <a:off x="2156110" y="2544755"/>
              <a:ext cx="108000" cy="108000"/>
            </a:xfrm>
            <a:prstGeom prst="rect">
              <a:avLst/>
            </a:prstGeom>
            <a:no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16" name="CaixaDeTexto 15">
              <a:extLst>
                <a:ext uri="{FF2B5EF4-FFF2-40B4-BE49-F238E27FC236}">
                  <a16:creationId xmlns:a16="http://schemas.microsoft.com/office/drawing/2014/main" id="{E60C8656-B9B5-B2BC-9F7A-42DA8F214C0B}"/>
                </a:ext>
              </a:extLst>
            </p:cNvPr>
            <p:cNvSpPr txBox="1"/>
            <p:nvPr/>
          </p:nvSpPr>
          <p:spPr>
            <a:xfrm>
              <a:off x="2273605" y="2544894"/>
              <a:ext cx="183708" cy="107722"/>
            </a:xfrm>
            <a:prstGeom prst="rect">
              <a:avLst/>
            </a:prstGeom>
            <a:noFill/>
          </p:spPr>
          <p:txBody>
            <a:bodyPr wrap="square" lIns="0" tIns="0" rIns="0" bIns="0" rtlCol="0">
              <a:spAutoFit/>
            </a:bodyPr>
            <a:lstStyle/>
            <a:p>
              <a:r>
                <a:rPr lang="pt-BR" sz="700" dirty="0"/>
                <a:t>301</a:t>
              </a:r>
            </a:p>
          </p:txBody>
        </p:sp>
      </p:grpSp>
      <p:grpSp>
        <p:nvGrpSpPr>
          <p:cNvPr id="42" name="Agrupar 41">
            <a:extLst>
              <a:ext uri="{FF2B5EF4-FFF2-40B4-BE49-F238E27FC236}">
                <a16:creationId xmlns:a16="http://schemas.microsoft.com/office/drawing/2014/main" id="{9E352889-79A4-2C82-2D3C-18B6688A1F17}"/>
              </a:ext>
            </a:extLst>
          </p:cNvPr>
          <p:cNvGrpSpPr/>
          <p:nvPr/>
        </p:nvGrpSpPr>
        <p:grpSpPr>
          <a:xfrm>
            <a:off x="393680" y="3077683"/>
            <a:ext cx="1730548" cy="175957"/>
            <a:chOff x="807560" y="2045707"/>
            <a:chExt cx="1730548" cy="175957"/>
          </a:xfrm>
        </p:grpSpPr>
        <p:sp>
          <p:nvSpPr>
            <p:cNvPr id="23" name="Retângulo: Cantos Arredondados 22">
              <a:extLst>
                <a:ext uri="{FF2B5EF4-FFF2-40B4-BE49-F238E27FC236}">
                  <a16:creationId xmlns:a16="http://schemas.microsoft.com/office/drawing/2014/main" id="{6863E4F2-DEFC-50DA-4BAD-CC7B5B81A035}"/>
                </a:ext>
              </a:extLst>
            </p:cNvPr>
            <p:cNvSpPr/>
            <p:nvPr/>
          </p:nvSpPr>
          <p:spPr>
            <a:xfrm>
              <a:off x="807560"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[Início]</a:t>
              </a:r>
            </a:p>
          </p:txBody>
        </p:sp>
        <p:sp>
          <p:nvSpPr>
            <p:cNvPr id="24" name="Retângulo: Cantos Arredondados 23">
              <a:extLst>
                <a:ext uri="{FF2B5EF4-FFF2-40B4-BE49-F238E27FC236}">
                  <a16:creationId xmlns:a16="http://schemas.microsoft.com/office/drawing/2014/main" id="{8ACBDF2D-4AFB-A0FC-2003-AAB50EB7C989}"/>
                </a:ext>
              </a:extLst>
            </p:cNvPr>
            <p:cNvSpPr/>
            <p:nvPr/>
          </p:nvSpPr>
          <p:spPr>
            <a:xfrm>
              <a:off x="1172046"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a:t>
              </a:r>
              <a:r>
                <a:rPr kumimoji="0" lang="pt-BR" sz="700" b="0" i="0" u="none" strike="noStrike" kern="1200" cap="none" spc="0" normalizeH="0" baseline="0" noProof="0" dirty="0" err="1">
                  <a:ln>
                    <a:noFill/>
                  </a:ln>
                  <a:solidFill>
                    <a:prstClr val="black"/>
                  </a:solidFill>
                  <a:effectLst/>
                  <a:uLnTx/>
                  <a:uFillTx/>
                  <a:latin typeface="Calibri"/>
                  <a:ea typeface="+mn-ea"/>
                  <a:cs typeface="+mn-cs"/>
                </a:rPr>
                <a:t>Dur</a:t>
              </a:r>
              <a:r>
                <a:rPr kumimoji="0" lang="pt-BR" sz="700" b="0" i="0" u="none" strike="noStrike" kern="1200" cap="none" spc="0" normalizeH="0" baseline="0" noProof="0" dirty="0">
                  <a:ln>
                    <a:noFill/>
                  </a:ln>
                  <a:solidFill>
                    <a:prstClr val="black"/>
                  </a:solidFill>
                  <a:effectLst/>
                  <a:uLnTx/>
                  <a:uFillTx/>
                  <a:latin typeface="Calibri"/>
                  <a:ea typeface="+mn-ea"/>
                  <a:cs typeface="+mn-cs"/>
                </a:rPr>
                <a:t>]</a:t>
              </a:r>
            </a:p>
          </p:txBody>
        </p:sp>
        <p:sp>
          <p:nvSpPr>
            <p:cNvPr id="25" name="Retângulo: Cantos Arredondados 24">
              <a:extLst>
                <a:ext uri="{FF2B5EF4-FFF2-40B4-BE49-F238E27FC236}">
                  <a16:creationId xmlns:a16="http://schemas.microsoft.com/office/drawing/2014/main" id="{4AB80D18-2547-6D59-A038-92F42DC3ABB6}"/>
                </a:ext>
              </a:extLst>
            </p:cNvPr>
            <p:cNvSpPr/>
            <p:nvPr/>
          </p:nvSpPr>
          <p:spPr>
            <a:xfrm>
              <a:off x="1536532" y="2045707"/>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27" name="Retângulo: Cantos Arredondados 26">
              <a:extLst>
                <a:ext uri="{FF2B5EF4-FFF2-40B4-BE49-F238E27FC236}">
                  <a16:creationId xmlns:a16="http://schemas.microsoft.com/office/drawing/2014/main" id="{9567CF13-EB4D-B009-70D5-FF15C9EBB14E}"/>
                </a:ext>
              </a:extLst>
            </p:cNvPr>
            <p:cNvSpPr/>
            <p:nvPr/>
          </p:nvSpPr>
          <p:spPr>
            <a:xfrm>
              <a:off x="1901019" y="2045707"/>
              <a:ext cx="637089"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[Condição]</a:t>
              </a:r>
            </a:p>
          </p:txBody>
        </p:sp>
      </p:grpSp>
      <p:grpSp>
        <p:nvGrpSpPr>
          <p:cNvPr id="41" name="Agrupar 40">
            <a:extLst>
              <a:ext uri="{FF2B5EF4-FFF2-40B4-BE49-F238E27FC236}">
                <a16:creationId xmlns:a16="http://schemas.microsoft.com/office/drawing/2014/main" id="{517EEA68-BCD5-9648-79EF-F05B7F80D8AB}"/>
              </a:ext>
            </a:extLst>
          </p:cNvPr>
          <p:cNvGrpSpPr/>
          <p:nvPr/>
        </p:nvGrpSpPr>
        <p:grpSpPr>
          <a:xfrm>
            <a:off x="388419" y="3304459"/>
            <a:ext cx="1735809" cy="175957"/>
            <a:chOff x="802299" y="2294613"/>
            <a:chExt cx="1735809" cy="175957"/>
          </a:xfrm>
        </p:grpSpPr>
        <p:sp>
          <p:nvSpPr>
            <p:cNvPr id="28" name="Retângulo: Cantos Arredondados 27">
              <a:extLst>
                <a:ext uri="{FF2B5EF4-FFF2-40B4-BE49-F238E27FC236}">
                  <a16:creationId xmlns:a16="http://schemas.microsoft.com/office/drawing/2014/main" id="{705CE164-FE71-9504-A655-1F30196DDE9D}"/>
                </a:ext>
              </a:extLst>
            </p:cNvPr>
            <p:cNvSpPr/>
            <p:nvPr/>
          </p:nvSpPr>
          <p:spPr>
            <a:xfrm>
              <a:off x="802299" y="2294613"/>
              <a:ext cx="699196"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[Valor Estimado]</a:t>
              </a:r>
            </a:p>
          </p:txBody>
        </p:sp>
        <p:sp>
          <p:nvSpPr>
            <p:cNvPr id="30" name="Retângulo: Cantos Arredondados 29">
              <a:extLst>
                <a:ext uri="{FF2B5EF4-FFF2-40B4-BE49-F238E27FC236}">
                  <a16:creationId xmlns:a16="http://schemas.microsoft.com/office/drawing/2014/main" id="{7299AD26-A46D-E95C-D480-6B5A48EDEEF8}"/>
                </a:ext>
              </a:extLst>
            </p:cNvPr>
            <p:cNvSpPr/>
            <p:nvPr/>
          </p:nvSpPr>
          <p:spPr>
            <a:xfrm>
              <a:off x="1533865" y="2294613"/>
              <a:ext cx="643632"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[Outlook]</a:t>
              </a:r>
            </a:p>
          </p:txBody>
        </p:sp>
        <p:sp>
          <p:nvSpPr>
            <p:cNvPr id="31" name="Retângulo: Cantos Arredondados 30">
              <a:extLst>
                <a:ext uri="{FF2B5EF4-FFF2-40B4-BE49-F238E27FC236}">
                  <a16:creationId xmlns:a16="http://schemas.microsoft.com/office/drawing/2014/main" id="{15CD2706-0E9C-32F7-49A2-EE642FCE2979}"/>
                </a:ext>
              </a:extLst>
            </p:cNvPr>
            <p:cNvSpPr/>
            <p:nvPr/>
          </p:nvSpPr>
          <p:spPr>
            <a:xfrm>
              <a:off x="2210835" y="2294613"/>
              <a:ext cx="327273" cy="175957"/>
            </a:xfrm>
            <a:prstGeom prst="roundRect">
              <a:avLst>
                <a:gd name="adj" fmla="val 8294"/>
              </a:avLst>
            </a:prstGeom>
            <a:solidFill>
              <a:srgbClr val="FFFFFF">
                <a:alpha val="80000"/>
              </a:srgbClr>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700" b="0" i="0" u="none" strike="noStrike" kern="1200" cap="none" spc="0" normalizeH="0" baseline="0" noProof="0" dirty="0">
                  <a:ln>
                    <a:noFill/>
                  </a:ln>
                  <a:solidFill>
                    <a:prstClr val="black"/>
                  </a:solidFill>
                  <a:effectLst/>
                  <a:uLnTx/>
                  <a:uFillTx/>
                  <a:latin typeface="Calibri"/>
                  <a:ea typeface="+mn-ea"/>
                  <a:cs typeface="+mn-cs"/>
                </a:rPr>
                <a:t>[Var]</a:t>
              </a:r>
            </a:p>
          </p:txBody>
        </p:sp>
      </p:grpSp>
      <p:sp>
        <p:nvSpPr>
          <p:cNvPr id="36" name="Retângulo: Cantos Arredondados 35">
            <a:extLst>
              <a:ext uri="{FF2B5EF4-FFF2-40B4-BE49-F238E27FC236}">
                <a16:creationId xmlns:a16="http://schemas.microsoft.com/office/drawing/2014/main" id="{D33A5937-06C4-48EC-E41A-C2CF82E40219}"/>
              </a:ext>
            </a:extLst>
          </p:cNvPr>
          <p:cNvSpPr/>
          <p:nvPr/>
        </p:nvSpPr>
        <p:spPr>
          <a:xfrm>
            <a:off x="335360" y="2408198"/>
            <a:ext cx="1844833" cy="360040"/>
          </a:xfrm>
          <a:prstGeom prst="round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t>FEL-0</a:t>
            </a:r>
          </a:p>
        </p:txBody>
      </p:sp>
    </p:spTree>
    <p:extLst>
      <p:ext uri="{BB962C8B-B14F-4D97-AF65-F5344CB8AC3E}">
        <p14:creationId xmlns:p14="http://schemas.microsoft.com/office/powerpoint/2010/main" val="3098106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F9F5-4C45-1499-055D-C3EEF656A2CE}"/>
            </a:ext>
          </a:extLst>
        </p:cNvPr>
        <p:cNvGrpSpPr/>
        <p:nvPr/>
      </p:nvGrpSpPr>
      <p:grpSpPr>
        <a:xfrm>
          <a:off x="0" y="0"/>
          <a:ext cx="0" cy="0"/>
          <a:chOff x="0" y="0"/>
          <a:chExt cx="0" cy="0"/>
        </a:xfrm>
      </p:grpSpPr>
      <p:sp>
        <p:nvSpPr>
          <p:cNvPr id="83" name="Retângulo 82">
            <a:extLst>
              <a:ext uri="{FF2B5EF4-FFF2-40B4-BE49-F238E27FC236}">
                <a16:creationId xmlns:a16="http://schemas.microsoft.com/office/drawing/2014/main" id="{A1C77F43-6D68-4FEF-C030-CB9BC0E478F9}"/>
              </a:ext>
            </a:extLst>
          </p:cNvPr>
          <p:cNvSpPr/>
          <p:nvPr/>
        </p:nvSpPr>
        <p:spPr>
          <a:xfrm>
            <a:off x="10848528" y="6237313"/>
            <a:ext cx="1343472" cy="62068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Cantos Arredondados 25">
            <a:extLst>
              <a:ext uri="{FF2B5EF4-FFF2-40B4-BE49-F238E27FC236}">
                <a16:creationId xmlns:a16="http://schemas.microsoft.com/office/drawing/2014/main" id="{BA1A7258-4A50-2566-CB63-912F3C7FE303}"/>
              </a:ext>
            </a:extLst>
          </p:cNvPr>
          <p:cNvSpPr/>
          <p:nvPr/>
        </p:nvSpPr>
        <p:spPr>
          <a:xfrm>
            <a:off x="0" y="0"/>
            <a:ext cx="12192000" cy="6858000"/>
          </a:xfrm>
          <a:prstGeom prst="roundRect">
            <a:avLst>
              <a:gd name="adj" fmla="val 339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35" name="Agrupar 534">
            <a:extLst>
              <a:ext uri="{FF2B5EF4-FFF2-40B4-BE49-F238E27FC236}">
                <a16:creationId xmlns:a16="http://schemas.microsoft.com/office/drawing/2014/main" id="{9573D7A3-1BF4-F09F-1972-F9D019907630}"/>
              </a:ext>
            </a:extLst>
          </p:cNvPr>
          <p:cNvGrpSpPr/>
          <p:nvPr/>
        </p:nvGrpSpPr>
        <p:grpSpPr>
          <a:xfrm>
            <a:off x="355701" y="1004610"/>
            <a:ext cx="1628241" cy="307777"/>
            <a:chOff x="833587" y="2273147"/>
            <a:chExt cx="1628241" cy="307777"/>
          </a:xfrm>
        </p:grpSpPr>
        <p:sp>
          <p:nvSpPr>
            <p:cNvPr id="542" name="Retângulo: Cantos Arredondados 541">
              <a:extLst>
                <a:ext uri="{FF2B5EF4-FFF2-40B4-BE49-F238E27FC236}">
                  <a16:creationId xmlns:a16="http://schemas.microsoft.com/office/drawing/2014/main" id="{0A44E5A8-4730-2383-2760-A616F8F849EF}"/>
                </a:ext>
              </a:extLst>
            </p:cNvPr>
            <p:cNvSpPr/>
            <p:nvPr/>
          </p:nvSpPr>
          <p:spPr>
            <a:xfrm>
              <a:off x="1918084" y="2310076"/>
              <a:ext cx="543744"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[#id]</a:t>
              </a:r>
            </a:p>
          </p:txBody>
        </p:sp>
        <p:sp>
          <p:nvSpPr>
            <p:cNvPr id="543" name="CaixaDeTexto 542">
              <a:extLst>
                <a:ext uri="{FF2B5EF4-FFF2-40B4-BE49-F238E27FC236}">
                  <a16:creationId xmlns:a16="http://schemas.microsoft.com/office/drawing/2014/main" id="{0A00B515-6ACD-DE4E-15EA-F4FC5C884B96}"/>
                </a:ext>
              </a:extLst>
            </p:cNvPr>
            <p:cNvSpPr txBox="1"/>
            <p:nvPr/>
          </p:nvSpPr>
          <p:spPr>
            <a:xfrm>
              <a:off x="833587" y="2273147"/>
              <a:ext cx="1188132" cy="307777"/>
            </a:xfrm>
            <a:prstGeom prst="rect">
              <a:avLst/>
            </a:prstGeom>
            <a:noFill/>
          </p:spPr>
          <p:txBody>
            <a:bodyPr wrap="square" rtlCol="0">
              <a:spAutoFit/>
            </a:bodyPr>
            <a:lstStyle/>
            <a:p>
              <a:r>
                <a:rPr lang="pt-BR" sz="1400" b="1" dirty="0"/>
                <a:t>ID da parada</a:t>
              </a:r>
            </a:p>
          </p:txBody>
        </p:sp>
      </p:grpSp>
      <p:grpSp>
        <p:nvGrpSpPr>
          <p:cNvPr id="536" name="Agrupar 535">
            <a:extLst>
              <a:ext uri="{FF2B5EF4-FFF2-40B4-BE49-F238E27FC236}">
                <a16:creationId xmlns:a16="http://schemas.microsoft.com/office/drawing/2014/main" id="{2441CE97-7021-0A2C-944C-1EBD8621F247}"/>
              </a:ext>
            </a:extLst>
          </p:cNvPr>
          <p:cNvGrpSpPr/>
          <p:nvPr/>
        </p:nvGrpSpPr>
        <p:grpSpPr>
          <a:xfrm>
            <a:off x="2151473" y="1004610"/>
            <a:ext cx="3182464" cy="307777"/>
            <a:chOff x="2914113" y="2273147"/>
            <a:chExt cx="3182464" cy="307777"/>
          </a:xfrm>
        </p:grpSpPr>
        <p:sp>
          <p:nvSpPr>
            <p:cNvPr id="540" name="Retângulo: Cantos Arredondados 539">
              <a:extLst>
                <a:ext uri="{FF2B5EF4-FFF2-40B4-BE49-F238E27FC236}">
                  <a16:creationId xmlns:a16="http://schemas.microsoft.com/office/drawing/2014/main" id="{A96DCA5E-23D1-35F3-7EE6-097A01777638}"/>
                </a:ext>
              </a:extLst>
            </p:cNvPr>
            <p:cNvSpPr/>
            <p:nvPr/>
          </p:nvSpPr>
          <p:spPr>
            <a:xfrm>
              <a:off x="3981049" y="2310076"/>
              <a:ext cx="2115528"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400" b="0" i="0" u="none" strike="noStrike" kern="1200" cap="none" spc="0" normalizeH="0" baseline="0" noProof="0" dirty="0">
                  <a:ln>
                    <a:noFill/>
                  </a:ln>
                  <a:solidFill>
                    <a:prstClr val="black"/>
                  </a:solidFill>
                  <a:effectLst/>
                  <a:uLnTx/>
                  <a:uFillTx/>
                  <a:latin typeface="Calibri"/>
                  <a:ea typeface="+mn-ea"/>
                  <a:cs typeface="+mn-cs"/>
                </a:rPr>
                <a:t>[</a:t>
              </a:r>
              <a:r>
                <a:rPr kumimoji="0" lang="pt-BR" sz="1400" b="0" i="0" u="none" strike="noStrike" kern="1200" cap="none" spc="0" normalizeH="0" baseline="0" noProof="0" dirty="0" err="1">
                  <a:ln>
                    <a:noFill/>
                  </a:ln>
                  <a:solidFill>
                    <a:prstClr val="black"/>
                  </a:solidFill>
                  <a:effectLst/>
                  <a:uLnTx/>
                  <a:uFillTx/>
                  <a:latin typeface="Calibri"/>
                  <a:ea typeface="+mn-ea"/>
                  <a:cs typeface="+mn-cs"/>
                </a:rPr>
                <a:t>nome_da_embarcacao</a:t>
              </a:r>
              <a:r>
                <a:rPr kumimoji="0" lang="pt-BR" sz="1400" b="0" i="0" u="none" strike="noStrike" kern="1200" cap="none" spc="0" normalizeH="0" baseline="0" noProof="0" dirty="0">
                  <a:ln>
                    <a:noFill/>
                  </a:ln>
                  <a:solidFill>
                    <a:prstClr val="black"/>
                  </a:solidFill>
                  <a:effectLst/>
                  <a:uLnTx/>
                  <a:uFillTx/>
                  <a:latin typeface="Calibri"/>
                  <a:ea typeface="+mn-ea"/>
                  <a:cs typeface="+mn-cs"/>
                </a:rPr>
                <a:t>]</a:t>
              </a:r>
            </a:p>
          </p:txBody>
        </p:sp>
        <p:sp>
          <p:nvSpPr>
            <p:cNvPr id="541" name="CaixaDeTexto 540">
              <a:extLst>
                <a:ext uri="{FF2B5EF4-FFF2-40B4-BE49-F238E27FC236}">
                  <a16:creationId xmlns:a16="http://schemas.microsoft.com/office/drawing/2014/main" id="{F8918188-F50B-A765-DB2A-4A2DF397FAAF}"/>
                </a:ext>
              </a:extLst>
            </p:cNvPr>
            <p:cNvSpPr txBox="1"/>
            <p:nvPr/>
          </p:nvSpPr>
          <p:spPr>
            <a:xfrm>
              <a:off x="2914113" y="2273147"/>
              <a:ext cx="1110992" cy="307777"/>
            </a:xfrm>
            <a:prstGeom prst="rect">
              <a:avLst/>
            </a:prstGeom>
            <a:noFill/>
          </p:spPr>
          <p:txBody>
            <a:bodyPr wrap="square" rtlCol="0">
              <a:spAutoFit/>
            </a:bodyPr>
            <a:lstStyle/>
            <a:p>
              <a:r>
                <a:rPr lang="pt-BR" sz="1400" b="1" dirty="0"/>
                <a:t>Embarcação</a:t>
              </a:r>
            </a:p>
          </p:txBody>
        </p:sp>
      </p:grpSp>
      <p:grpSp>
        <p:nvGrpSpPr>
          <p:cNvPr id="537" name="Agrupar 536">
            <a:extLst>
              <a:ext uri="{FF2B5EF4-FFF2-40B4-BE49-F238E27FC236}">
                <a16:creationId xmlns:a16="http://schemas.microsoft.com/office/drawing/2014/main" id="{D6147C60-32B7-F7D3-51B6-6B6649D965BF}"/>
              </a:ext>
            </a:extLst>
          </p:cNvPr>
          <p:cNvGrpSpPr/>
          <p:nvPr/>
        </p:nvGrpSpPr>
        <p:grpSpPr>
          <a:xfrm>
            <a:off x="7583751" y="1004610"/>
            <a:ext cx="4199217" cy="307777"/>
            <a:chOff x="7668655" y="1328420"/>
            <a:chExt cx="4199217" cy="307777"/>
          </a:xfrm>
        </p:grpSpPr>
        <p:sp>
          <p:nvSpPr>
            <p:cNvPr id="538" name="CaixaDeTexto 537">
              <a:extLst>
                <a:ext uri="{FF2B5EF4-FFF2-40B4-BE49-F238E27FC236}">
                  <a16:creationId xmlns:a16="http://schemas.microsoft.com/office/drawing/2014/main" id="{5CC38182-7A7A-9044-3310-06AB8A2E766A}"/>
                </a:ext>
              </a:extLst>
            </p:cNvPr>
            <p:cNvSpPr txBox="1"/>
            <p:nvPr/>
          </p:nvSpPr>
          <p:spPr>
            <a:xfrm>
              <a:off x="7668655" y="1328420"/>
              <a:ext cx="2344509" cy="307777"/>
            </a:xfrm>
            <a:prstGeom prst="rect">
              <a:avLst/>
            </a:prstGeom>
            <a:noFill/>
          </p:spPr>
          <p:txBody>
            <a:bodyPr wrap="square" rtlCol="0">
              <a:spAutoFit/>
            </a:bodyPr>
            <a:lstStyle/>
            <a:p>
              <a:r>
                <a:rPr lang="pt-BR" sz="1400" b="1" dirty="0"/>
                <a:t>Custo Estimado Total em BRL</a:t>
              </a:r>
            </a:p>
          </p:txBody>
        </p:sp>
        <p:sp>
          <p:nvSpPr>
            <p:cNvPr id="539" name="Retângulo: Cantos Arredondados 538">
              <a:extLst>
                <a:ext uri="{FF2B5EF4-FFF2-40B4-BE49-F238E27FC236}">
                  <a16:creationId xmlns:a16="http://schemas.microsoft.com/office/drawing/2014/main" id="{78B9B462-A025-376A-6E62-E2C8212324BD}"/>
                </a:ext>
              </a:extLst>
            </p:cNvPr>
            <p:cNvSpPr/>
            <p:nvPr/>
          </p:nvSpPr>
          <p:spPr>
            <a:xfrm>
              <a:off x="9994172" y="1358388"/>
              <a:ext cx="1873700"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a:t>
              </a:r>
              <a:r>
                <a:rPr kumimoji="0" lang="pt-BR" sz="1200" b="0" i="0" u="none" strike="noStrike" kern="1200" cap="none" spc="0" normalizeH="0" baseline="0" noProof="0" dirty="0" err="1">
                  <a:ln>
                    <a:noFill/>
                  </a:ln>
                  <a:solidFill>
                    <a:prstClr val="black"/>
                  </a:solidFill>
                  <a:effectLst/>
                  <a:uLnTx/>
                  <a:uFillTx/>
                  <a:latin typeface="Calibri"/>
                  <a:ea typeface="+mn-ea"/>
                  <a:cs typeface="+mn-cs"/>
                </a:rPr>
                <a:t>custo_estimado_total</a:t>
              </a:r>
              <a:r>
                <a:rPr kumimoji="0" lang="pt-BR" sz="1200" b="0" i="0" u="none" strike="noStrike" kern="1200" cap="none" spc="0" normalizeH="0" baseline="0" noProof="0" dirty="0">
                  <a:ln>
                    <a:noFill/>
                  </a:ln>
                  <a:solidFill>
                    <a:prstClr val="black"/>
                  </a:solidFill>
                  <a:effectLst/>
                  <a:uLnTx/>
                  <a:uFillTx/>
                  <a:latin typeface="Calibri"/>
                  <a:ea typeface="+mn-ea"/>
                  <a:cs typeface="+mn-cs"/>
                </a:rPr>
                <a:t>]</a:t>
              </a:r>
            </a:p>
          </p:txBody>
        </p:sp>
      </p:grpSp>
      <p:grpSp>
        <p:nvGrpSpPr>
          <p:cNvPr id="550" name="Agrupar 549">
            <a:extLst>
              <a:ext uri="{FF2B5EF4-FFF2-40B4-BE49-F238E27FC236}">
                <a16:creationId xmlns:a16="http://schemas.microsoft.com/office/drawing/2014/main" id="{9475D52D-F41C-1C14-344A-2A80A3405C08}"/>
              </a:ext>
            </a:extLst>
          </p:cNvPr>
          <p:cNvGrpSpPr/>
          <p:nvPr/>
        </p:nvGrpSpPr>
        <p:grpSpPr>
          <a:xfrm>
            <a:off x="5501468" y="1004610"/>
            <a:ext cx="1914751" cy="307777"/>
            <a:chOff x="5669000" y="1245070"/>
            <a:chExt cx="1914751" cy="307777"/>
          </a:xfrm>
        </p:grpSpPr>
        <p:sp>
          <p:nvSpPr>
            <p:cNvPr id="545" name="Retângulo: Cantos Arredondados 544">
              <a:extLst>
                <a:ext uri="{FF2B5EF4-FFF2-40B4-BE49-F238E27FC236}">
                  <a16:creationId xmlns:a16="http://schemas.microsoft.com/office/drawing/2014/main" id="{0EE3F078-38E6-A49F-9CBB-4DD0E66B8137}"/>
                </a:ext>
              </a:extLst>
            </p:cNvPr>
            <p:cNvSpPr/>
            <p:nvPr/>
          </p:nvSpPr>
          <p:spPr>
            <a:xfrm>
              <a:off x="6803790" y="1281999"/>
              <a:ext cx="779961"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200" b="0" i="0" u="none" strike="noStrike" kern="1200" cap="none" spc="0" normalizeH="0" baseline="0" noProof="0" dirty="0">
                  <a:ln>
                    <a:noFill/>
                  </a:ln>
                  <a:solidFill>
                    <a:prstClr val="black"/>
                  </a:solidFill>
                  <a:effectLst/>
                  <a:uLnTx/>
                  <a:uFillTx/>
                  <a:latin typeface="Calibri"/>
                  <a:ea typeface="+mn-ea"/>
                  <a:cs typeface="+mn-cs"/>
                </a:rPr>
                <a:t>A</a:t>
              </a:r>
            </a:p>
          </p:txBody>
        </p:sp>
        <p:sp>
          <p:nvSpPr>
            <p:cNvPr id="546" name="CaixaDeTexto 545">
              <a:extLst>
                <a:ext uri="{FF2B5EF4-FFF2-40B4-BE49-F238E27FC236}">
                  <a16:creationId xmlns:a16="http://schemas.microsoft.com/office/drawing/2014/main" id="{49613724-5A3D-D135-8BD4-866ED617C9BE}"/>
                </a:ext>
              </a:extLst>
            </p:cNvPr>
            <p:cNvSpPr txBox="1"/>
            <p:nvPr/>
          </p:nvSpPr>
          <p:spPr>
            <a:xfrm>
              <a:off x="5669000" y="1245070"/>
              <a:ext cx="1188132" cy="307777"/>
            </a:xfrm>
            <a:prstGeom prst="rect">
              <a:avLst/>
            </a:prstGeom>
            <a:noFill/>
          </p:spPr>
          <p:txBody>
            <a:bodyPr wrap="square" rtlCol="0">
              <a:spAutoFit/>
            </a:bodyPr>
            <a:lstStyle/>
            <a:p>
              <a:r>
                <a:rPr lang="pt-BR" sz="1400" b="1" dirty="0"/>
                <a:t>Cenário base</a:t>
              </a:r>
            </a:p>
          </p:txBody>
        </p:sp>
      </p:grpSp>
      <p:sp>
        <p:nvSpPr>
          <p:cNvPr id="31" name="Retângulo 30">
            <a:extLst>
              <a:ext uri="{FF2B5EF4-FFF2-40B4-BE49-F238E27FC236}">
                <a16:creationId xmlns:a16="http://schemas.microsoft.com/office/drawing/2014/main" id="{422268A4-F9BE-53A5-95D6-63F355C7AF83}"/>
              </a:ext>
            </a:extLst>
          </p:cNvPr>
          <p:cNvSpPr/>
          <p:nvPr/>
        </p:nvSpPr>
        <p:spPr>
          <a:xfrm>
            <a:off x="4366346" y="1620596"/>
            <a:ext cx="3384000" cy="5076000"/>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70" name="Agrupar 569">
            <a:extLst>
              <a:ext uri="{FF2B5EF4-FFF2-40B4-BE49-F238E27FC236}">
                <a16:creationId xmlns:a16="http://schemas.microsoft.com/office/drawing/2014/main" id="{3D139C7C-3D7C-F045-31F3-2B4484A96CD2}"/>
              </a:ext>
            </a:extLst>
          </p:cNvPr>
          <p:cNvGrpSpPr/>
          <p:nvPr/>
        </p:nvGrpSpPr>
        <p:grpSpPr>
          <a:xfrm>
            <a:off x="4461931" y="1857326"/>
            <a:ext cx="3143878" cy="262419"/>
            <a:chOff x="4461931" y="2286528"/>
            <a:chExt cx="3143878" cy="262419"/>
          </a:xfrm>
        </p:grpSpPr>
        <p:sp>
          <p:nvSpPr>
            <p:cNvPr id="32" name="CaixaDeTexto 31">
              <a:extLst>
                <a:ext uri="{FF2B5EF4-FFF2-40B4-BE49-F238E27FC236}">
                  <a16:creationId xmlns:a16="http://schemas.microsoft.com/office/drawing/2014/main" id="{A16990AD-D3A2-14BC-6BF9-CBDED5CC3C6B}"/>
                </a:ext>
              </a:extLst>
            </p:cNvPr>
            <p:cNvSpPr txBox="1"/>
            <p:nvPr/>
          </p:nvSpPr>
          <p:spPr>
            <a:xfrm>
              <a:off x="4461931" y="2286528"/>
              <a:ext cx="1358404" cy="261610"/>
            </a:xfrm>
            <a:prstGeom prst="rect">
              <a:avLst/>
            </a:prstGeom>
            <a:noFill/>
          </p:spPr>
          <p:txBody>
            <a:bodyPr wrap="square" rtlCol="0">
              <a:spAutoFit/>
            </a:bodyPr>
            <a:lstStyle/>
            <a:p>
              <a:r>
                <a:rPr lang="pt-BR" sz="1100" b="1" dirty="0"/>
                <a:t>Nome do Cenário</a:t>
              </a:r>
            </a:p>
          </p:txBody>
        </p:sp>
        <p:sp>
          <p:nvSpPr>
            <p:cNvPr id="33" name="Retângulo: Cantos Arredondados 32">
              <a:extLst>
                <a:ext uri="{FF2B5EF4-FFF2-40B4-BE49-F238E27FC236}">
                  <a16:creationId xmlns:a16="http://schemas.microsoft.com/office/drawing/2014/main" id="{98F288A6-C90F-95EC-4805-005812D26B70}"/>
                </a:ext>
              </a:extLst>
            </p:cNvPr>
            <p:cNvSpPr/>
            <p:nvPr/>
          </p:nvSpPr>
          <p:spPr>
            <a:xfrm>
              <a:off x="5836777" y="2301107"/>
              <a:ext cx="1769032"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nome_cenário</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sp>
        <p:nvSpPr>
          <p:cNvPr id="36" name="CaixaDeTexto 35">
            <a:extLst>
              <a:ext uri="{FF2B5EF4-FFF2-40B4-BE49-F238E27FC236}">
                <a16:creationId xmlns:a16="http://schemas.microsoft.com/office/drawing/2014/main" id="{A0160EE6-F47A-6C0E-C0C1-3D481834DAB8}"/>
              </a:ext>
            </a:extLst>
          </p:cNvPr>
          <p:cNvSpPr txBox="1"/>
          <p:nvPr/>
        </p:nvSpPr>
        <p:spPr>
          <a:xfrm>
            <a:off x="5054678" y="1476582"/>
            <a:ext cx="2029315" cy="307777"/>
          </a:xfrm>
          <a:prstGeom prst="rect">
            <a:avLst/>
          </a:prstGeom>
          <a:solidFill>
            <a:schemeClr val="bg1"/>
          </a:solidFill>
        </p:spPr>
        <p:txBody>
          <a:bodyPr wrap="square" rtlCol="0">
            <a:spAutoFit/>
          </a:bodyPr>
          <a:lstStyle/>
          <a:p>
            <a:pPr algn="ctr"/>
            <a:r>
              <a:rPr lang="pt-BR" sz="1400" b="1" dirty="0"/>
              <a:t>Cenário B</a:t>
            </a:r>
          </a:p>
        </p:txBody>
      </p:sp>
      <p:sp>
        <p:nvSpPr>
          <p:cNvPr id="37" name="Retângulo 36">
            <a:extLst>
              <a:ext uri="{FF2B5EF4-FFF2-40B4-BE49-F238E27FC236}">
                <a16:creationId xmlns:a16="http://schemas.microsoft.com/office/drawing/2014/main" id="{FC65DD9B-2142-4CB2-A5A3-0E93F8C9A8FC}"/>
              </a:ext>
            </a:extLst>
          </p:cNvPr>
          <p:cNvSpPr/>
          <p:nvPr/>
        </p:nvSpPr>
        <p:spPr>
          <a:xfrm>
            <a:off x="4492538" y="2852715"/>
            <a:ext cx="3153594" cy="1622952"/>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CaixaDeTexto 37">
            <a:extLst>
              <a:ext uri="{FF2B5EF4-FFF2-40B4-BE49-F238E27FC236}">
                <a16:creationId xmlns:a16="http://schemas.microsoft.com/office/drawing/2014/main" id="{92F4AC63-E4D3-E473-CEA0-9F905B55848A}"/>
              </a:ext>
            </a:extLst>
          </p:cNvPr>
          <p:cNvSpPr txBox="1"/>
          <p:nvPr/>
        </p:nvSpPr>
        <p:spPr>
          <a:xfrm>
            <a:off x="5559041" y="2717734"/>
            <a:ext cx="1020589" cy="276999"/>
          </a:xfrm>
          <a:prstGeom prst="rect">
            <a:avLst/>
          </a:prstGeom>
          <a:solidFill>
            <a:schemeClr val="bg1"/>
          </a:solidFill>
        </p:spPr>
        <p:txBody>
          <a:bodyPr wrap="square" rtlCol="0">
            <a:spAutoFit/>
          </a:bodyPr>
          <a:lstStyle>
            <a:defPPr>
              <a:defRPr lang="pt-BR"/>
            </a:defPPr>
            <a:lvl1pPr algn="ctr">
              <a:defRPr sz="1400" b="1"/>
            </a:lvl1pPr>
          </a:lstStyle>
          <a:p>
            <a:r>
              <a:rPr lang="pt-BR" sz="1200" dirty="0"/>
              <a:t>ID-XXX-B1</a:t>
            </a:r>
          </a:p>
        </p:txBody>
      </p:sp>
      <p:sp>
        <p:nvSpPr>
          <p:cNvPr id="43" name="CaixaDeTexto 42">
            <a:extLst>
              <a:ext uri="{FF2B5EF4-FFF2-40B4-BE49-F238E27FC236}">
                <a16:creationId xmlns:a16="http://schemas.microsoft.com/office/drawing/2014/main" id="{BF2B6049-5601-2B87-AB75-539E019529CB}"/>
              </a:ext>
            </a:extLst>
          </p:cNvPr>
          <p:cNvSpPr txBox="1"/>
          <p:nvPr/>
        </p:nvSpPr>
        <p:spPr>
          <a:xfrm>
            <a:off x="4873127" y="3025643"/>
            <a:ext cx="765584" cy="246221"/>
          </a:xfrm>
          <a:prstGeom prst="rect">
            <a:avLst/>
          </a:prstGeom>
          <a:noFill/>
        </p:spPr>
        <p:txBody>
          <a:bodyPr wrap="square" rtlCol="0">
            <a:spAutoFit/>
          </a:bodyPr>
          <a:lstStyle/>
          <a:p>
            <a:pPr algn="ctr"/>
            <a:r>
              <a:rPr lang="pt-BR" sz="1000" b="1" dirty="0"/>
              <a:t>Data Início</a:t>
            </a:r>
          </a:p>
        </p:txBody>
      </p:sp>
      <p:sp>
        <p:nvSpPr>
          <p:cNvPr id="44" name="Retângulo: Cantos Arredondados 43">
            <a:extLst>
              <a:ext uri="{FF2B5EF4-FFF2-40B4-BE49-F238E27FC236}">
                <a16:creationId xmlns:a16="http://schemas.microsoft.com/office/drawing/2014/main" id="{7DECDE32-B3A6-DBA7-CB23-ED6ED90FF568}"/>
              </a:ext>
            </a:extLst>
          </p:cNvPr>
          <p:cNvSpPr/>
          <p:nvPr/>
        </p:nvSpPr>
        <p:spPr>
          <a:xfrm>
            <a:off x="4873126" y="3236874"/>
            <a:ext cx="765584"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[inicio]</a:t>
            </a:r>
          </a:p>
        </p:txBody>
      </p:sp>
      <p:sp>
        <p:nvSpPr>
          <p:cNvPr id="45" name="CaixaDeTexto 44">
            <a:extLst>
              <a:ext uri="{FF2B5EF4-FFF2-40B4-BE49-F238E27FC236}">
                <a16:creationId xmlns:a16="http://schemas.microsoft.com/office/drawing/2014/main" id="{04DC197A-9FD0-B5A0-1EB7-D1EA3C6841DA}"/>
              </a:ext>
            </a:extLst>
          </p:cNvPr>
          <p:cNvSpPr txBox="1"/>
          <p:nvPr/>
        </p:nvSpPr>
        <p:spPr>
          <a:xfrm>
            <a:off x="5769378" y="3025643"/>
            <a:ext cx="654618" cy="246221"/>
          </a:xfrm>
          <a:prstGeom prst="rect">
            <a:avLst/>
          </a:prstGeom>
          <a:noFill/>
        </p:spPr>
        <p:txBody>
          <a:bodyPr wrap="square" rtlCol="0">
            <a:spAutoFit/>
          </a:bodyPr>
          <a:lstStyle/>
          <a:p>
            <a:pPr algn="ctr"/>
            <a:r>
              <a:rPr lang="pt-BR" sz="1000" b="1" dirty="0"/>
              <a:t>Data Fim</a:t>
            </a:r>
          </a:p>
        </p:txBody>
      </p:sp>
      <p:sp>
        <p:nvSpPr>
          <p:cNvPr id="46" name="Retângulo: Cantos Arredondados 45">
            <a:extLst>
              <a:ext uri="{FF2B5EF4-FFF2-40B4-BE49-F238E27FC236}">
                <a16:creationId xmlns:a16="http://schemas.microsoft.com/office/drawing/2014/main" id="{BF75782C-56A2-CF17-A470-22AC8395C51E}"/>
              </a:ext>
            </a:extLst>
          </p:cNvPr>
          <p:cNvSpPr/>
          <p:nvPr/>
        </p:nvSpPr>
        <p:spPr>
          <a:xfrm>
            <a:off x="5769378" y="3236874"/>
            <a:ext cx="654618"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47" name="Retângulo: Cantos Arredondados 46">
            <a:extLst>
              <a:ext uri="{FF2B5EF4-FFF2-40B4-BE49-F238E27FC236}">
                <a16:creationId xmlns:a16="http://schemas.microsoft.com/office/drawing/2014/main" id="{9F9D7FC0-2E60-C97E-D84B-616C47813B9D}"/>
              </a:ext>
            </a:extLst>
          </p:cNvPr>
          <p:cNvSpPr/>
          <p:nvPr/>
        </p:nvSpPr>
        <p:spPr>
          <a:xfrm>
            <a:off x="6554663" y="3235379"/>
            <a:ext cx="828469"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a:t>
            </a:r>
            <a:r>
              <a:rPr kumimoji="0" lang="pt-BR" sz="1000" b="0" i="0" u="none" strike="noStrike" kern="1200" cap="none" spc="0" normalizeH="0" baseline="0" noProof="0" dirty="0" err="1">
                <a:ln>
                  <a:noFill/>
                </a:ln>
                <a:solidFill>
                  <a:prstClr val="black"/>
                </a:solidFill>
                <a:effectLst/>
                <a:uLnTx/>
                <a:uFillTx/>
                <a:latin typeface="Calibri"/>
                <a:ea typeface="+mn-ea"/>
                <a:cs typeface="+mn-cs"/>
              </a:rPr>
              <a:t>duracao</a:t>
            </a:r>
            <a:r>
              <a:rPr kumimoji="0" lang="pt-BR" sz="1000" b="0" i="0" u="none" strike="noStrike" kern="1200" cap="none" spc="0" normalizeH="0" baseline="0" noProof="0" dirty="0">
                <a:ln>
                  <a:noFill/>
                </a:ln>
                <a:solidFill>
                  <a:prstClr val="black"/>
                </a:solidFill>
                <a:effectLst/>
                <a:uLnTx/>
                <a:uFillTx/>
                <a:latin typeface="Calibri"/>
                <a:ea typeface="+mn-ea"/>
                <a:cs typeface="+mn-cs"/>
              </a:rPr>
              <a:t>]</a:t>
            </a:r>
          </a:p>
        </p:txBody>
      </p:sp>
      <p:sp>
        <p:nvSpPr>
          <p:cNvPr id="48" name="CaixaDeTexto 47">
            <a:extLst>
              <a:ext uri="{FF2B5EF4-FFF2-40B4-BE49-F238E27FC236}">
                <a16:creationId xmlns:a16="http://schemas.microsoft.com/office/drawing/2014/main" id="{085F2D3C-785C-0FE5-E87C-44BDDEA1D95E}"/>
              </a:ext>
            </a:extLst>
          </p:cNvPr>
          <p:cNvSpPr txBox="1"/>
          <p:nvPr/>
        </p:nvSpPr>
        <p:spPr>
          <a:xfrm>
            <a:off x="6554663" y="3025643"/>
            <a:ext cx="828469" cy="246221"/>
          </a:xfrm>
          <a:prstGeom prst="rect">
            <a:avLst/>
          </a:prstGeom>
          <a:noFill/>
        </p:spPr>
        <p:txBody>
          <a:bodyPr wrap="square" lIns="36000" rIns="36000" rtlCol="0">
            <a:spAutoFit/>
          </a:bodyPr>
          <a:lstStyle/>
          <a:p>
            <a:pPr algn="ctr"/>
            <a:r>
              <a:rPr lang="pt-BR" sz="1000" b="1" dirty="0"/>
              <a:t>Duração Total</a:t>
            </a:r>
          </a:p>
        </p:txBody>
      </p:sp>
      <p:grpSp>
        <p:nvGrpSpPr>
          <p:cNvPr id="512" name="Agrupar 511">
            <a:extLst>
              <a:ext uri="{FF2B5EF4-FFF2-40B4-BE49-F238E27FC236}">
                <a16:creationId xmlns:a16="http://schemas.microsoft.com/office/drawing/2014/main" id="{1A3F11D0-2E5D-641B-0E56-43D17EAA7248}"/>
              </a:ext>
            </a:extLst>
          </p:cNvPr>
          <p:cNvGrpSpPr/>
          <p:nvPr/>
        </p:nvGrpSpPr>
        <p:grpSpPr>
          <a:xfrm>
            <a:off x="4873126" y="3578352"/>
            <a:ext cx="373211" cy="153888"/>
            <a:chOff x="8514621" y="4632661"/>
            <a:chExt cx="373211" cy="153888"/>
          </a:xfrm>
        </p:grpSpPr>
        <p:sp>
          <p:nvSpPr>
            <p:cNvPr id="53" name="Retângulo 52">
              <a:extLst>
                <a:ext uri="{FF2B5EF4-FFF2-40B4-BE49-F238E27FC236}">
                  <a16:creationId xmlns:a16="http://schemas.microsoft.com/office/drawing/2014/main" id="{5E26A21A-6621-0ACE-5488-F09C3F7A7A69}"/>
                </a:ext>
              </a:extLst>
            </p:cNvPr>
            <p:cNvSpPr/>
            <p:nvPr/>
          </p:nvSpPr>
          <p:spPr>
            <a:xfrm>
              <a:off x="8514621"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54" name="CaixaDeTexto 53">
              <a:extLst>
                <a:ext uri="{FF2B5EF4-FFF2-40B4-BE49-F238E27FC236}">
                  <a16:creationId xmlns:a16="http://schemas.microsoft.com/office/drawing/2014/main" id="{9391AE83-F568-8397-5E69-4FEFFFB179FD}"/>
                </a:ext>
              </a:extLst>
            </p:cNvPr>
            <p:cNvSpPr txBox="1"/>
            <p:nvPr/>
          </p:nvSpPr>
          <p:spPr>
            <a:xfrm>
              <a:off x="8632116" y="4632661"/>
              <a:ext cx="255716" cy="153888"/>
            </a:xfrm>
            <a:prstGeom prst="rect">
              <a:avLst/>
            </a:prstGeom>
            <a:noFill/>
          </p:spPr>
          <p:txBody>
            <a:bodyPr wrap="square" lIns="0" tIns="0" rIns="0" bIns="0" rtlCol="0">
              <a:spAutoFit/>
            </a:bodyPr>
            <a:lstStyle/>
            <a:p>
              <a:r>
                <a:rPr lang="pt-BR" sz="1000" dirty="0"/>
                <a:t>100</a:t>
              </a:r>
            </a:p>
          </p:txBody>
        </p:sp>
      </p:grpSp>
      <p:grpSp>
        <p:nvGrpSpPr>
          <p:cNvPr id="127" name="Agrupar 126">
            <a:extLst>
              <a:ext uri="{FF2B5EF4-FFF2-40B4-BE49-F238E27FC236}">
                <a16:creationId xmlns:a16="http://schemas.microsoft.com/office/drawing/2014/main" id="{AFC48F42-218C-E0A1-02D2-9432716DEB7A}"/>
              </a:ext>
            </a:extLst>
          </p:cNvPr>
          <p:cNvGrpSpPr/>
          <p:nvPr/>
        </p:nvGrpSpPr>
        <p:grpSpPr>
          <a:xfrm>
            <a:off x="5585391" y="3578352"/>
            <a:ext cx="373211" cy="153888"/>
            <a:chOff x="8832149" y="4632661"/>
            <a:chExt cx="373211" cy="153888"/>
          </a:xfrm>
        </p:grpSpPr>
        <p:sp>
          <p:nvSpPr>
            <p:cNvPr id="55" name="Retângulo 54">
              <a:extLst>
                <a:ext uri="{FF2B5EF4-FFF2-40B4-BE49-F238E27FC236}">
                  <a16:creationId xmlns:a16="http://schemas.microsoft.com/office/drawing/2014/main" id="{CDFED589-0AB3-9DF2-4E0D-449B2FE42551}"/>
                </a:ext>
              </a:extLst>
            </p:cNvPr>
            <p:cNvSpPr/>
            <p:nvPr/>
          </p:nvSpPr>
          <p:spPr>
            <a:xfrm>
              <a:off x="8832149"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56" name="CaixaDeTexto 55">
              <a:extLst>
                <a:ext uri="{FF2B5EF4-FFF2-40B4-BE49-F238E27FC236}">
                  <a16:creationId xmlns:a16="http://schemas.microsoft.com/office/drawing/2014/main" id="{F3F09695-FAD6-7951-1EF7-8649B84F5B9B}"/>
                </a:ext>
              </a:extLst>
            </p:cNvPr>
            <p:cNvSpPr txBox="1"/>
            <p:nvPr/>
          </p:nvSpPr>
          <p:spPr>
            <a:xfrm>
              <a:off x="8949644" y="4632661"/>
              <a:ext cx="255716" cy="153888"/>
            </a:xfrm>
            <a:prstGeom prst="rect">
              <a:avLst/>
            </a:prstGeom>
            <a:noFill/>
          </p:spPr>
          <p:txBody>
            <a:bodyPr wrap="square" lIns="0" tIns="0" rIns="0" bIns="0" rtlCol="0">
              <a:spAutoFit/>
            </a:bodyPr>
            <a:lstStyle/>
            <a:p>
              <a:r>
                <a:rPr lang="pt-BR" sz="1000" dirty="0"/>
                <a:t>101</a:t>
              </a:r>
            </a:p>
          </p:txBody>
        </p:sp>
      </p:grpSp>
      <p:grpSp>
        <p:nvGrpSpPr>
          <p:cNvPr id="126" name="Agrupar 125">
            <a:extLst>
              <a:ext uri="{FF2B5EF4-FFF2-40B4-BE49-F238E27FC236}">
                <a16:creationId xmlns:a16="http://schemas.microsoft.com/office/drawing/2014/main" id="{6E7B0064-D26E-E0A7-C46C-1C130DA33F76}"/>
              </a:ext>
            </a:extLst>
          </p:cNvPr>
          <p:cNvGrpSpPr/>
          <p:nvPr/>
        </p:nvGrpSpPr>
        <p:grpSpPr>
          <a:xfrm>
            <a:off x="6297656" y="3578352"/>
            <a:ext cx="373211" cy="153888"/>
            <a:chOff x="9149677" y="4632661"/>
            <a:chExt cx="373211" cy="153888"/>
          </a:xfrm>
        </p:grpSpPr>
        <p:sp>
          <p:nvSpPr>
            <p:cNvPr id="57" name="Retângulo 56">
              <a:extLst>
                <a:ext uri="{FF2B5EF4-FFF2-40B4-BE49-F238E27FC236}">
                  <a16:creationId xmlns:a16="http://schemas.microsoft.com/office/drawing/2014/main" id="{71AB6F08-706E-EDE7-90E4-54C73AC901C8}"/>
                </a:ext>
              </a:extLst>
            </p:cNvPr>
            <p:cNvSpPr/>
            <p:nvPr/>
          </p:nvSpPr>
          <p:spPr>
            <a:xfrm>
              <a:off x="9149677"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58" name="CaixaDeTexto 57">
              <a:extLst>
                <a:ext uri="{FF2B5EF4-FFF2-40B4-BE49-F238E27FC236}">
                  <a16:creationId xmlns:a16="http://schemas.microsoft.com/office/drawing/2014/main" id="{5A63375E-E89E-5807-8081-55BD8CB48CBB}"/>
                </a:ext>
              </a:extLst>
            </p:cNvPr>
            <p:cNvSpPr txBox="1"/>
            <p:nvPr/>
          </p:nvSpPr>
          <p:spPr>
            <a:xfrm>
              <a:off x="9267172" y="4632661"/>
              <a:ext cx="255716" cy="153888"/>
            </a:xfrm>
            <a:prstGeom prst="rect">
              <a:avLst/>
            </a:prstGeom>
            <a:noFill/>
          </p:spPr>
          <p:txBody>
            <a:bodyPr wrap="square" lIns="0" tIns="0" rIns="0" bIns="0" rtlCol="0">
              <a:spAutoFit/>
            </a:bodyPr>
            <a:lstStyle/>
            <a:p>
              <a:r>
                <a:rPr lang="pt-BR" sz="1000" dirty="0"/>
                <a:t>102</a:t>
              </a:r>
            </a:p>
          </p:txBody>
        </p:sp>
      </p:grpSp>
      <p:grpSp>
        <p:nvGrpSpPr>
          <p:cNvPr id="125" name="Agrupar 124">
            <a:extLst>
              <a:ext uri="{FF2B5EF4-FFF2-40B4-BE49-F238E27FC236}">
                <a16:creationId xmlns:a16="http://schemas.microsoft.com/office/drawing/2014/main" id="{563A48C4-1FA6-C1D6-E398-579B7F5C9F7D}"/>
              </a:ext>
            </a:extLst>
          </p:cNvPr>
          <p:cNvGrpSpPr/>
          <p:nvPr/>
        </p:nvGrpSpPr>
        <p:grpSpPr>
          <a:xfrm>
            <a:off x="7009921" y="3578352"/>
            <a:ext cx="373211" cy="153888"/>
            <a:chOff x="9557886" y="4632661"/>
            <a:chExt cx="373211" cy="153888"/>
          </a:xfrm>
        </p:grpSpPr>
        <p:sp>
          <p:nvSpPr>
            <p:cNvPr id="59" name="Retângulo 58">
              <a:extLst>
                <a:ext uri="{FF2B5EF4-FFF2-40B4-BE49-F238E27FC236}">
                  <a16:creationId xmlns:a16="http://schemas.microsoft.com/office/drawing/2014/main" id="{EA13C745-B9DA-3EAA-41D8-2FC22FC390D4}"/>
                </a:ext>
              </a:extLst>
            </p:cNvPr>
            <p:cNvSpPr/>
            <p:nvPr/>
          </p:nvSpPr>
          <p:spPr>
            <a:xfrm>
              <a:off x="9557886"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4800" dirty="0">
                <a:solidFill>
                  <a:srgbClr val="00B050"/>
                </a:solidFill>
                <a:latin typeface="Webdings" panose="05030102010509060703" pitchFamily="18" charset="2"/>
              </a:endParaRPr>
            </a:p>
          </p:txBody>
        </p:sp>
        <p:sp>
          <p:nvSpPr>
            <p:cNvPr id="60" name="CaixaDeTexto 59">
              <a:extLst>
                <a:ext uri="{FF2B5EF4-FFF2-40B4-BE49-F238E27FC236}">
                  <a16:creationId xmlns:a16="http://schemas.microsoft.com/office/drawing/2014/main" id="{1D6EDC2E-A8E3-1529-65A8-6EFF3F10D7F6}"/>
                </a:ext>
              </a:extLst>
            </p:cNvPr>
            <p:cNvSpPr txBox="1"/>
            <p:nvPr/>
          </p:nvSpPr>
          <p:spPr>
            <a:xfrm>
              <a:off x="9675381" y="4632661"/>
              <a:ext cx="255716" cy="153888"/>
            </a:xfrm>
            <a:prstGeom prst="rect">
              <a:avLst/>
            </a:prstGeom>
            <a:noFill/>
          </p:spPr>
          <p:txBody>
            <a:bodyPr wrap="square" lIns="0" tIns="0" rIns="0" bIns="0" rtlCol="0">
              <a:spAutoFit/>
            </a:bodyPr>
            <a:lstStyle/>
            <a:p>
              <a:r>
                <a:rPr lang="pt-BR" sz="1000" dirty="0"/>
                <a:t>103</a:t>
              </a:r>
            </a:p>
          </p:txBody>
        </p:sp>
      </p:grpSp>
      <p:grpSp>
        <p:nvGrpSpPr>
          <p:cNvPr id="736" name="Agrupar 735">
            <a:extLst>
              <a:ext uri="{FF2B5EF4-FFF2-40B4-BE49-F238E27FC236}">
                <a16:creationId xmlns:a16="http://schemas.microsoft.com/office/drawing/2014/main" id="{EB78B1B0-BBF5-65F0-F15D-2821BFBEF0C9}"/>
              </a:ext>
            </a:extLst>
          </p:cNvPr>
          <p:cNvGrpSpPr/>
          <p:nvPr/>
        </p:nvGrpSpPr>
        <p:grpSpPr>
          <a:xfrm>
            <a:off x="4649660" y="3823583"/>
            <a:ext cx="2839351" cy="526228"/>
            <a:chOff x="4543781" y="3823583"/>
            <a:chExt cx="2839351" cy="526228"/>
          </a:xfrm>
        </p:grpSpPr>
        <p:sp>
          <p:nvSpPr>
            <p:cNvPr id="73" name="Retângulo: Cantos Arredondados 72">
              <a:extLst>
                <a:ext uri="{FF2B5EF4-FFF2-40B4-BE49-F238E27FC236}">
                  <a16:creationId xmlns:a16="http://schemas.microsoft.com/office/drawing/2014/main" id="{F4079147-1921-6D1D-8E85-6BFBAADA94DB}"/>
                </a:ext>
              </a:extLst>
            </p:cNvPr>
            <p:cNvSpPr/>
            <p:nvPr/>
          </p:nvSpPr>
          <p:spPr>
            <a:xfrm>
              <a:off x="6096000" y="3844280"/>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74" name="CaixaDeTexto 73">
              <a:extLst>
                <a:ext uri="{FF2B5EF4-FFF2-40B4-BE49-F238E27FC236}">
                  <a16:creationId xmlns:a16="http://schemas.microsoft.com/office/drawing/2014/main" id="{AD74F35D-D0B9-5B40-7583-DBFA6064CFA5}"/>
                </a:ext>
              </a:extLst>
            </p:cNvPr>
            <p:cNvSpPr txBox="1"/>
            <p:nvPr/>
          </p:nvSpPr>
          <p:spPr>
            <a:xfrm>
              <a:off x="4543781" y="3823583"/>
              <a:ext cx="1552109" cy="246221"/>
            </a:xfrm>
            <a:prstGeom prst="rect">
              <a:avLst/>
            </a:prstGeom>
            <a:noFill/>
          </p:spPr>
          <p:txBody>
            <a:bodyPr wrap="square" lIns="36000" rtlCol="0">
              <a:spAutoFit/>
            </a:bodyPr>
            <a:lstStyle/>
            <a:p>
              <a:r>
                <a:rPr lang="pt-BR" sz="1000" dirty="0"/>
                <a:t>Impacto estimado em 2025</a:t>
              </a:r>
            </a:p>
          </p:txBody>
        </p:sp>
        <p:sp>
          <p:nvSpPr>
            <p:cNvPr id="84" name="Retângulo: Cantos Arredondados 83">
              <a:extLst>
                <a:ext uri="{FF2B5EF4-FFF2-40B4-BE49-F238E27FC236}">
                  <a16:creationId xmlns:a16="http://schemas.microsoft.com/office/drawing/2014/main" id="{069A098D-31BA-9530-8984-F56CBF4DCF91}"/>
                </a:ext>
              </a:extLst>
            </p:cNvPr>
            <p:cNvSpPr/>
            <p:nvPr/>
          </p:nvSpPr>
          <p:spPr>
            <a:xfrm>
              <a:off x="6096000" y="4124287"/>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6" name="CaixaDeTexto 85">
              <a:extLst>
                <a:ext uri="{FF2B5EF4-FFF2-40B4-BE49-F238E27FC236}">
                  <a16:creationId xmlns:a16="http://schemas.microsoft.com/office/drawing/2014/main" id="{AE524F18-428E-B1C6-A33C-B417FFB63718}"/>
                </a:ext>
              </a:extLst>
            </p:cNvPr>
            <p:cNvSpPr txBox="1"/>
            <p:nvPr/>
          </p:nvSpPr>
          <p:spPr>
            <a:xfrm>
              <a:off x="4546261" y="4103590"/>
              <a:ext cx="1549739" cy="246221"/>
            </a:xfrm>
            <a:prstGeom prst="rect">
              <a:avLst/>
            </a:prstGeom>
            <a:noFill/>
          </p:spPr>
          <p:txBody>
            <a:bodyPr wrap="square" lIns="36000" rtlCol="0">
              <a:spAutoFit/>
            </a:bodyPr>
            <a:lstStyle/>
            <a:p>
              <a:r>
                <a:rPr lang="pt-BR" sz="1000" dirty="0"/>
                <a:t>Impacto estimado em 2026</a:t>
              </a:r>
            </a:p>
          </p:txBody>
        </p:sp>
      </p:grpSp>
      <p:grpSp>
        <p:nvGrpSpPr>
          <p:cNvPr id="569" name="Agrupar 568">
            <a:extLst>
              <a:ext uri="{FF2B5EF4-FFF2-40B4-BE49-F238E27FC236}">
                <a16:creationId xmlns:a16="http://schemas.microsoft.com/office/drawing/2014/main" id="{27C55771-D148-0023-F869-20CC39CACC5E}"/>
              </a:ext>
            </a:extLst>
          </p:cNvPr>
          <p:cNvGrpSpPr/>
          <p:nvPr/>
        </p:nvGrpSpPr>
        <p:grpSpPr>
          <a:xfrm>
            <a:off x="4461931" y="2143105"/>
            <a:ext cx="3143878" cy="246221"/>
            <a:chOff x="4461931" y="2629648"/>
            <a:chExt cx="3143878" cy="246221"/>
          </a:xfrm>
        </p:grpSpPr>
        <p:sp>
          <p:nvSpPr>
            <p:cNvPr id="564" name="Retângulo: Cantos Arredondados 563">
              <a:extLst>
                <a:ext uri="{FF2B5EF4-FFF2-40B4-BE49-F238E27FC236}">
                  <a16:creationId xmlns:a16="http://schemas.microsoft.com/office/drawing/2014/main" id="{4CFCDEC2-BA7B-6BA2-43F4-3F594392C03B}"/>
                </a:ext>
              </a:extLst>
            </p:cNvPr>
            <p:cNvSpPr/>
            <p:nvPr/>
          </p:nvSpPr>
          <p:spPr>
            <a:xfrm>
              <a:off x="5836777" y="2650345"/>
              <a:ext cx="17690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565" name="CaixaDeTexto 564">
              <a:extLst>
                <a:ext uri="{FF2B5EF4-FFF2-40B4-BE49-F238E27FC236}">
                  <a16:creationId xmlns:a16="http://schemas.microsoft.com/office/drawing/2014/main" id="{6B069E6E-8A8B-0789-9753-CC97986EC27E}"/>
                </a:ext>
              </a:extLst>
            </p:cNvPr>
            <p:cNvSpPr txBox="1"/>
            <p:nvPr/>
          </p:nvSpPr>
          <p:spPr>
            <a:xfrm>
              <a:off x="4461931" y="2629648"/>
              <a:ext cx="1552109" cy="246221"/>
            </a:xfrm>
            <a:prstGeom prst="rect">
              <a:avLst/>
            </a:prstGeom>
            <a:noFill/>
          </p:spPr>
          <p:txBody>
            <a:bodyPr wrap="square" lIns="36000" rtlCol="0">
              <a:spAutoFit/>
            </a:bodyPr>
            <a:lstStyle/>
            <a:p>
              <a:r>
                <a:rPr lang="pt-BR" sz="1000" dirty="0"/>
                <a:t>Impacto total 2025</a:t>
              </a:r>
            </a:p>
          </p:txBody>
        </p:sp>
      </p:grpSp>
      <p:grpSp>
        <p:nvGrpSpPr>
          <p:cNvPr id="568" name="Agrupar 567">
            <a:extLst>
              <a:ext uri="{FF2B5EF4-FFF2-40B4-BE49-F238E27FC236}">
                <a16:creationId xmlns:a16="http://schemas.microsoft.com/office/drawing/2014/main" id="{C1454D5A-CE2B-F039-7FEE-FBB590C8937D}"/>
              </a:ext>
            </a:extLst>
          </p:cNvPr>
          <p:cNvGrpSpPr/>
          <p:nvPr/>
        </p:nvGrpSpPr>
        <p:grpSpPr>
          <a:xfrm>
            <a:off x="4461931" y="2412686"/>
            <a:ext cx="3143878" cy="246221"/>
            <a:chOff x="4461931" y="2909655"/>
            <a:chExt cx="3143878" cy="246221"/>
          </a:xfrm>
        </p:grpSpPr>
        <p:sp>
          <p:nvSpPr>
            <p:cNvPr id="566" name="Retângulo: Cantos Arredondados 565">
              <a:extLst>
                <a:ext uri="{FF2B5EF4-FFF2-40B4-BE49-F238E27FC236}">
                  <a16:creationId xmlns:a16="http://schemas.microsoft.com/office/drawing/2014/main" id="{5C43F714-D853-31AF-D46B-A8884EC51DF3}"/>
                </a:ext>
              </a:extLst>
            </p:cNvPr>
            <p:cNvSpPr/>
            <p:nvPr/>
          </p:nvSpPr>
          <p:spPr>
            <a:xfrm>
              <a:off x="5836777" y="2930352"/>
              <a:ext cx="17690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567" name="CaixaDeTexto 566">
              <a:extLst>
                <a:ext uri="{FF2B5EF4-FFF2-40B4-BE49-F238E27FC236}">
                  <a16:creationId xmlns:a16="http://schemas.microsoft.com/office/drawing/2014/main" id="{35A7EE64-3749-56B4-C75E-102829F51D5F}"/>
                </a:ext>
              </a:extLst>
            </p:cNvPr>
            <p:cNvSpPr txBox="1"/>
            <p:nvPr/>
          </p:nvSpPr>
          <p:spPr>
            <a:xfrm>
              <a:off x="4461931" y="2909655"/>
              <a:ext cx="1549739" cy="246221"/>
            </a:xfrm>
            <a:prstGeom prst="rect">
              <a:avLst/>
            </a:prstGeom>
            <a:noFill/>
          </p:spPr>
          <p:txBody>
            <a:bodyPr wrap="square" lIns="36000" rtlCol="0">
              <a:spAutoFit/>
            </a:bodyPr>
            <a:lstStyle/>
            <a:p>
              <a:r>
                <a:rPr lang="pt-BR" sz="1000" dirty="0"/>
                <a:t>Impacto total 2026</a:t>
              </a:r>
            </a:p>
          </p:txBody>
        </p:sp>
      </p:grpSp>
      <p:sp>
        <p:nvSpPr>
          <p:cNvPr id="571" name="Retângulo 570">
            <a:extLst>
              <a:ext uri="{FF2B5EF4-FFF2-40B4-BE49-F238E27FC236}">
                <a16:creationId xmlns:a16="http://schemas.microsoft.com/office/drawing/2014/main" id="{B1786492-6389-E7C9-8EDA-B8017AE955B7}"/>
              </a:ext>
            </a:extLst>
          </p:cNvPr>
          <p:cNvSpPr/>
          <p:nvPr/>
        </p:nvSpPr>
        <p:spPr>
          <a:xfrm>
            <a:off x="311691" y="1620596"/>
            <a:ext cx="3384000" cy="5076000"/>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7" name="CaixaDeTexto 576">
            <a:extLst>
              <a:ext uri="{FF2B5EF4-FFF2-40B4-BE49-F238E27FC236}">
                <a16:creationId xmlns:a16="http://schemas.microsoft.com/office/drawing/2014/main" id="{ECF7447D-ED93-2F04-2C7D-18E9FC535559}"/>
              </a:ext>
            </a:extLst>
          </p:cNvPr>
          <p:cNvSpPr txBox="1"/>
          <p:nvPr/>
        </p:nvSpPr>
        <p:spPr>
          <a:xfrm>
            <a:off x="1000023" y="1476582"/>
            <a:ext cx="2029315" cy="307777"/>
          </a:xfrm>
          <a:prstGeom prst="rect">
            <a:avLst/>
          </a:prstGeom>
          <a:solidFill>
            <a:schemeClr val="bg1"/>
          </a:solidFill>
        </p:spPr>
        <p:txBody>
          <a:bodyPr wrap="square" rtlCol="0">
            <a:spAutoFit/>
          </a:bodyPr>
          <a:lstStyle/>
          <a:p>
            <a:pPr algn="ctr"/>
            <a:r>
              <a:rPr lang="pt-BR" sz="1400" b="1" dirty="0"/>
              <a:t>Cenário Base</a:t>
            </a:r>
          </a:p>
        </p:txBody>
      </p:sp>
      <p:sp>
        <p:nvSpPr>
          <p:cNvPr id="625" name="CaixaDeTexto 624">
            <a:extLst>
              <a:ext uri="{FF2B5EF4-FFF2-40B4-BE49-F238E27FC236}">
                <a16:creationId xmlns:a16="http://schemas.microsoft.com/office/drawing/2014/main" id="{BA39B272-70DF-6B61-FAA1-E6ADA3B93EFB}"/>
              </a:ext>
            </a:extLst>
          </p:cNvPr>
          <p:cNvSpPr txBox="1"/>
          <p:nvPr/>
        </p:nvSpPr>
        <p:spPr>
          <a:xfrm>
            <a:off x="417117" y="1857326"/>
            <a:ext cx="1358404" cy="261610"/>
          </a:xfrm>
          <a:prstGeom prst="rect">
            <a:avLst/>
          </a:prstGeom>
          <a:noFill/>
        </p:spPr>
        <p:txBody>
          <a:bodyPr wrap="square" rtlCol="0">
            <a:spAutoFit/>
          </a:bodyPr>
          <a:lstStyle/>
          <a:p>
            <a:r>
              <a:rPr lang="pt-BR" sz="1050" b="1" dirty="0"/>
              <a:t>Nome do Cenário</a:t>
            </a:r>
          </a:p>
        </p:txBody>
      </p:sp>
      <p:sp>
        <p:nvSpPr>
          <p:cNvPr id="626" name="Retângulo: Cantos Arredondados 625">
            <a:extLst>
              <a:ext uri="{FF2B5EF4-FFF2-40B4-BE49-F238E27FC236}">
                <a16:creationId xmlns:a16="http://schemas.microsoft.com/office/drawing/2014/main" id="{186308FE-210D-BA1C-9985-CF48D25C8292}"/>
              </a:ext>
            </a:extLst>
          </p:cNvPr>
          <p:cNvSpPr/>
          <p:nvPr/>
        </p:nvSpPr>
        <p:spPr>
          <a:xfrm>
            <a:off x="1703512" y="1871905"/>
            <a:ext cx="1945935"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a:t>
            </a:r>
            <a:r>
              <a:rPr kumimoji="0" lang="pt-BR" sz="1050" b="0" i="0" u="none" strike="noStrike" kern="1200" cap="none" spc="0" normalizeH="0" baseline="0" noProof="0" dirty="0" err="1">
                <a:ln>
                  <a:noFill/>
                </a:ln>
                <a:solidFill>
                  <a:prstClr val="black"/>
                </a:solidFill>
                <a:effectLst/>
                <a:uLnTx/>
                <a:uFillTx/>
                <a:latin typeface="Calibri"/>
                <a:ea typeface="+mn-ea"/>
                <a:cs typeface="+mn-cs"/>
              </a:rPr>
              <a:t>nome_cenário</a:t>
            </a:r>
            <a:r>
              <a:rPr kumimoji="0" lang="pt-BR" sz="1050" b="0" i="0" u="none" strike="noStrike" kern="1200" cap="none" spc="0" normalizeH="0" baseline="0" noProof="0" dirty="0">
                <a:ln>
                  <a:noFill/>
                </a:ln>
                <a:solidFill>
                  <a:prstClr val="black"/>
                </a:solidFill>
                <a:effectLst/>
                <a:uLnTx/>
                <a:uFillTx/>
                <a:latin typeface="Calibri"/>
                <a:ea typeface="+mn-ea"/>
                <a:cs typeface="+mn-cs"/>
              </a:rPr>
              <a:t>]</a:t>
            </a:r>
          </a:p>
        </p:txBody>
      </p:sp>
      <p:sp>
        <p:nvSpPr>
          <p:cNvPr id="627" name="CaixaDeTexto 626">
            <a:extLst>
              <a:ext uri="{FF2B5EF4-FFF2-40B4-BE49-F238E27FC236}">
                <a16:creationId xmlns:a16="http://schemas.microsoft.com/office/drawing/2014/main" id="{3333CFE5-A6C9-3984-442E-BB95BE41044A}"/>
              </a:ext>
            </a:extLst>
          </p:cNvPr>
          <p:cNvSpPr txBox="1"/>
          <p:nvPr/>
        </p:nvSpPr>
        <p:spPr>
          <a:xfrm>
            <a:off x="417117" y="2202530"/>
            <a:ext cx="1734356" cy="261610"/>
          </a:xfrm>
          <a:prstGeom prst="rect">
            <a:avLst/>
          </a:prstGeom>
          <a:noFill/>
        </p:spPr>
        <p:txBody>
          <a:bodyPr wrap="square" rtlCol="0">
            <a:spAutoFit/>
          </a:bodyPr>
          <a:lstStyle/>
          <a:p>
            <a:r>
              <a:rPr lang="pt-BR" sz="1050" b="1" dirty="0"/>
              <a:t>Total Estimado em BRL</a:t>
            </a:r>
          </a:p>
        </p:txBody>
      </p:sp>
      <p:sp>
        <p:nvSpPr>
          <p:cNvPr id="628" name="Retângulo: Cantos Arredondados 627">
            <a:extLst>
              <a:ext uri="{FF2B5EF4-FFF2-40B4-BE49-F238E27FC236}">
                <a16:creationId xmlns:a16="http://schemas.microsoft.com/office/drawing/2014/main" id="{38283C37-C655-CE6E-CB1D-34E10774A858}"/>
              </a:ext>
            </a:extLst>
          </p:cNvPr>
          <p:cNvSpPr/>
          <p:nvPr/>
        </p:nvSpPr>
        <p:spPr>
          <a:xfrm>
            <a:off x="2151474" y="2217109"/>
            <a:ext cx="1497974"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a:t>
            </a:r>
            <a:r>
              <a:rPr kumimoji="0" lang="pt-BR" sz="1050" b="0" i="0" u="none" strike="noStrike" kern="1200" cap="none" spc="0" normalizeH="0" baseline="0" noProof="0" dirty="0" err="1">
                <a:ln>
                  <a:noFill/>
                </a:ln>
                <a:solidFill>
                  <a:prstClr val="black"/>
                </a:solidFill>
                <a:effectLst/>
                <a:uLnTx/>
                <a:uFillTx/>
                <a:latin typeface="Calibri"/>
                <a:ea typeface="+mn-ea"/>
                <a:cs typeface="+mn-cs"/>
              </a:rPr>
              <a:t>soma_valor</a:t>
            </a:r>
            <a:r>
              <a:rPr kumimoji="0" lang="pt-BR" sz="1050" b="0" i="0" u="none" strike="noStrike" kern="1200" cap="none" spc="0" normalizeH="0" baseline="0" noProof="0" dirty="0">
                <a:ln>
                  <a:noFill/>
                </a:ln>
                <a:solidFill>
                  <a:prstClr val="black"/>
                </a:solidFill>
                <a:effectLst/>
                <a:uLnTx/>
                <a:uFillTx/>
                <a:latin typeface="Calibri"/>
                <a:ea typeface="+mn-ea"/>
                <a:cs typeface="+mn-cs"/>
              </a:rPr>
              <a:t>]</a:t>
            </a:r>
          </a:p>
        </p:txBody>
      </p:sp>
      <p:sp>
        <p:nvSpPr>
          <p:cNvPr id="629" name="Retângulo: Cantos Arredondados 628">
            <a:extLst>
              <a:ext uri="{FF2B5EF4-FFF2-40B4-BE49-F238E27FC236}">
                <a16:creationId xmlns:a16="http://schemas.microsoft.com/office/drawing/2014/main" id="{CEB9CA6D-D64E-5F80-6E92-2A403221FA19}"/>
              </a:ext>
            </a:extLst>
          </p:cNvPr>
          <p:cNvSpPr/>
          <p:nvPr/>
        </p:nvSpPr>
        <p:spPr>
          <a:xfrm>
            <a:off x="417116" y="4934702"/>
            <a:ext cx="3232331" cy="1180171"/>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[observações]</a:t>
            </a:r>
          </a:p>
        </p:txBody>
      </p:sp>
      <p:sp>
        <p:nvSpPr>
          <p:cNvPr id="630" name="CaixaDeTexto 629">
            <a:extLst>
              <a:ext uri="{FF2B5EF4-FFF2-40B4-BE49-F238E27FC236}">
                <a16:creationId xmlns:a16="http://schemas.microsoft.com/office/drawing/2014/main" id="{1297977D-D359-3062-1DEA-29A13A5F7499}"/>
              </a:ext>
            </a:extLst>
          </p:cNvPr>
          <p:cNvSpPr txBox="1"/>
          <p:nvPr/>
        </p:nvSpPr>
        <p:spPr>
          <a:xfrm>
            <a:off x="417115" y="4681155"/>
            <a:ext cx="3232331" cy="261610"/>
          </a:xfrm>
          <a:prstGeom prst="rect">
            <a:avLst/>
          </a:prstGeom>
          <a:noFill/>
        </p:spPr>
        <p:txBody>
          <a:bodyPr wrap="square" rtlCol="0">
            <a:spAutoFit/>
          </a:bodyPr>
          <a:lstStyle/>
          <a:p>
            <a:pPr algn="ctr"/>
            <a:r>
              <a:rPr lang="pt-BR" sz="1050" dirty="0"/>
              <a:t>Observações e Notas</a:t>
            </a:r>
          </a:p>
        </p:txBody>
      </p:sp>
      <p:grpSp>
        <p:nvGrpSpPr>
          <p:cNvPr id="860" name="Agrupar 859">
            <a:extLst>
              <a:ext uri="{FF2B5EF4-FFF2-40B4-BE49-F238E27FC236}">
                <a16:creationId xmlns:a16="http://schemas.microsoft.com/office/drawing/2014/main" id="{C9B9FEF0-6480-7BC7-EAB5-A025C3877EB7}"/>
              </a:ext>
            </a:extLst>
          </p:cNvPr>
          <p:cNvGrpSpPr/>
          <p:nvPr/>
        </p:nvGrpSpPr>
        <p:grpSpPr>
          <a:xfrm>
            <a:off x="658283" y="6341862"/>
            <a:ext cx="2712795" cy="293590"/>
            <a:chOff x="796143" y="6210663"/>
            <a:chExt cx="2712795" cy="293590"/>
          </a:xfrm>
        </p:grpSpPr>
        <p:sp>
          <p:nvSpPr>
            <p:cNvPr id="81" name="Retângulo: Cantos Arredondados 80">
              <a:hlinkClick r:id="" action="ppaction://noaction"/>
              <a:extLst>
                <a:ext uri="{FF2B5EF4-FFF2-40B4-BE49-F238E27FC236}">
                  <a16:creationId xmlns:a16="http://schemas.microsoft.com/office/drawing/2014/main" id="{81F453CF-9CC3-1AB7-7562-DC3EF16CDD24}"/>
                </a:ext>
              </a:extLst>
            </p:cNvPr>
            <p:cNvSpPr/>
            <p:nvPr/>
          </p:nvSpPr>
          <p:spPr>
            <a:xfrm>
              <a:off x="1671428" y="6224456"/>
              <a:ext cx="1837510" cy="279797"/>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Definir Cenário Final</a:t>
              </a:r>
            </a:p>
          </p:txBody>
        </p:sp>
        <p:grpSp>
          <p:nvGrpSpPr>
            <p:cNvPr id="737" name="Agrupar 736">
              <a:extLst>
                <a:ext uri="{FF2B5EF4-FFF2-40B4-BE49-F238E27FC236}">
                  <a16:creationId xmlns:a16="http://schemas.microsoft.com/office/drawing/2014/main" id="{2754E9B2-9EF1-7C2F-99B6-B5A7D46C2F9A}"/>
                </a:ext>
              </a:extLst>
            </p:cNvPr>
            <p:cNvGrpSpPr/>
            <p:nvPr/>
          </p:nvGrpSpPr>
          <p:grpSpPr>
            <a:xfrm>
              <a:off x="796143" y="6210663"/>
              <a:ext cx="830559" cy="261610"/>
              <a:chOff x="920857" y="5859251"/>
              <a:chExt cx="830559" cy="261610"/>
            </a:xfrm>
          </p:grpSpPr>
          <p:pic>
            <p:nvPicPr>
              <p:cNvPr id="631" name="Imagem 630" descr="Forma&#10;&#10;O conteúdo gerado por IA pode estar incorreto.">
                <a:extLst>
                  <a:ext uri="{FF2B5EF4-FFF2-40B4-BE49-F238E27FC236}">
                    <a16:creationId xmlns:a16="http://schemas.microsoft.com/office/drawing/2014/main" id="{5CF29147-72C8-CACB-29A5-79BF982A4D9B}"/>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920857" y="5886848"/>
                <a:ext cx="226575" cy="221805"/>
              </a:xfrm>
              <a:prstGeom prst="rect">
                <a:avLst/>
              </a:prstGeom>
            </p:spPr>
          </p:pic>
          <p:sp>
            <p:nvSpPr>
              <p:cNvPr id="633" name="CaixaDeTexto 632">
                <a:extLst>
                  <a:ext uri="{FF2B5EF4-FFF2-40B4-BE49-F238E27FC236}">
                    <a16:creationId xmlns:a16="http://schemas.microsoft.com/office/drawing/2014/main" id="{C415FCF3-8286-5DFA-D8D4-DFE1B5D9EE30}"/>
                  </a:ext>
                </a:extLst>
              </p:cNvPr>
              <p:cNvSpPr txBox="1"/>
              <p:nvPr/>
            </p:nvSpPr>
            <p:spPr>
              <a:xfrm>
                <a:off x="1128980" y="5859251"/>
                <a:ext cx="622436" cy="261610"/>
              </a:xfrm>
              <a:prstGeom prst="rect">
                <a:avLst/>
              </a:prstGeom>
              <a:noFill/>
            </p:spPr>
            <p:txBody>
              <a:bodyPr wrap="square" rtlCol="0">
                <a:spAutoFit/>
              </a:bodyPr>
              <a:lstStyle/>
              <a:p>
                <a:r>
                  <a:rPr lang="pt-BR" sz="1050" dirty="0"/>
                  <a:t>Editar</a:t>
                </a:r>
              </a:p>
            </p:txBody>
          </p:sp>
        </p:grpSp>
      </p:grpSp>
      <p:sp>
        <p:nvSpPr>
          <p:cNvPr id="635" name="Retângulo: Cantos Arredondados 634">
            <a:extLst>
              <a:ext uri="{FF2B5EF4-FFF2-40B4-BE49-F238E27FC236}">
                <a16:creationId xmlns:a16="http://schemas.microsoft.com/office/drawing/2014/main" id="{24E7FA04-1987-8D3E-6A04-5566C9FFF7FC}"/>
              </a:ext>
            </a:extLst>
          </p:cNvPr>
          <p:cNvSpPr/>
          <p:nvPr/>
        </p:nvSpPr>
        <p:spPr>
          <a:xfrm>
            <a:off x="2423592" y="3412530"/>
            <a:ext cx="1225855"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pt-BR" sz="1050" dirty="0">
                <a:solidFill>
                  <a:prstClr val="black"/>
                </a:solidFill>
              </a:rPr>
              <a:t>[valor em BRL]</a:t>
            </a:r>
          </a:p>
        </p:txBody>
      </p:sp>
      <p:sp>
        <p:nvSpPr>
          <p:cNvPr id="636" name="CaixaDeTexto 635">
            <a:extLst>
              <a:ext uri="{FF2B5EF4-FFF2-40B4-BE49-F238E27FC236}">
                <a16:creationId xmlns:a16="http://schemas.microsoft.com/office/drawing/2014/main" id="{8A496D91-3EDF-3953-F56B-4EB0B5DE361E}"/>
              </a:ext>
            </a:extLst>
          </p:cNvPr>
          <p:cNvSpPr txBox="1"/>
          <p:nvPr/>
        </p:nvSpPr>
        <p:spPr>
          <a:xfrm>
            <a:off x="417116" y="3397951"/>
            <a:ext cx="2058775" cy="261610"/>
          </a:xfrm>
          <a:prstGeom prst="rect">
            <a:avLst/>
          </a:prstGeom>
          <a:noFill/>
        </p:spPr>
        <p:txBody>
          <a:bodyPr wrap="square" rtlCol="0">
            <a:spAutoFit/>
          </a:bodyPr>
          <a:lstStyle/>
          <a:p>
            <a:r>
              <a:rPr lang="pt-BR" sz="1050" dirty="0"/>
              <a:t>100 - Parada Upgrade </a:t>
            </a:r>
          </a:p>
        </p:txBody>
      </p:sp>
      <p:sp>
        <p:nvSpPr>
          <p:cNvPr id="637" name="Retângulo: Cantos Arredondados 636">
            <a:extLst>
              <a:ext uri="{FF2B5EF4-FFF2-40B4-BE49-F238E27FC236}">
                <a16:creationId xmlns:a16="http://schemas.microsoft.com/office/drawing/2014/main" id="{0DE77D52-58A4-E7AF-1DAC-D8E49F7CE725}"/>
              </a:ext>
            </a:extLst>
          </p:cNvPr>
          <p:cNvSpPr/>
          <p:nvPr/>
        </p:nvSpPr>
        <p:spPr>
          <a:xfrm>
            <a:off x="2423592" y="3749070"/>
            <a:ext cx="1225855"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638" name="CaixaDeTexto 637">
            <a:extLst>
              <a:ext uri="{FF2B5EF4-FFF2-40B4-BE49-F238E27FC236}">
                <a16:creationId xmlns:a16="http://schemas.microsoft.com/office/drawing/2014/main" id="{B32CAC52-F1CB-FCA2-DD35-B3A15F57B8C0}"/>
              </a:ext>
            </a:extLst>
          </p:cNvPr>
          <p:cNvSpPr txBox="1"/>
          <p:nvPr/>
        </p:nvSpPr>
        <p:spPr>
          <a:xfrm>
            <a:off x="417116" y="3734491"/>
            <a:ext cx="2058774" cy="261610"/>
          </a:xfrm>
          <a:prstGeom prst="rect">
            <a:avLst/>
          </a:prstGeom>
          <a:noFill/>
        </p:spPr>
        <p:txBody>
          <a:bodyPr wrap="square" rtlCol="0">
            <a:spAutoFit/>
          </a:bodyPr>
          <a:lstStyle/>
          <a:p>
            <a:r>
              <a:rPr lang="pt-BR" sz="1050" dirty="0"/>
              <a:t>101 - Parada Especial </a:t>
            </a:r>
          </a:p>
        </p:txBody>
      </p:sp>
      <p:sp>
        <p:nvSpPr>
          <p:cNvPr id="639" name="Retângulo: Cantos Arredondados 638">
            <a:extLst>
              <a:ext uri="{FF2B5EF4-FFF2-40B4-BE49-F238E27FC236}">
                <a16:creationId xmlns:a16="http://schemas.microsoft.com/office/drawing/2014/main" id="{52D46DE1-2968-629E-E094-B90801C6793D}"/>
              </a:ext>
            </a:extLst>
          </p:cNvPr>
          <p:cNvSpPr/>
          <p:nvPr/>
        </p:nvSpPr>
        <p:spPr>
          <a:xfrm>
            <a:off x="2423592" y="4085610"/>
            <a:ext cx="1225855"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640" name="CaixaDeTexto 639">
            <a:extLst>
              <a:ext uri="{FF2B5EF4-FFF2-40B4-BE49-F238E27FC236}">
                <a16:creationId xmlns:a16="http://schemas.microsoft.com/office/drawing/2014/main" id="{F1987A11-2240-1E0F-8E01-246FAA5193C0}"/>
              </a:ext>
            </a:extLst>
          </p:cNvPr>
          <p:cNvSpPr txBox="1"/>
          <p:nvPr/>
        </p:nvSpPr>
        <p:spPr>
          <a:xfrm>
            <a:off x="417116" y="4071031"/>
            <a:ext cx="2058774" cy="261610"/>
          </a:xfrm>
          <a:prstGeom prst="rect">
            <a:avLst/>
          </a:prstGeom>
          <a:noFill/>
        </p:spPr>
        <p:txBody>
          <a:bodyPr wrap="square" rtlCol="0">
            <a:spAutoFit/>
          </a:bodyPr>
          <a:lstStyle/>
          <a:p>
            <a:r>
              <a:rPr lang="pt-BR" sz="1050" dirty="0"/>
              <a:t>102 - Parada Intermediária </a:t>
            </a:r>
          </a:p>
        </p:txBody>
      </p:sp>
      <p:sp>
        <p:nvSpPr>
          <p:cNvPr id="641" name="Retângulo: Cantos Arredondados 640">
            <a:extLst>
              <a:ext uri="{FF2B5EF4-FFF2-40B4-BE49-F238E27FC236}">
                <a16:creationId xmlns:a16="http://schemas.microsoft.com/office/drawing/2014/main" id="{9FF1C90D-9D54-4161-45C8-937AC58D3105}"/>
              </a:ext>
            </a:extLst>
          </p:cNvPr>
          <p:cNvSpPr/>
          <p:nvPr/>
        </p:nvSpPr>
        <p:spPr>
          <a:xfrm>
            <a:off x="2423592" y="4422150"/>
            <a:ext cx="1225855"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642" name="CaixaDeTexto 641">
            <a:extLst>
              <a:ext uri="{FF2B5EF4-FFF2-40B4-BE49-F238E27FC236}">
                <a16:creationId xmlns:a16="http://schemas.microsoft.com/office/drawing/2014/main" id="{E9A93852-0C7A-E5FD-8F4C-C17F7CC0027D}"/>
              </a:ext>
            </a:extLst>
          </p:cNvPr>
          <p:cNvSpPr txBox="1"/>
          <p:nvPr/>
        </p:nvSpPr>
        <p:spPr>
          <a:xfrm>
            <a:off x="417116" y="4407571"/>
            <a:ext cx="2058774" cy="261610"/>
          </a:xfrm>
          <a:prstGeom prst="rect">
            <a:avLst/>
          </a:prstGeom>
          <a:noFill/>
        </p:spPr>
        <p:txBody>
          <a:bodyPr wrap="square" rtlCol="0">
            <a:spAutoFit/>
          </a:bodyPr>
          <a:lstStyle/>
          <a:p>
            <a:r>
              <a:rPr lang="pt-BR" sz="1050" dirty="0"/>
              <a:t>103 - Parada Programada </a:t>
            </a:r>
          </a:p>
        </p:txBody>
      </p:sp>
      <p:sp>
        <p:nvSpPr>
          <p:cNvPr id="643" name="CaixaDeTexto 642">
            <a:extLst>
              <a:ext uri="{FF2B5EF4-FFF2-40B4-BE49-F238E27FC236}">
                <a16:creationId xmlns:a16="http://schemas.microsoft.com/office/drawing/2014/main" id="{BED4CAFF-BE75-B57A-1F8F-6893CB89C4B6}"/>
              </a:ext>
            </a:extLst>
          </p:cNvPr>
          <p:cNvSpPr txBox="1"/>
          <p:nvPr/>
        </p:nvSpPr>
        <p:spPr>
          <a:xfrm>
            <a:off x="417116" y="2736939"/>
            <a:ext cx="926356" cy="261610"/>
          </a:xfrm>
          <a:prstGeom prst="rect">
            <a:avLst/>
          </a:prstGeom>
          <a:noFill/>
        </p:spPr>
        <p:txBody>
          <a:bodyPr wrap="square" rtlCol="0">
            <a:spAutoFit/>
          </a:bodyPr>
          <a:lstStyle/>
          <a:p>
            <a:pPr algn="ctr"/>
            <a:r>
              <a:rPr lang="pt-BR" sz="1050" b="1" dirty="0"/>
              <a:t>Data Início</a:t>
            </a:r>
          </a:p>
        </p:txBody>
      </p:sp>
      <p:sp>
        <p:nvSpPr>
          <p:cNvPr id="644" name="Retângulo: Cantos Arredondados 643">
            <a:extLst>
              <a:ext uri="{FF2B5EF4-FFF2-40B4-BE49-F238E27FC236}">
                <a16:creationId xmlns:a16="http://schemas.microsoft.com/office/drawing/2014/main" id="{EDD65418-4A6A-56DB-BCE6-D9506598138C}"/>
              </a:ext>
            </a:extLst>
          </p:cNvPr>
          <p:cNvSpPr/>
          <p:nvPr/>
        </p:nvSpPr>
        <p:spPr>
          <a:xfrm>
            <a:off x="417115" y="2987623"/>
            <a:ext cx="926356"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[inicio]</a:t>
            </a:r>
          </a:p>
        </p:txBody>
      </p:sp>
      <p:sp>
        <p:nvSpPr>
          <p:cNvPr id="645" name="CaixaDeTexto 644">
            <a:extLst>
              <a:ext uri="{FF2B5EF4-FFF2-40B4-BE49-F238E27FC236}">
                <a16:creationId xmlns:a16="http://schemas.microsoft.com/office/drawing/2014/main" id="{92BAD527-FA9E-56F0-6C9A-3BB8AC879457}"/>
              </a:ext>
            </a:extLst>
          </p:cNvPr>
          <p:cNvSpPr txBox="1"/>
          <p:nvPr/>
        </p:nvSpPr>
        <p:spPr>
          <a:xfrm>
            <a:off x="1487488" y="2736939"/>
            <a:ext cx="792088" cy="261610"/>
          </a:xfrm>
          <a:prstGeom prst="rect">
            <a:avLst/>
          </a:prstGeom>
          <a:noFill/>
        </p:spPr>
        <p:txBody>
          <a:bodyPr wrap="square" rtlCol="0">
            <a:spAutoFit/>
          </a:bodyPr>
          <a:lstStyle/>
          <a:p>
            <a:pPr algn="ctr"/>
            <a:r>
              <a:rPr lang="pt-BR" sz="1050" b="1" dirty="0"/>
              <a:t>Data Fim</a:t>
            </a:r>
          </a:p>
        </p:txBody>
      </p:sp>
      <p:sp>
        <p:nvSpPr>
          <p:cNvPr id="646" name="Retângulo: Cantos Arredondados 645">
            <a:extLst>
              <a:ext uri="{FF2B5EF4-FFF2-40B4-BE49-F238E27FC236}">
                <a16:creationId xmlns:a16="http://schemas.microsoft.com/office/drawing/2014/main" id="{39E387DF-028D-C804-66E2-49E1605A950F}"/>
              </a:ext>
            </a:extLst>
          </p:cNvPr>
          <p:cNvSpPr/>
          <p:nvPr/>
        </p:nvSpPr>
        <p:spPr>
          <a:xfrm>
            <a:off x="1487488" y="2987623"/>
            <a:ext cx="792088"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647" name="Retângulo: Cantos Arredondados 646">
            <a:extLst>
              <a:ext uri="{FF2B5EF4-FFF2-40B4-BE49-F238E27FC236}">
                <a16:creationId xmlns:a16="http://schemas.microsoft.com/office/drawing/2014/main" id="{52351A4D-0F41-68AC-A966-930557283430}"/>
              </a:ext>
            </a:extLst>
          </p:cNvPr>
          <p:cNvSpPr/>
          <p:nvPr/>
        </p:nvSpPr>
        <p:spPr>
          <a:xfrm>
            <a:off x="2436484" y="2986128"/>
            <a:ext cx="1212962"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50" b="0" i="0" u="none" strike="noStrike" kern="1200" cap="none" spc="0" normalizeH="0" baseline="0" noProof="0" dirty="0">
                <a:ln>
                  <a:noFill/>
                </a:ln>
                <a:solidFill>
                  <a:prstClr val="black"/>
                </a:solidFill>
                <a:effectLst/>
                <a:uLnTx/>
                <a:uFillTx/>
                <a:latin typeface="Calibri"/>
                <a:ea typeface="+mn-ea"/>
                <a:cs typeface="+mn-cs"/>
              </a:rPr>
              <a:t>[</a:t>
            </a:r>
            <a:r>
              <a:rPr kumimoji="0" lang="pt-BR" sz="1050" b="0" i="0" u="none" strike="noStrike" kern="1200" cap="none" spc="0" normalizeH="0" baseline="0" noProof="0" dirty="0" err="1">
                <a:ln>
                  <a:noFill/>
                </a:ln>
                <a:solidFill>
                  <a:prstClr val="black"/>
                </a:solidFill>
                <a:effectLst/>
                <a:uLnTx/>
                <a:uFillTx/>
                <a:latin typeface="Calibri"/>
                <a:ea typeface="+mn-ea"/>
                <a:cs typeface="+mn-cs"/>
              </a:rPr>
              <a:t>duracao</a:t>
            </a:r>
            <a:r>
              <a:rPr kumimoji="0" lang="pt-BR" sz="1050" b="0" i="0" u="none" strike="noStrike" kern="1200" cap="none" spc="0" normalizeH="0" baseline="0" noProof="0" dirty="0">
                <a:ln>
                  <a:noFill/>
                </a:ln>
                <a:solidFill>
                  <a:prstClr val="black"/>
                </a:solidFill>
                <a:effectLst/>
                <a:uLnTx/>
                <a:uFillTx/>
                <a:latin typeface="Calibri"/>
                <a:ea typeface="+mn-ea"/>
                <a:cs typeface="+mn-cs"/>
              </a:rPr>
              <a:t>]</a:t>
            </a:r>
          </a:p>
        </p:txBody>
      </p:sp>
      <p:sp>
        <p:nvSpPr>
          <p:cNvPr id="648" name="CaixaDeTexto 647">
            <a:extLst>
              <a:ext uri="{FF2B5EF4-FFF2-40B4-BE49-F238E27FC236}">
                <a16:creationId xmlns:a16="http://schemas.microsoft.com/office/drawing/2014/main" id="{5BF06F32-0B22-ECF5-FDE7-ABC77AC396A3}"/>
              </a:ext>
            </a:extLst>
          </p:cNvPr>
          <p:cNvSpPr txBox="1"/>
          <p:nvPr/>
        </p:nvSpPr>
        <p:spPr>
          <a:xfrm>
            <a:off x="2436484" y="2736939"/>
            <a:ext cx="1212962" cy="261610"/>
          </a:xfrm>
          <a:prstGeom prst="rect">
            <a:avLst/>
          </a:prstGeom>
          <a:noFill/>
        </p:spPr>
        <p:txBody>
          <a:bodyPr wrap="square" rtlCol="0">
            <a:spAutoFit/>
          </a:bodyPr>
          <a:lstStyle/>
          <a:p>
            <a:pPr algn="ctr"/>
            <a:r>
              <a:rPr lang="pt-BR" sz="1050" b="1" dirty="0"/>
              <a:t>Duração Total</a:t>
            </a:r>
          </a:p>
        </p:txBody>
      </p:sp>
      <p:sp>
        <p:nvSpPr>
          <p:cNvPr id="791" name="Retângulo 790">
            <a:extLst>
              <a:ext uri="{FF2B5EF4-FFF2-40B4-BE49-F238E27FC236}">
                <a16:creationId xmlns:a16="http://schemas.microsoft.com/office/drawing/2014/main" id="{0271F580-0838-9FFA-D9DE-A2D015785BBC}"/>
              </a:ext>
            </a:extLst>
          </p:cNvPr>
          <p:cNvSpPr/>
          <p:nvPr/>
        </p:nvSpPr>
        <p:spPr>
          <a:xfrm>
            <a:off x="8344872" y="1620596"/>
            <a:ext cx="3384000" cy="5076000"/>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792" name="Agrupar 791">
            <a:extLst>
              <a:ext uri="{FF2B5EF4-FFF2-40B4-BE49-F238E27FC236}">
                <a16:creationId xmlns:a16="http://schemas.microsoft.com/office/drawing/2014/main" id="{8C494F6D-858C-FAE8-4F9E-A41192514BCE}"/>
              </a:ext>
            </a:extLst>
          </p:cNvPr>
          <p:cNvGrpSpPr/>
          <p:nvPr/>
        </p:nvGrpSpPr>
        <p:grpSpPr>
          <a:xfrm>
            <a:off x="8440457" y="1857326"/>
            <a:ext cx="3143878" cy="262419"/>
            <a:chOff x="4461931" y="2286528"/>
            <a:chExt cx="3143878" cy="262419"/>
          </a:xfrm>
        </p:grpSpPr>
        <p:sp>
          <p:nvSpPr>
            <p:cNvPr id="793" name="CaixaDeTexto 792">
              <a:extLst>
                <a:ext uri="{FF2B5EF4-FFF2-40B4-BE49-F238E27FC236}">
                  <a16:creationId xmlns:a16="http://schemas.microsoft.com/office/drawing/2014/main" id="{52343605-CD7D-AF05-67F2-4378F86DA560}"/>
                </a:ext>
              </a:extLst>
            </p:cNvPr>
            <p:cNvSpPr txBox="1"/>
            <p:nvPr/>
          </p:nvSpPr>
          <p:spPr>
            <a:xfrm>
              <a:off x="4461931" y="2286528"/>
              <a:ext cx="1358404" cy="261610"/>
            </a:xfrm>
            <a:prstGeom prst="rect">
              <a:avLst/>
            </a:prstGeom>
            <a:noFill/>
          </p:spPr>
          <p:txBody>
            <a:bodyPr wrap="square" rtlCol="0">
              <a:spAutoFit/>
            </a:bodyPr>
            <a:lstStyle/>
            <a:p>
              <a:r>
                <a:rPr lang="pt-BR" sz="1100" b="1" dirty="0"/>
                <a:t>Nome do Cenário</a:t>
              </a:r>
            </a:p>
          </p:txBody>
        </p:sp>
        <p:sp>
          <p:nvSpPr>
            <p:cNvPr id="794" name="Retângulo: Cantos Arredondados 793">
              <a:extLst>
                <a:ext uri="{FF2B5EF4-FFF2-40B4-BE49-F238E27FC236}">
                  <a16:creationId xmlns:a16="http://schemas.microsoft.com/office/drawing/2014/main" id="{E831D288-F68D-2C42-58DB-25F16D64FDC5}"/>
                </a:ext>
              </a:extLst>
            </p:cNvPr>
            <p:cNvSpPr/>
            <p:nvPr/>
          </p:nvSpPr>
          <p:spPr>
            <a:xfrm>
              <a:off x="5836777" y="2301107"/>
              <a:ext cx="1769032" cy="247840"/>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a:t>
              </a:r>
              <a:r>
                <a:rPr kumimoji="0" lang="pt-BR" sz="1100" b="0" i="0" u="none" strike="noStrike" kern="1200" cap="none" spc="0" normalizeH="0" baseline="0" noProof="0" dirty="0" err="1">
                  <a:ln>
                    <a:noFill/>
                  </a:ln>
                  <a:solidFill>
                    <a:prstClr val="black"/>
                  </a:solidFill>
                  <a:effectLst/>
                  <a:uLnTx/>
                  <a:uFillTx/>
                  <a:latin typeface="Calibri"/>
                  <a:ea typeface="+mn-ea"/>
                  <a:cs typeface="+mn-cs"/>
                </a:rPr>
                <a:t>nome_cenário</a:t>
              </a:r>
              <a:r>
                <a:rPr kumimoji="0" lang="pt-BR" sz="1100" b="0" i="0" u="none" strike="noStrike" kern="1200" cap="none" spc="0" normalizeH="0" baseline="0" noProof="0" dirty="0">
                  <a:ln>
                    <a:noFill/>
                  </a:ln>
                  <a:solidFill>
                    <a:prstClr val="black"/>
                  </a:solidFill>
                  <a:effectLst/>
                  <a:uLnTx/>
                  <a:uFillTx/>
                  <a:latin typeface="Calibri"/>
                  <a:ea typeface="+mn-ea"/>
                  <a:cs typeface="+mn-cs"/>
                </a:rPr>
                <a:t>]</a:t>
              </a:r>
            </a:p>
          </p:txBody>
        </p:sp>
      </p:grpSp>
      <p:sp>
        <p:nvSpPr>
          <p:cNvPr id="795" name="CaixaDeTexto 794">
            <a:extLst>
              <a:ext uri="{FF2B5EF4-FFF2-40B4-BE49-F238E27FC236}">
                <a16:creationId xmlns:a16="http://schemas.microsoft.com/office/drawing/2014/main" id="{40599A9B-4347-7A4C-B35B-E8D95A4D5789}"/>
              </a:ext>
            </a:extLst>
          </p:cNvPr>
          <p:cNvSpPr txBox="1"/>
          <p:nvPr/>
        </p:nvSpPr>
        <p:spPr>
          <a:xfrm>
            <a:off x="9033204" y="1476582"/>
            <a:ext cx="2029315" cy="307777"/>
          </a:xfrm>
          <a:prstGeom prst="rect">
            <a:avLst/>
          </a:prstGeom>
          <a:solidFill>
            <a:schemeClr val="bg1"/>
          </a:solidFill>
        </p:spPr>
        <p:txBody>
          <a:bodyPr wrap="square" rtlCol="0">
            <a:spAutoFit/>
          </a:bodyPr>
          <a:lstStyle/>
          <a:p>
            <a:pPr algn="ctr"/>
            <a:r>
              <a:rPr lang="pt-BR" sz="1400" b="1" dirty="0"/>
              <a:t>Cenário C</a:t>
            </a:r>
          </a:p>
        </p:txBody>
      </p:sp>
      <p:sp>
        <p:nvSpPr>
          <p:cNvPr id="796" name="Retângulo 795">
            <a:extLst>
              <a:ext uri="{FF2B5EF4-FFF2-40B4-BE49-F238E27FC236}">
                <a16:creationId xmlns:a16="http://schemas.microsoft.com/office/drawing/2014/main" id="{81A9F316-2A01-AA00-2867-DAFA25FB8D1E}"/>
              </a:ext>
            </a:extLst>
          </p:cNvPr>
          <p:cNvSpPr/>
          <p:nvPr/>
        </p:nvSpPr>
        <p:spPr>
          <a:xfrm>
            <a:off x="8471064" y="2852715"/>
            <a:ext cx="3153594" cy="1622952"/>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97" name="CaixaDeTexto 796">
            <a:extLst>
              <a:ext uri="{FF2B5EF4-FFF2-40B4-BE49-F238E27FC236}">
                <a16:creationId xmlns:a16="http://schemas.microsoft.com/office/drawing/2014/main" id="{B3E6A568-BA07-F5A6-DDD1-1CA9B49B9299}"/>
              </a:ext>
            </a:extLst>
          </p:cNvPr>
          <p:cNvSpPr txBox="1"/>
          <p:nvPr/>
        </p:nvSpPr>
        <p:spPr>
          <a:xfrm>
            <a:off x="9537567" y="2717734"/>
            <a:ext cx="1020589" cy="276999"/>
          </a:xfrm>
          <a:prstGeom prst="rect">
            <a:avLst/>
          </a:prstGeom>
          <a:solidFill>
            <a:schemeClr val="bg1"/>
          </a:solidFill>
        </p:spPr>
        <p:txBody>
          <a:bodyPr wrap="square" rtlCol="0">
            <a:spAutoFit/>
          </a:bodyPr>
          <a:lstStyle>
            <a:defPPr>
              <a:defRPr lang="pt-BR"/>
            </a:defPPr>
            <a:lvl1pPr algn="ctr">
              <a:defRPr sz="1400" b="1"/>
            </a:lvl1pPr>
          </a:lstStyle>
          <a:p>
            <a:r>
              <a:rPr lang="pt-BR" sz="1200" dirty="0"/>
              <a:t>ID-XXX-C1</a:t>
            </a:r>
          </a:p>
        </p:txBody>
      </p:sp>
      <p:sp>
        <p:nvSpPr>
          <p:cNvPr id="798" name="CaixaDeTexto 797">
            <a:extLst>
              <a:ext uri="{FF2B5EF4-FFF2-40B4-BE49-F238E27FC236}">
                <a16:creationId xmlns:a16="http://schemas.microsoft.com/office/drawing/2014/main" id="{2553B11A-A5C7-CFC1-8966-4C9FEE235624}"/>
              </a:ext>
            </a:extLst>
          </p:cNvPr>
          <p:cNvSpPr txBox="1"/>
          <p:nvPr/>
        </p:nvSpPr>
        <p:spPr>
          <a:xfrm>
            <a:off x="8851653" y="3025643"/>
            <a:ext cx="765584" cy="246221"/>
          </a:xfrm>
          <a:prstGeom prst="rect">
            <a:avLst/>
          </a:prstGeom>
          <a:noFill/>
        </p:spPr>
        <p:txBody>
          <a:bodyPr wrap="square" rtlCol="0">
            <a:spAutoFit/>
          </a:bodyPr>
          <a:lstStyle/>
          <a:p>
            <a:pPr algn="ctr"/>
            <a:r>
              <a:rPr lang="pt-BR" sz="1000" b="1" dirty="0"/>
              <a:t>Data Início</a:t>
            </a:r>
          </a:p>
        </p:txBody>
      </p:sp>
      <p:sp>
        <p:nvSpPr>
          <p:cNvPr id="799" name="Retângulo: Cantos Arredondados 798">
            <a:extLst>
              <a:ext uri="{FF2B5EF4-FFF2-40B4-BE49-F238E27FC236}">
                <a16:creationId xmlns:a16="http://schemas.microsoft.com/office/drawing/2014/main" id="{7DA56E61-A3CE-C67B-C085-9FD655DF46D2}"/>
              </a:ext>
            </a:extLst>
          </p:cNvPr>
          <p:cNvSpPr/>
          <p:nvPr/>
        </p:nvSpPr>
        <p:spPr>
          <a:xfrm>
            <a:off x="8851652" y="3236874"/>
            <a:ext cx="765584"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[inicio]</a:t>
            </a:r>
          </a:p>
        </p:txBody>
      </p:sp>
      <p:sp>
        <p:nvSpPr>
          <p:cNvPr id="800" name="CaixaDeTexto 799">
            <a:extLst>
              <a:ext uri="{FF2B5EF4-FFF2-40B4-BE49-F238E27FC236}">
                <a16:creationId xmlns:a16="http://schemas.microsoft.com/office/drawing/2014/main" id="{C7F96D08-EC65-6D20-4037-1E9239AF6A45}"/>
              </a:ext>
            </a:extLst>
          </p:cNvPr>
          <p:cNvSpPr txBox="1"/>
          <p:nvPr/>
        </p:nvSpPr>
        <p:spPr>
          <a:xfrm>
            <a:off x="9747904" y="3025643"/>
            <a:ext cx="654618" cy="246221"/>
          </a:xfrm>
          <a:prstGeom prst="rect">
            <a:avLst/>
          </a:prstGeom>
          <a:noFill/>
        </p:spPr>
        <p:txBody>
          <a:bodyPr wrap="square" rtlCol="0">
            <a:spAutoFit/>
          </a:bodyPr>
          <a:lstStyle/>
          <a:p>
            <a:pPr algn="ctr"/>
            <a:r>
              <a:rPr lang="pt-BR" sz="1000" b="1" dirty="0"/>
              <a:t>Data Fim</a:t>
            </a:r>
          </a:p>
        </p:txBody>
      </p:sp>
      <p:sp>
        <p:nvSpPr>
          <p:cNvPr id="801" name="Retângulo: Cantos Arredondados 800">
            <a:extLst>
              <a:ext uri="{FF2B5EF4-FFF2-40B4-BE49-F238E27FC236}">
                <a16:creationId xmlns:a16="http://schemas.microsoft.com/office/drawing/2014/main" id="{6E3EF691-7966-82FB-D9C2-C3A7840FFCBE}"/>
              </a:ext>
            </a:extLst>
          </p:cNvPr>
          <p:cNvSpPr/>
          <p:nvPr/>
        </p:nvSpPr>
        <p:spPr>
          <a:xfrm>
            <a:off x="9747904" y="3236874"/>
            <a:ext cx="654618"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802" name="Retângulo: Cantos Arredondados 801">
            <a:extLst>
              <a:ext uri="{FF2B5EF4-FFF2-40B4-BE49-F238E27FC236}">
                <a16:creationId xmlns:a16="http://schemas.microsoft.com/office/drawing/2014/main" id="{B0136ED2-0B79-9F89-F42F-A0A6F10B6691}"/>
              </a:ext>
            </a:extLst>
          </p:cNvPr>
          <p:cNvSpPr/>
          <p:nvPr/>
        </p:nvSpPr>
        <p:spPr>
          <a:xfrm>
            <a:off x="10533189" y="3235379"/>
            <a:ext cx="828469"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a:t>
            </a:r>
            <a:r>
              <a:rPr kumimoji="0" lang="pt-BR" sz="1000" b="0" i="0" u="none" strike="noStrike" kern="1200" cap="none" spc="0" normalizeH="0" baseline="0" noProof="0" dirty="0" err="1">
                <a:ln>
                  <a:noFill/>
                </a:ln>
                <a:solidFill>
                  <a:prstClr val="black"/>
                </a:solidFill>
                <a:effectLst/>
                <a:uLnTx/>
                <a:uFillTx/>
                <a:latin typeface="Calibri"/>
                <a:ea typeface="+mn-ea"/>
                <a:cs typeface="+mn-cs"/>
              </a:rPr>
              <a:t>duracao</a:t>
            </a:r>
            <a:r>
              <a:rPr kumimoji="0" lang="pt-BR" sz="1000" b="0" i="0" u="none" strike="noStrike" kern="1200" cap="none" spc="0" normalizeH="0" baseline="0" noProof="0" dirty="0">
                <a:ln>
                  <a:noFill/>
                </a:ln>
                <a:solidFill>
                  <a:prstClr val="black"/>
                </a:solidFill>
                <a:effectLst/>
                <a:uLnTx/>
                <a:uFillTx/>
                <a:latin typeface="Calibri"/>
                <a:ea typeface="+mn-ea"/>
                <a:cs typeface="+mn-cs"/>
              </a:rPr>
              <a:t>]</a:t>
            </a:r>
          </a:p>
        </p:txBody>
      </p:sp>
      <p:sp>
        <p:nvSpPr>
          <p:cNvPr id="803" name="CaixaDeTexto 802">
            <a:extLst>
              <a:ext uri="{FF2B5EF4-FFF2-40B4-BE49-F238E27FC236}">
                <a16:creationId xmlns:a16="http://schemas.microsoft.com/office/drawing/2014/main" id="{B4DAFEE0-6A58-D0C3-E38F-E6A2C6F26913}"/>
              </a:ext>
            </a:extLst>
          </p:cNvPr>
          <p:cNvSpPr txBox="1"/>
          <p:nvPr/>
        </p:nvSpPr>
        <p:spPr>
          <a:xfrm>
            <a:off x="10533189" y="3025643"/>
            <a:ext cx="828469" cy="246221"/>
          </a:xfrm>
          <a:prstGeom prst="rect">
            <a:avLst/>
          </a:prstGeom>
          <a:noFill/>
        </p:spPr>
        <p:txBody>
          <a:bodyPr wrap="square" lIns="36000" rIns="36000" rtlCol="0">
            <a:spAutoFit/>
          </a:bodyPr>
          <a:lstStyle/>
          <a:p>
            <a:pPr algn="ctr"/>
            <a:r>
              <a:rPr lang="pt-BR" sz="1000" b="1" dirty="0"/>
              <a:t>Duração Total</a:t>
            </a:r>
          </a:p>
        </p:txBody>
      </p:sp>
      <p:grpSp>
        <p:nvGrpSpPr>
          <p:cNvPr id="804" name="Agrupar 803">
            <a:extLst>
              <a:ext uri="{FF2B5EF4-FFF2-40B4-BE49-F238E27FC236}">
                <a16:creationId xmlns:a16="http://schemas.microsoft.com/office/drawing/2014/main" id="{00DD7D28-F028-9120-9176-D6FB45597A30}"/>
              </a:ext>
            </a:extLst>
          </p:cNvPr>
          <p:cNvGrpSpPr/>
          <p:nvPr/>
        </p:nvGrpSpPr>
        <p:grpSpPr>
          <a:xfrm>
            <a:off x="8851652" y="3578352"/>
            <a:ext cx="373211" cy="153888"/>
            <a:chOff x="8514621" y="4632661"/>
            <a:chExt cx="373211" cy="153888"/>
          </a:xfrm>
        </p:grpSpPr>
        <p:sp>
          <p:nvSpPr>
            <p:cNvPr id="805" name="Retângulo 804">
              <a:extLst>
                <a:ext uri="{FF2B5EF4-FFF2-40B4-BE49-F238E27FC236}">
                  <a16:creationId xmlns:a16="http://schemas.microsoft.com/office/drawing/2014/main" id="{300699D3-1BC4-C791-7D7B-EFB9DF85A8FA}"/>
                </a:ext>
              </a:extLst>
            </p:cNvPr>
            <p:cNvSpPr/>
            <p:nvPr/>
          </p:nvSpPr>
          <p:spPr>
            <a:xfrm>
              <a:off x="8514621"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806" name="CaixaDeTexto 805">
              <a:extLst>
                <a:ext uri="{FF2B5EF4-FFF2-40B4-BE49-F238E27FC236}">
                  <a16:creationId xmlns:a16="http://schemas.microsoft.com/office/drawing/2014/main" id="{0262EF6E-C359-D02A-B561-812D0D07AA8C}"/>
                </a:ext>
              </a:extLst>
            </p:cNvPr>
            <p:cNvSpPr txBox="1"/>
            <p:nvPr/>
          </p:nvSpPr>
          <p:spPr>
            <a:xfrm>
              <a:off x="8632116" y="4632661"/>
              <a:ext cx="255716" cy="153888"/>
            </a:xfrm>
            <a:prstGeom prst="rect">
              <a:avLst/>
            </a:prstGeom>
            <a:noFill/>
          </p:spPr>
          <p:txBody>
            <a:bodyPr wrap="square" lIns="0" tIns="0" rIns="0" bIns="0" rtlCol="0">
              <a:spAutoFit/>
            </a:bodyPr>
            <a:lstStyle/>
            <a:p>
              <a:r>
                <a:rPr lang="pt-BR" sz="1000" dirty="0"/>
                <a:t>100</a:t>
              </a:r>
            </a:p>
          </p:txBody>
        </p:sp>
      </p:grpSp>
      <p:grpSp>
        <p:nvGrpSpPr>
          <p:cNvPr id="807" name="Agrupar 806">
            <a:extLst>
              <a:ext uri="{FF2B5EF4-FFF2-40B4-BE49-F238E27FC236}">
                <a16:creationId xmlns:a16="http://schemas.microsoft.com/office/drawing/2014/main" id="{EE8F56E4-7679-651D-014D-98A4E7A828C4}"/>
              </a:ext>
            </a:extLst>
          </p:cNvPr>
          <p:cNvGrpSpPr/>
          <p:nvPr/>
        </p:nvGrpSpPr>
        <p:grpSpPr>
          <a:xfrm>
            <a:off x="9563917" y="3578352"/>
            <a:ext cx="373211" cy="153888"/>
            <a:chOff x="8832149" y="4632661"/>
            <a:chExt cx="373211" cy="153888"/>
          </a:xfrm>
        </p:grpSpPr>
        <p:sp>
          <p:nvSpPr>
            <p:cNvPr id="808" name="Retângulo 807">
              <a:extLst>
                <a:ext uri="{FF2B5EF4-FFF2-40B4-BE49-F238E27FC236}">
                  <a16:creationId xmlns:a16="http://schemas.microsoft.com/office/drawing/2014/main" id="{6163E627-6871-230E-A455-CB1EB74CBB85}"/>
                </a:ext>
              </a:extLst>
            </p:cNvPr>
            <p:cNvSpPr/>
            <p:nvPr/>
          </p:nvSpPr>
          <p:spPr>
            <a:xfrm>
              <a:off x="8832149"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809" name="CaixaDeTexto 808">
              <a:extLst>
                <a:ext uri="{FF2B5EF4-FFF2-40B4-BE49-F238E27FC236}">
                  <a16:creationId xmlns:a16="http://schemas.microsoft.com/office/drawing/2014/main" id="{2BEBEDFA-BC9A-1E17-3848-E0E96747F608}"/>
                </a:ext>
              </a:extLst>
            </p:cNvPr>
            <p:cNvSpPr txBox="1"/>
            <p:nvPr/>
          </p:nvSpPr>
          <p:spPr>
            <a:xfrm>
              <a:off x="8949644" y="4632661"/>
              <a:ext cx="255716" cy="153888"/>
            </a:xfrm>
            <a:prstGeom prst="rect">
              <a:avLst/>
            </a:prstGeom>
            <a:noFill/>
          </p:spPr>
          <p:txBody>
            <a:bodyPr wrap="square" lIns="0" tIns="0" rIns="0" bIns="0" rtlCol="0">
              <a:spAutoFit/>
            </a:bodyPr>
            <a:lstStyle/>
            <a:p>
              <a:r>
                <a:rPr lang="pt-BR" sz="1000" dirty="0"/>
                <a:t>101</a:t>
              </a:r>
            </a:p>
          </p:txBody>
        </p:sp>
      </p:grpSp>
      <p:grpSp>
        <p:nvGrpSpPr>
          <p:cNvPr id="810" name="Agrupar 809">
            <a:extLst>
              <a:ext uri="{FF2B5EF4-FFF2-40B4-BE49-F238E27FC236}">
                <a16:creationId xmlns:a16="http://schemas.microsoft.com/office/drawing/2014/main" id="{67A89DBC-642C-7898-FF01-C4DE25997481}"/>
              </a:ext>
            </a:extLst>
          </p:cNvPr>
          <p:cNvGrpSpPr/>
          <p:nvPr/>
        </p:nvGrpSpPr>
        <p:grpSpPr>
          <a:xfrm>
            <a:off x="10276182" y="3578352"/>
            <a:ext cx="373211" cy="153888"/>
            <a:chOff x="9149677" y="4632661"/>
            <a:chExt cx="373211" cy="153888"/>
          </a:xfrm>
        </p:grpSpPr>
        <p:sp>
          <p:nvSpPr>
            <p:cNvPr id="811" name="Retângulo 810">
              <a:extLst>
                <a:ext uri="{FF2B5EF4-FFF2-40B4-BE49-F238E27FC236}">
                  <a16:creationId xmlns:a16="http://schemas.microsoft.com/office/drawing/2014/main" id="{F4B6D380-66FA-0CFA-554F-9EA159F4D47E}"/>
                </a:ext>
              </a:extLst>
            </p:cNvPr>
            <p:cNvSpPr/>
            <p:nvPr/>
          </p:nvSpPr>
          <p:spPr>
            <a:xfrm>
              <a:off x="9149677"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812" name="CaixaDeTexto 811">
              <a:extLst>
                <a:ext uri="{FF2B5EF4-FFF2-40B4-BE49-F238E27FC236}">
                  <a16:creationId xmlns:a16="http://schemas.microsoft.com/office/drawing/2014/main" id="{EA7ACC03-6CA6-BC0D-BB7C-9CBA5563DE42}"/>
                </a:ext>
              </a:extLst>
            </p:cNvPr>
            <p:cNvSpPr txBox="1"/>
            <p:nvPr/>
          </p:nvSpPr>
          <p:spPr>
            <a:xfrm>
              <a:off x="9267172" y="4632661"/>
              <a:ext cx="255716" cy="153888"/>
            </a:xfrm>
            <a:prstGeom prst="rect">
              <a:avLst/>
            </a:prstGeom>
            <a:noFill/>
          </p:spPr>
          <p:txBody>
            <a:bodyPr wrap="square" lIns="0" tIns="0" rIns="0" bIns="0" rtlCol="0">
              <a:spAutoFit/>
            </a:bodyPr>
            <a:lstStyle/>
            <a:p>
              <a:r>
                <a:rPr lang="pt-BR" sz="1000" dirty="0"/>
                <a:t>102</a:t>
              </a:r>
            </a:p>
          </p:txBody>
        </p:sp>
      </p:grpSp>
      <p:grpSp>
        <p:nvGrpSpPr>
          <p:cNvPr id="813" name="Agrupar 812">
            <a:extLst>
              <a:ext uri="{FF2B5EF4-FFF2-40B4-BE49-F238E27FC236}">
                <a16:creationId xmlns:a16="http://schemas.microsoft.com/office/drawing/2014/main" id="{7F857A1C-715A-07E1-0AAB-B697C9D63CBE}"/>
              </a:ext>
            </a:extLst>
          </p:cNvPr>
          <p:cNvGrpSpPr/>
          <p:nvPr/>
        </p:nvGrpSpPr>
        <p:grpSpPr>
          <a:xfrm>
            <a:off x="10988447" y="3578352"/>
            <a:ext cx="373211" cy="153888"/>
            <a:chOff x="9557886" y="4632661"/>
            <a:chExt cx="373211" cy="153888"/>
          </a:xfrm>
        </p:grpSpPr>
        <p:sp>
          <p:nvSpPr>
            <p:cNvPr id="814" name="Retângulo 813">
              <a:extLst>
                <a:ext uri="{FF2B5EF4-FFF2-40B4-BE49-F238E27FC236}">
                  <a16:creationId xmlns:a16="http://schemas.microsoft.com/office/drawing/2014/main" id="{140EA841-0A29-04D4-CF49-B7B3E8C6D762}"/>
                </a:ext>
              </a:extLst>
            </p:cNvPr>
            <p:cNvSpPr/>
            <p:nvPr/>
          </p:nvSpPr>
          <p:spPr>
            <a:xfrm>
              <a:off x="9557886"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endParaRPr lang="pt-BR" sz="4800" dirty="0">
                <a:solidFill>
                  <a:srgbClr val="00B050"/>
                </a:solidFill>
                <a:latin typeface="Webdings" panose="05030102010509060703" pitchFamily="18" charset="2"/>
              </a:endParaRPr>
            </a:p>
          </p:txBody>
        </p:sp>
        <p:sp>
          <p:nvSpPr>
            <p:cNvPr id="815" name="CaixaDeTexto 814">
              <a:extLst>
                <a:ext uri="{FF2B5EF4-FFF2-40B4-BE49-F238E27FC236}">
                  <a16:creationId xmlns:a16="http://schemas.microsoft.com/office/drawing/2014/main" id="{3064C94A-308C-619E-4562-05C4F727F3C0}"/>
                </a:ext>
              </a:extLst>
            </p:cNvPr>
            <p:cNvSpPr txBox="1"/>
            <p:nvPr/>
          </p:nvSpPr>
          <p:spPr>
            <a:xfrm>
              <a:off x="9675381" y="4632661"/>
              <a:ext cx="255716" cy="153888"/>
            </a:xfrm>
            <a:prstGeom prst="rect">
              <a:avLst/>
            </a:prstGeom>
            <a:noFill/>
          </p:spPr>
          <p:txBody>
            <a:bodyPr wrap="square" lIns="0" tIns="0" rIns="0" bIns="0" rtlCol="0">
              <a:spAutoFit/>
            </a:bodyPr>
            <a:lstStyle/>
            <a:p>
              <a:r>
                <a:rPr lang="pt-BR" sz="1000" dirty="0"/>
                <a:t>103</a:t>
              </a:r>
            </a:p>
          </p:txBody>
        </p:sp>
      </p:grpSp>
      <p:grpSp>
        <p:nvGrpSpPr>
          <p:cNvPr id="816" name="Agrupar 815">
            <a:extLst>
              <a:ext uri="{FF2B5EF4-FFF2-40B4-BE49-F238E27FC236}">
                <a16:creationId xmlns:a16="http://schemas.microsoft.com/office/drawing/2014/main" id="{2F335A77-3CF9-7B83-9B28-5D852191947E}"/>
              </a:ext>
            </a:extLst>
          </p:cNvPr>
          <p:cNvGrpSpPr/>
          <p:nvPr/>
        </p:nvGrpSpPr>
        <p:grpSpPr>
          <a:xfrm>
            <a:off x="8628186" y="3823583"/>
            <a:ext cx="2839351" cy="526228"/>
            <a:chOff x="4543781" y="3823583"/>
            <a:chExt cx="2839351" cy="526228"/>
          </a:xfrm>
        </p:grpSpPr>
        <p:sp>
          <p:nvSpPr>
            <p:cNvPr id="817" name="Retângulo: Cantos Arredondados 816">
              <a:extLst>
                <a:ext uri="{FF2B5EF4-FFF2-40B4-BE49-F238E27FC236}">
                  <a16:creationId xmlns:a16="http://schemas.microsoft.com/office/drawing/2014/main" id="{331855CD-8555-4F4D-24F0-70218E673E1A}"/>
                </a:ext>
              </a:extLst>
            </p:cNvPr>
            <p:cNvSpPr/>
            <p:nvPr/>
          </p:nvSpPr>
          <p:spPr>
            <a:xfrm>
              <a:off x="6096000" y="3844280"/>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18" name="CaixaDeTexto 817">
              <a:extLst>
                <a:ext uri="{FF2B5EF4-FFF2-40B4-BE49-F238E27FC236}">
                  <a16:creationId xmlns:a16="http://schemas.microsoft.com/office/drawing/2014/main" id="{84FDCEEC-6EE1-8FB3-23BB-71158E349C75}"/>
                </a:ext>
              </a:extLst>
            </p:cNvPr>
            <p:cNvSpPr txBox="1"/>
            <p:nvPr/>
          </p:nvSpPr>
          <p:spPr>
            <a:xfrm>
              <a:off x="4543781" y="3823583"/>
              <a:ext cx="1552109" cy="246221"/>
            </a:xfrm>
            <a:prstGeom prst="rect">
              <a:avLst/>
            </a:prstGeom>
            <a:noFill/>
          </p:spPr>
          <p:txBody>
            <a:bodyPr wrap="square" lIns="36000" rtlCol="0">
              <a:spAutoFit/>
            </a:bodyPr>
            <a:lstStyle/>
            <a:p>
              <a:r>
                <a:rPr lang="pt-BR" sz="1000" dirty="0"/>
                <a:t>Impacto estimado em 2025</a:t>
              </a:r>
            </a:p>
          </p:txBody>
        </p:sp>
        <p:sp>
          <p:nvSpPr>
            <p:cNvPr id="819" name="Retângulo: Cantos Arredondados 818">
              <a:extLst>
                <a:ext uri="{FF2B5EF4-FFF2-40B4-BE49-F238E27FC236}">
                  <a16:creationId xmlns:a16="http://schemas.microsoft.com/office/drawing/2014/main" id="{AC0A9349-E445-4AAE-3608-551A4F4D306D}"/>
                </a:ext>
              </a:extLst>
            </p:cNvPr>
            <p:cNvSpPr/>
            <p:nvPr/>
          </p:nvSpPr>
          <p:spPr>
            <a:xfrm>
              <a:off x="6096000" y="4124287"/>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20" name="CaixaDeTexto 819">
              <a:extLst>
                <a:ext uri="{FF2B5EF4-FFF2-40B4-BE49-F238E27FC236}">
                  <a16:creationId xmlns:a16="http://schemas.microsoft.com/office/drawing/2014/main" id="{6B5C9D40-4231-4AA8-59E9-7B621DF32D9A}"/>
                </a:ext>
              </a:extLst>
            </p:cNvPr>
            <p:cNvSpPr txBox="1"/>
            <p:nvPr/>
          </p:nvSpPr>
          <p:spPr>
            <a:xfrm>
              <a:off x="4546261" y="4103590"/>
              <a:ext cx="1549739" cy="246221"/>
            </a:xfrm>
            <a:prstGeom prst="rect">
              <a:avLst/>
            </a:prstGeom>
            <a:noFill/>
          </p:spPr>
          <p:txBody>
            <a:bodyPr wrap="square" lIns="36000" rtlCol="0">
              <a:spAutoFit/>
            </a:bodyPr>
            <a:lstStyle/>
            <a:p>
              <a:r>
                <a:rPr lang="pt-BR" sz="1000" dirty="0"/>
                <a:t>Impacto estimado em 2026</a:t>
              </a:r>
            </a:p>
          </p:txBody>
        </p:sp>
      </p:grpSp>
      <p:grpSp>
        <p:nvGrpSpPr>
          <p:cNvPr id="821" name="Agrupar 820">
            <a:extLst>
              <a:ext uri="{FF2B5EF4-FFF2-40B4-BE49-F238E27FC236}">
                <a16:creationId xmlns:a16="http://schemas.microsoft.com/office/drawing/2014/main" id="{7F5A68EB-DD7D-B282-C02A-D13CD16A38B1}"/>
              </a:ext>
            </a:extLst>
          </p:cNvPr>
          <p:cNvGrpSpPr/>
          <p:nvPr/>
        </p:nvGrpSpPr>
        <p:grpSpPr>
          <a:xfrm>
            <a:off x="8440457" y="2143105"/>
            <a:ext cx="3143878" cy="246221"/>
            <a:chOff x="4461931" y="2629648"/>
            <a:chExt cx="3143878" cy="246221"/>
          </a:xfrm>
        </p:grpSpPr>
        <p:sp>
          <p:nvSpPr>
            <p:cNvPr id="822" name="Retângulo: Cantos Arredondados 821">
              <a:extLst>
                <a:ext uri="{FF2B5EF4-FFF2-40B4-BE49-F238E27FC236}">
                  <a16:creationId xmlns:a16="http://schemas.microsoft.com/office/drawing/2014/main" id="{5BE187B5-EBE8-02F0-C609-3DA232B55020}"/>
                </a:ext>
              </a:extLst>
            </p:cNvPr>
            <p:cNvSpPr/>
            <p:nvPr/>
          </p:nvSpPr>
          <p:spPr>
            <a:xfrm>
              <a:off x="5836777" y="2650345"/>
              <a:ext cx="17690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23" name="CaixaDeTexto 822">
              <a:extLst>
                <a:ext uri="{FF2B5EF4-FFF2-40B4-BE49-F238E27FC236}">
                  <a16:creationId xmlns:a16="http://schemas.microsoft.com/office/drawing/2014/main" id="{B92073E9-49EF-A14A-FBA6-F2B9BBC75DB6}"/>
                </a:ext>
              </a:extLst>
            </p:cNvPr>
            <p:cNvSpPr txBox="1"/>
            <p:nvPr/>
          </p:nvSpPr>
          <p:spPr>
            <a:xfrm>
              <a:off x="4461931" y="2629648"/>
              <a:ext cx="1552109" cy="246221"/>
            </a:xfrm>
            <a:prstGeom prst="rect">
              <a:avLst/>
            </a:prstGeom>
            <a:noFill/>
          </p:spPr>
          <p:txBody>
            <a:bodyPr wrap="square" lIns="36000" rtlCol="0">
              <a:spAutoFit/>
            </a:bodyPr>
            <a:lstStyle/>
            <a:p>
              <a:r>
                <a:rPr lang="pt-BR" sz="1000" dirty="0"/>
                <a:t>Impacto total 2025</a:t>
              </a:r>
            </a:p>
          </p:txBody>
        </p:sp>
      </p:grpSp>
      <p:grpSp>
        <p:nvGrpSpPr>
          <p:cNvPr id="824" name="Agrupar 823">
            <a:extLst>
              <a:ext uri="{FF2B5EF4-FFF2-40B4-BE49-F238E27FC236}">
                <a16:creationId xmlns:a16="http://schemas.microsoft.com/office/drawing/2014/main" id="{ED0EF7CC-3837-2F46-FA82-8830DDD2A5F7}"/>
              </a:ext>
            </a:extLst>
          </p:cNvPr>
          <p:cNvGrpSpPr/>
          <p:nvPr/>
        </p:nvGrpSpPr>
        <p:grpSpPr>
          <a:xfrm>
            <a:off x="8440457" y="2412686"/>
            <a:ext cx="3143878" cy="246221"/>
            <a:chOff x="4461931" y="2909655"/>
            <a:chExt cx="3143878" cy="246221"/>
          </a:xfrm>
        </p:grpSpPr>
        <p:sp>
          <p:nvSpPr>
            <p:cNvPr id="825" name="Retângulo: Cantos Arredondados 824">
              <a:extLst>
                <a:ext uri="{FF2B5EF4-FFF2-40B4-BE49-F238E27FC236}">
                  <a16:creationId xmlns:a16="http://schemas.microsoft.com/office/drawing/2014/main" id="{57246CF1-D30C-31BF-0534-81A1D8A88119}"/>
                </a:ext>
              </a:extLst>
            </p:cNvPr>
            <p:cNvSpPr/>
            <p:nvPr/>
          </p:nvSpPr>
          <p:spPr>
            <a:xfrm>
              <a:off x="5836777" y="2930352"/>
              <a:ext cx="17690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26" name="CaixaDeTexto 825">
              <a:extLst>
                <a:ext uri="{FF2B5EF4-FFF2-40B4-BE49-F238E27FC236}">
                  <a16:creationId xmlns:a16="http://schemas.microsoft.com/office/drawing/2014/main" id="{DD0FC6CA-E9D9-B7E1-1A28-F119FE9B448B}"/>
                </a:ext>
              </a:extLst>
            </p:cNvPr>
            <p:cNvSpPr txBox="1"/>
            <p:nvPr/>
          </p:nvSpPr>
          <p:spPr>
            <a:xfrm>
              <a:off x="4461931" y="2909655"/>
              <a:ext cx="1549739" cy="246221"/>
            </a:xfrm>
            <a:prstGeom prst="rect">
              <a:avLst/>
            </a:prstGeom>
            <a:noFill/>
          </p:spPr>
          <p:txBody>
            <a:bodyPr wrap="square" lIns="36000" rtlCol="0">
              <a:spAutoFit/>
            </a:bodyPr>
            <a:lstStyle/>
            <a:p>
              <a:r>
                <a:rPr lang="pt-BR" sz="1000" dirty="0"/>
                <a:t>Impacto total 2026</a:t>
              </a:r>
            </a:p>
          </p:txBody>
        </p:sp>
      </p:grpSp>
      <p:sp>
        <p:nvSpPr>
          <p:cNvPr id="830" name="Retângulo 829">
            <a:extLst>
              <a:ext uri="{FF2B5EF4-FFF2-40B4-BE49-F238E27FC236}">
                <a16:creationId xmlns:a16="http://schemas.microsoft.com/office/drawing/2014/main" id="{C76444EE-CB0A-3F71-D3BF-EE7724ACAE88}"/>
              </a:ext>
            </a:extLst>
          </p:cNvPr>
          <p:cNvSpPr/>
          <p:nvPr/>
        </p:nvSpPr>
        <p:spPr>
          <a:xfrm>
            <a:off x="8471064" y="4583274"/>
            <a:ext cx="3153594" cy="1622952"/>
          </a:xfrm>
          <a:prstGeom prst="rect">
            <a:avLst/>
          </a:prstGeom>
          <a:noFill/>
          <a:ln w="3175">
            <a:solidFill>
              <a:schemeClr val="tx1">
                <a:lumMod val="50000"/>
                <a:lumOff val="50000"/>
                <a:alpha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31" name="CaixaDeTexto 830">
            <a:extLst>
              <a:ext uri="{FF2B5EF4-FFF2-40B4-BE49-F238E27FC236}">
                <a16:creationId xmlns:a16="http://schemas.microsoft.com/office/drawing/2014/main" id="{649BEA56-3E7F-77B0-762E-DC8F69C234BB}"/>
              </a:ext>
            </a:extLst>
          </p:cNvPr>
          <p:cNvSpPr txBox="1"/>
          <p:nvPr/>
        </p:nvSpPr>
        <p:spPr>
          <a:xfrm>
            <a:off x="9537567" y="4448293"/>
            <a:ext cx="1020589" cy="276999"/>
          </a:xfrm>
          <a:prstGeom prst="rect">
            <a:avLst/>
          </a:prstGeom>
          <a:solidFill>
            <a:schemeClr val="bg1"/>
          </a:solidFill>
        </p:spPr>
        <p:txBody>
          <a:bodyPr wrap="square" rtlCol="0">
            <a:spAutoFit/>
          </a:bodyPr>
          <a:lstStyle>
            <a:defPPr>
              <a:defRPr lang="pt-BR"/>
            </a:defPPr>
            <a:lvl1pPr algn="ctr">
              <a:defRPr sz="1400" b="1"/>
            </a:lvl1pPr>
          </a:lstStyle>
          <a:p>
            <a:r>
              <a:rPr lang="pt-BR" sz="1200" dirty="0"/>
              <a:t>ID-XXX-C2</a:t>
            </a:r>
          </a:p>
        </p:txBody>
      </p:sp>
      <p:sp>
        <p:nvSpPr>
          <p:cNvPr id="832" name="CaixaDeTexto 831">
            <a:extLst>
              <a:ext uri="{FF2B5EF4-FFF2-40B4-BE49-F238E27FC236}">
                <a16:creationId xmlns:a16="http://schemas.microsoft.com/office/drawing/2014/main" id="{EEACFD2E-D74E-9BA0-1080-C375C3F542CD}"/>
              </a:ext>
            </a:extLst>
          </p:cNvPr>
          <p:cNvSpPr txBox="1"/>
          <p:nvPr/>
        </p:nvSpPr>
        <p:spPr>
          <a:xfrm>
            <a:off x="8851653" y="4756202"/>
            <a:ext cx="765584" cy="246221"/>
          </a:xfrm>
          <a:prstGeom prst="rect">
            <a:avLst/>
          </a:prstGeom>
          <a:noFill/>
        </p:spPr>
        <p:txBody>
          <a:bodyPr wrap="square" rtlCol="0">
            <a:spAutoFit/>
          </a:bodyPr>
          <a:lstStyle/>
          <a:p>
            <a:pPr algn="ctr"/>
            <a:r>
              <a:rPr lang="pt-BR" sz="1000" b="1" dirty="0"/>
              <a:t>Data Início</a:t>
            </a:r>
          </a:p>
        </p:txBody>
      </p:sp>
      <p:sp>
        <p:nvSpPr>
          <p:cNvPr id="833" name="Retângulo: Cantos Arredondados 832">
            <a:extLst>
              <a:ext uri="{FF2B5EF4-FFF2-40B4-BE49-F238E27FC236}">
                <a16:creationId xmlns:a16="http://schemas.microsoft.com/office/drawing/2014/main" id="{81B72E9A-3EEB-EBFF-8899-E91325F1B313}"/>
              </a:ext>
            </a:extLst>
          </p:cNvPr>
          <p:cNvSpPr/>
          <p:nvPr/>
        </p:nvSpPr>
        <p:spPr>
          <a:xfrm>
            <a:off x="8851652" y="4967433"/>
            <a:ext cx="765584"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[inicio]</a:t>
            </a:r>
          </a:p>
        </p:txBody>
      </p:sp>
      <p:sp>
        <p:nvSpPr>
          <p:cNvPr id="834" name="CaixaDeTexto 833">
            <a:extLst>
              <a:ext uri="{FF2B5EF4-FFF2-40B4-BE49-F238E27FC236}">
                <a16:creationId xmlns:a16="http://schemas.microsoft.com/office/drawing/2014/main" id="{6D9F1E82-F44E-F38E-8217-6ADC827EE29D}"/>
              </a:ext>
            </a:extLst>
          </p:cNvPr>
          <p:cNvSpPr txBox="1"/>
          <p:nvPr/>
        </p:nvSpPr>
        <p:spPr>
          <a:xfrm>
            <a:off x="9747904" y="4756202"/>
            <a:ext cx="654618" cy="246221"/>
          </a:xfrm>
          <a:prstGeom prst="rect">
            <a:avLst/>
          </a:prstGeom>
          <a:noFill/>
        </p:spPr>
        <p:txBody>
          <a:bodyPr wrap="square" rtlCol="0">
            <a:spAutoFit/>
          </a:bodyPr>
          <a:lstStyle/>
          <a:p>
            <a:pPr algn="ctr"/>
            <a:r>
              <a:rPr lang="pt-BR" sz="1000" b="1" dirty="0"/>
              <a:t>Data Fim</a:t>
            </a:r>
          </a:p>
        </p:txBody>
      </p:sp>
      <p:sp>
        <p:nvSpPr>
          <p:cNvPr id="835" name="Retângulo: Cantos Arredondados 834">
            <a:extLst>
              <a:ext uri="{FF2B5EF4-FFF2-40B4-BE49-F238E27FC236}">
                <a16:creationId xmlns:a16="http://schemas.microsoft.com/office/drawing/2014/main" id="{CA9DC1E4-29C8-C280-C297-3CBFF7EDB379}"/>
              </a:ext>
            </a:extLst>
          </p:cNvPr>
          <p:cNvSpPr/>
          <p:nvPr/>
        </p:nvSpPr>
        <p:spPr>
          <a:xfrm>
            <a:off x="9747904" y="4967433"/>
            <a:ext cx="654618"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[fim]</a:t>
            </a:r>
          </a:p>
        </p:txBody>
      </p:sp>
      <p:sp>
        <p:nvSpPr>
          <p:cNvPr id="836" name="Retângulo: Cantos Arredondados 835">
            <a:extLst>
              <a:ext uri="{FF2B5EF4-FFF2-40B4-BE49-F238E27FC236}">
                <a16:creationId xmlns:a16="http://schemas.microsoft.com/office/drawing/2014/main" id="{B519689F-76AA-D02A-A6EC-0227450C060E}"/>
              </a:ext>
            </a:extLst>
          </p:cNvPr>
          <p:cNvSpPr/>
          <p:nvPr/>
        </p:nvSpPr>
        <p:spPr>
          <a:xfrm>
            <a:off x="10533189" y="4965938"/>
            <a:ext cx="828469"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a:t>
            </a:r>
            <a:r>
              <a:rPr kumimoji="0" lang="pt-BR" sz="1000" b="0" i="0" u="none" strike="noStrike" kern="1200" cap="none" spc="0" normalizeH="0" baseline="0" noProof="0" dirty="0" err="1">
                <a:ln>
                  <a:noFill/>
                </a:ln>
                <a:solidFill>
                  <a:prstClr val="black"/>
                </a:solidFill>
                <a:effectLst/>
                <a:uLnTx/>
                <a:uFillTx/>
                <a:latin typeface="Calibri"/>
                <a:ea typeface="+mn-ea"/>
                <a:cs typeface="+mn-cs"/>
              </a:rPr>
              <a:t>duracao</a:t>
            </a:r>
            <a:r>
              <a:rPr kumimoji="0" lang="pt-BR" sz="1000" b="0" i="0" u="none" strike="noStrike" kern="1200" cap="none" spc="0" normalizeH="0" baseline="0" noProof="0" dirty="0">
                <a:ln>
                  <a:noFill/>
                </a:ln>
                <a:solidFill>
                  <a:prstClr val="black"/>
                </a:solidFill>
                <a:effectLst/>
                <a:uLnTx/>
                <a:uFillTx/>
                <a:latin typeface="Calibri"/>
                <a:ea typeface="+mn-ea"/>
                <a:cs typeface="+mn-cs"/>
              </a:rPr>
              <a:t>]</a:t>
            </a:r>
          </a:p>
        </p:txBody>
      </p:sp>
      <p:sp>
        <p:nvSpPr>
          <p:cNvPr id="837" name="CaixaDeTexto 836">
            <a:extLst>
              <a:ext uri="{FF2B5EF4-FFF2-40B4-BE49-F238E27FC236}">
                <a16:creationId xmlns:a16="http://schemas.microsoft.com/office/drawing/2014/main" id="{6DAB7E02-7990-9F2D-27B7-F4B39049C3C1}"/>
              </a:ext>
            </a:extLst>
          </p:cNvPr>
          <p:cNvSpPr txBox="1"/>
          <p:nvPr/>
        </p:nvSpPr>
        <p:spPr>
          <a:xfrm>
            <a:off x="10533189" y="4756202"/>
            <a:ext cx="828469" cy="246221"/>
          </a:xfrm>
          <a:prstGeom prst="rect">
            <a:avLst/>
          </a:prstGeom>
          <a:noFill/>
        </p:spPr>
        <p:txBody>
          <a:bodyPr wrap="square" lIns="36000" rIns="36000" rtlCol="0">
            <a:spAutoFit/>
          </a:bodyPr>
          <a:lstStyle/>
          <a:p>
            <a:pPr algn="ctr"/>
            <a:r>
              <a:rPr lang="pt-BR" sz="1000" b="1" dirty="0"/>
              <a:t>Duração Total</a:t>
            </a:r>
          </a:p>
        </p:txBody>
      </p:sp>
      <p:grpSp>
        <p:nvGrpSpPr>
          <p:cNvPr id="838" name="Agrupar 837">
            <a:extLst>
              <a:ext uri="{FF2B5EF4-FFF2-40B4-BE49-F238E27FC236}">
                <a16:creationId xmlns:a16="http://schemas.microsoft.com/office/drawing/2014/main" id="{DB190923-BB4C-E3D9-2F2A-03FF11ED49B8}"/>
              </a:ext>
            </a:extLst>
          </p:cNvPr>
          <p:cNvGrpSpPr/>
          <p:nvPr/>
        </p:nvGrpSpPr>
        <p:grpSpPr>
          <a:xfrm>
            <a:off x="8851652" y="5308911"/>
            <a:ext cx="373211" cy="153888"/>
            <a:chOff x="8514621" y="4632661"/>
            <a:chExt cx="373211" cy="153888"/>
          </a:xfrm>
        </p:grpSpPr>
        <p:sp>
          <p:nvSpPr>
            <p:cNvPr id="839" name="Retângulo 838">
              <a:extLst>
                <a:ext uri="{FF2B5EF4-FFF2-40B4-BE49-F238E27FC236}">
                  <a16:creationId xmlns:a16="http://schemas.microsoft.com/office/drawing/2014/main" id="{8B08D369-3F04-8CDA-9429-F0F729D17DF4}"/>
                </a:ext>
              </a:extLst>
            </p:cNvPr>
            <p:cNvSpPr/>
            <p:nvPr/>
          </p:nvSpPr>
          <p:spPr>
            <a:xfrm>
              <a:off x="8514621"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840" name="CaixaDeTexto 839">
              <a:extLst>
                <a:ext uri="{FF2B5EF4-FFF2-40B4-BE49-F238E27FC236}">
                  <a16:creationId xmlns:a16="http://schemas.microsoft.com/office/drawing/2014/main" id="{1B25F67D-881E-91D2-94F9-AAC81321E457}"/>
                </a:ext>
              </a:extLst>
            </p:cNvPr>
            <p:cNvSpPr txBox="1"/>
            <p:nvPr/>
          </p:nvSpPr>
          <p:spPr>
            <a:xfrm>
              <a:off x="8632116" y="4632661"/>
              <a:ext cx="255716" cy="153888"/>
            </a:xfrm>
            <a:prstGeom prst="rect">
              <a:avLst/>
            </a:prstGeom>
            <a:noFill/>
          </p:spPr>
          <p:txBody>
            <a:bodyPr wrap="square" lIns="0" tIns="0" rIns="0" bIns="0" rtlCol="0">
              <a:spAutoFit/>
            </a:bodyPr>
            <a:lstStyle/>
            <a:p>
              <a:r>
                <a:rPr lang="pt-BR" sz="1000" dirty="0"/>
                <a:t>100</a:t>
              </a:r>
            </a:p>
          </p:txBody>
        </p:sp>
      </p:grpSp>
      <p:grpSp>
        <p:nvGrpSpPr>
          <p:cNvPr id="841" name="Agrupar 840">
            <a:extLst>
              <a:ext uri="{FF2B5EF4-FFF2-40B4-BE49-F238E27FC236}">
                <a16:creationId xmlns:a16="http://schemas.microsoft.com/office/drawing/2014/main" id="{D602C1E9-2A0C-BB46-44DF-1D9AADC3D8C7}"/>
              </a:ext>
            </a:extLst>
          </p:cNvPr>
          <p:cNvGrpSpPr/>
          <p:nvPr/>
        </p:nvGrpSpPr>
        <p:grpSpPr>
          <a:xfrm>
            <a:off x="9563917" y="5308911"/>
            <a:ext cx="373211" cy="153888"/>
            <a:chOff x="8832149" y="4632661"/>
            <a:chExt cx="373211" cy="153888"/>
          </a:xfrm>
        </p:grpSpPr>
        <p:sp>
          <p:nvSpPr>
            <p:cNvPr id="842" name="Retângulo 841">
              <a:extLst>
                <a:ext uri="{FF2B5EF4-FFF2-40B4-BE49-F238E27FC236}">
                  <a16:creationId xmlns:a16="http://schemas.microsoft.com/office/drawing/2014/main" id="{0EEA745B-B95F-D3F9-F0D9-4A104D33112E}"/>
                </a:ext>
              </a:extLst>
            </p:cNvPr>
            <p:cNvSpPr/>
            <p:nvPr/>
          </p:nvSpPr>
          <p:spPr>
            <a:xfrm>
              <a:off x="8832149"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p>
          </p:txBody>
        </p:sp>
        <p:sp>
          <p:nvSpPr>
            <p:cNvPr id="843" name="CaixaDeTexto 842">
              <a:extLst>
                <a:ext uri="{FF2B5EF4-FFF2-40B4-BE49-F238E27FC236}">
                  <a16:creationId xmlns:a16="http://schemas.microsoft.com/office/drawing/2014/main" id="{C32718F7-DEA8-F92D-C3BE-47BB3FFE4707}"/>
                </a:ext>
              </a:extLst>
            </p:cNvPr>
            <p:cNvSpPr txBox="1"/>
            <p:nvPr/>
          </p:nvSpPr>
          <p:spPr>
            <a:xfrm>
              <a:off x="8949644" y="4632661"/>
              <a:ext cx="255716" cy="153888"/>
            </a:xfrm>
            <a:prstGeom prst="rect">
              <a:avLst/>
            </a:prstGeom>
            <a:noFill/>
          </p:spPr>
          <p:txBody>
            <a:bodyPr wrap="square" lIns="0" tIns="0" rIns="0" bIns="0" rtlCol="0">
              <a:spAutoFit/>
            </a:bodyPr>
            <a:lstStyle/>
            <a:p>
              <a:r>
                <a:rPr lang="pt-BR" sz="1000" dirty="0"/>
                <a:t>101</a:t>
              </a:r>
            </a:p>
          </p:txBody>
        </p:sp>
      </p:grpSp>
      <p:grpSp>
        <p:nvGrpSpPr>
          <p:cNvPr id="844" name="Agrupar 843">
            <a:extLst>
              <a:ext uri="{FF2B5EF4-FFF2-40B4-BE49-F238E27FC236}">
                <a16:creationId xmlns:a16="http://schemas.microsoft.com/office/drawing/2014/main" id="{6F7CC1E3-82E0-210E-5E14-A1FE52CC79FE}"/>
              </a:ext>
            </a:extLst>
          </p:cNvPr>
          <p:cNvGrpSpPr/>
          <p:nvPr/>
        </p:nvGrpSpPr>
        <p:grpSpPr>
          <a:xfrm>
            <a:off x="10276182" y="5308911"/>
            <a:ext cx="373211" cy="153888"/>
            <a:chOff x="9149677" y="4632661"/>
            <a:chExt cx="373211" cy="153888"/>
          </a:xfrm>
        </p:grpSpPr>
        <p:sp>
          <p:nvSpPr>
            <p:cNvPr id="845" name="Retângulo 844">
              <a:extLst>
                <a:ext uri="{FF2B5EF4-FFF2-40B4-BE49-F238E27FC236}">
                  <a16:creationId xmlns:a16="http://schemas.microsoft.com/office/drawing/2014/main" id="{54BD5796-06BA-011B-1C33-762C4FDB28B1}"/>
                </a:ext>
              </a:extLst>
            </p:cNvPr>
            <p:cNvSpPr/>
            <p:nvPr/>
          </p:nvSpPr>
          <p:spPr>
            <a:xfrm>
              <a:off x="9149677"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pt-BR" sz="3600" dirty="0">
                <a:solidFill>
                  <a:srgbClr val="00B050"/>
                </a:solidFill>
                <a:latin typeface="Webdings" panose="05030102010509060703" pitchFamily="18" charset="2"/>
              </a:endParaRPr>
            </a:p>
          </p:txBody>
        </p:sp>
        <p:sp>
          <p:nvSpPr>
            <p:cNvPr id="846" name="CaixaDeTexto 845">
              <a:extLst>
                <a:ext uri="{FF2B5EF4-FFF2-40B4-BE49-F238E27FC236}">
                  <a16:creationId xmlns:a16="http://schemas.microsoft.com/office/drawing/2014/main" id="{DCC0CF95-146E-8A0F-5281-6807561701F3}"/>
                </a:ext>
              </a:extLst>
            </p:cNvPr>
            <p:cNvSpPr txBox="1"/>
            <p:nvPr/>
          </p:nvSpPr>
          <p:spPr>
            <a:xfrm>
              <a:off x="9267172" y="4632661"/>
              <a:ext cx="255716" cy="153888"/>
            </a:xfrm>
            <a:prstGeom prst="rect">
              <a:avLst/>
            </a:prstGeom>
            <a:noFill/>
          </p:spPr>
          <p:txBody>
            <a:bodyPr wrap="square" lIns="0" tIns="0" rIns="0" bIns="0" rtlCol="0">
              <a:spAutoFit/>
            </a:bodyPr>
            <a:lstStyle/>
            <a:p>
              <a:r>
                <a:rPr lang="pt-BR" sz="1000" dirty="0"/>
                <a:t>102</a:t>
              </a:r>
            </a:p>
          </p:txBody>
        </p:sp>
      </p:grpSp>
      <p:grpSp>
        <p:nvGrpSpPr>
          <p:cNvPr id="847" name="Agrupar 846">
            <a:extLst>
              <a:ext uri="{FF2B5EF4-FFF2-40B4-BE49-F238E27FC236}">
                <a16:creationId xmlns:a16="http://schemas.microsoft.com/office/drawing/2014/main" id="{2C8BCA3C-3F96-BB47-99F0-7351A8031A23}"/>
              </a:ext>
            </a:extLst>
          </p:cNvPr>
          <p:cNvGrpSpPr/>
          <p:nvPr/>
        </p:nvGrpSpPr>
        <p:grpSpPr>
          <a:xfrm>
            <a:off x="10988447" y="5308911"/>
            <a:ext cx="373211" cy="153888"/>
            <a:chOff x="9557886" y="4632661"/>
            <a:chExt cx="373211" cy="153888"/>
          </a:xfrm>
        </p:grpSpPr>
        <p:sp>
          <p:nvSpPr>
            <p:cNvPr id="848" name="Retângulo 847">
              <a:extLst>
                <a:ext uri="{FF2B5EF4-FFF2-40B4-BE49-F238E27FC236}">
                  <a16:creationId xmlns:a16="http://schemas.microsoft.com/office/drawing/2014/main" id="{8608BB34-2A9B-8AA0-E535-A25B2EE098F1}"/>
                </a:ext>
              </a:extLst>
            </p:cNvPr>
            <p:cNvSpPr/>
            <p:nvPr/>
          </p:nvSpPr>
          <p:spPr>
            <a:xfrm>
              <a:off x="9557886" y="4655605"/>
              <a:ext cx="108000" cy="108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pt-BR" sz="1100" dirty="0">
                  <a:solidFill>
                    <a:srgbClr val="00B050"/>
                  </a:solidFill>
                  <a:latin typeface="Webdings" panose="05030102010509060703" pitchFamily="18" charset="2"/>
                </a:rPr>
                <a:t>a</a:t>
              </a:r>
              <a:endParaRPr lang="pt-BR" sz="4800" dirty="0">
                <a:solidFill>
                  <a:srgbClr val="00B050"/>
                </a:solidFill>
                <a:latin typeface="Webdings" panose="05030102010509060703" pitchFamily="18" charset="2"/>
              </a:endParaRPr>
            </a:p>
          </p:txBody>
        </p:sp>
        <p:sp>
          <p:nvSpPr>
            <p:cNvPr id="849" name="CaixaDeTexto 848">
              <a:extLst>
                <a:ext uri="{FF2B5EF4-FFF2-40B4-BE49-F238E27FC236}">
                  <a16:creationId xmlns:a16="http://schemas.microsoft.com/office/drawing/2014/main" id="{88E8E8C3-20DA-8EA7-A222-ECB7D667AE8D}"/>
                </a:ext>
              </a:extLst>
            </p:cNvPr>
            <p:cNvSpPr txBox="1"/>
            <p:nvPr/>
          </p:nvSpPr>
          <p:spPr>
            <a:xfrm>
              <a:off x="9675381" y="4632661"/>
              <a:ext cx="255716" cy="153888"/>
            </a:xfrm>
            <a:prstGeom prst="rect">
              <a:avLst/>
            </a:prstGeom>
            <a:noFill/>
          </p:spPr>
          <p:txBody>
            <a:bodyPr wrap="square" lIns="0" tIns="0" rIns="0" bIns="0" rtlCol="0">
              <a:spAutoFit/>
            </a:bodyPr>
            <a:lstStyle/>
            <a:p>
              <a:r>
                <a:rPr lang="pt-BR" sz="1000" dirty="0"/>
                <a:t>103</a:t>
              </a:r>
            </a:p>
          </p:txBody>
        </p:sp>
      </p:grpSp>
      <p:grpSp>
        <p:nvGrpSpPr>
          <p:cNvPr id="850" name="Agrupar 849">
            <a:extLst>
              <a:ext uri="{FF2B5EF4-FFF2-40B4-BE49-F238E27FC236}">
                <a16:creationId xmlns:a16="http://schemas.microsoft.com/office/drawing/2014/main" id="{F3D9C9E3-C898-B872-3259-37462E79D1E9}"/>
              </a:ext>
            </a:extLst>
          </p:cNvPr>
          <p:cNvGrpSpPr/>
          <p:nvPr/>
        </p:nvGrpSpPr>
        <p:grpSpPr>
          <a:xfrm>
            <a:off x="8628186" y="5554142"/>
            <a:ext cx="2839351" cy="526228"/>
            <a:chOff x="4543781" y="3823583"/>
            <a:chExt cx="2839351" cy="526228"/>
          </a:xfrm>
        </p:grpSpPr>
        <p:sp>
          <p:nvSpPr>
            <p:cNvPr id="851" name="Retângulo: Cantos Arredondados 850">
              <a:extLst>
                <a:ext uri="{FF2B5EF4-FFF2-40B4-BE49-F238E27FC236}">
                  <a16:creationId xmlns:a16="http://schemas.microsoft.com/office/drawing/2014/main" id="{48FB1902-07F5-2F3E-1C7F-7604BA5ADF58}"/>
                </a:ext>
              </a:extLst>
            </p:cNvPr>
            <p:cNvSpPr/>
            <p:nvPr/>
          </p:nvSpPr>
          <p:spPr>
            <a:xfrm>
              <a:off x="6096000" y="3844280"/>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52" name="CaixaDeTexto 851">
              <a:extLst>
                <a:ext uri="{FF2B5EF4-FFF2-40B4-BE49-F238E27FC236}">
                  <a16:creationId xmlns:a16="http://schemas.microsoft.com/office/drawing/2014/main" id="{648BEB4F-0E15-7B1F-FAD1-B59E9FE49451}"/>
                </a:ext>
              </a:extLst>
            </p:cNvPr>
            <p:cNvSpPr txBox="1"/>
            <p:nvPr/>
          </p:nvSpPr>
          <p:spPr>
            <a:xfrm>
              <a:off x="4543781" y="3823583"/>
              <a:ext cx="1552109" cy="246221"/>
            </a:xfrm>
            <a:prstGeom prst="rect">
              <a:avLst/>
            </a:prstGeom>
            <a:noFill/>
          </p:spPr>
          <p:txBody>
            <a:bodyPr wrap="square" lIns="36000" rtlCol="0">
              <a:spAutoFit/>
            </a:bodyPr>
            <a:lstStyle/>
            <a:p>
              <a:r>
                <a:rPr lang="pt-BR" sz="1000" dirty="0"/>
                <a:t>Impacto estimado em 2025</a:t>
              </a:r>
            </a:p>
          </p:txBody>
        </p:sp>
        <p:sp>
          <p:nvSpPr>
            <p:cNvPr id="853" name="Retângulo: Cantos Arredondados 852">
              <a:extLst>
                <a:ext uri="{FF2B5EF4-FFF2-40B4-BE49-F238E27FC236}">
                  <a16:creationId xmlns:a16="http://schemas.microsoft.com/office/drawing/2014/main" id="{ED5A6A65-D93C-E458-35C1-75C08C5E8A6B}"/>
                </a:ext>
              </a:extLst>
            </p:cNvPr>
            <p:cNvSpPr/>
            <p:nvPr/>
          </p:nvSpPr>
          <p:spPr>
            <a:xfrm>
              <a:off x="6096000" y="4124287"/>
              <a:ext cx="1287132" cy="204826"/>
            </a:xfrm>
            <a:prstGeom prst="roundRect">
              <a:avLst>
                <a:gd name="adj" fmla="val 10209"/>
              </a:avLst>
            </a:prstGeom>
            <a:solidFill>
              <a:schemeClr val="bg1">
                <a:lumMod val="95000"/>
              </a:schemeClr>
            </a:solidFill>
            <a:ln w="3175"/>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0" marR="0" lvl="0" indent="0" algn="ctr" defTabSz="1055035"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prstClr val="black"/>
                  </a:solidFill>
                  <a:effectLst/>
                  <a:uLnTx/>
                  <a:uFillTx/>
                  <a:latin typeface="Calibri"/>
                  <a:ea typeface="+mn-ea"/>
                  <a:cs typeface="+mn-cs"/>
                </a:rPr>
                <a:t>[valor em BRL]</a:t>
              </a:r>
            </a:p>
          </p:txBody>
        </p:sp>
        <p:sp>
          <p:nvSpPr>
            <p:cNvPr id="854" name="CaixaDeTexto 853">
              <a:extLst>
                <a:ext uri="{FF2B5EF4-FFF2-40B4-BE49-F238E27FC236}">
                  <a16:creationId xmlns:a16="http://schemas.microsoft.com/office/drawing/2014/main" id="{73AAD073-253A-9C1E-55EF-70EBF263DDB9}"/>
                </a:ext>
              </a:extLst>
            </p:cNvPr>
            <p:cNvSpPr txBox="1"/>
            <p:nvPr/>
          </p:nvSpPr>
          <p:spPr>
            <a:xfrm>
              <a:off x="4546261" y="4103590"/>
              <a:ext cx="1549739" cy="246221"/>
            </a:xfrm>
            <a:prstGeom prst="rect">
              <a:avLst/>
            </a:prstGeom>
            <a:noFill/>
          </p:spPr>
          <p:txBody>
            <a:bodyPr wrap="square" lIns="36000" rtlCol="0">
              <a:spAutoFit/>
            </a:bodyPr>
            <a:lstStyle/>
            <a:p>
              <a:r>
                <a:rPr lang="pt-BR" sz="1000" dirty="0"/>
                <a:t>Impacto estimado em 2026</a:t>
              </a:r>
            </a:p>
          </p:txBody>
        </p:sp>
      </p:grpSp>
      <p:grpSp>
        <p:nvGrpSpPr>
          <p:cNvPr id="859" name="Agrupar 858">
            <a:extLst>
              <a:ext uri="{FF2B5EF4-FFF2-40B4-BE49-F238E27FC236}">
                <a16:creationId xmlns:a16="http://schemas.microsoft.com/office/drawing/2014/main" id="{801EC906-0B75-580F-71A7-271956E8516B}"/>
              </a:ext>
            </a:extLst>
          </p:cNvPr>
          <p:cNvGrpSpPr/>
          <p:nvPr/>
        </p:nvGrpSpPr>
        <p:grpSpPr>
          <a:xfrm>
            <a:off x="4785590" y="6341862"/>
            <a:ext cx="2712795" cy="293590"/>
            <a:chOff x="4785590" y="6210663"/>
            <a:chExt cx="2712795" cy="293590"/>
          </a:xfrm>
        </p:grpSpPr>
        <p:sp>
          <p:nvSpPr>
            <p:cNvPr id="855" name="Retângulo: Cantos Arredondados 854">
              <a:hlinkClick r:id="" action="ppaction://noaction"/>
              <a:extLst>
                <a:ext uri="{FF2B5EF4-FFF2-40B4-BE49-F238E27FC236}">
                  <a16:creationId xmlns:a16="http://schemas.microsoft.com/office/drawing/2014/main" id="{FAE38E2B-6400-FBD9-9A29-EBAB3378F34D}"/>
                </a:ext>
              </a:extLst>
            </p:cNvPr>
            <p:cNvSpPr/>
            <p:nvPr/>
          </p:nvSpPr>
          <p:spPr>
            <a:xfrm>
              <a:off x="5660875" y="6224456"/>
              <a:ext cx="1837510" cy="279797"/>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Definir Cenário Final</a:t>
              </a:r>
            </a:p>
          </p:txBody>
        </p:sp>
        <p:grpSp>
          <p:nvGrpSpPr>
            <p:cNvPr id="856" name="Agrupar 855">
              <a:extLst>
                <a:ext uri="{FF2B5EF4-FFF2-40B4-BE49-F238E27FC236}">
                  <a16:creationId xmlns:a16="http://schemas.microsoft.com/office/drawing/2014/main" id="{E1B5699A-E51F-C51F-16CD-B65CB606CF91}"/>
                </a:ext>
              </a:extLst>
            </p:cNvPr>
            <p:cNvGrpSpPr/>
            <p:nvPr/>
          </p:nvGrpSpPr>
          <p:grpSpPr>
            <a:xfrm>
              <a:off x="4785590" y="6210663"/>
              <a:ext cx="830559" cy="261610"/>
              <a:chOff x="920857" y="5859251"/>
              <a:chExt cx="830559" cy="261610"/>
            </a:xfrm>
          </p:grpSpPr>
          <p:pic>
            <p:nvPicPr>
              <p:cNvPr id="857" name="Imagem 856" descr="Forma&#10;&#10;O conteúdo gerado por IA pode estar incorreto.">
                <a:extLst>
                  <a:ext uri="{FF2B5EF4-FFF2-40B4-BE49-F238E27FC236}">
                    <a16:creationId xmlns:a16="http://schemas.microsoft.com/office/drawing/2014/main" id="{D6DE95F2-36DF-4094-6E97-199849E8D04B}"/>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920857" y="5886848"/>
                <a:ext cx="226575" cy="221805"/>
              </a:xfrm>
              <a:prstGeom prst="rect">
                <a:avLst/>
              </a:prstGeom>
            </p:spPr>
          </p:pic>
          <p:sp>
            <p:nvSpPr>
              <p:cNvPr id="858" name="CaixaDeTexto 857">
                <a:extLst>
                  <a:ext uri="{FF2B5EF4-FFF2-40B4-BE49-F238E27FC236}">
                    <a16:creationId xmlns:a16="http://schemas.microsoft.com/office/drawing/2014/main" id="{1D587519-1983-0476-F006-DC835F15D6F0}"/>
                  </a:ext>
                </a:extLst>
              </p:cNvPr>
              <p:cNvSpPr txBox="1"/>
              <p:nvPr/>
            </p:nvSpPr>
            <p:spPr>
              <a:xfrm>
                <a:off x="1128980" y="5859251"/>
                <a:ext cx="622436" cy="261610"/>
              </a:xfrm>
              <a:prstGeom prst="rect">
                <a:avLst/>
              </a:prstGeom>
              <a:noFill/>
            </p:spPr>
            <p:txBody>
              <a:bodyPr wrap="square" rtlCol="0">
                <a:spAutoFit/>
              </a:bodyPr>
              <a:lstStyle/>
              <a:p>
                <a:r>
                  <a:rPr lang="pt-BR" sz="1050" dirty="0"/>
                  <a:t>Editar</a:t>
                </a:r>
              </a:p>
            </p:txBody>
          </p:sp>
        </p:grpSp>
      </p:grpSp>
      <p:grpSp>
        <p:nvGrpSpPr>
          <p:cNvPr id="861" name="Agrupar 860">
            <a:extLst>
              <a:ext uri="{FF2B5EF4-FFF2-40B4-BE49-F238E27FC236}">
                <a16:creationId xmlns:a16="http://schemas.microsoft.com/office/drawing/2014/main" id="{3BE83FD3-0C21-6A58-DA51-B4528EB6CFEB}"/>
              </a:ext>
            </a:extLst>
          </p:cNvPr>
          <p:cNvGrpSpPr/>
          <p:nvPr/>
        </p:nvGrpSpPr>
        <p:grpSpPr>
          <a:xfrm>
            <a:off x="8691464" y="6341862"/>
            <a:ext cx="2712795" cy="293590"/>
            <a:chOff x="4785590" y="6210663"/>
            <a:chExt cx="2712795" cy="293590"/>
          </a:xfrm>
        </p:grpSpPr>
        <p:sp>
          <p:nvSpPr>
            <p:cNvPr id="862" name="Retângulo: Cantos Arredondados 861">
              <a:hlinkClick r:id="" action="ppaction://noaction"/>
              <a:extLst>
                <a:ext uri="{FF2B5EF4-FFF2-40B4-BE49-F238E27FC236}">
                  <a16:creationId xmlns:a16="http://schemas.microsoft.com/office/drawing/2014/main" id="{CA3DB367-0C71-4978-A86A-E8F4C39E2EF0}"/>
                </a:ext>
              </a:extLst>
            </p:cNvPr>
            <p:cNvSpPr/>
            <p:nvPr/>
          </p:nvSpPr>
          <p:spPr>
            <a:xfrm>
              <a:off x="5660875" y="6224456"/>
              <a:ext cx="1837510" cy="279797"/>
            </a:xfrm>
            <a:prstGeom prst="roundRect">
              <a:avLst/>
            </a:prstGeom>
            <a:solidFill>
              <a:srgbClr val="03738E"/>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t>Definir Cenário Final</a:t>
              </a:r>
            </a:p>
          </p:txBody>
        </p:sp>
        <p:grpSp>
          <p:nvGrpSpPr>
            <p:cNvPr id="863" name="Agrupar 862">
              <a:extLst>
                <a:ext uri="{FF2B5EF4-FFF2-40B4-BE49-F238E27FC236}">
                  <a16:creationId xmlns:a16="http://schemas.microsoft.com/office/drawing/2014/main" id="{B3C8775E-2F9F-6D2C-E4D1-013F927BAF55}"/>
                </a:ext>
              </a:extLst>
            </p:cNvPr>
            <p:cNvGrpSpPr/>
            <p:nvPr/>
          </p:nvGrpSpPr>
          <p:grpSpPr>
            <a:xfrm>
              <a:off x="4785590" y="6210663"/>
              <a:ext cx="830559" cy="261610"/>
              <a:chOff x="920857" y="5859251"/>
              <a:chExt cx="830559" cy="261610"/>
            </a:xfrm>
          </p:grpSpPr>
          <p:pic>
            <p:nvPicPr>
              <p:cNvPr id="864" name="Imagem 863" descr="Forma&#10;&#10;O conteúdo gerado por IA pode estar incorreto.">
                <a:extLst>
                  <a:ext uri="{FF2B5EF4-FFF2-40B4-BE49-F238E27FC236}">
                    <a16:creationId xmlns:a16="http://schemas.microsoft.com/office/drawing/2014/main" id="{B24B70A0-A0DD-868F-F450-A0E8C4985146}"/>
                  </a:ext>
                </a:extLst>
              </p:cNvPr>
              <p:cNvPicPr>
                <a:picLocks noChangeAspect="1"/>
              </p:cNvPicPr>
              <p:nvPr/>
            </p:nvPicPr>
            <p:blipFill>
              <a:blip r:embed="rId2" cstate="print">
                <a:extLst>
                  <a:ext uri="{28A0092B-C50C-407E-A947-70E740481C1C}">
                    <a14:useLocalDpi xmlns:a14="http://schemas.microsoft.com/office/drawing/2010/main" val="0"/>
                  </a:ext>
                </a:extLst>
              </a:blip>
              <a:srcRect l="14160" t="10317" r="20997" b="26206"/>
              <a:stretch>
                <a:fillRect/>
              </a:stretch>
            </p:blipFill>
            <p:spPr>
              <a:xfrm>
                <a:off x="920857" y="5886848"/>
                <a:ext cx="226575" cy="221805"/>
              </a:xfrm>
              <a:prstGeom prst="rect">
                <a:avLst/>
              </a:prstGeom>
            </p:spPr>
          </p:pic>
          <p:sp>
            <p:nvSpPr>
              <p:cNvPr id="865" name="CaixaDeTexto 864">
                <a:extLst>
                  <a:ext uri="{FF2B5EF4-FFF2-40B4-BE49-F238E27FC236}">
                    <a16:creationId xmlns:a16="http://schemas.microsoft.com/office/drawing/2014/main" id="{59297776-DA8E-EA90-BC44-D1A0CEF3D74D}"/>
                  </a:ext>
                </a:extLst>
              </p:cNvPr>
              <p:cNvSpPr txBox="1"/>
              <p:nvPr/>
            </p:nvSpPr>
            <p:spPr>
              <a:xfrm>
                <a:off x="1128980" y="5859251"/>
                <a:ext cx="622436" cy="261610"/>
              </a:xfrm>
              <a:prstGeom prst="rect">
                <a:avLst/>
              </a:prstGeom>
              <a:noFill/>
            </p:spPr>
            <p:txBody>
              <a:bodyPr wrap="square" rtlCol="0">
                <a:spAutoFit/>
              </a:bodyPr>
              <a:lstStyle/>
              <a:p>
                <a:r>
                  <a:rPr lang="pt-BR" sz="1050" dirty="0"/>
                  <a:t>Editar</a:t>
                </a:r>
              </a:p>
            </p:txBody>
          </p:sp>
        </p:grpSp>
      </p:grpSp>
      <p:sp>
        <p:nvSpPr>
          <p:cNvPr id="868" name="Título 4">
            <a:extLst>
              <a:ext uri="{FF2B5EF4-FFF2-40B4-BE49-F238E27FC236}">
                <a16:creationId xmlns:a16="http://schemas.microsoft.com/office/drawing/2014/main" id="{5F1409B2-4AE0-07EA-6C4B-557A72614D11}"/>
              </a:ext>
            </a:extLst>
          </p:cNvPr>
          <p:cNvSpPr>
            <a:spLocks noGrp="1"/>
          </p:cNvSpPr>
          <p:nvPr>
            <p:ph type="title"/>
          </p:nvPr>
        </p:nvSpPr>
        <p:spPr>
          <a:xfrm>
            <a:off x="1089653" y="303578"/>
            <a:ext cx="10485852" cy="645195"/>
          </a:xfrm>
        </p:spPr>
        <p:txBody>
          <a:bodyPr vert="horz" lIns="91440" tIns="45720" rIns="91440" bIns="45720" rtlCol="0" anchor="ctr">
            <a:noAutofit/>
          </a:bodyPr>
          <a:lstStyle/>
          <a:p>
            <a:pPr defTabSz="1055035">
              <a:lnSpc>
                <a:spcPct val="100000"/>
              </a:lnSpc>
              <a:spcBef>
                <a:spcPts val="0"/>
              </a:spcBef>
            </a:pPr>
            <a:r>
              <a:rPr lang="pt-BR" dirty="0"/>
              <a:t>Simulação de Cenários</a:t>
            </a:r>
            <a:br>
              <a:rPr lang="pt-BR" dirty="0"/>
            </a:br>
            <a:r>
              <a:rPr lang="pt-BR" sz="1600" b="0" dirty="0" err="1">
                <a:solidFill>
                  <a:prstClr val="black"/>
                </a:solidFill>
                <a:latin typeface="Calibri"/>
              </a:rPr>
              <a:t>Mock-up</a:t>
            </a:r>
            <a:r>
              <a:rPr lang="pt-BR" sz="1600" b="0" dirty="0">
                <a:solidFill>
                  <a:prstClr val="black"/>
                </a:solidFill>
                <a:latin typeface="Calibri"/>
              </a:rPr>
              <a:t> tela de edição e análise de cenários de Parada</a:t>
            </a:r>
          </a:p>
        </p:txBody>
      </p:sp>
    </p:spTree>
    <p:extLst>
      <p:ext uri="{BB962C8B-B14F-4D97-AF65-F5344CB8AC3E}">
        <p14:creationId xmlns:p14="http://schemas.microsoft.com/office/powerpoint/2010/main" val="42354307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0750F-7062-B793-099F-EAE57F56B5BE}"/>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EA0F169D-6EA9-9962-9741-A31536C5DC9B}"/>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D4A1D11A-C50B-60C8-024F-BE71EEB30DDB}"/>
              </a:ext>
            </a:extLst>
          </p:cNvPr>
          <p:cNvSpPr/>
          <p:nvPr/>
        </p:nvSpPr>
        <p:spPr>
          <a:xfrm>
            <a:off x="2711624" y="3068960"/>
            <a:ext cx="6552728" cy="3672408"/>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C1311128-F296-D639-4BAC-E7006B9CBC8C}"/>
              </a:ext>
            </a:extLst>
          </p:cNvPr>
          <p:cNvSpPr/>
          <p:nvPr/>
        </p:nvSpPr>
        <p:spPr>
          <a:xfrm>
            <a:off x="2711624" y="369828"/>
            <a:ext cx="6552728" cy="219507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0878935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1EA4B-69A3-D955-FE82-F210A5B9ACCE}"/>
            </a:ext>
          </a:extLst>
        </p:cNvPr>
        <p:cNvGrpSpPr/>
        <p:nvPr/>
      </p:nvGrpSpPr>
      <p:grpSpPr>
        <a:xfrm>
          <a:off x="0" y="0"/>
          <a:ext cx="0" cy="0"/>
          <a:chOff x="0" y="0"/>
          <a:chExt cx="0" cy="0"/>
        </a:xfrm>
      </p:grpSpPr>
      <p:sp>
        <p:nvSpPr>
          <p:cNvPr id="137" name="CaixaDeTexto 21">
            <a:extLst>
              <a:ext uri="{FF2B5EF4-FFF2-40B4-BE49-F238E27FC236}">
                <a16:creationId xmlns:a16="http://schemas.microsoft.com/office/drawing/2014/main" id="{56BDEA74-A801-D4D0-13F6-3940BF51E8BE}"/>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A1CF1605-859A-30A4-BD1D-0AB8134F378D}"/>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C6AB7A82-4F83-5136-907E-272ED66525AF}"/>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80928DA8-A32C-C236-40D0-AFCA99E9585B}"/>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7F889878-D40A-CE28-209E-DE11538BF1E4}"/>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21" name="CaixaDeTexto 21">
            <a:extLst>
              <a:ext uri="{FF2B5EF4-FFF2-40B4-BE49-F238E27FC236}">
                <a16:creationId xmlns:a16="http://schemas.microsoft.com/office/drawing/2014/main" id="{231AC4CF-737B-A58E-970F-8B363787E99E}"/>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 Cadastro da Parada</a:t>
            </a:r>
          </a:p>
        </p:txBody>
      </p:sp>
      <p:sp>
        <p:nvSpPr>
          <p:cNvPr id="131" name="CaixaDeTexto 21">
            <a:extLst>
              <a:ext uri="{FF2B5EF4-FFF2-40B4-BE49-F238E27FC236}">
                <a16:creationId xmlns:a16="http://schemas.microsoft.com/office/drawing/2014/main" id="{9661E120-1C3F-6621-FB98-9F35A2FD8B5D}"/>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 </a:t>
            </a:r>
            <a:r>
              <a:rPr lang="pt-BR" dirty="0" err="1"/>
              <a:t>GMUDs</a:t>
            </a:r>
            <a:endParaRPr lang="pt-BR" dirty="0"/>
          </a:p>
        </p:txBody>
      </p:sp>
      <p:sp>
        <p:nvSpPr>
          <p:cNvPr id="62" name="Title 61">
            <a:extLst>
              <a:ext uri="{FF2B5EF4-FFF2-40B4-BE49-F238E27FC236}">
                <a16:creationId xmlns:a16="http://schemas.microsoft.com/office/drawing/2014/main" id="{C844FB49-CBFD-7928-2794-8B12F7AC6BEE}"/>
              </a:ext>
            </a:extLst>
          </p:cNvPr>
          <p:cNvSpPr>
            <a:spLocks noGrp="1"/>
          </p:cNvSpPr>
          <p:nvPr>
            <p:ph type="title"/>
          </p:nvPr>
        </p:nvSpPr>
        <p:spPr/>
        <p:txBody>
          <a:bodyPr/>
          <a:lstStyle/>
          <a:p>
            <a:r>
              <a:rPr lang="pt-BR" dirty="0"/>
              <a:t>HUB </a:t>
            </a:r>
            <a:r>
              <a:rPr lang="pt-BR" dirty="0" err="1"/>
              <a:t>Capex</a:t>
            </a:r>
            <a:br>
              <a:rPr lang="pt-BR" dirty="0"/>
            </a:br>
            <a:r>
              <a:rPr lang="pt-BR" sz="1800" b="0" dirty="0"/>
              <a:t>tema 06: Esteira Financeira</a:t>
            </a:r>
            <a:endParaRPr lang="en-BR" sz="1800" b="0" dirty="0"/>
          </a:p>
        </p:txBody>
      </p:sp>
      <p:sp>
        <p:nvSpPr>
          <p:cNvPr id="116" name="CaixaDeTexto 557">
            <a:extLst>
              <a:ext uri="{FF2B5EF4-FFF2-40B4-BE49-F238E27FC236}">
                <a16:creationId xmlns:a16="http://schemas.microsoft.com/office/drawing/2014/main" id="{F53CC8B6-DAFF-B42E-5FD4-6A30B94E7894}"/>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4DA7CCE0-2BB3-8B5A-0384-809E3E520CFB}"/>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1C47991B-C225-FC83-23C7-446BBB93445D}"/>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2" name="CaixaDeTexto 21">
            <a:extLst>
              <a:ext uri="{FF2B5EF4-FFF2-40B4-BE49-F238E27FC236}">
                <a16:creationId xmlns:a16="http://schemas.microsoft.com/office/drawing/2014/main" id="{4990DAA8-F6AC-535A-3000-D2B33B6777FE}"/>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6D729D50-6411-D7D2-F25D-4883AB413AE1}"/>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0360F233-8940-941C-F43E-38D583BEAC3A}"/>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6B4E8B70-83CE-5872-DF30-568F25684157}"/>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7" name="CaixaDeTexto 21">
            <a:extLst>
              <a:ext uri="{FF2B5EF4-FFF2-40B4-BE49-F238E27FC236}">
                <a16:creationId xmlns:a16="http://schemas.microsoft.com/office/drawing/2014/main" id="{FD4B28EC-FAE9-FB70-E18A-B841BE05DD40}"/>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ECEA1D2F-D2AC-FDC1-5787-E1EEF4CC3303}"/>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FF315E58-B287-8A9C-EDAB-B9787742BC3D}"/>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F33D0248-BB36-0B04-30A5-CAC534BE6C93}"/>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2D4D665F-79DD-7FDF-1190-CFDA680CEE90}"/>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4B3F8AAE-3FFD-0717-E347-8D5628905C0A}"/>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3917FB46-D2E8-F4A3-DF13-81CF8EE68C16}"/>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BA15CC7C-EBB6-0C09-BA32-050CC355EBDF}"/>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A4C0A0D3-526F-EBBF-764D-C4D33BC3AEFD}"/>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75" name="CaixaDeTexto 21">
            <a:extLst>
              <a:ext uri="{FF2B5EF4-FFF2-40B4-BE49-F238E27FC236}">
                <a16:creationId xmlns:a16="http://schemas.microsoft.com/office/drawing/2014/main" id="{900C69E0-EF14-F1BE-132C-D4BDA97AA688}"/>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BABCAEF4-62CC-5508-DE11-D75C4E7CA2F5}"/>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70476AB6-A68C-4B21-F1B3-6D0E818A2720}"/>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4817DD1C-7F5C-7139-B7ED-859D36EAEA5F}"/>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79" name="Agrupar 178">
            <a:extLst>
              <a:ext uri="{FF2B5EF4-FFF2-40B4-BE49-F238E27FC236}">
                <a16:creationId xmlns:a16="http://schemas.microsoft.com/office/drawing/2014/main" id="{4204EC2D-86A8-FFEF-D96E-899EF0090A6B}"/>
              </a:ext>
            </a:extLst>
          </p:cNvPr>
          <p:cNvGrpSpPr/>
          <p:nvPr/>
        </p:nvGrpSpPr>
        <p:grpSpPr>
          <a:xfrm>
            <a:off x="1495995" y="3371835"/>
            <a:ext cx="10696006" cy="3312367"/>
            <a:chOff x="0" y="3356992"/>
            <a:chExt cx="12192001" cy="3312367"/>
          </a:xfrm>
        </p:grpSpPr>
        <p:sp>
          <p:nvSpPr>
            <p:cNvPr id="180" name="Retângulo 179">
              <a:extLst>
                <a:ext uri="{FF2B5EF4-FFF2-40B4-BE49-F238E27FC236}">
                  <a16:creationId xmlns:a16="http://schemas.microsoft.com/office/drawing/2014/main" id="{133D3701-7023-8A39-DCF1-E73C7BC0FC81}"/>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1" name="Retângulo 180">
              <a:extLst>
                <a:ext uri="{FF2B5EF4-FFF2-40B4-BE49-F238E27FC236}">
                  <a16:creationId xmlns:a16="http://schemas.microsoft.com/office/drawing/2014/main" id="{94AD1B0F-E60A-1138-71FE-8934A7F4F111}"/>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83" name="Retângulo 182">
            <a:extLst>
              <a:ext uri="{FF2B5EF4-FFF2-40B4-BE49-F238E27FC236}">
                <a16:creationId xmlns:a16="http://schemas.microsoft.com/office/drawing/2014/main" id="{CF57A733-BD07-AF27-B087-EA3619B9BDF0}"/>
              </a:ext>
            </a:extLst>
          </p:cNvPr>
          <p:cNvSpPr/>
          <p:nvPr/>
        </p:nvSpPr>
        <p:spPr>
          <a:xfrm>
            <a:off x="1463997" y="1015993"/>
            <a:ext cx="10728003" cy="230784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6" name="CaixaDeTexto 21">
            <a:extLst>
              <a:ext uri="{FF2B5EF4-FFF2-40B4-BE49-F238E27FC236}">
                <a16:creationId xmlns:a16="http://schemas.microsoft.com/office/drawing/2014/main" id="{1405A411-1493-F9BE-1A32-3977DA4AA0C5}"/>
              </a:ext>
            </a:extLst>
          </p:cNvPr>
          <p:cNvSpPr txBox="1"/>
          <p:nvPr/>
        </p:nvSpPr>
        <p:spPr>
          <a:xfrm>
            <a:off x="2671179" y="4522007"/>
            <a:ext cx="8298281"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solidFill>
                  <a:schemeClr val="bg1"/>
                </a:solidFill>
                <a:latin typeface="Calibri"/>
                <a:ea typeface="Calibri" panose="020F0502020204030204" pitchFamily="34" charset="0"/>
                <a:cs typeface="Calibri"/>
              </a:defRPr>
            </a:lvl1pPr>
          </a:lstStyle>
          <a:p>
            <a:r>
              <a:rPr lang="pt-BR" dirty="0"/>
              <a:t>6. Esteira Financeira</a:t>
            </a:r>
          </a:p>
        </p:txBody>
      </p:sp>
      <p:sp>
        <p:nvSpPr>
          <p:cNvPr id="154" name="CaixaDeTexto 21">
            <a:extLst>
              <a:ext uri="{FF2B5EF4-FFF2-40B4-BE49-F238E27FC236}">
                <a16:creationId xmlns:a16="http://schemas.microsoft.com/office/drawing/2014/main" id="{9798B4A0-E970-ADA4-0025-9175D0CF6712}"/>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DB252AB0-247E-0839-1CAC-C30ABABDE5F9}"/>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DD5CB8DD-E25A-8C10-9C51-4628A7F66192}"/>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2709F350-674F-EA7B-3454-0642CC53B270}"/>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58" name="CaixaDeTexto 21">
            <a:extLst>
              <a:ext uri="{FF2B5EF4-FFF2-40B4-BE49-F238E27FC236}">
                <a16:creationId xmlns:a16="http://schemas.microsoft.com/office/drawing/2014/main" id="{20D8C0A0-B8BE-7775-B6FF-3BD53DD1ADA9}"/>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DCC17B0D-BBBC-221D-834E-971581F21EC8}"/>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23D8B5ED-036D-9FF2-98F8-D29559E22E27}"/>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92F11DAE-84F2-430E-AC1B-2BB0056870BA}"/>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45ABB566-E976-EF41-8EF7-46770E62CD74}"/>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7572A84B-810D-F2B7-3F96-F7FB7CE6261A}"/>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B76E999A-6946-B41A-0747-262BCD2D32B8}"/>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F97E28B3-6000-19D9-BF99-2E5D58BA71EC}"/>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3B824F73-80FB-E4A3-1943-AFECA3B8BB30}"/>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76FBA0D5-096D-745C-A414-9023BF81B77B}"/>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42" name="CaixaDeTexto 21">
            <a:extLst>
              <a:ext uri="{FF2B5EF4-FFF2-40B4-BE49-F238E27FC236}">
                <a16:creationId xmlns:a16="http://schemas.microsoft.com/office/drawing/2014/main" id="{1D48DEF3-9F7E-109B-4B92-F65E9C09CB1D}"/>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9C3D6D56-AA53-8929-5C2F-B63B9314C1ED}"/>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7FE5BA4D-202F-2868-3A63-12D2060B5A98}"/>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F486343E-F0B9-804D-AB87-FDD1BDBDADC4}"/>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58BFA6F8-D807-3D01-5FE9-DAC83553138E}"/>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B1387084-B9FB-DD12-6839-D7BF985C3935}"/>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4B2736EF-978A-13CF-AC2C-4B0966EB8CA2}"/>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E3ACFFCC-5B44-0BBE-0EA7-F111A524726A}"/>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150" name="CaixaDeTexto 21">
            <a:extLst>
              <a:ext uri="{FF2B5EF4-FFF2-40B4-BE49-F238E27FC236}">
                <a16:creationId xmlns:a16="http://schemas.microsoft.com/office/drawing/2014/main" id="{93B6BEC3-4630-F7FA-DE79-92D7B6EB4431}"/>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7147CD02-3D52-E0A7-B4D7-73AF4BB4D10B}"/>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0FDAE62D-6C1F-EA86-A4A9-F44B2CEFACA1}"/>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3B284E69-C159-DF46-E4EB-F463F058E3D6}"/>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67" name="CaixaDeTexto 21">
            <a:extLst>
              <a:ext uri="{FF2B5EF4-FFF2-40B4-BE49-F238E27FC236}">
                <a16:creationId xmlns:a16="http://schemas.microsoft.com/office/drawing/2014/main" id="{4493FA5D-FD04-D2FE-C54E-D55B0C71D597}"/>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D792B341-5824-ED66-F4A4-EAD0C38E1E34}"/>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297F386B-6A0F-0447-8D29-FD6F1D1C1EE4}"/>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5AE6DAE8-BB28-B15F-0DC0-B6CD9E0856A2}"/>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BC202473-78CE-2072-5F5F-C60DA90C59F2}"/>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13CB30B0-B0C4-3EE8-4B5C-9004005F73CF}"/>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8492CDEA-35F5-2E9B-010C-A376EF99FE82}"/>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CCB25543-AF9E-8986-F9AA-8B4CD9D89FB1}"/>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20" name="CaixaDeTexto 21">
            <a:extLst>
              <a:ext uri="{FF2B5EF4-FFF2-40B4-BE49-F238E27FC236}">
                <a16:creationId xmlns:a16="http://schemas.microsoft.com/office/drawing/2014/main" id="{E68B7389-4294-46D1-ACAF-E7F5AC75A56B}"/>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Tree>
    <p:extLst>
      <p:ext uri="{BB962C8B-B14F-4D97-AF65-F5344CB8AC3E}">
        <p14:creationId xmlns:p14="http://schemas.microsoft.com/office/powerpoint/2010/main" val="20505039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DE71A-BE7E-3621-4900-BD57D9DF4D9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F6B431ED-3BDA-A9D2-F0F3-CB68001CF5CB}"/>
              </a:ext>
            </a:extLst>
          </p:cNvPr>
          <p:cNvSpPr>
            <a:spLocks noGrp="1"/>
          </p:cNvSpPr>
          <p:nvPr>
            <p:ph type="title"/>
          </p:nvPr>
        </p:nvSpPr>
        <p:spPr>
          <a:xfrm>
            <a:off x="1106905" y="303578"/>
            <a:ext cx="10485852" cy="645195"/>
          </a:xfrm>
        </p:spPr>
        <p:txBody>
          <a:bodyPr/>
          <a:lstStyle/>
          <a:p>
            <a:r>
              <a:rPr lang="pt-BR" dirty="0"/>
              <a:t>Esteira Financeira</a:t>
            </a:r>
            <a:br>
              <a:rPr lang="pt-BR" dirty="0"/>
            </a:br>
            <a:r>
              <a:rPr lang="pt-BR" sz="1600" b="0" dirty="0"/>
              <a:t>Proposta HUB</a:t>
            </a:r>
            <a:endParaRPr lang="pt-BR" dirty="0"/>
          </a:p>
        </p:txBody>
      </p:sp>
      <p:sp>
        <p:nvSpPr>
          <p:cNvPr id="11" name="Espaço Reservado para Conteúdo 1">
            <a:extLst>
              <a:ext uri="{FF2B5EF4-FFF2-40B4-BE49-F238E27FC236}">
                <a16:creationId xmlns:a16="http://schemas.microsoft.com/office/drawing/2014/main" id="{06B4ABA7-82F9-C562-6CD7-C5B443B3799A}"/>
              </a:ext>
            </a:extLst>
          </p:cNvPr>
          <p:cNvSpPr txBox="1">
            <a:spLocks/>
          </p:cNvSpPr>
          <p:nvPr/>
        </p:nvSpPr>
        <p:spPr>
          <a:xfrm>
            <a:off x="696000" y="980728"/>
            <a:ext cx="10800000" cy="595760"/>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O HUB utiliza uma esteira com </a:t>
            </a:r>
            <a:r>
              <a:rPr lang="pt-BR" sz="1400" b="1" dirty="0"/>
              <a:t>05 estágios financeiros </a:t>
            </a:r>
            <a:r>
              <a:rPr lang="pt-BR" sz="1400" dirty="0"/>
              <a:t>ao longo de todo o ciclo de vida de uma Parada e suas Obras, aplicáveis tanto para materiais quanto oficinas e estaleiro</a:t>
            </a:r>
          </a:p>
        </p:txBody>
      </p:sp>
      <p:sp>
        <p:nvSpPr>
          <p:cNvPr id="201" name="Espaço Reservado para Conteúdo 1">
            <a:extLst>
              <a:ext uri="{FF2B5EF4-FFF2-40B4-BE49-F238E27FC236}">
                <a16:creationId xmlns:a16="http://schemas.microsoft.com/office/drawing/2014/main" id="{50DBAAA7-07DA-B612-49CC-5A9F763245D4}"/>
              </a:ext>
            </a:extLst>
          </p:cNvPr>
          <p:cNvSpPr txBox="1">
            <a:spLocks/>
          </p:cNvSpPr>
          <p:nvPr/>
        </p:nvSpPr>
        <p:spPr>
          <a:xfrm>
            <a:off x="1215291"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da esteira financeira que define a </a:t>
            </a:r>
            <a:r>
              <a:rPr lang="pt-BR" sz="1200" b="1" dirty="0"/>
              <a:t>primeira visão de custo</a:t>
            </a:r>
            <a:r>
              <a:rPr lang="pt-BR" sz="1200" dirty="0"/>
              <a:t> da Parada e Obras</a:t>
            </a:r>
          </a:p>
          <a:p>
            <a:pPr marL="182563" indent="-174625">
              <a:lnSpc>
                <a:spcPct val="90000"/>
              </a:lnSpc>
              <a:spcBef>
                <a:spcPts val="900"/>
              </a:spcBef>
              <a:buFont typeface="Wingdings" panose="05000000000000000000" pitchFamily="2" charset="2"/>
              <a:buChar char="§"/>
            </a:pPr>
            <a:r>
              <a:rPr lang="pt-BR" sz="1200" dirty="0"/>
              <a:t>Estimativas são realizadas de maneira </a:t>
            </a:r>
            <a:r>
              <a:rPr lang="pt-BR" sz="1200" b="1" dirty="0"/>
              <a:t>agregada</a:t>
            </a:r>
            <a:r>
              <a:rPr lang="pt-BR" sz="1200" dirty="0"/>
              <a:t>, no </a:t>
            </a:r>
            <a:r>
              <a:rPr lang="pt-BR" sz="1200" b="1" dirty="0"/>
              <a:t>nível de demanda e por grupo de custo:</a:t>
            </a:r>
          </a:p>
          <a:p>
            <a:pPr marL="360363" lvl="1" indent="-174625">
              <a:lnSpc>
                <a:spcPct val="90000"/>
              </a:lnSpc>
              <a:spcBef>
                <a:spcPts val="400"/>
              </a:spcBef>
              <a:buFont typeface="Wingdings" panose="05000000000000000000" pitchFamily="2" charset="2"/>
              <a:buChar char="§"/>
            </a:pPr>
            <a:r>
              <a:rPr lang="pt-BR" sz="1200" dirty="0"/>
              <a:t>Estaleiro</a:t>
            </a:r>
          </a:p>
          <a:p>
            <a:pPr marL="360363" lvl="1" indent="-174625">
              <a:lnSpc>
                <a:spcPct val="90000"/>
              </a:lnSpc>
              <a:spcBef>
                <a:spcPts val="400"/>
              </a:spcBef>
              <a:buFont typeface="Wingdings" panose="05000000000000000000" pitchFamily="2" charset="2"/>
              <a:buChar char="§"/>
            </a:pPr>
            <a:r>
              <a:rPr lang="pt-BR" sz="1200" dirty="0"/>
              <a:t>Oficinas</a:t>
            </a:r>
          </a:p>
          <a:p>
            <a:pPr marL="360363" lvl="1" indent="-174625">
              <a:lnSpc>
                <a:spcPct val="90000"/>
              </a:lnSpc>
              <a:spcBef>
                <a:spcPts val="400"/>
              </a:spcBef>
              <a:buFont typeface="Wingdings" panose="05000000000000000000" pitchFamily="2" charset="2"/>
              <a:buChar char="§"/>
            </a:pPr>
            <a:r>
              <a:rPr lang="pt-BR" sz="1200" dirty="0"/>
              <a:t>Materiais</a:t>
            </a:r>
          </a:p>
          <a:p>
            <a:pPr marL="182563" lvl="1" indent="-174625">
              <a:lnSpc>
                <a:spcPct val="90000"/>
              </a:lnSpc>
              <a:spcBef>
                <a:spcPts val="900"/>
              </a:spcBef>
              <a:buFont typeface="Wingdings" panose="05000000000000000000" pitchFamily="2" charset="2"/>
              <a:buChar char="§"/>
            </a:pPr>
            <a:r>
              <a:rPr lang="pt-BR" sz="1200" b="1" dirty="0"/>
              <a:t>Estimativas são </a:t>
            </a:r>
            <a:r>
              <a:rPr lang="pt-BR" sz="1200" b="1" dirty="0" err="1"/>
              <a:t>mensalizadas</a:t>
            </a:r>
            <a:r>
              <a:rPr lang="pt-BR" sz="1200" b="1" dirty="0"/>
              <a:t> </a:t>
            </a:r>
            <a:r>
              <a:rPr lang="pt-BR" sz="1200" dirty="0"/>
              <a:t>a partir de </a:t>
            </a:r>
            <a:r>
              <a:rPr lang="pt-BR" sz="1200" b="1" dirty="0"/>
              <a:t>premissas</a:t>
            </a:r>
            <a:r>
              <a:rPr lang="pt-BR" sz="1200" dirty="0"/>
              <a:t> cadastradas no HUB para a Parada e Obras</a:t>
            </a:r>
          </a:p>
        </p:txBody>
      </p:sp>
      <p:sp>
        <p:nvSpPr>
          <p:cNvPr id="2" name="Seta: Pentágono 71">
            <a:extLst>
              <a:ext uri="{FF2B5EF4-FFF2-40B4-BE49-F238E27FC236}">
                <a16:creationId xmlns:a16="http://schemas.microsoft.com/office/drawing/2014/main" id="{515413EE-C81C-0A3F-5B1A-EFE380B3F34A}"/>
              </a:ext>
            </a:extLst>
          </p:cNvPr>
          <p:cNvSpPr/>
          <p:nvPr/>
        </p:nvSpPr>
        <p:spPr>
          <a:xfrm>
            <a:off x="1191218" y="1526367"/>
            <a:ext cx="2160000" cy="535923"/>
          </a:xfrm>
          <a:prstGeom prst="homePlate">
            <a:avLst>
              <a:gd name="adj" fmla="val 38625"/>
            </a:avLst>
          </a:prstGeom>
          <a:solidFill>
            <a:srgbClr val="031B2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Estimado</a:t>
            </a:r>
          </a:p>
        </p:txBody>
      </p:sp>
      <p:sp>
        <p:nvSpPr>
          <p:cNvPr id="39" name="CaixaDeTexto 557">
            <a:extLst>
              <a:ext uri="{FF2B5EF4-FFF2-40B4-BE49-F238E27FC236}">
                <a16:creationId xmlns:a16="http://schemas.microsoft.com/office/drawing/2014/main" id="{A8066D15-637F-31CF-202D-17AEF7752DE9}"/>
              </a:ext>
            </a:extLst>
          </p:cNvPr>
          <p:cNvSpPr txBox="1"/>
          <p:nvPr/>
        </p:nvSpPr>
        <p:spPr>
          <a:xfrm>
            <a:off x="113625" y="2132031"/>
            <a:ext cx="1036638" cy="3780000"/>
          </a:xfrm>
          <a:prstGeom prst="rect">
            <a:avLst/>
          </a:prstGeom>
          <a:noFill/>
          <a:ln>
            <a:solidFill>
              <a:srgbClr val="014A65"/>
            </a:solidFill>
          </a:ln>
        </p:spPr>
        <p:txBody>
          <a:bodyPr wrap="square" lIns="90000" rtlCol="0" anchor="ctr">
            <a:noAutofit/>
          </a:bodyPr>
          <a:lstStyle/>
          <a:p>
            <a:pPr algn="r"/>
            <a:r>
              <a:rPr lang="pt-BR" sz="1200" b="1" i="1" dirty="0"/>
              <a:t>Definição</a:t>
            </a:r>
            <a:endParaRPr lang="pt-BR" sz="1200" i="1" dirty="0"/>
          </a:p>
        </p:txBody>
      </p:sp>
      <p:sp>
        <p:nvSpPr>
          <p:cNvPr id="42" name="Oval 41">
            <a:extLst>
              <a:ext uri="{FF2B5EF4-FFF2-40B4-BE49-F238E27FC236}">
                <a16:creationId xmlns:a16="http://schemas.microsoft.com/office/drawing/2014/main" id="{FA5B6B50-82DA-0AD4-B692-88D4A1FA0B4F}"/>
              </a:ext>
            </a:extLst>
          </p:cNvPr>
          <p:cNvSpPr>
            <a:spLocks noChangeAspect="1"/>
          </p:cNvSpPr>
          <p:nvPr/>
        </p:nvSpPr>
        <p:spPr>
          <a:xfrm>
            <a:off x="1296304" y="1636815"/>
            <a:ext cx="315026" cy="315026"/>
          </a:xfrm>
          <a:prstGeom prst="ellipse">
            <a:avLst/>
          </a:prstGeom>
          <a:solidFill>
            <a:srgbClr val="031B2B"/>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1</a:t>
            </a:r>
          </a:p>
        </p:txBody>
      </p:sp>
      <p:sp>
        <p:nvSpPr>
          <p:cNvPr id="54" name="CaixaDeTexto 557">
            <a:extLst>
              <a:ext uri="{FF2B5EF4-FFF2-40B4-BE49-F238E27FC236}">
                <a16:creationId xmlns:a16="http://schemas.microsoft.com/office/drawing/2014/main" id="{EF2FFC8C-420A-0BC7-873C-AE1A8E44365A}"/>
              </a:ext>
            </a:extLst>
          </p:cNvPr>
          <p:cNvSpPr txBox="1"/>
          <p:nvPr/>
        </p:nvSpPr>
        <p:spPr>
          <a:xfrm>
            <a:off x="113625" y="5999967"/>
            <a:ext cx="1036638" cy="468000"/>
          </a:xfrm>
          <a:prstGeom prst="rect">
            <a:avLst/>
          </a:prstGeom>
          <a:noFill/>
          <a:ln>
            <a:solidFill>
              <a:srgbClr val="014A65"/>
            </a:solidFill>
          </a:ln>
        </p:spPr>
        <p:txBody>
          <a:bodyPr wrap="square" lIns="90000" rtlCol="0" anchor="ctr">
            <a:noAutofit/>
          </a:bodyPr>
          <a:lstStyle/>
          <a:p>
            <a:pPr algn="r"/>
            <a:r>
              <a:rPr lang="pt-BR" sz="1200" b="1" i="1" dirty="0" err="1"/>
              <a:t>Respon-sável</a:t>
            </a:r>
            <a:r>
              <a:rPr lang="pt-BR" sz="1200" b="1" i="1" dirty="0"/>
              <a:t>(</a:t>
            </a:r>
            <a:r>
              <a:rPr lang="pt-BR" sz="1200" b="1" i="1" dirty="0" err="1"/>
              <a:t>is</a:t>
            </a:r>
            <a:r>
              <a:rPr lang="pt-BR" sz="1200" b="1" i="1" dirty="0"/>
              <a:t>)</a:t>
            </a:r>
          </a:p>
        </p:txBody>
      </p:sp>
      <p:sp>
        <p:nvSpPr>
          <p:cNvPr id="6" name="Espaço Reservado para Conteúdo 1">
            <a:extLst>
              <a:ext uri="{FF2B5EF4-FFF2-40B4-BE49-F238E27FC236}">
                <a16:creationId xmlns:a16="http://schemas.microsoft.com/office/drawing/2014/main" id="{E19FCB74-E827-55B3-E147-7F1C9CC2844B}"/>
              </a:ext>
            </a:extLst>
          </p:cNvPr>
          <p:cNvSpPr txBox="1">
            <a:spLocks/>
          </p:cNvSpPr>
          <p:nvPr/>
        </p:nvSpPr>
        <p:spPr>
          <a:xfrm>
            <a:off x="1215290" y="5999967"/>
            <a:ext cx="2052000"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Planejamento AT</a:t>
            </a:r>
          </a:p>
        </p:txBody>
      </p:sp>
      <p:sp>
        <p:nvSpPr>
          <p:cNvPr id="3" name="CaixaDeTexto 9">
            <a:extLst>
              <a:ext uri="{FF2B5EF4-FFF2-40B4-BE49-F238E27FC236}">
                <a16:creationId xmlns:a16="http://schemas.microsoft.com/office/drawing/2014/main" id="{8DF950A2-7C81-B007-4FEE-BDD223B180CE}"/>
              </a:ext>
            </a:extLst>
          </p:cNvPr>
          <p:cNvSpPr txBox="1"/>
          <p:nvPr/>
        </p:nvSpPr>
        <p:spPr>
          <a:xfrm>
            <a:off x="127574" y="6499576"/>
            <a:ext cx="9038795" cy="369332"/>
          </a:xfrm>
          <a:prstGeom prst="rect">
            <a:avLst/>
          </a:prstGeom>
          <a:noFill/>
        </p:spPr>
        <p:txBody>
          <a:bodyPr wrap="square" rtlCol="0">
            <a:spAutoFit/>
          </a:bodyPr>
          <a:lstStyle/>
          <a:p>
            <a:pPr marL="179388" indent="-179388">
              <a:lnSpc>
                <a:spcPct val="90000"/>
              </a:lnSpc>
              <a:buFont typeface="+mj-lt"/>
              <a:buAutoNum type="arabicPeriod"/>
            </a:pPr>
            <a:r>
              <a:rPr lang="pt-BR" sz="1000" dirty="0"/>
              <a:t>Não inclui custos de consultoria aduaneira que são considerados como </a:t>
            </a:r>
            <a:r>
              <a:rPr lang="pt-BR" sz="1000" dirty="0" err="1"/>
              <a:t>Opex</a:t>
            </a:r>
            <a:endParaRPr lang="pt-BR" sz="1000" dirty="0"/>
          </a:p>
          <a:p>
            <a:pPr marL="179388" indent="-179388">
              <a:lnSpc>
                <a:spcPct val="90000"/>
              </a:lnSpc>
              <a:buFont typeface="+mj-lt"/>
              <a:buAutoNum type="arabicPeriod"/>
            </a:pPr>
            <a:r>
              <a:rPr lang="pt-BR" sz="1000" dirty="0"/>
              <a:t>O custo total da importação de materiais inclui diferentes fornecedores (fabricante, transportadora, governo etc.)</a:t>
            </a:r>
          </a:p>
        </p:txBody>
      </p:sp>
      <p:sp>
        <p:nvSpPr>
          <p:cNvPr id="7" name="Rectangle 6">
            <a:extLst>
              <a:ext uri="{FF2B5EF4-FFF2-40B4-BE49-F238E27FC236}">
                <a16:creationId xmlns:a16="http://schemas.microsoft.com/office/drawing/2014/main" id="{3BB6FAE1-B190-C1FD-9E23-09B5B1B9C96C}"/>
              </a:ext>
            </a:extLst>
          </p:cNvPr>
          <p:cNvSpPr/>
          <p:nvPr/>
        </p:nvSpPr>
        <p:spPr>
          <a:xfrm>
            <a:off x="11064552"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7" name="CaixaDeTexto 557">
            <a:extLst>
              <a:ext uri="{FF2B5EF4-FFF2-40B4-BE49-F238E27FC236}">
                <a16:creationId xmlns:a16="http://schemas.microsoft.com/office/drawing/2014/main" id="{24AB2B6E-9DAA-80CA-A019-21EE9802C191}"/>
              </a:ext>
            </a:extLst>
          </p:cNvPr>
          <p:cNvSpPr txBox="1"/>
          <p:nvPr/>
        </p:nvSpPr>
        <p:spPr>
          <a:xfrm>
            <a:off x="113625" y="1542328"/>
            <a:ext cx="1036638" cy="504000"/>
          </a:xfrm>
          <a:prstGeom prst="rect">
            <a:avLst/>
          </a:prstGeom>
          <a:noFill/>
          <a:ln>
            <a:solidFill>
              <a:srgbClr val="014A65"/>
            </a:solidFill>
          </a:ln>
        </p:spPr>
        <p:txBody>
          <a:bodyPr wrap="square" lIns="90000" rtlCol="0" anchor="ctr">
            <a:noAutofit/>
          </a:bodyPr>
          <a:lstStyle/>
          <a:p>
            <a:pPr algn="r"/>
            <a:r>
              <a:rPr lang="pt-BR" sz="1200" b="1" i="1" dirty="0"/>
              <a:t>Estágio da Esteira</a:t>
            </a:r>
          </a:p>
        </p:txBody>
      </p:sp>
      <p:sp>
        <p:nvSpPr>
          <p:cNvPr id="9" name="Retângulo: Cantos Arredondados 3">
            <a:extLst>
              <a:ext uri="{FF2B5EF4-FFF2-40B4-BE49-F238E27FC236}">
                <a16:creationId xmlns:a16="http://schemas.microsoft.com/office/drawing/2014/main" id="{FF445378-CE41-5C03-EC8B-15644F2BFB66}"/>
              </a:ext>
            </a:extLst>
          </p:cNvPr>
          <p:cNvSpPr/>
          <p:nvPr/>
        </p:nvSpPr>
        <p:spPr>
          <a:xfrm>
            <a:off x="4518909" y="5324894"/>
            <a:ext cx="864000"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93663"/>
            <a:r>
              <a:rPr lang="pt-BR" sz="1100" dirty="0">
                <a:solidFill>
                  <a:schemeClr val="tx1"/>
                </a:solidFill>
              </a:rPr>
              <a:t>100 - Upgrade</a:t>
            </a:r>
          </a:p>
        </p:txBody>
      </p:sp>
      <p:cxnSp>
        <p:nvCxnSpPr>
          <p:cNvPr id="18" name="Conector: Angulado 14">
            <a:extLst>
              <a:ext uri="{FF2B5EF4-FFF2-40B4-BE49-F238E27FC236}">
                <a16:creationId xmlns:a16="http://schemas.microsoft.com/office/drawing/2014/main" id="{F44A8937-D215-7EB4-71AC-664D911C3F3D}"/>
              </a:ext>
            </a:extLst>
          </p:cNvPr>
          <p:cNvCxnSpPr>
            <a:cxnSpLocks/>
            <a:stCxn id="55" idx="3"/>
            <a:endCxn id="9" idx="1"/>
          </p:cNvCxnSpPr>
          <p:nvPr/>
        </p:nvCxnSpPr>
        <p:spPr>
          <a:xfrm>
            <a:off x="4295720" y="4284286"/>
            <a:ext cx="223189" cy="1280793"/>
          </a:xfrm>
          <a:prstGeom prst="bentConnector3">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41" name="Retângulo: Cantos Arredondados 2">
            <a:extLst>
              <a:ext uri="{FF2B5EF4-FFF2-40B4-BE49-F238E27FC236}">
                <a16:creationId xmlns:a16="http://schemas.microsoft.com/office/drawing/2014/main" id="{594C6CA1-FE57-81F3-434E-4D5EA481FDB7}"/>
              </a:ext>
            </a:extLst>
          </p:cNvPr>
          <p:cNvSpPr/>
          <p:nvPr/>
        </p:nvSpPr>
        <p:spPr>
          <a:xfrm>
            <a:off x="4518909" y="3337453"/>
            <a:ext cx="864000"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93663"/>
            <a:r>
              <a:rPr lang="pt-BR" sz="1100" dirty="0">
                <a:solidFill>
                  <a:schemeClr val="tx1"/>
                </a:solidFill>
              </a:rPr>
              <a:t>103 - Parada </a:t>
            </a:r>
            <a:r>
              <a:rPr lang="pt-BR" sz="1100" dirty="0" err="1">
                <a:solidFill>
                  <a:schemeClr val="tx1"/>
                </a:solidFill>
              </a:rPr>
              <a:t>Progamada</a:t>
            </a:r>
            <a:endParaRPr lang="pt-BR" sz="1100" dirty="0">
              <a:solidFill>
                <a:schemeClr val="tx1"/>
              </a:solidFill>
            </a:endParaRPr>
          </a:p>
        </p:txBody>
      </p:sp>
      <p:cxnSp>
        <p:nvCxnSpPr>
          <p:cNvPr id="44" name="Conector: Angulado 15">
            <a:extLst>
              <a:ext uri="{FF2B5EF4-FFF2-40B4-BE49-F238E27FC236}">
                <a16:creationId xmlns:a16="http://schemas.microsoft.com/office/drawing/2014/main" id="{A7C48F0A-A821-DAFB-6B55-5BD4408A07C1}"/>
              </a:ext>
            </a:extLst>
          </p:cNvPr>
          <p:cNvCxnSpPr>
            <a:cxnSpLocks/>
            <a:stCxn id="41" idx="3"/>
            <a:endCxn id="49" idx="1"/>
          </p:cNvCxnSpPr>
          <p:nvPr/>
        </p:nvCxnSpPr>
        <p:spPr>
          <a:xfrm flipV="1">
            <a:off x="5382909" y="2695305"/>
            <a:ext cx="224851" cy="882333"/>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49" name="CaixaDeTexto 557">
            <a:extLst>
              <a:ext uri="{FF2B5EF4-FFF2-40B4-BE49-F238E27FC236}">
                <a16:creationId xmlns:a16="http://schemas.microsoft.com/office/drawing/2014/main" id="{59DA25AB-1459-CFA9-7380-280CEAA32340}"/>
              </a:ext>
            </a:extLst>
          </p:cNvPr>
          <p:cNvSpPr txBox="1"/>
          <p:nvPr/>
        </p:nvSpPr>
        <p:spPr>
          <a:xfrm>
            <a:off x="5607760" y="2551305"/>
            <a:ext cx="1908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50" name="CaixaDeTexto 557">
            <a:extLst>
              <a:ext uri="{FF2B5EF4-FFF2-40B4-BE49-F238E27FC236}">
                <a16:creationId xmlns:a16="http://schemas.microsoft.com/office/drawing/2014/main" id="{8FE089FF-0A1F-8836-7A60-248EB552FE74}"/>
              </a:ext>
            </a:extLst>
          </p:cNvPr>
          <p:cNvSpPr txBox="1"/>
          <p:nvPr/>
        </p:nvSpPr>
        <p:spPr>
          <a:xfrm>
            <a:off x="6120065" y="2981036"/>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R$ Material</a:t>
            </a:r>
          </a:p>
        </p:txBody>
      </p:sp>
      <p:sp>
        <p:nvSpPr>
          <p:cNvPr id="51" name="CaixaDeTexto 557">
            <a:extLst>
              <a:ext uri="{FF2B5EF4-FFF2-40B4-BE49-F238E27FC236}">
                <a16:creationId xmlns:a16="http://schemas.microsoft.com/office/drawing/2014/main" id="{EFD1AA3A-BDCD-0EDB-3616-CAB2212E6462}"/>
              </a:ext>
            </a:extLst>
          </p:cNvPr>
          <p:cNvSpPr txBox="1"/>
          <p:nvPr/>
        </p:nvSpPr>
        <p:spPr>
          <a:xfrm>
            <a:off x="6120065" y="3337224"/>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Oficina</a:t>
            </a:r>
          </a:p>
        </p:txBody>
      </p:sp>
      <p:sp>
        <p:nvSpPr>
          <p:cNvPr id="52" name="CaixaDeTexto 557">
            <a:extLst>
              <a:ext uri="{FF2B5EF4-FFF2-40B4-BE49-F238E27FC236}">
                <a16:creationId xmlns:a16="http://schemas.microsoft.com/office/drawing/2014/main" id="{66904DAD-62BA-CCF6-264C-F34C3D4DE389}"/>
              </a:ext>
            </a:extLst>
          </p:cNvPr>
          <p:cNvSpPr txBox="1"/>
          <p:nvPr/>
        </p:nvSpPr>
        <p:spPr>
          <a:xfrm>
            <a:off x="6120065" y="3693413"/>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Estaleiro</a:t>
            </a:r>
          </a:p>
        </p:txBody>
      </p:sp>
      <p:cxnSp>
        <p:nvCxnSpPr>
          <p:cNvPr id="53" name="Conector: Angulado 13">
            <a:extLst>
              <a:ext uri="{FF2B5EF4-FFF2-40B4-BE49-F238E27FC236}">
                <a16:creationId xmlns:a16="http://schemas.microsoft.com/office/drawing/2014/main" id="{136AFD79-BDD3-4CA4-E3C5-C2599673B781}"/>
              </a:ext>
            </a:extLst>
          </p:cNvPr>
          <p:cNvCxnSpPr>
            <a:cxnSpLocks/>
            <a:stCxn id="55" idx="3"/>
            <a:endCxn id="41" idx="1"/>
          </p:cNvCxnSpPr>
          <p:nvPr/>
        </p:nvCxnSpPr>
        <p:spPr>
          <a:xfrm flipV="1">
            <a:off x="4295720" y="3577638"/>
            <a:ext cx="223189" cy="706648"/>
          </a:xfrm>
          <a:prstGeom prst="bentConnector3">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55" name="Retângulo: Cantos Arredondados 1">
            <a:extLst>
              <a:ext uri="{FF2B5EF4-FFF2-40B4-BE49-F238E27FC236}">
                <a16:creationId xmlns:a16="http://schemas.microsoft.com/office/drawing/2014/main" id="{FFC573CD-8EBE-B1C1-B1A2-029F8223B99E}"/>
              </a:ext>
            </a:extLst>
          </p:cNvPr>
          <p:cNvSpPr/>
          <p:nvPr/>
        </p:nvSpPr>
        <p:spPr>
          <a:xfrm>
            <a:off x="3575720" y="3964599"/>
            <a:ext cx="720000" cy="639373"/>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ID-XX</a:t>
            </a:r>
          </a:p>
        </p:txBody>
      </p:sp>
      <p:sp>
        <p:nvSpPr>
          <p:cNvPr id="56" name="CaixaDeTexto 354">
            <a:extLst>
              <a:ext uri="{FF2B5EF4-FFF2-40B4-BE49-F238E27FC236}">
                <a16:creationId xmlns:a16="http://schemas.microsoft.com/office/drawing/2014/main" id="{0B0252CB-2287-3BF5-6E1B-6DDB7653D87F}"/>
              </a:ext>
            </a:extLst>
          </p:cNvPr>
          <p:cNvSpPr txBox="1"/>
          <p:nvPr/>
        </p:nvSpPr>
        <p:spPr>
          <a:xfrm>
            <a:off x="3575720" y="2028376"/>
            <a:ext cx="72000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ID da Parada</a:t>
            </a:r>
          </a:p>
        </p:txBody>
      </p:sp>
      <p:sp>
        <p:nvSpPr>
          <p:cNvPr id="57" name="CaixaDeTexto 355">
            <a:extLst>
              <a:ext uri="{FF2B5EF4-FFF2-40B4-BE49-F238E27FC236}">
                <a16:creationId xmlns:a16="http://schemas.microsoft.com/office/drawing/2014/main" id="{B7403FBB-6D29-1004-65C0-572823164429}"/>
              </a:ext>
            </a:extLst>
          </p:cNvPr>
          <p:cNvSpPr txBox="1"/>
          <p:nvPr/>
        </p:nvSpPr>
        <p:spPr>
          <a:xfrm>
            <a:off x="5607760" y="2028376"/>
            <a:ext cx="1907999"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Demandas</a:t>
            </a:r>
            <a:br>
              <a:rPr lang="pt-BR" dirty="0"/>
            </a:br>
            <a:r>
              <a:rPr lang="pt-BR" dirty="0"/>
              <a:t>Planejadas</a:t>
            </a:r>
          </a:p>
        </p:txBody>
      </p:sp>
      <p:sp>
        <p:nvSpPr>
          <p:cNvPr id="58" name="CaixaDeTexto 356">
            <a:extLst>
              <a:ext uri="{FF2B5EF4-FFF2-40B4-BE49-F238E27FC236}">
                <a16:creationId xmlns:a16="http://schemas.microsoft.com/office/drawing/2014/main" id="{5ECAF33B-8AC8-CE69-BF6D-6FEB6B3166A0}"/>
              </a:ext>
            </a:extLst>
          </p:cNvPr>
          <p:cNvSpPr txBox="1"/>
          <p:nvPr/>
        </p:nvSpPr>
        <p:spPr>
          <a:xfrm>
            <a:off x="4518910" y="2028376"/>
            <a:ext cx="86400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Obras</a:t>
            </a:r>
            <a:br>
              <a:rPr lang="pt-BR" dirty="0"/>
            </a:br>
            <a:r>
              <a:rPr lang="pt-BR" dirty="0"/>
              <a:t>Planejadas</a:t>
            </a:r>
          </a:p>
        </p:txBody>
      </p:sp>
      <p:sp>
        <p:nvSpPr>
          <p:cNvPr id="59" name="Rectangle 58">
            <a:extLst>
              <a:ext uri="{FF2B5EF4-FFF2-40B4-BE49-F238E27FC236}">
                <a16:creationId xmlns:a16="http://schemas.microsoft.com/office/drawing/2014/main" id="{0AEA81A9-22C4-8B88-7EF9-7352B979A96D}"/>
              </a:ext>
            </a:extLst>
          </p:cNvPr>
          <p:cNvSpPr/>
          <p:nvPr/>
        </p:nvSpPr>
        <p:spPr>
          <a:xfrm>
            <a:off x="3399486" y="1890205"/>
            <a:ext cx="4322601" cy="4563131"/>
          </a:xfrm>
          <a:prstGeom prst="rect">
            <a:avLst/>
          </a:prstGeom>
          <a:noFill/>
          <a:ln w="9525">
            <a:solidFill>
              <a:srgbClr val="031B2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60" name="Triangle 59">
            <a:extLst>
              <a:ext uri="{FF2B5EF4-FFF2-40B4-BE49-F238E27FC236}">
                <a16:creationId xmlns:a16="http://schemas.microsoft.com/office/drawing/2014/main" id="{1629B54D-2A26-2689-B9F7-AD0BCCA0B4A0}"/>
              </a:ext>
            </a:extLst>
          </p:cNvPr>
          <p:cNvSpPr/>
          <p:nvPr/>
        </p:nvSpPr>
        <p:spPr>
          <a:xfrm rot="5400000">
            <a:off x="2592923" y="4094219"/>
            <a:ext cx="1512168" cy="216024"/>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cxnSp>
        <p:nvCxnSpPr>
          <p:cNvPr id="119" name="Conector: Angulado 15">
            <a:extLst>
              <a:ext uri="{FF2B5EF4-FFF2-40B4-BE49-F238E27FC236}">
                <a16:creationId xmlns:a16="http://schemas.microsoft.com/office/drawing/2014/main" id="{4AD61B17-4F6E-A671-9956-BC1BDABAD01B}"/>
              </a:ext>
            </a:extLst>
          </p:cNvPr>
          <p:cNvCxnSpPr>
            <a:cxnSpLocks/>
            <a:stCxn id="49" idx="2"/>
            <a:endCxn id="50" idx="1"/>
          </p:cNvCxnSpPr>
          <p:nvPr/>
        </p:nvCxnSpPr>
        <p:spPr>
          <a:xfrm rot="5400000">
            <a:off x="6198048" y="2761323"/>
            <a:ext cx="285731" cy="441695"/>
          </a:xfrm>
          <a:prstGeom prst="bentConnector4">
            <a:avLst>
              <a:gd name="adj1" fmla="val 24801"/>
              <a:gd name="adj2" fmla="val 149055"/>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124" name="Conector: Angulado 15">
            <a:extLst>
              <a:ext uri="{FF2B5EF4-FFF2-40B4-BE49-F238E27FC236}">
                <a16:creationId xmlns:a16="http://schemas.microsoft.com/office/drawing/2014/main" id="{08620DC4-96C5-864A-69ED-B1684B6A83B7}"/>
              </a:ext>
            </a:extLst>
          </p:cNvPr>
          <p:cNvCxnSpPr>
            <a:cxnSpLocks/>
            <a:stCxn id="50" idx="1"/>
            <a:endCxn id="51" idx="1"/>
          </p:cNvCxnSpPr>
          <p:nvPr/>
        </p:nvCxnSpPr>
        <p:spPr>
          <a:xfrm rot="10800000" flipV="1">
            <a:off x="6120065" y="3125036"/>
            <a:ext cx="12700" cy="356188"/>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192" name="Conector: Angulado 15">
            <a:extLst>
              <a:ext uri="{FF2B5EF4-FFF2-40B4-BE49-F238E27FC236}">
                <a16:creationId xmlns:a16="http://schemas.microsoft.com/office/drawing/2014/main" id="{D64061BB-E568-4B69-9181-9CBA5D5A6E21}"/>
              </a:ext>
            </a:extLst>
          </p:cNvPr>
          <p:cNvCxnSpPr>
            <a:cxnSpLocks/>
            <a:stCxn id="51" idx="1"/>
            <a:endCxn id="52" idx="1"/>
          </p:cNvCxnSpPr>
          <p:nvPr/>
        </p:nvCxnSpPr>
        <p:spPr>
          <a:xfrm rot="10800000" flipV="1">
            <a:off x="6120065" y="3481223"/>
            <a:ext cx="12700" cy="356189"/>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196" name="CaixaDeTexto 557">
            <a:extLst>
              <a:ext uri="{FF2B5EF4-FFF2-40B4-BE49-F238E27FC236}">
                <a16:creationId xmlns:a16="http://schemas.microsoft.com/office/drawing/2014/main" id="{ABAC6FBC-0FB5-B2D8-DCDC-8D565B8E262E}"/>
              </a:ext>
            </a:extLst>
          </p:cNvPr>
          <p:cNvSpPr txBox="1"/>
          <p:nvPr/>
        </p:nvSpPr>
        <p:spPr>
          <a:xfrm>
            <a:off x="5609493" y="4528195"/>
            <a:ext cx="1408832"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defRPr sz="1000" i="1"/>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a:t>Σ</a:t>
            </a:r>
            <a:r>
              <a:rPr lang="pt-BR"/>
              <a:t> R</a:t>
            </a:r>
            <a:r>
              <a:rPr lang="pt-BR" dirty="0"/>
              <a:t>$ </a:t>
            </a:r>
            <a:r>
              <a:rPr lang="pt-BR"/>
              <a:t>Demanda 2</a:t>
            </a:r>
            <a:endParaRPr lang="pt-BR" dirty="0"/>
          </a:p>
        </p:txBody>
      </p:sp>
      <p:cxnSp>
        <p:nvCxnSpPr>
          <p:cNvPr id="197" name="Conector: Angulado 15">
            <a:extLst>
              <a:ext uri="{FF2B5EF4-FFF2-40B4-BE49-F238E27FC236}">
                <a16:creationId xmlns:a16="http://schemas.microsoft.com/office/drawing/2014/main" id="{35A112E2-B8D3-0539-7A87-37C68079D866}"/>
              </a:ext>
            </a:extLst>
          </p:cNvPr>
          <p:cNvCxnSpPr>
            <a:cxnSpLocks/>
            <a:stCxn id="41" idx="3"/>
            <a:endCxn id="196" idx="1"/>
          </p:cNvCxnSpPr>
          <p:nvPr/>
        </p:nvCxnSpPr>
        <p:spPr>
          <a:xfrm>
            <a:off x="5382909" y="3577638"/>
            <a:ext cx="226584" cy="1094557"/>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00" name="CaixaDeTexto 557">
            <a:extLst>
              <a:ext uri="{FF2B5EF4-FFF2-40B4-BE49-F238E27FC236}">
                <a16:creationId xmlns:a16="http://schemas.microsoft.com/office/drawing/2014/main" id="{7F7E92BD-2894-AFDD-D350-0177E0DF2978}"/>
              </a:ext>
            </a:extLst>
          </p:cNvPr>
          <p:cNvSpPr txBox="1"/>
          <p:nvPr/>
        </p:nvSpPr>
        <p:spPr>
          <a:xfrm>
            <a:off x="5599029" y="5421079"/>
            <a:ext cx="1408832" cy="288000"/>
          </a:xfrm>
          <a:prstGeom prst="roundRect">
            <a:avLst>
              <a:gd name="adj" fmla="val 0"/>
            </a:avLst>
          </a:prstGeom>
          <a:noFill/>
          <a:ln>
            <a:solidFill>
              <a:srgbClr val="014A65"/>
            </a:solidFill>
            <a:prstDash val="solid"/>
          </a:ln>
        </p:spPr>
        <p:txBody>
          <a:bodyPr wrap="square" lIns="90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a:t>
            </a:r>
          </a:p>
        </p:txBody>
      </p:sp>
      <p:cxnSp>
        <p:nvCxnSpPr>
          <p:cNvPr id="203" name="Straight Arrow Connector 202">
            <a:extLst>
              <a:ext uri="{FF2B5EF4-FFF2-40B4-BE49-F238E27FC236}">
                <a16:creationId xmlns:a16="http://schemas.microsoft.com/office/drawing/2014/main" id="{90AA5309-A593-2CBE-3363-CDF82FF637E2}"/>
              </a:ext>
            </a:extLst>
          </p:cNvPr>
          <p:cNvCxnSpPr>
            <a:cxnSpLocks/>
            <a:stCxn id="9" idx="3"/>
            <a:endCxn id="200" idx="1"/>
          </p:cNvCxnSpPr>
          <p:nvPr/>
        </p:nvCxnSpPr>
        <p:spPr>
          <a:xfrm>
            <a:off x="5382909" y="5565079"/>
            <a:ext cx="216120" cy="0"/>
          </a:xfrm>
          <a:prstGeom prst="straightConnector1">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12" name="Espaço Reservado para Conteúdo 1">
            <a:extLst>
              <a:ext uri="{FF2B5EF4-FFF2-40B4-BE49-F238E27FC236}">
                <a16:creationId xmlns:a16="http://schemas.microsoft.com/office/drawing/2014/main" id="{53319719-8977-C70C-FEEC-F98B43B4270A}"/>
              </a:ext>
            </a:extLst>
          </p:cNvPr>
          <p:cNvSpPr txBox="1">
            <a:spLocks/>
          </p:cNvSpPr>
          <p:nvPr/>
        </p:nvSpPr>
        <p:spPr>
          <a:xfrm>
            <a:off x="7042875" y="2581524"/>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$100</a:t>
            </a:r>
          </a:p>
        </p:txBody>
      </p:sp>
      <p:sp>
        <p:nvSpPr>
          <p:cNvPr id="215" name="CaixaDeTexto 557">
            <a:extLst>
              <a:ext uri="{FF2B5EF4-FFF2-40B4-BE49-F238E27FC236}">
                <a16:creationId xmlns:a16="http://schemas.microsoft.com/office/drawing/2014/main" id="{C27F64FD-29D2-E1AD-197C-AE443B6153B9}"/>
              </a:ext>
            </a:extLst>
          </p:cNvPr>
          <p:cNvSpPr txBox="1"/>
          <p:nvPr/>
        </p:nvSpPr>
        <p:spPr>
          <a:xfrm>
            <a:off x="6120067" y="4938572"/>
            <a:ext cx="896525" cy="288000"/>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a:t>
            </a:r>
          </a:p>
        </p:txBody>
      </p:sp>
      <p:cxnSp>
        <p:nvCxnSpPr>
          <p:cNvPr id="216" name="Conector: Angulado 15">
            <a:extLst>
              <a:ext uri="{FF2B5EF4-FFF2-40B4-BE49-F238E27FC236}">
                <a16:creationId xmlns:a16="http://schemas.microsoft.com/office/drawing/2014/main" id="{D77DF2C9-0F5C-61CA-44FE-1E852CC005B5}"/>
              </a:ext>
            </a:extLst>
          </p:cNvPr>
          <p:cNvCxnSpPr>
            <a:cxnSpLocks/>
            <a:stCxn id="196" idx="2"/>
            <a:endCxn id="215" idx="1"/>
          </p:cNvCxnSpPr>
          <p:nvPr/>
        </p:nvCxnSpPr>
        <p:spPr>
          <a:xfrm rot="5400000">
            <a:off x="6083800" y="4852462"/>
            <a:ext cx="266377" cy="193842"/>
          </a:xfrm>
          <a:prstGeom prst="bentConnector4">
            <a:avLst>
              <a:gd name="adj1" fmla="val 22970"/>
              <a:gd name="adj2" fmla="val 217931"/>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32" name="Espaço Reservado para Conteúdo 1">
            <a:extLst>
              <a:ext uri="{FF2B5EF4-FFF2-40B4-BE49-F238E27FC236}">
                <a16:creationId xmlns:a16="http://schemas.microsoft.com/office/drawing/2014/main" id="{4FF2BF98-6F14-F7CD-14E6-9D78EE42EF59}"/>
              </a:ext>
            </a:extLst>
          </p:cNvPr>
          <p:cNvSpPr txBox="1">
            <a:spLocks/>
          </p:cNvSpPr>
          <p:nvPr/>
        </p:nvSpPr>
        <p:spPr>
          <a:xfrm>
            <a:off x="7042875" y="301687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$60</a:t>
            </a:r>
          </a:p>
        </p:txBody>
      </p:sp>
      <p:sp>
        <p:nvSpPr>
          <p:cNvPr id="233" name="Espaço Reservado para Conteúdo 1">
            <a:extLst>
              <a:ext uri="{FF2B5EF4-FFF2-40B4-BE49-F238E27FC236}">
                <a16:creationId xmlns:a16="http://schemas.microsoft.com/office/drawing/2014/main" id="{D2B14692-408D-813A-0F84-7679936D036A}"/>
              </a:ext>
            </a:extLst>
          </p:cNvPr>
          <p:cNvSpPr txBox="1">
            <a:spLocks/>
          </p:cNvSpPr>
          <p:nvPr/>
        </p:nvSpPr>
        <p:spPr>
          <a:xfrm>
            <a:off x="7042875" y="3365914"/>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sp>
        <p:nvSpPr>
          <p:cNvPr id="234" name="Espaço Reservado para Conteúdo 1">
            <a:extLst>
              <a:ext uri="{FF2B5EF4-FFF2-40B4-BE49-F238E27FC236}">
                <a16:creationId xmlns:a16="http://schemas.microsoft.com/office/drawing/2014/main" id="{D8275566-7114-01A0-00C4-D5F1B85432EC}"/>
              </a:ext>
            </a:extLst>
          </p:cNvPr>
          <p:cNvSpPr txBox="1">
            <a:spLocks/>
          </p:cNvSpPr>
          <p:nvPr/>
        </p:nvSpPr>
        <p:spPr>
          <a:xfrm>
            <a:off x="7042875" y="372652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a:t>
            </a:r>
          </a:p>
        </p:txBody>
      </p:sp>
      <p:sp>
        <p:nvSpPr>
          <p:cNvPr id="235" name="Rectangular Callout 234">
            <a:extLst>
              <a:ext uri="{FF2B5EF4-FFF2-40B4-BE49-F238E27FC236}">
                <a16:creationId xmlns:a16="http://schemas.microsoft.com/office/drawing/2014/main" id="{D43CCD90-A934-DAE5-97B2-6CADC60AA7EF}"/>
              </a:ext>
            </a:extLst>
          </p:cNvPr>
          <p:cNvSpPr/>
          <p:nvPr/>
        </p:nvSpPr>
        <p:spPr>
          <a:xfrm>
            <a:off x="7825132" y="1330560"/>
            <a:ext cx="2682473" cy="1064203"/>
          </a:xfrm>
          <a:prstGeom prst="wedgeRectCallout">
            <a:avLst>
              <a:gd name="adj1" fmla="val -59643"/>
              <a:gd name="adj2" fmla="val 50511"/>
            </a:avLst>
          </a:prstGeom>
          <a:solidFill>
            <a:schemeClr val="bg1">
              <a:lumMod val="95000"/>
            </a:schemeClr>
          </a:solidFill>
          <a:ln w="28575">
            <a:solidFill>
              <a:schemeClr val="bg1"/>
            </a:solidFill>
          </a:ln>
        </p:spPr>
        <p:txBody>
          <a:bodyPr lIns="72000" tIns="108000" rIns="72000" bIns="41537">
            <a:noAutofit/>
          </a:bodyPr>
          <a:lstStyle/>
          <a:p>
            <a:pPr marL="7937" algn="ctr" defTabSz="1055061">
              <a:lnSpc>
                <a:spcPct val="90000"/>
              </a:lnSpc>
              <a:spcBef>
                <a:spcPts val="900"/>
              </a:spcBef>
              <a:buClr>
                <a:srgbClr val="143244"/>
              </a:buClr>
              <a:buSzPct val="90000"/>
            </a:pPr>
            <a:r>
              <a:rPr lang="en-US" sz="1200" b="1" i="1" dirty="0"/>
              <a:t>E</a:t>
            </a:r>
            <a:r>
              <a:rPr lang="en-BR" sz="1200" b="1" i="1" dirty="0">
                <a:solidFill>
                  <a:schemeClr val="tx1"/>
                </a:solidFill>
              </a:rPr>
              <a:t>xemplo Demanda 1:</a:t>
            </a:r>
            <a:br>
              <a:rPr lang="en-BR" sz="1200" b="1" i="1" dirty="0">
                <a:solidFill>
                  <a:schemeClr val="tx1"/>
                </a:solidFill>
              </a:rPr>
            </a:br>
            <a:r>
              <a:rPr lang="en-BR" sz="1100" i="1" dirty="0"/>
              <a:t>(números fictícios)</a:t>
            </a:r>
            <a:br>
              <a:rPr lang="en-BR" sz="1200" b="1" i="1" dirty="0">
                <a:solidFill>
                  <a:schemeClr val="tx1"/>
                </a:solidFill>
              </a:rPr>
            </a:br>
            <a:br>
              <a:rPr lang="en-BR" sz="1200" b="1" i="1" dirty="0">
                <a:solidFill>
                  <a:schemeClr val="tx1"/>
                </a:solidFill>
              </a:rPr>
            </a:br>
            <a:r>
              <a:rPr lang="pt-BR" sz="1200" b="1" dirty="0"/>
              <a:t>MANUTENÇÃO DO TIPO OVERHAUL</a:t>
            </a:r>
            <a:br>
              <a:rPr lang="pt-BR" sz="1200" b="1" dirty="0"/>
            </a:br>
            <a:r>
              <a:rPr lang="pt-BR" sz="1200" b="1" dirty="0"/>
              <a:t>DO BOW THRUSTER TÚNEL 1</a:t>
            </a:r>
            <a:br>
              <a:rPr lang="en-BR" sz="1200" b="1" dirty="0">
                <a:solidFill>
                  <a:schemeClr val="tx1"/>
                </a:solidFill>
              </a:rPr>
            </a:br>
            <a:endParaRPr lang="en-BR" sz="1200" b="1" dirty="0">
              <a:solidFill>
                <a:schemeClr val="tx1"/>
              </a:solidFill>
            </a:endParaRPr>
          </a:p>
        </p:txBody>
      </p:sp>
    </p:spTree>
    <p:extLst>
      <p:ext uri="{BB962C8B-B14F-4D97-AF65-F5344CB8AC3E}">
        <p14:creationId xmlns:p14="http://schemas.microsoft.com/office/powerpoint/2010/main" val="4309703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F018-C4C7-D161-D65E-21E6F6C26C5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B138F28B-C765-C54A-913E-5588BFD8AE61}"/>
              </a:ext>
            </a:extLst>
          </p:cNvPr>
          <p:cNvSpPr>
            <a:spLocks noGrp="1"/>
          </p:cNvSpPr>
          <p:nvPr>
            <p:ph type="title"/>
          </p:nvPr>
        </p:nvSpPr>
        <p:spPr>
          <a:xfrm>
            <a:off x="1106905" y="303578"/>
            <a:ext cx="10485852" cy="645195"/>
          </a:xfrm>
        </p:spPr>
        <p:txBody>
          <a:bodyPr/>
          <a:lstStyle/>
          <a:p>
            <a:r>
              <a:rPr lang="pt-BR" dirty="0"/>
              <a:t>Esteira Financeira</a:t>
            </a:r>
            <a:br>
              <a:rPr lang="pt-BR" dirty="0"/>
            </a:br>
            <a:r>
              <a:rPr lang="pt-BR" sz="1600" b="0" dirty="0"/>
              <a:t>Proposta HUB</a:t>
            </a:r>
            <a:endParaRPr lang="pt-BR" dirty="0"/>
          </a:p>
        </p:txBody>
      </p:sp>
      <p:sp>
        <p:nvSpPr>
          <p:cNvPr id="11" name="Espaço Reservado para Conteúdo 1">
            <a:extLst>
              <a:ext uri="{FF2B5EF4-FFF2-40B4-BE49-F238E27FC236}">
                <a16:creationId xmlns:a16="http://schemas.microsoft.com/office/drawing/2014/main" id="{A8DB9898-9C9D-1FE5-257F-0D0AA88EB3C9}"/>
              </a:ext>
            </a:extLst>
          </p:cNvPr>
          <p:cNvSpPr txBox="1">
            <a:spLocks/>
          </p:cNvSpPr>
          <p:nvPr/>
        </p:nvSpPr>
        <p:spPr>
          <a:xfrm>
            <a:off x="696000" y="980728"/>
            <a:ext cx="8067038" cy="595760"/>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O HUB utiliza uma esteira com </a:t>
            </a:r>
            <a:r>
              <a:rPr lang="pt-BR" sz="1400" b="1" dirty="0"/>
              <a:t>05 estágios financeiros </a:t>
            </a:r>
            <a:r>
              <a:rPr lang="pt-BR" sz="1400" dirty="0"/>
              <a:t>ao longo de todo o ciclo de vida de uma Parada e suas Obras, aplicáveis tanto para materiais quanto oficinas e estaleiro</a:t>
            </a:r>
          </a:p>
        </p:txBody>
      </p:sp>
      <p:sp>
        <p:nvSpPr>
          <p:cNvPr id="201" name="Espaço Reservado para Conteúdo 1">
            <a:extLst>
              <a:ext uri="{FF2B5EF4-FFF2-40B4-BE49-F238E27FC236}">
                <a16:creationId xmlns:a16="http://schemas.microsoft.com/office/drawing/2014/main" id="{5D114B01-B3F5-849E-D3FD-66ACBECD5AEB}"/>
              </a:ext>
            </a:extLst>
          </p:cNvPr>
          <p:cNvSpPr txBox="1">
            <a:spLocks/>
          </p:cNvSpPr>
          <p:nvPr/>
        </p:nvSpPr>
        <p:spPr>
          <a:xfrm>
            <a:off x="1215291"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da esteira financeira que define a </a:t>
            </a:r>
            <a:r>
              <a:rPr lang="pt-BR" sz="1200" b="1" dirty="0"/>
              <a:t>primeira visão de custo</a:t>
            </a:r>
            <a:r>
              <a:rPr lang="pt-BR" sz="1200" dirty="0"/>
              <a:t> da Parada e Obras</a:t>
            </a:r>
          </a:p>
          <a:p>
            <a:pPr marL="182563" indent="-174625">
              <a:lnSpc>
                <a:spcPct val="90000"/>
              </a:lnSpc>
              <a:spcBef>
                <a:spcPts val="900"/>
              </a:spcBef>
              <a:buFont typeface="Wingdings" panose="05000000000000000000" pitchFamily="2" charset="2"/>
              <a:buChar char="§"/>
            </a:pPr>
            <a:r>
              <a:rPr lang="pt-BR" sz="1200" dirty="0"/>
              <a:t>Estimativas são realizadas de maneira </a:t>
            </a:r>
            <a:r>
              <a:rPr lang="pt-BR" sz="1200" b="1" dirty="0"/>
              <a:t>agregada</a:t>
            </a:r>
            <a:r>
              <a:rPr lang="pt-BR" sz="1200" dirty="0"/>
              <a:t>, no </a:t>
            </a:r>
            <a:r>
              <a:rPr lang="pt-BR" sz="1200" b="1" dirty="0"/>
              <a:t>nível de demanda e por grupo de custo:</a:t>
            </a:r>
          </a:p>
          <a:p>
            <a:pPr marL="360363" lvl="1" indent="-174625">
              <a:lnSpc>
                <a:spcPct val="90000"/>
              </a:lnSpc>
              <a:spcBef>
                <a:spcPts val="400"/>
              </a:spcBef>
              <a:buFont typeface="Wingdings" panose="05000000000000000000" pitchFamily="2" charset="2"/>
              <a:buChar char="§"/>
            </a:pPr>
            <a:r>
              <a:rPr lang="pt-BR" sz="1200" dirty="0"/>
              <a:t>Estaleiro</a:t>
            </a:r>
          </a:p>
          <a:p>
            <a:pPr marL="360363" lvl="1" indent="-174625">
              <a:lnSpc>
                <a:spcPct val="90000"/>
              </a:lnSpc>
              <a:spcBef>
                <a:spcPts val="400"/>
              </a:spcBef>
              <a:buFont typeface="Wingdings" panose="05000000000000000000" pitchFamily="2" charset="2"/>
              <a:buChar char="§"/>
            </a:pPr>
            <a:r>
              <a:rPr lang="pt-BR" sz="1200" dirty="0"/>
              <a:t>Oficinas</a:t>
            </a:r>
          </a:p>
          <a:p>
            <a:pPr marL="360363" lvl="1" indent="-174625">
              <a:lnSpc>
                <a:spcPct val="90000"/>
              </a:lnSpc>
              <a:spcBef>
                <a:spcPts val="400"/>
              </a:spcBef>
              <a:buFont typeface="Wingdings" panose="05000000000000000000" pitchFamily="2" charset="2"/>
              <a:buChar char="§"/>
            </a:pPr>
            <a:r>
              <a:rPr lang="pt-BR" sz="1200" dirty="0"/>
              <a:t>Materiais</a:t>
            </a:r>
          </a:p>
          <a:p>
            <a:pPr marL="182563" lvl="1" indent="-174625">
              <a:lnSpc>
                <a:spcPct val="90000"/>
              </a:lnSpc>
              <a:spcBef>
                <a:spcPts val="900"/>
              </a:spcBef>
              <a:buFont typeface="Wingdings" panose="05000000000000000000" pitchFamily="2" charset="2"/>
              <a:buChar char="§"/>
            </a:pPr>
            <a:r>
              <a:rPr lang="pt-BR" sz="1200" b="1" dirty="0"/>
              <a:t>Estimativas são </a:t>
            </a:r>
            <a:r>
              <a:rPr lang="pt-BR" sz="1200" b="1" dirty="0" err="1"/>
              <a:t>mensalizadas</a:t>
            </a:r>
            <a:r>
              <a:rPr lang="pt-BR" sz="1200" b="1" dirty="0"/>
              <a:t> </a:t>
            </a:r>
            <a:r>
              <a:rPr lang="pt-BR" sz="1200" dirty="0"/>
              <a:t>a partir de </a:t>
            </a:r>
            <a:r>
              <a:rPr lang="pt-BR" sz="1200" b="1" dirty="0"/>
              <a:t>premissas</a:t>
            </a:r>
            <a:r>
              <a:rPr lang="pt-BR" sz="1200" dirty="0"/>
              <a:t> cadastradas no HUB para a Parada e Obras</a:t>
            </a:r>
          </a:p>
        </p:txBody>
      </p:sp>
      <p:sp>
        <p:nvSpPr>
          <p:cNvPr id="25" name="Seta: Pentágono 71">
            <a:extLst>
              <a:ext uri="{FF2B5EF4-FFF2-40B4-BE49-F238E27FC236}">
                <a16:creationId xmlns:a16="http://schemas.microsoft.com/office/drawing/2014/main" id="{9A23E19F-BB91-23A3-B4DE-6692F65A943D}"/>
              </a:ext>
            </a:extLst>
          </p:cNvPr>
          <p:cNvSpPr/>
          <p:nvPr/>
        </p:nvSpPr>
        <p:spPr>
          <a:xfrm>
            <a:off x="3369490" y="1526367"/>
            <a:ext cx="2160000" cy="535923"/>
          </a:xfrm>
          <a:prstGeom prst="homePlate">
            <a:avLst>
              <a:gd name="adj" fmla="val 38625"/>
            </a:avLst>
          </a:prstGeom>
          <a:solidFill>
            <a:srgbClr val="04293E"/>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Comprometido</a:t>
            </a:r>
          </a:p>
        </p:txBody>
      </p:sp>
      <p:sp>
        <p:nvSpPr>
          <p:cNvPr id="2" name="Seta: Pentágono 71">
            <a:extLst>
              <a:ext uri="{FF2B5EF4-FFF2-40B4-BE49-F238E27FC236}">
                <a16:creationId xmlns:a16="http://schemas.microsoft.com/office/drawing/2014/main" id="{7EBAC7FE-DF4C-E9C7-1B0D-C8264303498B}"/>
              </a:ext>
            </a:extLst>
          </p:cNvPr>
          <p:cNvSpPr/>
          <p:nvPr/>
        </p:nvSpPr>
        <p:spPr>
          <a:xfrm>
            <a:off x="1191218" y="1526367"/>
            <a:ext cx="2160000" cy="535923"/>
          </a:xfrm>
          <a:prstGeom prst="homePlate">
            <a:avLst>
              <a:gd name="adj" fmla="val 38625"/>
            </a:avLst>
          </a:prstGeom>
          <a:solidFill>
            <a:srgbClr val="031B2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Estimado</a:t>
            </a:r>
          </a:p>
        </p:txBody>
      </p:sp>
      <p:sp>
        <p:nvSpPr>
          <p:cNvPr id="39" name="CaixaDeTexto 557">
            <a:extLst>
              <a:ext uri="{FF2B5EF4-FFF2-40B4-BE49-F238E27FC236}">
                <a16:creationId xmlns:a16="http://schemas.microsoft.com/office/drawing/2014/main" id="{AE4AF876-1524-CF7E-53BA-56D122364D61}"/>
              </a:ext>
            </a:extLst>
          </p:cNvPr>
          <p:cNvSpPr txBox="1"/>
          <p:nvPr/>
        </p:nvSpPr>
        <p:spPr>
          <a:xfrm>
            <a:off x="113625" y="2132031"/>
            <a:ext cx="1036638" cy="3780000"/>
          </a:xfrm>
          <a:prstGeom prst="rect">
            <a:avLst/>
          </a:prstGeom>
          <a:noFill/>
          <a:ln>
            <a:solidFill>
              <a:srgbClr val="014A65"/>
            </a:solidFill>
          </a:ln>
        </p:spPr>
        <p:txBody>
          <a:bodyPr wrap="square" lIns="90000" rtlCol="0" anchor="ctr">
            <a:noAutofit/>
          </a:bodyPr>
          <a:lstStyle/>
          <a:p>
            <a:pPr algn="r"/>
            <a:r>
              <a:rPr lang="pt-BR" sz="1200" b="1" i="1" dirty="0"/>
              <a:t>Definição</a:t>
            </a:r>
            <a:endParaRPr lang="pt-BR" sz="1200" i="1" dirty="0"/>
          </a:p>
        </p:txBody>
      </p:sp>
      <p:sp>
        <p:nvSpPr>
          <p:cNvPr id="42" name="Oval 41">
            <a:extLst>
              <a:ext uri="{FF2B5EF4-FFF2-40B4-BE49-F238E27FC236}">
                <a16:creationId xmlns:a16="http://schemas.microsoft.com/office/drawing/2014/main" id="{D10E1F84-6315-AA46-DD10-D5D81774F416}"/>
              </a:ext>
            </a:extLst>
          </p:cNvPr>
          <p:cNvSpPr>
            <a:spLocks noChangeAspect="1"/>
          </p:cNvSpPr>
          <p:nvPr/>
        </p:nvSpPr>
        <p:spPr>
          <a:xfrm>
            <a:off x="1296304" y="1636815"/>
            <a:ext cx="315026" cy="315026"/>
          </a:xfrm>
          <a:prstGeom prst="ellipse">
            <a:avLst/>
          </a:prstGeom>
          <a:solidFill>
            <a:srgbClr val="031B2B"/>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1</a:t>
            </a:r>
          </a:p>
        </p:txBody>
      </p:sp>
      <p:sp>
        <p:nvSpPr>
          <p:cNvPr id="43" name="Oval 42">
            <a:extLst>
              <a:ext uri="{FF2B5EF4-FFF2-40B4-BE49-F238E27FC236}">
                <a16:creationId xmlns:a16="http://schemas.microsoft.com/office/drawing/2014/main" id="{80556F6D-6A1D-D5DB-CF1C-FCFFEF2C7B66}"/>
              </a:ext>
            </a:extLst>
          </p:cNvPr>
          <p:cNvSpPr>
            <a:spLocks noChangeAspect="1"/>
          </p:cNvSpPr>
          <p:nvPr/>
        </p:nvSpPr>
        <p:spPr>
          <a:xfrm>
            <a:off x="3474599" y="1636815"/>
            <a:ext cx="315026" cy="315026"/>
          </a:xfrm>
          <a:prstGeom prst="ellipse">
            <a:avLst/>
          </a:prstGeom>
          <a:solidFill>
            <a:srgbClr val="04293E"/>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2</a:t>
            </a:r>
          </a:p>
        </p:txBody>
      </p:sp>
      <p:sp>
        <p:nvSpPr>
          <p:cNvPr id="54" name="CaixaDeTexto 557">
            <a:extLst>
              <a:ext uri="{FF2B5EF4-FFF2-40B4-BE49-F238E27FC236}">
                <a16:creationId xmlns:a16="http://schemas.microsoft.com/office/drawing/2014/main" id="{696DA580-D997-4AA3-FA91-7DD314770584}"/>
              </a:ext>
            </a:extLst>
          </p:cNvPr>
          <p:cNvSpPr txBox="1"/>
          <p:nvPr/>
        </p:nvSpPr>
        <p:spPr>
          <a:xfrm>
            <a:off x="113625" y="5999967"/>
            <a:ext cx="1036638" cy="468000"/>
          </a:xfrm>
          <a:prstGeom prst="rect">
            <a:avLst/>
          </a:prstGeom>
          <a:noFill/>
          <a:ln>
            <a:solidFill>
              <a:srgbClr val="014A65"/>
            </a:solidFill>
          </a:ln>
        </p:spPr>
        <p:txBody>
          <a:bodyPr wrap="square" lIns="90000" rtlCol="0" anchor="ctr">
            <a:noAutofit/>
          </a:bodyPr>
          <a:lstStyle/>
          <a:p>
            <a:pPr algn="r"/>
            <a:r>
              <a:rPr lang="pt-BR" sz="1200" b="1" i="1" dirty="0" err="1"/>
              <a:t>Respon-sável</a:t>
            </a:r>
            <a:r>
              <a:rPr lang="pt-BR" sz="1200" b="1" i="1" dirty="0"/>
              <a:t>(</a:t>
            </a:r>
            <a:r>
              <a:rPr lang="pt-BR" sz="1200" b="1" i="1" dirty="0" err="1"/>
              <a:t>is</a:t>
            </a:r>
            <a:r>
              <a:rPr lang="pt-BR" sz="1200" b="1" i="1" dirty="0"/>
              <a:t>)</a:t>
            </a:r>
          </a:p>
        </p:txBody>
      </p:sp>
      <p:sp>
        <p:nvSpPr>
          <p:cNvPr id="6" name="Espaço Reservado para Conteúdo 1">
            <a:extLst>
              <a:ext uri="{FF2B5EF4-FFF2-40B4-BE49-F238E27FC236}">
                <a16:creationId xmlns:a16="http://schemas.microsoft.com/office/drawing/2014/main" id="{53E090BA-A34B-F57C-444E-0BF88B79AB95}"/>
              </a:ext>
            </a:extLst>
          </p:cNvPr>
          <p:cNvSpPr txBox="1">
            <a:spLocks/>
          </p:cNvSpPr>
          <p:nvPr/>
        </p:nvSpPr>
        <p:spPr>
          <a:xfrm>
            <a:off x="1215290" y="5999967"/>
            <a:ext cx="4226982"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Planejamento AT</a:t>
            </a:r>
          </a:p>
        </p:txBody>
      </p:sp>
      <p:sp>
        <p:nvSpPr>
          <p:cNvPr id="8" name="Espaço Reservado para Conteúdo 1">
            <a:extLst>
              <a:ext uri="{FF2B5EF4-FFF2-40B4-BE49-F238E27FC236}">
                <a16:creationId xmlns:a16="http://schemas.microsoft.com/office/drawing/2014/main" id="{F11E9EA1-1EA8-1A3D-F4BE-7E3FB1AF0332}"/>
              </a:ext>
            </a:extLst>
          </p:cNvPr>
          <p:cNvSpPr txBox="1">
            <a:spLocks/>
          </p:cNvSpPr>
          <p:nvPr/>
        </p:nvSpPr>
        <p:spPr>
          <a:xfrm>
            <a:off x="3390272"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de </a:t>
            </a:r>
            <a:r>
              <a:rPr lang="pt-BR" sz="1200" b="1" dirty="0"/>
              <a:t>desdobramento</a:t>
            </a:r>
            <a:r>
              <a:rPr lang="pt-BR" sz="1200" dirty="0"/>
              <a:t> das estimativas das demandas </a:t>
            </a:r>
            <a:r>
              <a:rPr lang="pt-BR" sz="1200" b="1" dirty="0"/>
              <a:t>em “linhas de serviço” </a:t>
            </a:r>
            <a:r>
              <a:rPr lang="pt-BR" sz="1200" dirty="0"/>
              <a:t>e </a:t>
            </a:r>
            <a:r>
              <a:rPr lang="pt-BR" sz="1200" b="1" dirty="0"/>
              <a:t>materiais específicos</a:t>
            </a:r>
          </a:p>
          <a:p>
            <a:pPr marL="182563" indent="-174625">
              <a:lnSpc>
                <a:spcPct val="90000"/>
              </a:lnSpc>
              <a:spcBef>
                <a:spcPts val="900"/>
              </a:spcBef>
              <a:buFont typeface="Wingdings" panose="05000000000000000000" pitchFamily="2" charset="2"/>
              <a:buChar char="§"/>
            </a:pPr>
            <a:r>
              <a:rPr lang="pt-BR" sz="1200" dirty="0"/>
              <a:t>O </a:t>
            </a:r>
            <a:r>
              <a:rPr lang="pt-BR" sz="1200" b="1" dirty="0"/>
              <a:t>saldo</a:t>
            </a:r>
            <a:r>
              <a:rPr lang="pt-BR" sz="1200" dirty="0"/>
              <a:t> </a:t>
            </a:r>
            <a:r>
              <a:rPr lang="pt-BR" sz="1200" b="1" dirty="0"/>
              <a:t>positivo</a:t>
            </a:r>
            <a:r>
              <a:rPr lang="pt-BR" sz="1200" dirty="0"/>
              <a:t> entre os valores comprometidos e o valor estimado para a demanda assume o </a:t>
            </a:r>
            <a:r>
              <a:rPr lang="pt-BR" sz="1200" b="1" dirty="0"/>
              <a:t>status de Não Comprometido (NC)</a:t>
            </a:r>
            <a:br>
              <a:rPr lang="pt-BR" sz="1200" b="1" dirty="0"/>
            </a:br>
            <a:endParaRPr lang="pt-BR" sz="1200" b="1" dirty="0"/>
          </a:p>
        </p:txBody>
      </p:sp>
      <p:sp>
        <p:nvSpPr>
          <p:cNvPr id="3" name="CaixaDeTexto 9">
            <a:extLst>
              <a:ext uri="{FF2B5EF4-FFF2-40B4-BE49-F238E27FC236}">
                <a16:creationId xmlns:a16="http://schemas.microsoft.com/office/drawing/2014/main" id="{8482BEBA-91E3-03CF-1612-2C09E985FE81}"/>
              </a:ext>
            </a:extLst>
          </p:cNvPr>
          <p:cNvSpPr txBox="1"/>
          <p:nvPr/>
        </p:nvSpPr>
        <p:spPr>
          <a:xfrm>
            <a:off x="127574" y="6499576"/>
            <a:ext cx="9038795" cy="369332"/>
          </a:xfrm>
          <a:prstGeom prst="rect">
            <a:avLst/>
          </a:prstGeom>
          <a:noFill/>
        </p:spPr>
        <p:txBody>
          <a:bodyPr wrap="square" rtlCol="0">
            <a:spAutoFit/>
          </a:bodyPr>
          <a:lstStyle/>
          <a:p>
            <a:pPr marL="179388" indent="-179388">
              <a:lnSpc>
                <a:spcPct val="90000"/>
              </a:lnSpc>
              <a:buFont typeface="+mj-lt"/>
              <a:buAutoNum type="arabicPeriod"/>
            </a:pPr>
            <a:r>
              <a:rPr lang="pt-BR" sz="1000" dirty="0"/>
              <a:t>Não inclui custos de consultoria aduaneira que são considerados como </a:t>
            </a:r>
            <a:r>
              <a:rPr lang="pt-BR" sz="1000" dirty="0" err="1"/>
              <a:t>Opex</a:t>
            </a:r>
            <a:endParaRPr lang="pt-BR" sz="1000" dirty="0"/>
          </a:p>
          <a:p>
            <a:pPr marL="179388" indent="-179388">
              <a:lnSpc>
                <a:spcPct val="90000"/>
              </a:lnSpc>
              <a:buFont typeface="+mj-lt"/>
              <a:buAutoNum type="arabicPeriod"/>
            </a:pPr>
            <a:r>
              <a:rPr lang="pt-BR" sz="1000" dirty="0"/>
              <a:t>O custo total da importação de materiais inclui diferentes fornecedores (fabricante, transportadora, governo etc.)</a:t>
            </a:r>
          </a:p>
        </p:txBody>
      </p:sp>
      <p:sp>
        <p:nvSpPr>
          <p:cNvPr id="17" name="CaixaDeTexto 557">
            <a:extLst>
              <a:ext uri="{FF2B5EF4-FFF2-40B4-BE49-F238E27FC236}">
                <a16:creationId xmlns:a16="http://schemas.microsoft.com/office/drawing/2014/main" id="{885A5385-25C6-721F-2D8B-3A5472F626E6}"/>
              </a:ext>
            </a:extLst>
          </p:cNvPr>
          <p:cNvSpPr txBox="1"/>
          <p:nvPr/>
        </p:nvSpPr>
        <p:spPr>
          <a:xfrm>
            <a:off x="113625" y="1542328"/>
            <a:ext cx="1036638" cy="504000"/>
          </a:xfrm>
          <a:prstGeom prst="rect">
            <a:avLst/>
          </a:prstGeom>
          <a:noFill/>
          <a:ln>
            <a:solidFill>
              <a:srgbClr val="014A65"/>
            </a:solidFill>
          </a:ln>
        </p:spPr>
        <p:txBody>
          <a:bodyPr wrap="square" lIns="90000" rtlCol="0" anchor="ctr">
            <a:noAutofit/>
          </a:bodyPr>
          <a:lstStyle/>
          <a:p>
            <a:pPr algn="r"/>
            <a:r>
              <a:rPr lang="pt-BR" sz="1200" b="1" i="1" dirty="0"/>
              <a:t>Estágio da Esteira</a:t>
            </a:r>
          </a:p>
        </p:txBody>
      </p:sp>
      <p:sp>
        <p:nvSpPr>
          <p:cNvPr id="285" name="Retângulo: Cantos Arredondados 3">
            <a:extLst>
              <a:ext uri="{FF2B5EF4-FFF2-40B4-BE49-F238E27FC236}">
                <a16:creationId xmlns:a16="http://schemas.microsoft.com/office/drawing/2014/main" id="{A90B3B81-DFBB-6074-BF8C-23BD0BFF11E2}"/>
              </a:ext>
            </a:extLst>
          </p:cNvPr>
          <p:cNvSpPr/>
          <p:nvPr/>
        </p:nvSpPr>
        <p:spPr>
          <a:xfrm>
            <a:off x="6720186" y="5324894"/>
            <a:ext cx="864000"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93663"/>
            <a:r>
              <a:rPr lang="pt-BR" sz="1100" dirty="0">
                <a:solidFill>
                  <a:schemeClr val="tx1"/>
                </a:solidFill>
              </a:rPr>
              <a:t>100 - Upgrade</a:t>
            </a:r>
          </a:p>
        </p:txBody>
      </p:sp>
      <p:cxnSp>
        <p:nvCxnSpPr>
          <p:cNvPr id="286" name="Conector: Angulado 14">
            <a:extLst>
              <a:ext uri="{FF2B5EF4-FFF2-40B4-BE49-F238E27FC236}">
                <a16:creationId xmlns:a16="http://schemas.microsoft.com/office/drawing/2014/main" id="{65783999-8B0A-E5D1-214D-68BFCAF15605}"/>
              </a:ext>
            </a:extLst>
          </p:cNvPr>
          <p:cNvCxnSpPr>
            <a:cxnSpLocks/>
            <a:stCxn id="294" idx="3"/>
            <a:endCxn id="285" idx="1"/>
          </p:cNvCxnSpPr>
          <p:nvPr/>
        </p:nvCxnSpPr>
        <p:spPr>
          <a:xfrm>
            <a:off x="6496997" y="4284286"/>
            <a:ext cx="223189" cy="1280793"/>
          </a:xfrm>
          <a:prstGeom prst="bentConnector3">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87" name="Retângulo: Cantos Arredondados 2">
            <a:extLst>
              <a:ext uri="{FF2B5EF4-FFF2-40B4-BE49-F238E27FC236}">
                <a16:creationId xmlns:a16="http://schemas.microsoft.com/office/drawing/2014/main" id="{9DA907A2-B204-3EA3-4E70-09B6EB55570C}"/>
              </a:ext>
            </a:extLst>
          </p:cNvPr>
          <p:cNvSpPr/>
          <p:nvPr/>
        </p:nvSpPr>
        <p:spPr>
          <a:xfrm>
            <a:off x="6720186" y="3337453"/>
            <a:ext cx="864000"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93663"/>
            <a:r>
              <a:rPr lang="pt-BR" sz="1100" dirty="0">
                <a:solidFill>
                  <a:schemeClr val="tx1"/>
                </a:solidFill>
              </a:rPr>
              <a:t>103 - Parada </a:t>
            </a:r>
            <a:r>
              <a:rPr lang="pt-BR" sz="1100" dirty="0" err="1">
                <a:solidFill>
                  <a:schemeClr val="tx1"/>
                </a:solidFill>
              </a:rPr>
              <a:t>Progamada</a:t>
            </a:r>
            <a:endParaRPr lang="pt-BR" sz="1100" dirty="0">
              <a:solidFill>
                <a:schemeClr val="tx1"/>
              </a:solidFill>
            </a:endParaRPr>
          </a:p>
        </p:txBody>
      </p:sp>
      <p:cxnSp>
        <p:nvCxnSpPr>
          <p:cNvPr id="288" name="Conector: Angulado 15">
            <a:extLst>
              <a:ext uri="{FF2B5EF4-FFF2-40B4-BE49-F238E27FC236}">
                <a16:creationId xmlns:a16="http://schemas.microsoft.com/office/drawing/2014/main" id="{4013C32B-DBA0-D840-CA02-D222FFCA7492}"/>
              </a:ext>
            </a:extLst>
          </p:cNvPr>
          <p:cNvCxnSpPr>
            <a:cxnSpLocks/>
            <a:stCxn id="287" idx="3"/>
            <a:endCxn id="289" idx="1"/>
          </p:cNvCxnSpPr>
          <p:nvPr/>
        </p:nvCxnSpPr>
        <p:spPr>
          <a:xfrm flipV="1">
            <a:off x="7584186" y="2695305"/>
            <a:ext cx="224851" cy="882333"/>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89" name="CaixaDeTexto 557">
            <a:extLst>
              <a:ext uri="{FF2B5EF4-FFF2-40B4-BE49-F238E27FC236}">
                <a16:creationId xmlns:a16="http://schemas.microsoft.com/office/drawing/2014/main" id="{F4693954-13C9-B736-0D23-997612CAB820}"/>
              </a:ext>
            </a:extLst>
          </p:cNvPr>
          <p:cNvSpPr txBox="1"/>
          <p:nvPr/>
        </p:nvSpPr>
        <p:spPr>
          <a:xfrm>
            <a:off x="7809037" y="2551305"/>
            <a:ext cx="1908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290" name="CaixaDeTexto 557">
            <a:extLst>
              <a:ext uri="{FF2B5EF4-FFF2-40B4-BE49-F238E27FC236}">
                <a16:creationId xmlns:a16="http://schemas.microsoft.com/office/drawing/2014/main" id="{5BFC7AE8-8899-6BF4-0AFA-4CDAD2CB6D42}"/>
              </a:ext>
            </a:extLst>
          </p:cNvPr>
          <p:cNvSpPr txBox="1"/>
          <p:nvPr/>
        </p:nvSpPr>
        <p:spPr>
          <a:xfrm>
            <a:off x="8321342" y="2981036"/>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R$ Material</a:t>
            </a:r>
          </a:p>
        </p:txBody>
      </p:sp>
      <p:sp>
        <p:nvSpPr>
          <p:cNvPr id="291" name="CaixaDeTexto 557">
            <a:extLst>
              <a:ext uri="{FF2B5EF4-FFF2-40B4-BE49-F238E27FC236}">
                <a16:creationId xmlns:a16="http://schemas.microsoft.com/office/drawing/2014/main" id="{A332129A-83E6-F1D1-005D-D17DE3C3D74B}"/>
              </a:ext>
            </a:extLst>
          </p:cNvPr>
          <p:cNvSpPr txBox="1"/>
          <p:nvPr/>
        </p:nvSpPr>
        <p:spPr>
          <a:xfrm>
            <a:off x="8321342" y="3337224"/>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Oficina</a:t>
            </a:r>
          </a:p>
        </p:txBody>
      </p:sp>
      <p:sp>
        <p:nvSpPr>
          <p:cNvPr id="292" name="CaixaDeTexto 557">
            <a:extLst>
              <a:ext uri="{FF2B5EF4-FFF2-40B4-BE49-F238E27FC236}">
                <a16:creationId xmlns:a16="http://schemas.microsoft.com/office/drawing/2014/main" id="{32427E11-4F5B-1092-6F9E-8AA6BD61B823}"/>
              </a:ext>
            </a:extLst>
          </p:cNvPr>
          <p:cNvSpPr txBox="1"/>
          <p:nvPr/>
        </p:nvSpPr>
        <p:spPr>
          <a:xfrm>
            <a:off x="8321342" y="3693413"/>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Estaleiro</a:t>
            </a:r>
          </a:p>
        </p:txBody>
      </p:sp>
      <p:cxnSp>
        <p:nvCxnSpPr>
          <p:cNvPr id="293" name="Conector: Angulado 13">
            <a:extLst>
              <a:ext uri="{FF2B5EF4-FFF2-40B4-BE49-F238E27FC236}">
                <a16:creationId xmlns:a16="http://schemas.microsoft.com/office/drawing/2014/main" id="{D32121CA-9344-3A92-95C4-EA97C2E9EDC3}"/>
              </a:ext>
            </a:extLst>
          </p:cNvPr>
          <p:cNvCxnSpPr>
            <a:cxnSpLocks/>
            <a:stCxn id="294" idx="3"/>
            <a:endCxn id="287" idx="1"/>
          </p:cNvCxnSpPr>
          <p:nvPr/>
        </p:nvCxnSpPr>
        <p:spPr>
          <a:xfrm flipV="1">
            <a:off x="6496997" y="3577638"/>
            <a:ext cx="223189" cy="706648"/>
          </a:xfrm>
          <a:prstGeom prst="bentConnector3">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294" name="Retângulo: Cantos Arredondados 1">
            <a:extLst>
              <a:ext uri="{FF2B5EF4-FFF2-40B4-BE49-F238E27FC236}">
                <a16:creationId xmlns:a16="http://schemas.microsoft.com/office/drawing/2014/main" id="{41B44E91-EBE1-7397-97EA-7C2DF5357202}"/>
              </a:ext>
            </a:extLst>
          </p:cNvPr>
          <p:cNvSpPr/>
          <p:nvPr/>
        </p:nvSpPr>
        <p:spPr>
          <a:xfrm>
            <a:off x="5776997" y="3964599"/>
            <a:ext cx="720000" cy="639373"/>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tx1"/>
                </a:solidFill>
              </a:rPr>
              <a:t>ID-XX</a:t>
            </a:r>
          </a:p>
        </p:txBody>
      </p:sp>
      <p:sp>
        <p:nvSpPr>
          <p:cNvPr id="295" name="CaixaDeTexto 354">
            <a:extLst>
              <a:ext uri="{FF2B5EF4-FFF2-40B4-BE49-F238E27FC236}">
                <a16:creationId xmlns:a16="http://schemas.microsoft.com/office/drawing/2014/main" id="{2C2DB9B7-2BCC-C83B-567C-45C592D519D2}"/>
              </a:ext>
            </a:extLst>
          </p:cNvPr>
          <p:cNvSpPr txBox="1"/>
          <p:nvPr/>
        </p:nvSpPr>
        <p:spPr>
          <a:xfrm>
            <a:off x="5776997" y="2028376"/>
            <a:ext cx="72000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ID da Parada</a:t>
            </a:r>
          </a:p>
        </p:txBody>
      </p:sp>
      <p:sp>
        <p:nvSpPr>
          <p:cNvPr id="296" name="CaixaDeTexto 355">
            <a:extLst>
              <a:ext uri="{FF2B5EF4-FFF2-40B4-BE49-F238E27FC236}">
                <a16:creationId xmlns:a16="http://schemas.microsoft.com/office/drawing/2014/main" id="{10AB9F1A-BCF3-8B7A-1F15-C9A44BF30FB1}"/>
              </a:ext>
            </a:extLst>
          </p:cNvPr>
          <p:cNvSpPr txBox="1"/>
          <p:nvPr/>
        </p:nvSpPr>
        <p:spPr>
          <a:xfrm>
            <a:off x="7809037" y="2028376"/>
            <a:ext cx="1907999"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Demandas</a:t>
            </a:r>
            <a:br>
              <a:rPr lang="pt-BR" dirty="0"/>
            </a:br>
            <a:r>
              <a:rPr lang="pt-BR" dirty="0"/>
              <a:t>Planejadas</a:t>
            </a:r>
          </a:p>
        </p:txBody>
      </p:sp>
      <p:sp>
        <p:nvSpPr>
          <p:cNvPr id="297" name="CaixaDeTexto 356">
            <a:extLst>
              <a:ext uri="{FF2B5EF4-FFF2-40B4-BE49-F238E27FC236}">
                <a16:creationId xmlns:a16="http://schemas.microsoft.com/office/drawing/2014/main" id="{D7594639-F1E0-D900-6388-9BE6CC0E0A81}"/>
              </a:ext>
            </a:extLst>
          </p:cNvPr>
          <p:cNvSpPr txBox="1"/>
          <p:nvPr/>
        </p:nvSpPr>
        <p:spPr>
          <a:xfrm>
            <a:off x="6720187" y="2028376"/>
            <a:ext cx="864000" cy="432000"/>
          </a:xfrm>
          <a:prstGeom prst="rect">
            <a:avLst/>
          </a:prstGeom>
          <a:solidFill>
            <a:schemeClr val="bg1">
              <a:lumMod val="85000"/>
            </a:schemeClr>
          </a:solidFill>
        </p:spPr>
        <p:txBody>
          <a:bodyPr wrap="square" lIns="90000" rtlCol="0">
            <a:noAutofit/>
          </a:bodyPr>
          <a:lstStyle>
            <a:defPPr>
              <a:defRPr lang="pt-BR"/>
            </a:defPPr>
            <a:lvl1pPr algn="ctr">
              <a:defRPr sz="1100" b="1"/>
            </a:lvl1pPr>
          </a:lstStyle>
          <a:p>
            <a:r>
              <a:rPr lang="pt-BR" dirty="0"/>
              <a:t>Obras</a:t>
            </a:r>
            <a:br>
              <a:rPr lang="pt-BR" dirty="0"/>
            </a:br>
            <a:r>
              <a:rPr lang="pt-BR" dirty="0"/>
              <a:t>Planejadas</a:t>
            </a:r>
          </a:p>
        </p:txBody>
      </p:sp>
      <p:sp>
        <p:nvSpPr>
          <p:cNvPr id="298" name="Rectangle 297">
            <a:extLst>
              <a:ext uri="{FF2B5EF4-FFF2-40B4-BE49-F238E27FC236}">
                <a16:creationId xmlns:a16="http://schemas.microsoft.com/office/drawing/2014/main" id="{2B1C9971-13E1-65EB-58A4-4FD0089C6316}"/>
              </a:ext>
            </a:extLst>
          </p:cNvPr>
          <p:cNvSpPr/>
          <p:nvPr/>
        </p:nvSpPr>
        <p:spPr>
          <a:xfrm>
            <a:off x="5600763" y="1890205"/>
            <a:ext cx="5895237" cy="4563131"/>
          </a:xfrm>
          <a:prstGeom prst="rect">
            <a:avLst/>
          </a:prstGeom>
          <a:noFill/>
          <a:ln w="9525">
            <a:solidFill>
              <a:srgbClr val="031B2B"/>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99" name="Triangle 298">
            <a:extLst>
              <a:ext uri="{FF2B5EF4-FFF2-40B4-BE49-F238E27FC236}">
                <a16:creationId xmlns:a16="http://schemas.microsoft.com/office/drawing/2014/main" id="{5F75EB30-8917-9754-BF4D-AA5E24F5CE59}"/>
              </a:ext>
            </a:extLst>
          </p:cNvPr>
          <p:cNvSpPr/>
          <p:nvPr/>
        </p:nvSpPr>
        <p:spPr>
          <a:xfrm rot="5400000">
            <a:off x="4794200" y="4094219"/>
            <a:ext cx="1512168" cy="216024"/>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00" name="Rectangular Callout 299">
            <a:extLst>
              <a:ext uri="{FF2B5EF4-FFF2-40B4-BE49-F238E27FC236}">
                <a16:creationId xmlns:a16="http://schemas.microsoft.com/office/drawing/2014/main" id="{D8A2BC5F-4B82-1B66-10AB-E3566DD3DE11}"/>
              </a:ext>
            </a:extLst>
          </p:cNvPr>
          <p:cNvSpPr/>
          <p:nvPr/>
        </p:nvSpPr>
        <p:spPr>
          <a:xfrm>
            <a:off x="8813527" y="696283"/>
            <a:ext cx="2682473" cy="1064203"/>
          </a:xfrm>
          <a:prstGeom prst="wedgeRectCallout">
            <a:avLst>
              <a:gd name="adj1" fmla="val -22633"/>
              <a:gd name="adj2" fmla="val 68514"/>
            </a:avLst>
          </a:prstGeom>
          <a:solidFill>
            <a:schemeClr val="bg1">
              <a:lumMod val="95000"/>
            </a:schemeClr>
          </a:solidFill>
          <a:ln w="28575">
            <a:solidFill>
              <a:schemeClr val="bg1"/>
            </a:solidFill>
          </a:ln>
        </p:spPr>
        <p:txBody>
          <a:bodyPr lIns="72000" tIns="108000" rIns="72000" bIns="41537">
            <a:noAutofit/>
          </a:bodyPr>
          <a:lstStyle/>
          <a:p>
            <a:pPr marL="7937" algn="ctr" defTabSz="1055061">
              <a:lnSpc>
                <a:spcPct val="90000"/>
              </a:lnSpc>
              <a:spcBef>
                <a:spcPts val="900"/>
              </a:spcBef>
              <a:buClr>
                <a:srgbClr val="143244"/>
              </a:buClr>
              <a:buSzPct val="90000"/>
            </a:pPr>
            <a:r>
              <a:rPr lang="en-US" sz="1200" b="1" i="1" dirty="0"/>
              <a:t>E</a:t>
            </a:r>
            <a:r>
              <a:rPr lang="en-BR" sz="1200" b="1" i="1" dirty="0">
                <a:solidFill>
                  <a:schemeClr val="tx1"/>
                </a:solidFill>
              </a:rPr>
              <a:t>xemplo Demanda 1:</a:t>
            </a:r>
            <a:br>
              <a:rPr lang="en-BR" sz="1200" b="1" i="1" dirty="0">
                <a:solidFill>
                  <a:schemeClr val="tx1"/>
                </a:solidFill>
              </a:rPr>
            </a:br>
            <a:r>
              <a:rPr lang="en-BR" sz="1100" i="1" dirty="0"/>
              <a:t>(números fictícios)</a:t>
            </a:r>
            <a:br>
              <a:rPr lang="en-BR" sz="1200" b="1" i="1" dirty="0">
                <a:solidFill>
                  <a:schemeClr val="tx1"/>
                </a:solidFill>
              </a:rPr>
            </a:br>
            <a:br>
              <a:rPr lang="en-BR" sz="1200" b="1" i="1" dirty="0">
                <a:solidFill>
                  <a:schemeClr val="tx1"/>
                </a:solidFill>
              </a:rPr>
            </a:br>
            <a:r>
              <a:rPr lang="pt-BR" sz="1200" b="1" dirty="0"/>
              <a:t>MANUTENÇÃO DO TIPO OVERHAUL</a:t>
            </a:r>
            <a:br>
              <a:rPr lang="pt-BR" sz="1200" b="1" dirty="0"/>
            </a:br>
            <a:r>
              <a:rPr lang="pt-BR" sz="1200" b="1" dirty="0"/>
              <a:t>DO BOW THRUSTER TÚNEL 1</a:t>
            </a:r>
            <a:br>
              <a:rPr lang="en-BR" sz="1200" b="1" dirty="0">
                <a:solidFill>
                  <a:schemeClr val="tx1"/>
                </a:solidFill>
              </a:rPr>
            </a:br>
            <a:endParaRPr lang="en-BR" sz="1200" b="1" dirty="0">
              <a:solidFill>
                <a:schemeClr val="tx1"/>
              </a:solidFill>
            </a:endParaRPr>
          </a:p>
        </p:txBody>
      </p:sp>
      <p:cxnSp>
        <p:nvCxnSpPr>
          <p:cNvPr id="301" name="Conector: Angulado 15">
            <a:extLst>
              <a:ext uri="{FF2B5EF4-FFF2-40B4-BE49-F238E27FC236}">
                <a16:creationId xmlns:a16="http://schemas.microsoft.com/office/drawing/2014/main" id="{6FDDE856-D7BF-BA8C-C8D6-0C2E0B1DE75D}"/>
              </a:ext>
            </a:extLst>
          </p:cNvPr>
          <p:cNvCxnSpPr>
            <a:cxnSpLocks/>
            <a:stCxn id="289" idx="2"/>
            <a:endCxn id="290" idx="1"/>
          </p:cNvCxnSpPr>
          <p:nvPr/>
        </p:nvCxnSpPr>
        <p:spPr>
          <a:xfrm rot="5400000">
            <a:off x="8399325" y="2761323"/>
            <a:ext cx="285731" cy="441695"/>
          </a:xfrm>
          <a:prstGeom prst="bentConnector4">
            <a:avLst>
              <a:gd name="adj1" fmla="val 24801"/>
              <a:gd name="adj2" fmla="val 14888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302" name="Conector: Angulado 15">
            <a:extLst>
              <a:ext uri="{FF2B5EF4-FFF2-40B4-BE49-F238E27FC236}">
                <a16:creationId xmlns:a16="http://schemas.microsoft.com/office/drawing/2014/main" id="{9FE090DB-BF22-4A28-FEC2-5769449B2C96}"/>
              </a:ext>
            </a:extLst>
          </p:cNvPr>
          <p:cNvCxnSpPr>
            <a:cxnSpLocks/>
            <a:stCxn id="290" idx="1"/>
            <a:endCxn id="291" idx="1"/>
          </p:cNvCxnSpPr>
          <p:nvPr/>
        </p:nvCxnSpPr>
        <p:spPr>
          <a:xfrm rot="10800000" flipV="1">
            <a:off x="8321342" y="3125036"/>
            <a:ext cx="12700" cy="356188"/>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303" name="Conector: Angulado 15">
            <a:extLst>
              <a:ext uri="{FF2B5EF4-FFF2-40B4-BE49-F238E27FC236}">
                <a16:creationId xmlns:a16="http://schemas.microsoft.com/office/drawing/2014/main" id="{AA7ED45E-E43F-4158-8627-51075C45A015}"/>
              </a:ext>
            </a:extLst>
          </p:cNvPr>
          <p:cNvCxnSpPr>
            <a:cxnSpLocks/>
            <a:stCxn id="291" idx="1"/>
            <a:endCxn id="292" idx="1"/>
          </p:cNvCxnSpPr>
          <p:nvPr/>
        </p:nvCxnSpPr>
        <p:spPr>
          <a:xfrm rot="10800000" flipV="1">
            <a:off x="8321342" y="3481223"/>
            <a:ext cx="12700" cy="356189"/>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04" name="CaixaDeTexto 557">
            <a:extLst>
              <a:ext uri="{FF2B5EF4-FFF2-40B4-BE49-F238E27FC236}">
                <a16:creationId xmlns:a16="http://schemas.microsoft.com/office/drawing/2014/main" id="{6D4F2406-A821-666B-1CF8-EDD98F4A4450}"/>
              </a:ext>
            </a:extLst>
          </p:cNvPr>
          <p:cNvSpPr txBox="1"/>
          <p:nvPr/>
        </p:nvSpPr>
        <p:spPr>
          <a:xfrm>
            <a:off x="7810770" y="4528195"/>
            <a:ext cx="1906266"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defRPr sz="1000" i="1"/>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l-GR"/>
              <a:t>Σ</a:t>
            </a:r>
            <a:r>
              <a:rPr lang="pt-BR"/>
              <a:t> R</a:t>
            </a:r>
            <a:r>
              <a:rPr lang="pt-BR" dirty="0"/>
              <a:t>$ </a:t>
            </a:r>
            <a:r>
              <a:rPr lang="pt-BR"/>
              <a:t>Demanda 2</a:t>
            </a:r>
            <a:endParaRPr lang="pt-BR" dirty="0"/>
          </a:p>
        </p:txBody>
      </p:sp>
      <p:cxnSp>
        <p:nvCxnSpPr>
          <p:cNvPr id="305" name="Conector: Angulado 15">
            <a:extLst>
              <a:ext uri="{FF2B5EF4-FFF2-40B4-BE49-F238E27FC236}">
                <a16:creationId xmlns:a16="http://schemas.microsoft.com/office/drawing/2014/main" id="{6FB14CD3-38B6-1450-266C-55E64CF1CDB4}"/>
              </a:ext>
            </a:extLst>
          </p:cNvPr>
          <p:cNvCxnSpPr>
            <a:cxnSpLocks/>
            <a:stCxn id="287" idx="3"/>
            <a:endCxn id="304" idx="1"/>
          </p:cNvCxnSpPr>
          <p:nvPr/>
        </p:nvCxnSpPr>
        <p:spPr>
          <a:xfrm>
            <a:off x="7584186" y="3577638"/>
            <a:ext cx="226584" cy="1094557"/>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06" name="CaixaDeTexto 557">
            <a:extLst>
              <a:ext uri="{FF2B5EF4-FFF2-40B4-BE49-F238E27FC236}">
                <a16:creationId xmlns:a16="http://schemas.microsoft.com/office/drawing/2014/main" id="{B2F8FF64-9DD9-9FAA-CE0E-0910EBBEADD1}"/>
              </a:ext>
            </a:extLst>
          </p:cNvPr>
          <p:cNvSpPr txBox="1"/>
          <p:nvPr/>
        </p:nvSpPr>
        <p:spPr>
          <a:xfrm>
            <a:off x="7800306" y="5421079"/>
            <a:ext cx="1925036" cy="288000"/>
          </a:xfrm>
          <a:prstGeom prst="roundRect">
            <a:avLst>
              <a:gd name="adj" fmla="val 0"/>
            </a:avLst>
          </a:prstGeom>
          <a:noFill/>
          <a:ln>
            <a:solidFill>
              <a:srgbClr val="014A65"/>
            </a:solidFill>
            <a:prstDash val="solid"/>
          </a:ln>
        </p:spPr>
        <p:txBody>
          <a:bodyPr wrap="square" lIns="90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a:t>
            </a:r>
          </a:p>
        </p:txBody>
      </p:sp>
      <p:cxnSp>
        <p:nvCxnSpPr>
          <p:cNvPr id="307" name="Straight Arrow Connector 306">
            <a:extLst>
              <a:ext uri="{FF2B5EF4-FFF2-40B4-BE49-F238E27FC236}">
                <a16:creationId xmlns:a16="http://schemas.microsoft.com/office/drawing/2014/main" id="{95EE3DBD-9972-2700-0EBB-45303911B1AA}"/>
              </a:ext>
            </a:extLst>
          </p:cNvPr>
          <p:cNvCxnSpPr>
            <a:cxnSpLocks/>
            <a:stCxn id="285" idx="3"/>
            <a:endCxn id="306" idx="1"/>
          </p:cNvCxnSpPr>
          <p:nvPr/>
        </p:nvCxnSpPr>
        <p:spPr>
          <a:xfrm>
            <a:off x="7584186" y="5565079"/>
            <a:ext cx="216120" cy="0"/>
          </a:xfrm>
          <a:prstGeom prst="straightConnector1">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08" name="Espaço Reservado para Conteúdo 1">
            <a:extLst>
              <a:ext uri="{FF2B5EF4-FFF2-40B4-BE49-F238E27FC236}">
                <a16:creationId xmlns:a16="http://schemas.microsoft.com/office/drawing/2014/main" id="{5838F8B1-0152-DAC6-8B0C-79410C9D9E67}"/>
              </a:ext>
            </a:extLst>
          </p:cNvPr>
          <p:cNvSpPr txBox="1">
            <a:spLocks/>
          </p:cNvSpPr>
          <p:nvPr/>
        </p:nvSpPr>
        <p:spPr>
          <a:xfrm>
            <a:off x="9244152" y="2581524"/>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$100</a:t>
            </a:r>
          </a:p>
        </p:txBody>
      </p:sp>
      <p:sp>
        <p:nvSpPr>
          <p:cNvPr id="309" name="CaixaDeTexto 557">
            <a:extLst>
              <a:ext uri="{FF2B5EF4-FFF2-40B4-BE49-F238E27FC236}">
                <a16:creationId xmlns:a16="http://schemas.microsoft.com/office/drawing/2014/main" id="{FEEAF56E-09DC-1F54-C2D9-AE31FBEC4B15}"/>
              </a:ext>
            </a:extLst>
          </p:cNvPr>
          <p:cNvSpPr txBox="1"/>
          <p:nvPr/>
        </p:nvSpPr>
        <p:spPr>
          <a:xfrm>
            <a:off x="8321344" y="4938572"/>
            <a:ext cx="1395692" cy="288000"/>
          </a:xfrm>
          <a:prstGeom prst="roundRect">
            <a:avLst>
              <a:gd name="adj" fmla="val 0"/>
            </a:avLst>
          </a:prstGeom>
          <a:noFill/>
          <a:ln>
            <a:solidFill>
              <a:srgbClr val="014A65"/>
            </a:solidFill>
            <a:prstDash val="solid"/>
          </a:ln>
        </p:spPr>
        <p:txBody>
          <a:bodyPr wrap="square" lIns="36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a:t>
            </a:r>
          </a:p>
        </p:txBody>
      </p:sp>
      <p:cxnSp>
        <p:nvCxnSpPr>
          <p:cNvPr id="310" name="Conector: Angulado 15">
            <a:extLst>
              <a:ext uri="{FF2B5EF4-FFF2-40B4-BE49-F238E27FC236}">
                <a16:creationId xmlns:a16="http://schemas.microsoft.com/office/drawing/2014/main" id="{7DE88E43-F3BB-718C-C68E-18683D8011F7}"/>
              </a:ext>
            </a:extLst>
          </p:cNvPr>
          <p:cNvCxnSpPr>
            <a:cxnSpLocks/>
            <a:stCxn id="304" idx="2"/>
            <a:endCxn id="309" idx="1"/>
          </p:cNvCxnSpPr>
          <p:nvPr/>
        </p:nvCxnSpPr>
        <p:spPr>
          <a:xfrm rot="5400000">
            <a:off x="8409436" y="4728104"/>
            <a:ext cx="266377" cy="442559"/>
          </a:xfrm>
          <a:prstGeom prst="bentConnector4">
            <a:avLst>
              <a:gd name="adj1" fmla="val 22970"/>
              <a:gd name="adj2" fmla="val 151654"/>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11" name="Espaço Reservado para Conteúdo 1">
            <a:extLst>
              <a:ext uri="{FF2B5EF4-FFF2-40B4-BE49-F238E27FC236}">
                <a16:creationId xmlns:a16="http://schemas.microsoft.com/office/drawing/2014/main" id="{CD3FAA4B-7FB7-AC93-4245-5B442DE13D8C}"/>
              </a:ext>
            </a:extLst>
          </p:cNvPr>
          <p:cNvSpPr txBox="1">
            <a:spLocks/>
          </p:cNvSpPr>
          <p:nvPr/>
        </p:nvSpPr>
        <p:spPr>
          <a:xfrm>
            <a:off x="9244152" y="301687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$60</a:t>
            </a:r>
          </a:p>
        </p:txBody>
      </p:sp>
      <p:sp>
        <p:nvSpPr>
          <p:cNvPr id="312" name="Espaço Reservado para Conteúdo 1">
            <a:extLst>
              <a:ext uri="{FF2B5EF4-FFF2-40B4-BE49-F238E27FC236}">
                <a16:creationId xmlns:a16="http://schemas.microsoft.com/office/drawing/2014/main" id="{58E75D95-39B1-EFDE-F3A7-3DAC4B9BBF92}"/>
              </a:ext>
            </a:extLst>
          </p:cNvPr>
          <p:cNvSpPr txBox="1">
            <a:spLocks/>
          </p:cNvSpPr>
          <p:nvPr/>
        </p:nvSpPr>
        <p:spPr>
          <a:xfrm>
            <a:off x="9244152" y="3365914"/>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sp>
        <p:nvSpPr>
          <p:cNvPr id="313" name="Espaço Reservado para Conteúdo 1">
            <a:extLst>
              <a:ext uri="{FF2B5EF4-FFF2-40B4-BE49-F238E27FC236}">
                <a16:creationId xmlns:a16="http://schemas.microsoft.com/office/drawing/2014/main" id="{CFB7D758-52E4-3EDF-8340-A5710115E239}"/>
              </a:ext>
            </a:extLst>
          </p:cNvPr>
          <p:cNvSpPr txBox="1">
            <a:spLocks/>
          </p:cNvSpPr>
          <p:nvPr/>
        </p:nvSpPr>
        <p:spPr>
          <a:xfrm>
            <a:off x="9244152" y="372652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a:t>
            </a:r>
          </a:p>
        </p:txBody>
      </p:sp>
      <p:sp>
        <p:nvSpPr>
          <p:cNvPr id="315" name="CaixaDeTexto 557">
            <a:extLst>
              <a:ext uri="{FF2B5EF4-FFF2-40B4-BE49-F238E27FC236}">
                <a16:creationId xmlns:a16="http://schemas.microsoft.com/office/drawing/2014/main" id="{778C2218-1092-62CC-887B-477312418717}"/>
              </a:ext>
            </a:extLst>
          </p:cNvPr>
          <p:cNvSpPr txBox="1"/>
          <p:nvPr/>
        </p:nvSpPr>
        <p:spPr>
          <a:xfrm>
            <a:off x="8321342" y="4048494"/>
            <a:ext cx="3049419" cy="288000"/>
          </a:xfrm>
          <a:prstGeom prst="roundRect">
            <a:avLst>
              <a:gd name="adj" fmla="val 0"/>
            </a:avLst>
          </a:prstGeom>
          <a:noFill/>
          <a:ln>
            <a:solidFill>
              <a:srgbClr val="014A65"/>
            </a:solidFill>
            <a:prstDash val="dash"/>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Não Comprometido (NC)</a:t>
            </a:r>
          </a:p>
        </p:txBody>
      </p:sp>
      <p:cxnSp>
        <p:nvCxnSpPr>
          <p:cNvPr id="316" name="Conector: Angulado 15">
            <a:extLst>
              <a:ext uri="{FF2B5EF4-FFF2-40B4-BE49-F238E27FC236}">
                <a16:creationId xmlns:a16="http://schemas.microsoft.com/office/drawing/2014/main" id="{E9B52E2F-27CA-B412-E8F4-EBE316368FA3}"/>
              </a:ext>
            </a:extLst>
          </p:cNvPr>
          <p:cNvCxnSpPr>
            <a:cxnSpLocks/>
            <a:stCxn id="292" idx="1"/>
            <a:endCxn id="315" idx="1"/>
          </p:cNvCxnSpPr>
          <p:nvPr/>
        </p:nvCxnSpPr>
        <p:spPr>
          <a:xfrm rot="10800000" flipV="1">
            <a:off x="8321342" y="3837412"/>
            <a:ext cx="12700" cy="355081"/>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20" name="CaixaDeTexto 557">
            <a:extLst>
              <a:ext uri="{FF2B5EF4-FFF2-40B4-BE49-F238E27FC236}">
                <a16:creationId xmlns:a16="http://schemas.microsoft.com/office/drawing/2014/main" id="{CC7620BF-17C6-FAD3-52E9-61A9318D7003}"/>
              </a:ext>
            </a:extLst>
          </p:cNvPr>
          <p:cNvSpPr txBox="1"/>
          <p:nvPr/>
        </p:nvSpPr>
        <p:spPr>
          <a:xfrm>
            <a:off x="9936949" y="2784812"/>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a:t>Material 1</a:t>
            </a:r>
            <a:endParaRPr lang="pt-BR" dirty="0"/>
          </a:p>
        </p:txBody>
      </p:sp>
      <p:sp>
        <p:nvSpPr>
          <p:cNvPr id="321" name="CaixaDeTexto 557">
            <a:extLst>
              <a:ext uri="{FF2B5EF4-FFF2-40B4-BE49-F238E27FC236}">
                <a16:creationId xmlns:a16="http://schemas.microsoft.com/office/drawing/2014/main" id="{C6D93886-5A5B-1E01-3E97-1FB5E1303194}"/>
              </a:ext>
            </a:extLst>
          </p:cNvPr>
          <p:cNvSpPr txBox="1"/>
          <p:nvPr/>
        </p:nvSpPr>
        <p:spPr>
          <a:xfrm>
            <a:off x="9936949" y="3141000"/>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Material 2</a:t>
            </a:r>
          </a:p>
        </p:txBody>
      </p:sp>
      <p:sp>
        <p:nvSpPr>
          <p:cNvPr id="322" name="CaixaDeTexto 557">
            <a:extLst>
              <a:ext uri="{FF2B5EF4-FFF2-40B4-BE49-F238E27FC236}">
                <a16:creationId xmlns:a16="http://schemas.microsoft.com/office/drawing/2014/main" id="{4A913601-6237-08A3-492D-14C37C196627}"/>
              </a:ext>
            </a:extLst>
          </p:cNvPr>
          <p:cNvSpPr txBox="1"/>
          <p:nvPr/>
        </p:nvSpPr>
        <p:spPr>
          <a:xfrm>
            <a:off x="9936949" y="3645056"/>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Oficina 1</a:t>
            </a:r>
          </a:p>
        </p:txBody>
      </p:sp>
      <p:sp>
        <p:nvSpPr>
          <p:cNvPr id="323" name="Espaço Reservado para Conteúdo 1">
            <a:extLst>
              <a:ext uri="{FF2B5EF4-FFF2-40B4-BE49-F238E27FC236}">
                <a16:creationId xmlns:a16="http://schemas.microsoft.com/office/drawing/2014/main" id="{C8C90F4F-7402-BBF5-350B-6C47BAA5AE1B}"/>
              </a:ext>
            </a:extLst>
          </p:cNvPr>
          <p:cNvSpPr txBox="1">
            <a:spLocks/>
          </p:cNvSpPr>
          <p:nvPr/>
        </p:nvSpPr>
        <p:spPr>
          <a:xfrm>
            <a:off x="10891882" y="2815722"/>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sp>
        <p:nvSpPr>
          <p:cNvPr id="324" name="Espaço Reservado para Conteúdo 1">
            <a:extLst>
              <a:ext uri="{FF2B5EF4-FFF2-40B4-BE49-F238E27FC236}">
                <a16:creationId xmlns:a16="http://schemas.microsoft.com/office/drawing/2014/main" id="{ABD0E685-BDE0-2F4E-B583-75967F927E65}"/>
              </a:ext>
            </a:extLst>
          </p:cNvPr>
          <p:cNvSpPr txBox="1">
            <a:spLocks/>
          </p:cNvSpPr>
          <p:nvPr/>
        </p:nvSpPr>
        <p:spPr>
          <a:xfrm>
            <a:off x="10891882" y="3174115"/>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325" name="Espaço Reservado para Conteúdo 1">
            <a:extLst>
              <a:ext uri="{FF2B5EF4-FFF2-40B4-BE49-F238E27FC236}">
                <a16:creationId xmlns:a16="http://schemas.microsoft.com/office/drawing/2014/main" id="{E4E36FF2-83A0-57A0-8FF8-1167C8AFD80E}"/>
              </a:ext>
            </a:extLst>
          </p:cNvPr>
          <p:cNvSpPr txBox="1">
            <a:spLocks/>
          </p:cNvSpPr>
          <p:nvPr/>
        </p:nvSpPr>
        <p:spPr>
          <a:xfrm>
            <a:off x="10891882" y="3678171"/>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cxnSp>
        <p:nvCxnSpPr>
          <p:cNvPr id="326" name="Conector: Angulado 15">
            <a:extLst>
              <a:ext uri="{FF2B5EF4-FFF2-40B4-BE49-F238E27FC236}">
                <a16:creationId xmlns:a16="http://schemas.microsoft.com/office/drawing/2014/main" id="{F54220B6-6841-1B9E-8120-CCAFDBC4D030}"/>
              </a:ext>
            </a:extLst>
          </p:cNvPr>
          <p:cNvCxnSpPr>
            <a:cxnSpLocks/>
            <a:stCxn id="290" idx="3"/>
            <a:endCxn id="320" idx="1"/>
          </p:cNvCxnSpPr>
          <p:nvPr/>
        </p:nvCxnSpPr>
        <p:spPr>
          <a:xfrm flipV="1">
            <a:off x="9725342" y="2928812"/>
            <a:ext cx="211607" cy="196224"/>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329" name="Conector: Angulado 15">
            <a:extLst>
              <a:ext uri="{FF2B5EF4-FFF2-40B4-BE49-F238E27FC236}">
                <a16:creationId xmlns:a16="http://schemas.microsoft.com/office/drawing/2014/main" id="{2C19F526-1666-B810-4709-D13F58C173C1}"/>
              </a:ext>
            </a:extLst>
          </p:cNvPr>
          <p:cNvCxnSpPr>
            <a:cxnSpLocks/>
            <a:stCxn id="290" idx="3"/>
            <a:endCxn id="321" idx="1"/>
          </p:cNvCxnSpPr>
          <p:nvPr/>
        </p:nvCxnSpPr>
        <p:spPr>
          <a:xfrm>
            <a:off x="9725342" y="3125036"/>
            <a:ext cx="211607" cy="159964"/>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332" name="Conector: Angulado 15">
            <a:extLst>
              <a:ext uri="{FF2B5EF4-FFF2-40B4-BE49-F238E27FC236}">
                <a16:creationId xmlns:a16="http://schemas.microsoft.com/office/drawing/2014/main" id="{9553CC70-126C-D1D0-3D4E-8F5CF1004E69}"/>
              </a:ext>
            </a:extLst>
          </p:cNvPr>
          <p:cNvCxnSpPr>
            <a:cxnSpLocks/>
            <a:stCxn id="291" idx="3"/>
            <a:endCxn id="322" idx="1"/>
          </p:cNvCxnSpPr>
          <p:nvPr/>
        </p:nvCxnSpPr>
        <p:spPr>
          <a:xfrm>
            <a:off x="9725342" y="3481224"/>
            <a:ext cx="211607" cy="307832"/>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336" name="Espaço Reservado para Conteúdo 1">
            <a:extLst>
              <a:ext uri="{FF2B5EF4-FFF2-40B4-BE49-F238E27FC236}">
                <a16:creationId xmlns:a16="http://schemas.microsoft.com/office/drawing/2014/main" id="{76E74FAD-F373-4E99-61CC-1E6D8EDE6223}"/>
              </a:ext>
            </a:extLst>
          </p:cNvPr>
          <p:cNvSpPr txBox="1">
            <a:spLocks/>
          </p:cNvSpPr>
          <p:nvPr/>
        </p:nvSpPr>
        <p:spPr>
          <a:xfrm>
            <a:off x="10891882" y="4081608"/>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344" name="Rectangle 343">
            <a:extLst>
              <a:ext uri="{FF2B5EF4-FFF2-40B4-BE49-F238E27FC236}">
                <a16:creationId xmlns:a16="http://schemas.microsoft.com/office/drawing/2014/main" id="{F4735141-D51C-EF8B-DF62-26E28DE40F48}"/>
              </a:ext>
            </a:extLst>
          </p:cNvPr>
          <p:cNvSpPr/>
          <p:nvPr/>
        </p:nvSpPr>
        <p:spPr>
          <a:xfrm>
            <a:off x="11064552"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345" name="Picture 2">
            <a:extLst>
              <a:ext uri="{FF2B5EF4-FFF2-40B4-BE49-F238E27FC236}">
                <a16:creationId xmlns:a16="http://schemas.microsoft.com/office/drawing/2014/main" id="{AEC72ED0-E584-FE8D-ACCD-302223EDBD9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06757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C0093-EE71-1430-1FD5-30D096C8C6E4}"/>
            </a:ext>
          </a:extLst>
        </p:cNvPr>
        <p:cNvGrpSpPr/>
        <p:nvPr/>
      </p:nvGrpSpPr>
      <p:grpSpPr>
        <a:xfrm>
          <a:off x="0" y="0"/>
          <a:ext cx="0" cy="0"/>
          <a:chOff x="0" y="0"/>
          <a:chExt cx="0" cy="0"/>
        </a:xfrm>
      </p:grpSpPr>
      <p:sp>
        <p:nvSpPr>
          <p:cNvPr id="75" name="Retângulo 74">
            <a:extLst>
              <a:ext uri="{FF2B5EF4-FFF2-40B4-BE49-F238E27FC236}">
                <a16:creationId xmlns:a16="http://schemas.microsoft.com/office/drawing/2014/main" id="{A86C650E-9B80-9630-8651-40D38BC7F1E2}"/>
              </a:ext>
            </a:extLst>
          </p:cNvPr>
          <p:cNvSpPr/>
          <p:nvPr/>
        </p:nvSpPr>
        <p:spPr>
          <a:xfrm>
            <a:off x="9904306" y="1526367"/>
            <a:ext cx="2160000" cy="535923"/>
          </a:xfrm>
          <a:prstGeom prst="rect">
            <a:avLst/>
          </a:prstGeom>
          <a:solidFill>
            <a:srgbClr val="093F5D"/>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Contabilizado</a:t>
            </a:r>
          </a:p>
        </p:txBody>
      </p:sp>
      <p:sp>
        <p:nvSpPr>
          <p:cNvPr id="5" name="Título 4">
            <a:extLst>
              <a:ext uri="{FF2B5EF4-FFF2-40B4-BE49-F238E27FC236}">
                <a16:creationId xmlns:a16="http://schemas.microsoft.com/office/drawing/2014/main" id="{BB23A8A6-1C89-6277-53B4-3335479FAFEF}"/>
              </a:ext>
            </a:extLst>
          </p:cNvPr>
          <p:cNvSpPr>
            <a:spLocks noGrp="1"/>
          </p:cNvSpPr>
          <p:nvPr>
            <p:ph type="title"/>
          </p:nvPr>
        </p:nvSpPr>
        <p:spPr>
          <a:xfrm>
            <a:off x="1106905" y="303578"/>
            <a:ext cx="10485852" cy="645195"/>
          </a:xfrm>
        </p:spPr>
        <p:txBody>
          <a:bodyPr/>
          <a:lstStyle/>
          <a:p>
            <a:r>
              <a:rPr lang="pt-BR" dirty="0"/>
              <a:t>Esteira Financeira</a:t>
            </a:r>
            <a:br>
              <a:rPr lang="pt-BR" dirty="0"/>
            </a:br>
            <a:r>
              <a:rPr lang="pt-BR" sz="1600" b="0" dirty="0"/>
              <a:t>Proposta HUB</a:t>
            </a:r>
            <a:endParaRPr lang="pt-BR" dirty="0"/>
          </a:p>
        </p:txBody>
      </p:sp>
      <p:sp>
        <p:nvSpPr>
          <p:cNvPr id="11" name="Espaço Reservado para Conteúdo 1">
            <a:extLst>
              <a:ext uri="{FF2B5EF4-FFF2-40B4-BE49-F238E27FC236}">
                <a16:creationId xmlns:a16="http://schemas.microsoft.com/office/drawing/2014/main" id="{95A256CC-1D25-119F-9819-E5F1308A8C9F}"/>
              </a:ext>
            </a:extLst>
          </p:cNvPr>
          <p:cNvSpPr txBox="1">
            <a:spLocks/>
          </p:cNvSpPr>
          <p:nvPr/>
        </p:nvSpPr>
        <p:spPr>
          <a:xfrm>
            <a:off x="696000" y="980728"/>
            <a:ext cx="10800000" cy="595760"/>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O HUB utiliza uma esteira com </a:t>
            </a:r>
            <a:r>
              <a:rPr lang="pt-BR" sz="1400" b="1" dirty="0"/>
              <a:t>05 estágios financeiros </a:t>
            </a:r>
            <a:r>
              <a:rPr lang="pt-BR" sz="1400" dirty="0"/>
              <a:t>ao longo de todo o ciclo de vida de uma Parada e suas Obras, aplicáveis tanto para materiais quanto oficinas e estaleiro</a:t>
            </a:r>
          </a:p>
        </p:txBody>
      </p:sp>
      <p:sp>
        <p:nvSpPr>
          <p:cNvPr id="201" name="Espaço Reservado para Conteúdo 1">
            <a:extLst>
              <a:ext uri="{FF2B5EF4-FFF2-40B4-BE49-F238E27FC236}">
                <a16:creationId xmlns:a16="http://schemas.microsoft.com/office/drawing/2014/main" id="{F6DFD4CC-CF70-757F-41CC-5AE4481F1271}"/>
              </a:ext>
            </a:extLst>
          </p:cNvPr>
          <p:cNvSpPr txBox="1">
            <a:spLocks/>
          </p:cNvSpPr>
          <p:nvPr/>
        </p:nvSpPr>
        <p:spPr>
          <a:xfrm>
            <a:off x="1215291"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da esteira financeira que define a </a:t>
            </a:r>
            <a:r>
              <a:rPr lang="pt-BR" sz="1200" b="1" dirty="0"/>
              <a:t>primeira visão de custo</a:t>
            </a:r>
            <a:r>
              <a:rPr lang="pt-BR" sz="1200" dirty="0"/>
              <a:t> da Parada e Obras</a:t>
            </a:r>
          </a:p>
          <a:p>
            <a:pPr marL="182563" indent="-174625">
              <a:lnSpc>
                <a:spcPct val="90000"/>
              </a:lnSpc>
              <a:spcBef>
                <a:spcPts val="900"/>
              </a:spcBef>
              <a:buFont typeface="Wingdings" panose="05000000000000000000" pitchFamily="2" charset="2"/>
              <a:buChar char="§"/>
            </a:pPr>
            <a:r>
              <a:rPr lang="pt-BR" sz="1200" dirty="0"/>
              <a:t>Estimativas são realizadas de maneira </a:t>
            </a:r>
            <a:r>
              <a:rPr lang="pt-BR" sz="1200" b="1" dirty="0"/>
              <a:t>agregada</a:t>
            </a:r>
            <a:r>
              <a:rPr lang="pt-BR" sz="1200" dirty="0"/>
              <a:t>, no </a:t>
            </a:r>
            <a:r>
              <a:rPr lang="pt-BR" sz="1200" b="1" dirty="0"/>
              <a:t>nível de demanda e por grupo de custo:</a:t>
            </a:r>
          </a:p>
          <a:p>
            <a:pPr marL="360363" lvl="1" indent="-174625">
              <a:lnSpc>
                <a:spcPct val="90000"/>
              </a:lnSpc>
              <a:spcBef>
                <a:spcPts val="400"/>
              </a:spcBef>
              <a:buFont typeface="Wingdings" panose="05000000000000000000" pitchFamily="2" charset="2"/>
              <a:buChar char="§"/>
            </a:pPr>
            <a:r>
              <a:rPr lang="pt-BR" sz="1200" dirty="0"/>
              <a:t>Estaleiro</a:t>
            </a:r>
          </a:p>
          <a:p>
            <a:pPr marL="360363" lvl="1" indent="-174625">
              <a:lnSpc>
                <a:spcPct val="90000"/>
              </a:lnSpc>
              <a:spcBef>
                <a:spcPts val="400"/>
              </a:spcBef>
              <a:buFont typeface="Wingdings" panose="05000000000000000000" pitchFamily="2" charset="2"/>
              <a:buChar char="§"/>
            </a:pPr>
            <a:r>
              <a:rPr lang="pt-BR" sz="1200" dirty="0"/>
              <a:t>Oficinas</a:t>
            </a:r>
          </a:p>
          <a:p>
            <a:pPr marL="360363" lvl="1" indent="-174625">
              <a:lnSpc>
                <a:spcPct val="90000"/>
              </a:lnSpc>
              <a:spcBef>
                <a:spcPts val="400"/>
              </a:spcBef>
              <a:buFont typeface="Wingdings" panose="05000000000000000000" pitchFamily="2" charset="2"/>
              <a:buChar char="§"/>
            </a:pPr>
            <a:r>
              <a:rPr lang="pt-BR" sz="1200" dirty="0"/>
              <a:t>Materiais</a:t>
            </a:r>
          </a:p>
          <a:p>
            <a:pPr marL="182563" lvl="1" indent="-174625">
              <a:lnSpc>
                <a:spcPct val="90000"/>
              </a:lnSpc>
              <a:spcBef>
                <a:spcPts val="900"/>
              </a:spcBef>
              <a:buFont typeface="Wingdings" panose="05000000000000000000" pitchFamily="2" charset="2"/>
              <a:buChar char="§"/>
            </a:pPr>
            <a:r>
              <a:rPr lang="pt-BR" sz="1200" b="1" dirty="0"/>
              <a:t>Estimativas são </a:t>
            </a:r>
            <a:r>
              <a:rPr lang="pt-BR" sz="1200" b="1" dirty="0" err="1"/>
              <a:t>mensalizadas</a:t>
            </a:r>
            <a:r>
              <a:rPr lang="pt-BR" sz="1200" b="1" dirty="0"/>
              <a:t> </a:t>
            </a:r>
            <a:r>
              <a:rPr lang="pt-BR" sz="1200" dirty="0"/>
              <a:t>a partir de </a:t>
            </a:r>
            <a:r>
              <a:rPr lang="pt-BR" sz="1200" b="1" dirty="0"/>
              <a:t>premissas</a:t>
            </a:r>
            <a:r>
              <a:rPr lang="pt-BR" sz="1200" dirty="0"/>
              <a:t> cadastradas no HUB para a Parada e Obras</a:t>
            </a:r>
          </a:p>
        </p:txBody>
      </p:sp>
      <p:sp>
        <p:nvSpPr>
          <p:cNvPr id="27" name="Seta: Pentágono 71">
            <a:extLst>
              <a:ext uri="{FF2B5EF4-FFF2-40B4-BE49-F238E27FC236}">
                <a16:creationId xmlns:a16="http://schemas.microsoft.com/office/drawing/2014/main" id="{D44B4312-C3FA-6A70-D48A-544BAD266347}"/>
              </a:ext>
            </a:extLst>
          </p:cNvPr>
          <p:cNvSpPr/>
          <p:nvPr/>
        </p:nvSpPr>
        <p:spPr>
          <a:xfrm>
            <a:off x="7726034" y="1526367"/>
            <a:ext cx="2160000" cy="535923"/>
          </a:xfrm>
          <a:prstGeom prst="homePlate">
            <a:avLst>
              <a:gd name="adj" fmla="val 38625"/>
            </a:avLst>
          </a:prstGeom>
          <a:solidFill>
            <a:srgbClr val="07365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Empenhado</a:t>
            </a:r>
          </a:p>
        </p:txBody>
      </p:sp>
      <p:sp>
        <p:nvSpPr>
          <p:cNvPr id="26" name="Seta: Pentágono 71">
            <a:extLst>
              <a:ext uri="{FF2B5EF4-FFF2-40B4-BE49-F238E27FC236}">
                <a16:creationId xmlns:a16="http://schemas.microsoft.com/office/drawing/2014/main" id="{EEF46DD9-EE9A-417A-1416-2B89D0887E0C}"/>
              </a:ext>
            </a:extLst>
          </p:cNvPr>
          <p:cNvSpPr/>
          <p:nvPr/>
        </p:nvSpPr>
        <p:spPr>
          <a:xfrm>
            <a:off x="5547762" y="1526367"/>
            <a:ext cx="2160000" cy="535923"/>
          </a:xfrm>
          <a:prstGeom prst="homePlate">
            <a:avLst>
              <a:gd name="adj" fmla="val 38625"/>
            </a:avLst>
          </a:prstGeom>
          <a:solidFill>
            <a:srgbClr val="052C4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Cotado</a:t>
            </a:r>
          </a:p>
        </p:txBody>
      </p:sp>
      <p:sp>
        <p:nvSpPr>
          <p:cNvPr id="25" name="Seta: Pentágono 71">
            <a:extLst>
              <a:ext uri="{FF2B5EF4-FFF2-40B4-BE49-F238E27FC236}">
                <a16:creationId xmlns:a16="http://schemas.microsoft.com/office/drawing/2014/main" id="{87F71B17-60D2-06BE-6E16-E6AF6FCD3AF2}"/>
              </a:ext>
            </a:extLst>
          </p:cNvPr>
          <p:cNvSpPr/>
          <p:nvPr/>
        </p:nvSpPr>
        <p:spPr>
          <a:xfrm>
            <a:off x="3369490" y="1526367"/>
            <a:ext cx="2160000" cy="535923"/>
          </a:xfrm>
          <a:prstGeom prst="homePlate">
            <a:avLst>
              <a:gd name="adj" fmla="val 38625"/>
            </a:avLst>
          </a:prstGeom>
          <a:solidFill>
            <a:srgbClr val="04293E"/>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Comprometido</a:t>
            </a:r>
          </a:p>
        </p:txBody>
      </p:sp>
      <p:sp>
        <p:nvSpPr>
          <p:cNvPr id="2" name="Seta: Pentágono 71">
            <a:extLst>
              <a:ext uri="{FF2B5EF4-FFF2-40B4-BE49-F238E27FC236}">
                <a16:creationId xmlns:a16="http://schemas.microsoft.com/office/drawing/2014/main" id="{1C25DD3C-34F2-CE5E-0212-F592E6E3080E}"/>
              </a:ext>
            </a:extLst>
          </p:cNvPr>
          <p:cNvSpPr/>
          <p:nvPr/>
        </p:nvSpPr>
        <p:spPr>
          <a:xfrm>
            <a:off x="1191218" y="1526367"/>
            <a:ext cx="2160000" cy="535923"/>
          </a:xfrm>
          <a:prstGeom prst="homePlate">
            <a:avLst>
              <a:gd name="adj" fmla="val 38625"/>
            </a:avLst>
          </a:prstGeom>
          <a:solidFill>
            <a:srgbClr val="031B2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Estimado</a:t>
            </a:r>
          </a:p>
        </p:txBody>
      </p:sp>
      <p:sp>
        <p:nvSpPr>
          <p:cNvPr id="39" name="CaixaDeTexto 557">
            <a:extLst>
              <a:ext uri="{FF2B5EF4-FFF2-40B4-BE49-F238E27FC236}">
                <a16:creationId xmlns:a16="http://schemas.microsoft.com/office/drawing/2014/main" id="{0E7B5763-93A5-432B-B9C8-7BCF958512D0}"/>
              </a:ext>
            </a:extLst>
          </p:cNvPr>
          <p:cNvSpPr txBox="1"/>
          <p:nvPr/>
        </p:nvSpPr>
        <p:spPr>
          <a:xfrm>
            <a:off x="113625" y="2132031"/>
            <a:ext cx="1036638" cy="3780000"/>
          </a:xfrm>
          <a:prstGeom prst="rect">
            <a:avLst/>
          </a:prstGeom>
          <a:noFill/>
          <a:ln>
            <a:solidFill>
              <a:srgbClr val="014A65"/>
            </a:solidFill>
          </a:ln>
        </p:spPr>
        <p:txBody>
          <a:bodyPr wrap="square" lIns="90000" rtlCol="0" anchor="ctr">
            <a:noAutofit/>
          </a:bodyPr>
          <a:lstStyle/>
          <a:p>
            <a:pPr algn="r"/>
            <a:r>
              <a:rPr lang="pt-BR" sz="1200" b="1" i="1" dirty="0"/>
              <a:t>Definição</a:t>
            </a:r>
            <a:endParaRPr lang="pt-BR" sz="1200" i="1" dirty="0"/>
          </a:p>
        </p:txBody>
      </p:sp>
      <p:sp>
        <p:nvSpPr>
          <p:cNvPr id="42" name="Oval 41">
            <a:extLst>
              <a:ext uri="{FF2B5EF4-FFF2-40B4-BE49-F238E27FC236}">
                <a16:creationId xmlns:a16="http://schemas.microsoft.com/office/drawing/2014/main" id="{DFD2FFBA-FCAF-9D93-8201-363AB944A0BF}"/>
              </a:ext>
            </a:extLst>
          </p:cNvPr>
          <p:cNvSpPr>
            <a:spLocks noChangeAspect="1"/>
          </p:cNvSpPr>
          <p:nvPr/>
        </p:nvSpPr>
        <p:spPr>
          <a:xfrm>
            <a:off x="1296304" y="1636815"/>
            <a:ext cx="315026" cy="315026"/>
          </a:xfrm>
          <a:prstGeom prst="ellipse">
            <a:avLst/>
          </a:prstGeom>
          <a:solidFill>
            <a:srgbClr val="031B2B"/>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1</a:t>
            </a:r>
          </a:p>
        </p:txBody>
      </p:sp>
      <p:sp>
        <p:nvSpPr>
          <p:cNvPr id="43" name="Oval 42">
            <a:extLst>
              <a:ext uri="{FF2B5EF4-FFF2-40B4-BE49-F238E27FC236}">
                <a16:creationId xmlns:a16="http://schemas.microsoft.com/office/drawing/2014/main" id="{1B1C40A1-8C1E-7E8D-9516-0988C674082D}"/>
              </a:ext>
            </a:extLst>
          </p:cNvPr>
          <p:cNvSpPr>
            <a:spLocks noChangeAspect="1"/>
          </p:cNvSpPr>
          <p:nvPr/>
        </p:nvSpPr>
        <p:spPr>
          <a:xfrm>
            <a:off x="3474599" y="1636815"/>
            <a:ext cx="315026" cy="315026"/>
          </a:xfrm>
          <a:prstGeom prst="ellipse">
            <a:avLst/>
          </a:prstGeom>
          <a:solidFill>
            <a:srgbClr val="04293E"/>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2</a:t>
            </a:r>
          </a:p>
        </p:txBody>
      </p:sp>
      <p:sp>
        <p:nvSpPr>
          <p:cNvPr id="45" name="Oval 44">
            <a:extLst>
              <a:ext uri="{FF2B5EF4-FFF2-40B4-BE49-F238E27FC236}">
                <a16:creationId xmlns:a16="http://schemas.microsoft.com/office/drawing/2014/main" id="{1901DCEF-E6C4-FF30-8452-DCD9561121E1}"/>
              </a:ext>
            </a:extLst>
          </p:cNvPr>
          <p:cNvSpPr>
            <a:spLocks noChangeAspect="1"/>
          </p:cNvSpPr>
          <p:nvPr/>
        </p:nvSpPr>
        <p:spPr>
          <a:xfrm>
            <a:off x="5652894" y="1636815"/>
            <a:ext cx="315026" cy="315026"/>
          </a:xfrm>
          <a:prstGeom prst="ellipse">
            <a:avLst/>
          </a:prstGeom>
          <a:solidFill>
            <a:srgbClr val="052C4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3</a:t>
            </a:r>
          </a:p>
        </p:txBody>
      </p:sp>
      <p:sp>
        <p:nvSpPr>
          <p:cNvPr id="46" name="Oval 45">
            <a:extLst>
              <a:ext uri="{FF2B5EF4-FFF2-40B4-BE49-F238E27FC236}">
                <a16:creationId xmlns:a16="http://schemas.microsoft.com/office/drawing/2014/main" id="{6A98F928-47D7-8C0B-2445-9E62CE4C365F}"/>
              </a:ext>
            </a:extLst>
          </p:cNvPr>
          <p:cNvSpPr>
            <a:spLocks noChangeAspect="1"/>
          </p:cNvSpPr>
          <p:nvPr/>
        </p:nvSpPr>
        <p:spPr>
          <a:xfrm>
            <a:off x="7831189" y="1636815"/>
            <a:ext cx="315026" cy="315026"/>
          </a:xfrm>
          <a:prstGeom prst="ellipse">
            <a:avLst/>
          </a:prstGeom>
          <a:solidFill>
            <a:srgbClr val="07365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4</a:t>
            </a:r>
          </a:p>
        </p:txBody>
      </p:sp>
      <p:sp>
        <p:nvSpPr>
          <p:cNvPr id="48" name="Oval 47">
            <a:extLst>
              <a:ext uri="{FF2B5EF4-FFF2-40B4-BE49-F238E27FC236}">
                <a16:creationId xmlns:a16="http://schemas.microsoft.com/office/drawing/2014/main" id="{F9C41675-C591-14C7-AC4B-1C0C0B4853AD}"/>
              </a:ext>
            </a:extLst>
          </p:cNvPr>
          <p:cNvSpPr>
            <a:spLocks noChangeAspect="1"/>
          </p:cNvSpPr>
          <p:nvPr/>
        </p:nvSpPr>
        <p:spPr>
          <a:xfrm>
            <a:off x="10009483" y="1636815"/>
            <a:ext cx="315026" cy="315026"/>
          </a:xfrm>
          <a:prstGeom prst="ellipse">
            <a:avLst/>
          </a:prstGeom>
          <a:solidFill>
            <a:srgbClr val="093F5D"/>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5</a:t>
            </a:r>
          </a:p>
        </p:txBody>
      </p:sp>
      <p:sp>
        <p:nvSpPr>
          <p:cNvPr id="54" name="CaixaDeTexto 557">
            <a:extLst>
              <a:ext uri="{FF2B5EF4-FFF2-40B4-BE49-F238E27FC236}">
                <a16:creationId xmlns:a16="http://schemas.microsoft.com/office/drawing/2014/main" id="{5B163A6E-9088-4401-FE89-0E598A1EB1F2}"/>
              </a:ext>
            </a:extLst>
          </p:cNvPr>
          <p:cNvSpPr txBox="1"/>
          <p:nvPr/>
        </p:nvSpPr>
        <p:spPr>
          <a:xfrm>
            <a:off x="113625" y="5999967"/>
            <a:ext cx="1036638" cy="468000"/>
          </a:xfrm>
          <a:prstGeom prst="rect">
            <a:avLst/>
          </a:prstGeom>
          <a:noFill/>
          <a:ln>
            <a:solidFill>
              <a:srgbClr val="014A65"/>
            </a:solidFill>
          </a:ln>
        </p:spPr>
        <p:txBody>
          <a:bodyPr wrap="square" lIns="90000" rtlCol="0" anchor="ctr">
            <a:noAutofit/>
          </a:bodyPr>
          <a:lstStyle/>
          <a:p>
            <a:pPr algn="r"/>
            <a:r>
              <a:rPr lang="pt-BR" sz="1200" b="1" i="1" dirty="0" err="1"/>
              <a:t>Respon-sável</a:t>
            </a:r>
            <a:r>
              <a:rPr lang="pt-BR" sz="1200" b="1" i="1" dirty="0"/>
              <a:t>(</a:t>
            </a:r>
            <a:r>
              <a:rPr lang="pt-BR" sz="1200" b="1" i="1" dirty="0" err="1"/>
              <a:t>is</a:t>
            </a:r>
            <a:r>
              <a:rPr lang="pt-BR" sz="1200" b="1" i="1" dirty="0"/>
              <a:t>)</a:t>
            </a:r>
          </a:p>
        </p:txBody>
      </p:sp>
      <p:sp>
        <p:nvSpPr>
          <p:cNvPr id="6" name="Espaço Reservado para Conteúdo 1">
            <a:extLst>
              <a:ext uri="{FF2B5EF4-FFF2-40B4-BE49-F238E27FC236}">
                <a16:creationId xmlns:a16="http://schemas.microsoft.com/office/drawing/2014/main" id="{7D70B673-B5DA-C708-B6BB-3556ACDB293C}"/>
              </a:ext>
            </a:extLst>
          </p:cNvPr>
          <p:cNvSpPr txBox="1">
            <a:spLocks/>
          </p:cNvSpPr>
          <p:nvPr/>
        </p:nvSpPr>
        <p:spPr>
          <a:xfrm>
            <a:off x="1215290" y="5999967"/>
            <a:ext cx="4226982"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Planejamento AT</a:t>
            </a:r>
          </a:p>
        </p:txBody>
      </p:sp>
      <p:sp>
        <p:nvSpPr>
          <p:cNvPr id="8" name="Espaço Reservado para Conteúdo 1">
            <a:extLst>
              <a:ext uri="{FF2B5EF4-FFF2-40B4-BE49-F238E27FC236}">
                <a16:creationId xmlns:a16="http://schemas.microsoft.com/office/drawing/2014/main" id="{D78726A4-1BB8-A6C4-72C7-C1A1015CB6BD}"/>
              </a:ext>
            </a:extLst>
          </p:cNvPr>
          <p:cNvSpPr txBox="1">
            <a:spLocks/>
          </p:cNvSpPr>
          <p:nvPr/>
        </p:nvSpPr>
        <p:spPr>
          <a:xfrm>
            <a:off x="3390272"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de </a:t>
            </a:r>
            <a:r>
              <a:rPr lang="pt-BR" sz="1200" b="1" dirty="0"/>
              <a:t>desdobramento</a:t>
            </a:r>
            <a:r>
              <a:rPr lang="pt-BR" sz="1200" dirty="0"/>
              <a:t> das estimativas das demandas </a:t>
            </a:r>
            <a:r>
              <a:rPr lang="pt-BR" sz="1200" b="1" dirty="0"/>
              <a:t>em “linhas de serviço” </a:t>
            </a:r>
            <a:r>
              <a:rPr lang="pt-BR" sz="1200" dirty="0"/>
              <a:t>e </a:t>
            </a:r>
            <a:r>
              <a:rPr lang="pt-BR" sz="1200" b="1" dirty="0"/>
              <a:t>materiais específicos</a:t>
            </a:r>
          </a:p>
          <a:p>
            <a:pPr marL="182563" indent="-174625">
              <a:lnSpc>
                <a:spcPct val="90000"/>
              </a:lnSpc>
              <a:spcBef>
                <a:spcPts val="900"/>
              </a:spcBef>
              <a:buFont typeface="Wingdings" panose="05000000000000000000" pitchFamily="2" charset="2"/>
              <a:buChar char="§"/>
            </a:pPr>
            <a:r>
              <a:rPr lang="pt-BR" sz="1200" dirty="0"/>
              <a:t>O </a:t>
            </a:r>
            <a:r>
              <a:rPr lang="pt-BR" sz="1200" b="1" dirty="0"/>
              <a:t>saldo</a:t>
            </a:r>
            <a:r>
              <a:rPr lang="pt-BR" sz="1200" dirty="0"/>
              <a:t> </a:t>
            </a:r>
            <a:r>
              <a:rPr lang="pt-BR" sz="1200" b="1" dirty="0"/>
              <a:t>positivo</a:t>
            </a:r>
            <a:r>
              <a:rPr lang="pt-BR" sz="1200" dirty="0"/>
              <a:t> entre os valores comprometidos e o valor estimado para a demanda assume o </a:t>
            </a:r>
            <a:r>
              <a:rPr lang="pt-BR" sz="1200" b="1" dirty="0"/>
              <a:t>status de Não Comprometido (NC)</a:t>
            </a:r>
            <a:br>
              <a:rPr lang="pt-BR" sz="1200" b="1" dirty="0"/>
            </a:br>
            <a:endParaRPr lang="pt-BR" sz="1200" b="1" dirty="0"/>
          </a:p>
        </p:txBody>
      </p:sp>
      <p:sp>
        <p:nvSpPr>
          <p:cNvPr id="10" name="Espaço Reservado para Conteúdo 1">
            <a:extLst>
              <a:ext uri="{FF2B5EF4-FFF2-40B4-BE49-F238E27FC236}">
                <a16:creationId xmlns:a16="http://schemas.microsoft.com/office/drawing/2014/main" id="{FABC8816-93A9-00F9-7F6C-BCD7D1A79BDB}"/>
              </a:ext>
            </a:extLst>
          </p:cNvPr>
          <p:cNvSpPr txBox="1">
            <a:spLocks/>
          </p:cNvSpPr>
          <p:nvPr/>
        </p:nvSpPr>
        <p:spPr>
          <a:xfrm>
            <a:off x="5565014"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de </a:t>
            </a:r>
            <a:r>
              <a:rPr lang="pt-BR" sz="1200" b="1" dirty="0"/>
              <a:t>Cotação</a:t>
            </a:r>
            <a:r>
              <a:rPr lang="pt-BR" sz="1200" dirty="0"/>
              <a:t> dos materiais e serviços de oficinas e estaleiros</a:t>
            </a:r>
            <a:r>
              <a:rPr lang="pt-BR" sz="1200" b="1" dirty="0"/>
              <a:t> junto aos fornecedores</a:t>
            </a:r>
            <a:r>
              <a:rPr lang="pt-BR" sz="1200" dirty="0"/>
              <a:t>, a partir do escopo aprovado para a Parada e Obras:</a:t>
            </a:r>
            <a:endParaRPr lang="pt-BR" sz="1200" i="1" dirty="0"/>
          </a:p>
          <a:p>
            <a:pPr marL="360363" lvl="1" indent="-174625">
              <a:lnSpc>
                <a:spcPct val="90000"/>
              </a:lnSpc>
              <a:spcBef>
                <a:spcPts val="400"/>
              </a:spcBef>
              <a:buFont typeface="Wingdings" panose="05000000000000000000" pitchFamily="2" charset="2"/>
              <a:buChar char="§"/>
            </a:pPr>
            <a:r>
              <a:rPr lang="pt-BR" sz="1200" b="1" dirty="0"/>
              <a:t>Estaleiro: </a:t>
            </a:r>
            <a:r>
              <a:rPr lang="pt-BR" sz="1200" dirty="0"/>
              <a:t>valor da </a:t>
            </a:r>
            <a:r>
              <a:rPr lang="pt-BR" sz="1200" b="1" dirty="0"/>
              <a:t>PPU</a:t>
            </a:r>
            <a:r>
              <a:rPr lang="pt-BR" sz="1200" dirty="0"/>
              <a:t> e PPU adicional </a:t>
            </a:r>
            <a:r>
              <a:rPr lang="pt-BR" sz="1200" i="1" dirty="0"/>
              <a:t>(se houver)</a:t>
            </a:r>
            <a:r>
              <a:rPr lang="pt-BR" sz="1200" dirty="0"/>
              <a:t> </a:t>
            </a:r>
          </a:p>
          <a:p>
            <a:pPr marL="360363" lvl="1" indent="-174625">
              <a:lnSpc>
                <a:spcPct val="90000"/>
              </a:lnSpc>
              <a:spcBef>
                <a:spcPts val="400"/>
              </a:spcBef>
              <a:buFont typeface="Wingdings" panose="05000000000000000000" pitchFamily="2" charset="2"/>
              <a:buChar char="§"/>
            </a:pPr>
            <a:r>
              <a:rPr lang="pt-BR" sz="1200" b="1" dirty="0"/>
              <a:t>Oficinas:</a:t>
            </a:r>
            <a:r>
              <a:rPr lang="pt-BR" sz="1200" dirty="0"/>
              <a:t> valor da </a:t>
            </a:r>
            <a:r>
              <a:rPr lang="pt-BR" sz="1200" b="1" dirty="0"/>
              <a:t>Ordem de Serviço (OS)</a:t>
            </a:r>
            <a:r>
              <a:rPr lang="pt-BR" sz="1200" dirty="0"/>
              <a:t> emitida via TM Master</a:t>
            </a:r>
          </a:p>
          <a:p>
            <a:pPr marL="360363" lvl="1" indent="-174625">
              <a:lnSpc>
                <a:spcPct val="90000"/>
              </a:lnSpc>
              <a:spcBef>
                <a:spcPts val="400"/>
              </a:spcBef>
              <a:buFont typeface="Wingdings" panose="05000000000000000000" pitchFamily="2" charset="2"/>
              <a:buChar char="§"/>
            </a:pPr>
            <a:r>
              <a:rPr lang="pt-BR" sz="1200" b="1" dirty="0"/>
              <a:t>Materiais</a:t>
            </a:r>
            <a:r>
              <a:rPr lang="pt-BR" sz="1200" dirty="0"/>
              <a:t>: valor da cotação obtida por Suprimentos após </a:t>
            </a:r>
            <a:r>
              <a:rPr lang="pt-BR" sz="1200" b="1" dirty="0"/>
              <a:t>abertura da Solicitação de Compras (SC)</a:t>
            </a:r>
          </a:p>
          <a:p>
            <a:pPr marL="539750" lvl="1" indent="-171450">
              <a:lnSpc>
                <a:spcPct val="90000"/>
              </a:lnSpc>
              <a:spcBef>
                <a:spcPts val="400"/>
              </a:spcBef>
              <a:buFont typeface="System Font Regular"/>
              <a:buChar char="–"/>
            </a:pPr>
            <a:r>
              <a:rPr lang="pt-BR" sz="1200" b="1" dirty="0"/>
              <a:t>Nacionais</a:t>
            </a:r>
            <a:r>
              <a:rPr lang="pt-BR" sz="1200" dirty="0"/>
              <a:t>: Módulo de cotação do Protheus</a:t>
            </a:r>
          </a:p>
          <a:p>
            <a:pPr marL="539750" lvl="1" indent="-171450">
              <a:lnSpc>
                <a:spcPct val="90000"/>
              </a:lnSpc>
              <a:spcBef>
                <a:spcPts val="400"/>
              </a:spcBef>
              <a:buFont typeface="System Font Regular"/>
              <a:buChar char="–"/>
            </a:pPr>
            <a:r>
              <a:rPr lang="pt-BR" sz="1200" b="1" dirty="0"/>
              <a:t>Importados</a:t>
            </a:r>
            <a:r>
              <a:rPr lang="pt-BR" sz="1200" dirty="0"/>
              <a:t>: Simulação de Importação (SI)</a:t>
            </a:r>
          </a:p>
        </p:txBody>
      </p:sp>
      <p:sp>
        <p:nvSpPr>
          <p:cNvPr id="12" name="Espaço Reservado para Conteúdo 1">
            <a:extLst>
              <a:ext uri="{FF2B5EF4-FFF2-40B4-BE49-F238E27FC236}">
                <a16:creationId xmlns:a16="http://schemas.microsoft.com/office/drawing/2014/main" id="{9F223D48-7552-07DC-E061-5485D7D5785D}"/>
              </a:ext>
            </a:extLst>
          </p:cNvPr>
          <p:cNvSpPr txBox="1">
            <a:spLocks/>
          </p:cNvSpPr>
          <p:nvPr/>
        </p:nvSpPr>
        <p:spPr>
          <a:xfrm>
            <a:off x="5561342" y="5999967"/>
            <a:ext cx="2055671"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Equipe de Obras</a:t>
            </a:r>
          </a:p>
          <a:p>
            <a:pPr marL="182563" indent="-174625">
              <a:spcBef>
                <a:spcPts val="0"/>
              </a:spcBef>
              <a:buFont typeface="Wingdings" panose="05000000000000000000" pitchFamily="2" charset="2"/>
              <a:buChar char="§"/>
            </a:pPr>
            <a:r>
              <a:rPr lang="pt-BR" sz="1200" dirty="0"/>
              <a:t>Suprimentos</a:t>
            </a:r>
          </a:p>
        </p:txBody>
      </p:sp>
      <p:sp>
        <p:nvSpPr>
          <p:cNvPr id="13" name="Espaço Reservado para Conteúdo 1">
            <a:extLst>
              <a:ext uri="{FF2B5EF4-FFF2-40B4-BE49-F238E27FC236}">
                <a16:creationId xmlns:a16="http://schemas.microsoft.com/office/drawing/2014/main" id="{075E9D87-6A89-511A-D9FE-646939DC227B}"/>
              </a:ext>
            </a:extLst>
          </p:cNvPr>
          <p:cNvSpPr txBox="1">
            <a:spLocks/>
          </p:cNvSpPr>
          <p:nvPr/>
        </p:nvSpPr>
        <p:spPr>
          <a:xfrm>
            <a:off x="7743286" y="2132031"/>
            <a:ext cx="2052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dirty="0"/>
              <a:t>Estágio de </a:t>
            </a:r>
            <a:r>
              <a:rPr lang="pt-BR" sz="1200" b="1" dirty="0"/>
              <a:t>formalização da compra </a:t>
            </a:r>
            <a:r>
              <a:rPr lang="pt-BR" sz="1200" dirty="0"/>
              <a:t>de materiais e serviços via aprovação de Pedido de Compra (PC) e registro no Protheus</a:t>
            </a:r>
          </a:p>
          <a:p>
            <a:pPr marL="360363" lvl="1" indent="-174625">
              <a:lnSpc>
                <a:spcPct val="90000"/>
              </a:lnSpc>
              <a:spcBef>
                <a:spcPts val="400"/>
              </a:spcBef>
              <a:buFont typeface="Wingdings" panose="05000000000000000000" pitchFamily="2" charset="2"/>
              <a:buChar char="§"/>
            </a:pPr>
            <a:r>
              <a:rPr lang="pt-BR" sz="1200" b="1" dirty="0"/>
              <a:t>Estaleiro: </a:t>
            </a:r>
            <a:r>
              <a:rPr lang="pt-BR" sz="1200" dirty="0"/>
              <a:t>PCs aprovados para a PPU, PPU adicional e </a:t>
            </a:r>
            <a:r>
              <a:rPr lang="pt-BR" sz="1200" dirty="0" err="1"/>
              <a:t>VOR’s</a:t>
            </a:r>
            <a:r>
              <a:rPr lang="pt-BR" sz="1200" i="1" dirty="0"/>
              <a:t> (se houver)</a:t>
            </a:r>
            <a:r>
              <a:rPr lang="pt-BR" sz="1200" dirty="0"/>
              <a:t> </a:t>
            </a:r>
          </a:p>
          <a:p>
            <a:pPr marL="360363" lvl="1" indent="-174625">
              <a:lnSpc>
                <a:spcPct val="90000"/>
              </a:lnSpc>
              <a:spcBef>
                <a:spcPts val="400"/>
              </a:spcBef>
              <a:buFont typeface="Wingdings" panose="05000000000000000000" pitchFamily="2" charset="2"/>
              <a:buChar char="§"/>
            </a:pPr>
            <a:r>
              <a:rPr lang="pt-BR" sz="1200" b="1" dirty="0"/>
              <a:t>Oficinas:</a:t>
            </a:r>
            <a:r>
              <a:rPr lang="pt-BR" sz="1200" dirty="0"/>
              <a:t> PCs aprovados após a validação do Boletim de Medição (BM)</a:t>
            </a:r>
          </a:p>
          <a:p>
            <a:pPr marL="360363" lvl="1" indent="-174625">
              <a:lnSpc>
                <a:spcPct val="90000"/>
              </a:lnSpc>
              <a:spcBef>
                <a:spcPts val="400"/>
              </a:spcBef>
              <a:buFont typeface="Wingdings" panose="05000000000000000000" pitchFamily="2" charset="2"/>
              <a:buChar char="§"/>
            </a:pPr>
            <a:r>
              <a:rPr lang="pt-BR" sz="1200" b="1" dirty="0"/>
              <a:t>Materiais Importados</a:t>
            </a:r>
            <a:r>
              <a:rPr lang="pt-BR" sz="1200" b="1" baseline="30000" dirty="0"/>
              <a:t>1</a:t>
            </a:r>
            <a:r>
              <a:rPr lang="pt-BR" sz="1200" b="1" dirty="0"/>
              <a:t>: </a:t>
            </a:r>
            <a:r>
              <a:rPr lang="pt-BR" sz="1200" dirty="0"/>
              <a:t>PCs aprovados</a:t>
            </a:r>
            <a:r>
              <a:rPr lang="pt-BR" sz="1200" baseline="30000" dirty="0"/>
              <a:t>2</a:t>
            </a:r>
            <a:r>
              <a:rPr lang="pt-BR" sz="1200" dirty="0"/>
              <a:t> no valor total da importação (material + custos importação + impostos)</a:t>
            </a:r>
          </a:p>
          <a:p>
            <a:pPr marL="360363" lvl="1" indent="-174625">
              <a:lnSpc>
                <a:spcPct val="90000"/>
              </a:lnSpc>
              <a:spcBef>
                <a:spcPts val="400"/>
              </a:spcBef>
              <a:buFont typeface="Wingdings" panose="05000000000000000000" pitchFamily="2" charset="2"/>
              <a:buChar char="§"/>
            </a:pPr>
            <a:r>
              <a:rPr lang="pt-BR" sz="1200" b="1" dirty="0"/>
              <a:t>Materiais Nacionais</a:t>
            </a:r>
            <a:r>
              <a:rPr lang="pt-BR" sz="1200" dirty="0"/>
              <a:t>: PCs aprovados com base na quantidade atendida</a:t>
            </a:r>
          </a:p>
        </p:txBody>
      </p:sp>
      <p:sp>
        <p:nvSpPr>
          <p:cNvPr id="14" name="Espaço Reservado para Conteúdo 1">
            <a:extLst>
              <a:ext uri="{FF2B5EF4-FFF2-40B4-BE49-F238E27FC236}">
                <a16:creationId xmlns:a16="http://schemas.microsoft.com/office/drawing/2014/main" id="{AF38B168-804D-E22B-7706-B8F9B4F23469}"/>
              </a:ext>
            </a:extLst>
          </p:cNvPr>
          <p:cNvSpPr txBox="1">
            <a:spLocks/>
          </p:cNvSpPr>
          <p:nvPr/>
        </p:nvSpPr>
        <p:spPr>
          <a:xfrm>
            <a:off x="9925755" y="2132031"/>
            <a:ext cx="2124000" cy="3780000"/>
          </a:xfrm>
          <a:prstGeom prst="rect">
            <a:avLst/>
          </a:prstGeom>
          <a:solidFill>
            <a:schemeClr val="bg1">
              <a:lumMod val="95000"/>
            </a:schemeClr>
          </a:solidFill>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lnSpc>
                <a:spcPct val="90000"/>
              </a:lnSpc>
              <a:spcBef>
                <a:spcPts val="900"/>
              </a:spcBef>
              <a:buFont typeface="Wingdings" panose="05000000000000000000" pitchFamily="2" charset="2"/>
              <a:buChar char="§"/>
            </a:pPr>
            <a:r>
              <a:rPr lang="pt-BR" sz="1200" b="1" dirty="0"/>
              <a:t>Estágio final </a:t>
            </a:r>
            <a:r>
              <a:rPr lang="pt-BR" sz="1200" dirty="0"/>
              <a:t>da esteira financeira ...</a:t>
            </a:r>
          </a:p>
          <a:p>
            <a:pPr marL="182563" indent="-174625">
              <a:lnSpc>
                <a:spcPct val="90000"/>
              </a:lnSpc>
              <a:spcBef>
                <a:spcPts val="900"/>
              </a:spcBef>
              <a:buFont typeface="Wingdings" panose="05000000000000000000" pitchFamily="2" charset="2"/>
              <a:buChar char="§"/>
            </a:pPr>
            <a:r>
              <a:rPr lang="pt-BR" sz="1200" dirty="0"/>
              <a:t>... com o </a:t>
            </a:r>
            <a:r>
              <a:rPr lang="pt-BR" sz="1200" b="1" dirty="0"/>
              <a:t>recebimento e classificação no Protheus </a:t>
            </a:r>
            <a:r>
              <a:rPr lang="pt-BR" sz="1200" dirty="0"/>
              <a:t>do documento para pagamento ao fornecedor ...</a:t>
            </a:r>
          </a:p>
          <a:p>
            <a:pPr marL="182563" indent="-174625">
              <a:lnSpc>
                <a:spcPct val="90000"/>
              </a:lnSpc>
              <a:spcBef>
                <a:spcPts val="900"/>
              </a:spcBef>
              <a:buFont typeface="Wingdings" panose="05000000000000000000" pitchFamily="2" charset="2"/>
              <a:buChar char="§"/>
            </a:pPr>
            <a:r>
              <a:rPr lang="pt-BR" sz="1200" dirty="0"/>
              <a:t>... e </a:t>
            </a:r>
            <a:r>
              <a:rPr lang="pt-BR" sz="1200" b="1" dirty="0"/>
              <a:t>contabilização da valor realizado</a:t>
            </a:r>
            <a:r>
              <a:rPr lang="pt-BR" sz="1200" dirty="0"/>
              <a:t> para o material ou serviço utilizado pela Parada e Obras</a:t>
            </a:r>
          </a:p>
          <a:p>
            <a:pPr marL="182563" indent="-174625">
              <a:lnSpc>
                <a:spcPct val="90000"/>
              </a:lnSpc>
              <a:spcBef>
                <a:spcPts val="900"/>
              </a:spcBef>
              <a:buFont typeface="Wingdings" panose="05000000000000000000" pitchFamily="2" charset="2"/>
              <a:buChar char="§"/>
            </a:pPr>
            <a:endParaRPr lang="pt-BR" sz="1200" dirty="0"/>
          </a:p>
        </p:txBody>
      </p:sp>
      <p:sp>
        <p:nvSpPr>
          <p:cNvPr id="15" name="Espaço Reservado para Conteúdo 1">
            <a:extLst>
              <a:ext uri="{FF2B5EF4-FFF2-40B4-BE49-F238E27FC236}">
                <a16:creationId xmlns:a16="http://schemas.microsoft.com/office/drawing/2014/main" id="{1580F61E-B612-328A-329C-51EDF48BB032}"/>
              </a:ext>
            </a:extLst>
          </p:cNvPr>
          <p:cNvSpPr txBox="1">
            <a:spLocks/>
          </p:cNvSpPr>
          <p:nvPr/>
        </p:nvSpPr>
        <p:spPr>
          <a:xfrm>
            <a:off x="9924386" y="5999967"/>
            <a:ext cx="2160000"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Contabilidade</a:t>
            </a:r>
          </a:p>
        </p:txBody>
      </p:sp>
      <p:sp>
        <p:nvSpPr>
          <p:cNvPr id="16" name="Espaço Reservado para Conteúdo 1">
            <a:extLst>
              <a:ext uri="{FF2B5EF4-FFF2-40B4-BE49-F238E27FC236}">
                <a16:creationId xmlns:a16="http://schemas.microsoft.com/office/drawing/2014/main" id="{1B2946ED-366C-41C7-7C49-8D8397FA4CFF}"/>
              </a:ext>
            </a:extLst>
          </p:cNvPr>
          <p:cNvSpPr txBox="1">
            <a:spLocks/>
          </p:cNvSpPr>
          <p:nvPr/>
        </p:nvSpPr>
        <p:spPr>
          <a:xfrm>
            <a:off x="7743286" y="5999967"/>
            <a:ext cx="2055671" cy="468000"/>
          </a:xfrm>
          <a:prstGeom prst="rect">
            <a:avLst/>
          </a:prstGeom>
          <a:solidFill>
            <a:schemeClr val="bg1">
              <a:lumMod val="95000"/>
            </a:schemeClr>
          </a:solidFill>
        </p:spPr>
        <p:txBody>
          <a:bodyPr lIns="53998" tIns="41537" rIns="53998" bIns="41537" anchor="t">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82563" indent="-174625">
              <a:spcBef>
                <a:spcPts val="0"/>
              </a:spcBef>
              <a:buFont typeface="Wingdings" panose="05000000000000000000" pitchFamily="2" charset="2"/>
              <a:buChar char="§"/>
            </a:pPr>
            <a:r>
              <a:rPr lang="pt-BR" sz="1200" dirty="0"/>
              <a:t>Aprovadores, de acordo com alçada</a:t>
            </a:r>
          </a:p>
        </p:txBody>
      </p:sp>
      <p:sp>
        <p:nvSpPr>
          <p:cNvPr id="3" name="CaixaDeTexto 9">
            <a:extLst>
              <a:ext uri="{FF2B5EF4-FFF2-40B4-BE49-F238E27FC236}">
                <a16:creationId xmlns:a16="http://schemas.microsoft.com/office/drawing/2014/main" id="{DF5DB2BB-8BB4-312E-F78C-DAE23B4D7E48}"/>
              </a:ext>
            </a:extLst>
          </p:cNvPr>
          <p:cNvSpPr txBox="1"/>
          <p:nvPr/>
        </p:nvSpPr>
        <p:spPr>
          <a:xfrm>
            <a:off x="127574" y="6499576"/>
            <a:ext cx="9038795" cy="369332"/>
          </a:xfrm>
          <a:prstGeom prst="rect">
            <a:avLst/>
          </a:prstGeom>
          <a:noFill/>
        </p:spPr>
        <p:txBody>
          <a:bodyPr wrap="square" rtlCol="0">
            <a:spAutoFit/>
          </a:bodyPr>
          <a:lstStyle/>
          <a:p>
            <a:pPr marL="179388" indent="-179388">
              <a:lnSpc>
                <a:spcPct val="90000"/>
              </a:lnSpc>
              <a:buFont typeface="+mj-lt"/>
              <a:buAutoNum type="arabicPeriod"/>
            </a:pPr>
            <a:r>
              <a:rPr lang="pt-BR" sz="1000" dirty="0"/>
              <a:t>Não inclui custos de consultoria aduaneira que são considerados como </a:t>
            </a:r>
            <a:r>
              <a:rPr lang="pt-BR" sz="1000" dirty="0" err="1"/>
              <a:t>Opex</a:t>
            </a:r>
            <a:endParaRPr lang="pt-BR" sz="1000" dirty="0"/>
          </a:p>
          <a:p>
            <a:pPr marL="179388" indent="-179388">
              <a:lnSpc>
                <a:spcPct val="90000"/>
              </a:lnSpc>
              <a:buFont typeface="+mj-lt"/>
              <a:buAutoNum type="arabicPeriod"/>
            </a:pPr>
            <a:r>
              <a:rPr lang="pt-BR" sz="1000" dirty="0"/>
              <a:t>O custo total da importação de materiais inclui diferentes fornecedores (fabricante, transportadora, governo etc.)</a:t>
            </a:r>
          </a:p>
        </p:txBody>
      </p:sp>
      <p:sp>
        <p:nvSpPr>
          <p:cNvPr id="7" name="Rectangle 6">
            <a:extLst>
              <a:ext uri="{FF2B5EF4-FFF2-40B4-BE49-F238E27FC236}">
                <a16:creationId xmlns:a16="http://schemas.microsoft.com/office/drawing/2014/main" id="{C9F7F188-C4AE-DDA2-AD37-0B7A8731E842}"/>
              </a:ext>
            </a:extLst>
          </p:cNvPr>
          <p:cNvSpPr/>
          <p:nvPr/>
        </p:nvSpPr>
        <p:spPr>
          <a:xfrm>
            <a:off x="11064552"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4" name="Picture 2">
            <a:extLst>
              <a:ext uri="{FF2B5EF4-FFF2-40B4-BE49-F238E27FC236}">
                <a16:creationId xmlns:a16="http://schemas.microsoft.com/office/drawing/2014/main" id="{6BB36952-B521-A70A-8C7F-C57099576DF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CaixaDeTexto 557">
            <a:extLst>
              <a:ext uri="{FF2B5EF4-FFF2-40B4-BE49-F238E27FC236}">
                <a16:creationId xmlns:a16="http://schemas.microsoft.com/office/drawing/2014/main" id="{4188733F-4A74-9538-74AF-CFA6E0A28DAE}"/>
              </a:ext>
            </a:extLst>
          </p:cNvPr>
          <p:cNvSpPr txBox="1"/>
          <p:nvPr/>
        </p:nvSpPr>
        <p:spPr>
          <a:xfrm>
            <a:off x="113625" y="1542328"/>
            <a:ext cx="1036638" cy="504000"/>
          </a:xfrm>
          <a:prstGeom prst="rect">
            <a:avLst/>
          </a:prstGeom>
          <a:noFill/>
          <a:ln>
            <a:solidFill>
              <a:srgbClr val="014A65"/>
            </a:solidFill>
          </a:ln>
        </p:spPr>
        <p:txBody>
          <a:bodyPr wrap="square" lIns="90000" rtlCol="0" anchor="ctr">
            <a:noAutofit/>
          </a:bodyPr>
          <a:lstStyle/>
          <a:p>
            <a:pPr algn="r"/>
            <a:r>
              <a:rPr lang="pt-BR" sz="1200" b="1" i="1" dirty="0"/>
              <a:t>Estágio da Esteira</a:t>
            </a:r>
          </a:p>
        </p:txBody>
      </p:sp>
    </p:spTree>
    <p:extLst>
      <p:ext uri="{BB962C8B-B14F-4D97-AF65-F5344CB8AC3E}">
        <p14:creationId xmlns:p14="http://schemas.microsoft.com/office/powerpoint/2010/main" val="474436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4D16B-0D22-AC1F-D900-8D71ED3D5C14}"/>
            </a:ext>
          </a:extLst>
        </p:cNvPr>
        <p:cNvGrpSpPr/>
        <p:nvPr/>
      </p:nvGrpSpPr>
      <p:grpSpPr>
        <a:xfrm>
          <a:off x="0" y="0"/>
          <a:ext cx="0" cy="0"/>
          <a:chOff x="0" y="0"/>
          <a:chExt cx="0" cy="0"/>
        </a:xfrm>
      </p:grpSpPr>
      <p:sp>
        <p:nvSpPr>
          <p:cNvPr id="75" name="Retângulo 74">
            <a:extLst>
              <a:ext uri="{FF2B5EF4-FFF2-40B4-BE49-F238E27FC236}">
                <a16:creationId xmlns:a16="http://schemas.microsoft.com/office/drawing/2014/main" id="{B3A49EEC-8557-742D-52B3-96D2B1CA07B5}"/>
              </a:ext>
            </a:extLst>
          </p:cNvPr>
          <p:cNvSpPr/>
          <p:nvPr/>
        </p:nvSpPr>
        <p:spPr>
          <a:xfrm>
            <a:off x="9904306" y="1526367"/>
            <a:ext cx="2160000" cy="535923"/>
          </a:xfrm>
          <a:prstGeom prst="rect">
            <a:avLst/>
          </a:prstGeom>
          <a:solidFill>
            <a:srgbClr val="093F5D"/>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Contabilizado</a:t>
            </a:r>
          </a:p>
        </p:txBody>
      </p:sp>
      <p:sp>
        <p:nvSpPr>
          <p:cNvPr id="5" name="Título 4">
            <a:extLst>
              <a:ext uri="{FF2B5EF4-FFF2-40B4-BE49-F238E27FC236}">
                <a16:creationId xmlns:a16="http://schemas.microsoft.com/office/drawing/2014/main" id="{B784CE9B-AE93-33B4-4E3B-E8B00F6872F1}"/>
              </a:ext>
            </a:extLst>
          </p:cNvPr>
          <p:cNvSpPr>
            <a:spLocks noGrp="1"/>
          </p:cNvSpPr>
          <p:nvPr>
            <p:ph type="title"/>
          </p:nvPr>
        </p:nvSpPr>
        <p:spPr>
          <a:xfrm>
            <a:off x="1106905" y="303578"/>
            <a:ext cx="10485852" cy="645195"/>
          </a:xfrm>
        </p:spPr>
        <p:txBody>
          <a:bodyPr/>
          <a:lstStyle/>
          <a:p>
            <a:r>
              <a:rPr lang="pt-BR" dirty="0"/>
              <a:t>Esteira Financeira</a:t>
            </a:r>
            <a:br>
              <a:rPr lang="pt-BR" dirty="0"/>
            </a:br>
            <a:r>
              <a:rPr lang="pt-BR" sz="1600" b="0" dirty="0"/>
              <a:t>Proposta HUB</a:t>
            </a:r>
            <a:endParaRPr lang="pt-BR" dirty="0"/>
          </a:p>
        </p:txBody>
      </p:sp>
      <p:sp>
        <p:nvSpPr>
          <p:cNvPr id="11" name="Espaço Reservado para Conteúdo 1">
            <a:extLst>
              <a:ext uri="{FF2B5EF4-FFF2-40B4-BE49-F238E27FC236}">
                <a16:creationId xmlns:a16="http://schemas.microsoft.com/office/drawing/2014/main" id="{76B3E311-6C0D-0882-8752-34D27BF4DBAC}"/>
              </a:ext>
            </a:extLst>
          </p:cNvPr>
          <p:cNvSpPr txBox="1">
            <a:spLocks/>
          </p:cNvSpPr>
          <p:nvPr/>
        </p:nvSpPr>
        <p:spPr>
          <a:xfrm>
            <a:off x="696000" y="980728"/>
            <a:ext cx="10800000" cy="322452"/>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b="1" dirty="0"/>
              <a:t>Resumo</a:t>
            </a:r>
            <a:r>
              <a:rPr lang="pt-BR" sz="1400" dirty="0"/>
              <a:t> sobre </a:t>
            </a:r>
            <a:r>
              <a:rPr lang="pt-BR" sz="1400" b="1" dirty="0"/>
              <a:t>marcos</a:t>
            </a:r>
            <a:r>
              <a:rPr lang="pt-BR" sz="1400" dirty="0"/>
              <a:t> de cada estágio da esteira financeira </a:t>
            </a:r>
            <a:r>
              <a:rPr lang="pt-BR" sz="1400" b="1" dirty="0"/>
              <a:t>e</a:t>
            </a:r>
            <a:r>
              <a:rPr lang="pt-BR" sz="1400" dirty="0"/>
              <a:t> suas </a:t>
            </a:r>
            <a:r>
              <a:rPr lang="pt-BR" sz="1400" b="1" dirty="0"/>
              <a:t>fontes de dados / informação</a:t>
            </a:r>
          </a:p>
        </p:txBody>
      </p:sp>
      <p:sp>
        <p:nvSpPr>
          <p:cNvPr id="27" name="Seta: Pentágono 71">
            <a:extLst>
              <a:ext uri="{FF2B5EF4-FFF2-40B4-BE49-F238E27FC236}">
                <a16:creationId xmlns:a16="http://schemas.microsoft.com/office/drawing/2014/main" id="{9F553D43-6A00-48EF-CE37-ADA2ADE2007E}"/>
              </a:ext>
            </a:extLst>
          </p:cNvPr>
          <p:cNvSpPr/>
          <p:nvPr/>
        </p:nvSpPr>
        <p:spPr>
          <a:xfrm>
            <a:off x="7726034" y="1526367"/>
            <a:ext cx="2160000" cy="535923"/>
          </a:xfrm>
          <a:prstGeom prst="homePlate">
            <a:avLst>
              <a:gd name="adj" fmla="val 38625"/>
            </a:avLst>
          </a:prstGeom>
          <a:solidFill>
            <a:srgbClr val="07365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Empenhado</a:t>
            </a:r>
          </a:p>
        </p:txBody>
      </p:sp>
      <p:sp>
        <p:nvSpPr>
          <p:cNvPr id="26" name="Seta: Pentágono 71">
            <a:extLst>
              <a:ext uri="{FF2B5EF4-FFF2-40B4-BE49-F238E27FC236}">
                <a16:creationId xmlns:a16="http://schemas.microsoft.com/office/drawing/2014/main" id="{6F402598-8FED-2A25-B343-B4DFED76F3C0}"/>
              </a:ext>
            </a:extLst>
          </p:cNvPr>
          <p:cNvSpPr/>
          <p:nvPr/>
        </p:nvSpPr>
        <p:spPr>
          <a:xfrm>
            <a:off x="5547762" y="1526367"/>
            <a:ext cx="2160000" cy="535923"/>
          </a:xfrm>
          <a:prstGeom prst="homePlate">
            <a:avLst>
              <a:gd name="adj" fmla="val 38625"/>
            </a:avLst>
          </a:prstGeom>
          <a:solidFill>
            <a:srgbClr val="052C4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Cotado</a:t>
            </a:r>
          </a:p>
        </p:txBody>
      </p:sp>
      <p:sp>
        <p:nvSpPr>
          <p:cNvPr id="25" name="Seta: Pentágono 71">
            <a:extLst>
              <a:ext uri="{FF2B5EF4-FFF2-40B4-BE49-F238E27FC236}">
                <a16:creationId xmlns:a16="http://schemas.microsoft.com/office/drawing/2014/main" id="{C317BC11-1E8B-9C19-03CE-F2F4C22FE4BA}"/>
              </a:ext>
            </a:extLst>
          </p:cNvPr>
          <p:cNvSpPr/>
          <p:nvPr/>
        </p:nvSpPr>
        <p:spPr>
          <a:xfrm>
            <a:off x="3369490" y="1526367"/>
            <a:ext cx="2160000" cy="535923"/>
          </a:xfrm>
          <a:prstGeom prst="homePlate">
            <a:avLst>
              <a:gd name="adj" fmla="val 38625"/>
            </a:avLst>
          </a:prstGeom>
          <a:solidFill>
            <a:srgbClr val="04293E"/>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Comprometido</a:t>
            </a:r>
          </a:p>
        </p:txBody>
      </p:sp>
      <p:sp>
        <p:nvSpPr>
          <p:cNvPr id="2" name="Seta: Pentágono 71">
            <a:extLst>
              <a:ext uri="{FF2B5EF4-FFF2-40B4-BE49-F238E27FC236}">
                <a16:creationId xmlns:a16="http://schemas.microsoft.com/office/drawing/2014/main" id="{2A791E4F-875D-BE09-ED9D-D77E540734CC}"/>
              </a:ext>
            </a:extLst>
          </p:cNvPr>
          <p:cNvSpPr/>
          <p:nvPr/>
        </p:nvSpPr>
        <p:spPr>
          <a:xfrm>
            <a:off x="1191218" y="1526367"/>
            <a:ext cx="2160000" cy="535923"/>
          </a:xfrm>
          <a:prstGeom prst="homePlate">
            <a:avLst>
              <a:gd name="adj" fmla="val 38625"/>
            </a:avLst>
          </a:prstGeom>
          <a:solidFill>
            <a:srgbClr val="031B2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Estimado</a:t>
            </a:r>
          </a:p>
        </p:txBody>
      </p:sp>
      <p:sp>
        <p:nvSpPr>
          <p:cNvPr id="42" name="Oval 41">
            <a:extLst>
              <a:ext uri="{FF2B5EF4-FFF2-40B4-BE49-F238E27FC236}">
                <a16:creationId xmlns:a16="http://schemas.microsoft.com/office/drawing/2014/main" id="{B94BE848-2225-D9E2-48AB-41291B6FC15E}"/>
              </a:ext>
            </a:extLst>
          </p:cNvPr>
          <p:cNvSpPr>
            <a:spLocks noChangeAspect="1"/>
          </p:cNvSpPr>
          <p:nvPr/>
        </p:nvSpPr>
        <p:spPr>
          <a:xfrm>
            <a:off x="1296304" y="1636815"/>
            <a:ext cx="315026" cy="315026"/>
          </a:xfrm>
          <a:prstGeom prst="ellipse">
            <a:avLst/>
          </a:prstGeom>
          <a:solidFill>
            <a:srgbClr val="031B2B"/>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1</a:t>
            </a:r>
          </a:p>
        </p:txBody>
      </p:sp>
      <p:sp>
        <p:nvSpPr>
          <p:cNvPr id="43" name="Oval 42">
            <a:extLst>
              <a:ext uri="{FF2B5EF4-FFF2-40B4-BE49-F238E27FC236}">
                <a16:creationId xmlns:a16="http://schemas.microsoft.com/office/drawing/2014/main" id="{209EC787-3266-6784-D131-2619A2D43189}"/>
              </a:ext>
            </a:extLst>
          </p:cNvPr>
          <p:cNvSpPr>
            <a:spLocks noChangeAspect="1"/>
          </p:cNvSpPr>
          <p:nvPr/>
        </p:nvSpPr>
        <p:spPr>
          <a:xfrm>
            <a:off x="3474599" y="1636815"/>
            <a:ext cx="315026" cy="315026"/>
          </a:xfrm>
          <a:prstGeom prst="ellipse">
            <a:avLst/>
          </a:prstGeom>
          <a:solidFill>
            <a:srgbClr val="04293E"/>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2</a:t>
            </a:r>
          </a:p>
        </p:txBody>
      </p:sp>
      <p:sp>
        <p:nvSpPr>
          <p:cNvPr id="45" name="Oval 44">
            <a:extLst>
              <a:ext uri="{FF2B5EF4-FFF2-40B4-BE49-F238E27FC236}">
                <a16:creationId xmlns:a16="http://schemas.microsoft.com/office/drawing/2014/main" id="{217AC452-EBDC-B288-30A9-198021A2A472}"/>
              </a:ext>
            </a:extLst>
          </p:cNvPr>
          <p:cNvSpPr>
            <a:spLocks noChangeAspect="1"/>
          </p:cNvSpPr>
          <p:nvPr/>
        </p:nvSpPr>
        <p:spPr>
          <a:xfrm>
            <a:off x="5652894" y="1636815"/>
            <a:ext cx="315026" cy="315026"/>
          </a:xfrm>
          <a:prstGeom prst="ellipse">
            <a:avLst/>
          </a:prstGeom>
          <a:solidFill>
            <a:srgbClr val="052C4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3</a:t>
            </a:r>
          </a:p>
        </p:txBody>
      </p:sp>
      <p:sp>
        <p:nvSpPr>
          <p:cNvPr id="46" name="Oval 45">
            <a:extLst>
              <a:ext uri="{FF2B5EF4-FFF2-40B4-BE49-F238E27FC236}">
                <a16:creationId xmlns:a16="http://schemas.microsoft.com/office/drawing/2014/main" id="{5D9B8D51-946D-D6A9-0B8D-AE786D5782F7}"/>
              </a:ext>
            </a:extLst>
          </p:cNvPr>
          <p:cNvSpPr>
            <a:spLocks noChangeAspect="1"/>
          </p:cNvSpPr>
          <p:nvPr/>
        </p:nvSpPr>
        <p:spPr>
          <a:xfrm>
            <a:off x="7831189" y="1636815"/>
            <a:ext cx="315026" cy="315026"/>
          </a:xfrm>
          <a:prstGeom prst="ellipse">
            <a:avLst/>
          </a:prstGeom>
          <a:solidFill>
            <a:srgbClr val="07365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4</a:t>
            </a:r>
          </a:p>
        </p:txBody>
      </p:sp>
      <p:sp>
        <p:nvSpPr>
          <p:cNvPr id="48" name="Oval 47">
            <a:extLst>
              <a:ext uri="{FF2B5EF4-FFF2-40B4-BE49-F238E27FC236}">
                <a16:creationId xmlns:a16="http://schemas.microsoft.com/office/drawing/2014/main" id="{39DF247A-63C8-F690-D3A0-5D1DFE5DFAC7}"/>
              </a:ext>
            </a:extLst>
          </p:cNvPr>
          <p:cNvSpPr>
            <a:spLocks noChangeAspect="1"/>
          </p:cNvSpPr>
          <p:nvPr/>
        </p:nvSpPr>
        <p:spPr>
          <a:xfrm>
            <a:off x="10009483" y="1636815"/>
            <a:ext cx="315026" cy="315026"/>
          </a:xfrm>
          <a:prstGeom prst="ellipse">
            <a:avLst/>
          </a:prstGeom>
          <a:solidFill>
            <a:srgbClr val="093F5D"/>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5</a:t>
            </a:r>
          </a:p>
        </p:txBody>
      </p:sp>
      <p:sp>
        <p:nvSpPr>
          <p:cNvPr id="9" name="CaixaDeTexto 557">
            <a:extLst>
              <a:ext uri="{FF2B5EF4-FFF2-40B4-BE49-F238E27FC236}">
                <a16:creationId xmlns:a16="http://schemas.microsoft.com/office/drawing/2014/main" id="{A750583D-C992-2A1D-3237-7E91B1AC952F}"/>
              </a:ext>
            </a:extLst>
          </p:cNvPr>
          <p:cNvSpPr txBox="1"/>
          <p:nvPr/>
        </p:nvSpPr>
        <p:spPr>
          <a:xfrm>
            <a:off x="113625" y="1542328"/>
            <a:ext cx="1036638" cy="504000"/>
          </a:xfrm>
          <a:prstGeom prst="rect">
            <a:avLst/>
          </a:prstGeom>
          <a:noFill/>
          <a:ln>
            <a:solidFill>
              <a:srgbClr val="014A65"/>
            </a:solidFill>
          </a:ln>
        </p:spPr>
        <p:txBody>
          <a:bodyPr wrap="square" lIns="90000" rtlCol="0" anchor="ctr">
            <a:noAutofit/>
          </a:bodyPr>
          <a:lstStyle/>
          <a:p>
            <a:pPr algn="r"/>
            <a:r>
              <a:rPr lang="pt-BR" sz="1200" b="1" i="1" dirty="0"/>
              <a:t>Estágio da Esteira</a:t>
            </a:r>
          </a:p>
        </p:txBody>
      </p:sp>
      <p:sp>
        <p:nvSpPr>
          <p:cNvPr id="17" name="CaixaDeTexto 557">
            <a:extLst>
              <a:ext uri="{FF2B5EF4-FFF2-40B4-BE49-F238E27FC236}">
                <a16:creationId xmlns:a16="http://schemas.microsoft.com/office/drawing/2014/main" id="{A055E0BC-9FCE-9031-53CF-0E07383C18D2}"/>
              </a:ext>
            </a:extLst>
          </p:cNvPr>
          <p:cNvSpPr txBox="1"/>
          <p:nvPr/>
        </p:nvSpPr>
        <p:spPr>
          <a:xfrm>
            <a:off x="113625" y="2132029"/>
            <a:ext cx="290501" cy="2232247"/>
          </a:xfrm>
          <a:prstGeom prst="rect">
            <a:avLst/>
          </a:prstGeom>
          <a:noFill/>
          <a:ln>
            <a:solidFill>
              <a:srgbClr val="014A65"/>
            </a:solidFill>
          </a:ln>
        </p:spPr>
        <p:txBody>
          <a:bodyPr vert="vert270" wrap="square" lIns="90000" rtlCol="0" anchor="ctr">
            <a:noAutofit/>
          </a:bodyPr>
          <a:lstStyle/>
          <a:p>
            <a:pPr algn="ctr"/>
            <a:r>
              <a:rPr lang="pt-BR" sz="1200" b="1" i="1" dirty="0"/>
              <a:t>Materiais</a:t>
            </a:r>
            <a:endParaRPr lang="pt-BR" sz="1200" i="1" dirty="0"/>
          </a:p>
        </p:txBody>
      </p:sp>
      <p:sp>
        <p:nvSpPr>
          <p:cNvPr id="18" name="CaixaDeTexto 557">
            <a:extLst>
              <a:ext uri="{FF2B5EF4-FFF2-40B4-BE49-F238E27FC236}">
                <a16:creationId xmlns:a16="http://schemas.microsoft.com/office/drawing/2014/main" id="{D0FE280A-8E01-023B-C4B4-17989248071E}"/>
              </a:ext>
            </a:extLst>
          </p:cNvPr>
          <p:cNvSpPr txBox="1"/>
          <p:nvPr/>
        </p:nvSpPr>
        <p:spPr>
          <a:xfrm>
            <a:off x="468466" y="2132031"/>
            <a:ext cx="689159" cy="1080000"/>
          </a:xfrm>
          <a:prstGeom prst="rect">
            <a:avLst/>
          </a:prstGeom>
          <a:noFill/>
          <a:ln>
            <a:solidFill>
              <a:srgbClr val="014A65"/>
            </a:solidFill>
          </a:ln>
        </p:spPr>
        <p:txBody>
          <a:bodyPr vert="horz" wrap="square" lIns="90000" rtlCol="0" anchor="ctr">
            <a:noAutofit/>
          </a:bodyPr>
          <a:lstStyle/>
          <a:p>
            <a:pPr algn="ctr"/>
            <a:r>
              <a:rPr lang="pt-BR" sz="1200" b="1" i="1" dirty="0" err="1"/>
              <a:t>Naci-onais</a:t>
            </a:r>
            <a:endParaRPr lang="pt-BR" sz="1200" i="1" dirty="0"/>
          </a:p>
        </p:txBody>
      </p:sp>
      <p:sp>
        <p:nvSpPr>
          <p:cNvPr id="19" name="CaixaDeTexto 557">
            <a:extLst>
              <a:ext uri="{FF2B5EF4-FFF2-40B4-BE49-F238E27FC236}">
                <a16:creationId xmlns:a16="http://schemas.microsoft.com/office/drawing/2014/main" id="{068991CA-E5E5-3A57-17DB-4CAE08B86B58}"/>
              </a:ext>
            </a:extLst>
          </p:cNvPr>
          <p:cNvSpPr txBox="1"/>
          <p:nvPr/>
        </p:nvSpPr>
        <p:spPr>
          <a:xfrm>
            <a:off x="468466" y="3285104"/>
            <a:ext cx="689159" cy="1080000"/>
          </a:xfrm>
          <a:prstGeom prst="rect">
            <a:avLst/>
          </a:prstGeom>
          <a:noFill/>
          <a:ln>
            <a:solidFill>
              <a:srgbClr val="014A65"/>
            </a:solidFill>
          </a:ln>
        </p:spPr>
        <p:txBody>
          <a:bodyPr vert="horz" wrap="square" lIns="90000" rtlCol="0" anchor="ctr">
            <a:noAutofit/>
          </a:bodyPr>
          <a:lstStyle/>
          <a:p>
            <a:pPr algn="ctr"/>
            <a:r>
              <a:rPr lang="pt-BR" sz="1200" b="1" i="1" dirty="0" err="1"/>
              <a:t>Impor-tados</a:t>
            </a:r>
            <a:endParaRPr lang="pt-BR" sz="1200" i="1" dirty="0"/>
          </a:p>
        </p:txBody>
      </p:sp>
      <p:sp>
        <p:nvSpPr>
          <p:cNvPr id="20" name="CaixaDeTexto 557">
            <a:extLst>
              <a:ext uri="{FF2B5EF4-FFF2-40B4-BE49-F238E27FC236}">
                <a16:creationId xmlns:a16="http://schemas.microsoft.com/office/drawing/2014/main" id="{78544534-839F-108D-8D1C-7AF1532B8CB4}"/>
              </a:ext>
            </a:extLst>
          </p:cNvPr>
          <p:cNvSpPr txBox="1"/>
          <p:nvPr/>
        </p:nvSpPr>
        <p:spPr>
          <a:xfrm>
            <a:off x="113625" y="4474820"/>
            <a:ext cx="290501" cy="2232248"/>
          </a:xfrm>
          <a:prstGeom prst="rect">
            <a:avLst/>
          </a:prstGeom>
          <a:noFill/>
          <a:ln>
            <a:solidFill>
              <a:srgbClr val="014A65"/>
            </a:solidFill>
          </a:ln>
        </p:spPr>
        <p:txBody>
          <a:bodyPr vert="vert270" wrap="square" lIns="90000" rtlCol="0" anchor="ctr">
            <a:noAutofit/>
          </a:bodyPr>
          <a:lstStyle/>
          <a:p>
            <a:pPr algn="ctr"/>
            <a:r>
              <a:rPr lang="pt-BR" sz="1200" b="1" i="1" dirty="0"/>
              <a:t>Serviços</a:t>
            </a:r>
            <a:endParaRPr lang="pt-BR" sz="1200" i="1" dirty="0"/>
          </a:p>
        </p:txBody>
      </p:sp>
      <p:sp>
        <p:nvSpPr>
          <p:cNvPr id="21" name="CaixaDeTexto 557">
            <a:extLst>
              <a:ext uri="{FF2B5EF4-FFF2-40B4-BE49-F238E27FC236}">
                <a16:creationId xmlns:a16="http://schemas.microsoft.com/office/drawing/2014/main" id="{CB8B17F6-C96E-989E-251C-2958AE5765AD}"/>
              </a:ext>
            </a:extLst>
          </p:cNvPr>
          <p:cNvSpPr txBox="1"/>
          <p:nvPr/>
        </p:nvSpPr>
        <p:spPr>
          <a:xfrm>
            <a:off x="468466" y="4474820"/>
            <a:ext cx="689159" cy="1080000"/>
          </a:xfrm>
          <a:prstGeom prst="rect">
            <a:avLst/>
          </a:prstGeom>
          <a:noFill/>
          <a:ln>
            <a:solidFill>
              <a:srgbClr val="014A65"/>
            </a:solidFill>
          </a:ln>
        </p:spPr>
        <p:txBody>
          <a:bodyPr vert="horz" wrap="square" lIns="90000" rtlCol="0" anchor="ctr">
            <a:noAutofit/>
          </a:bodyPr>
          <a:lstStyle/>
          <a:p>
            <a:pPr algn="ctr"/>
            <a:r>
              <a:rPr lang="pt-BR" sz="1200" b="1" i="1" dirty="0" err="1"/>
              <a:t>Ofici-nas</a:t>
            </a:r>
            <a:endParaRPr lang="pt-BR" sz="1200" i="1" dirty="0"/>
          </a:p>
        </p:txBody>
      </p:sp>
      <p:sp>
        <p:nvSpPr>
          <p:cNvPr id="22" name="CaixaDeTexto 557">
            <a:extLst>
              <a:ext uri="{FF2B5EF4-FFF2-40B4-BE49-F238E27FC236}">
                <a16:creationId xmlns:a16="http://schemas.microsoft.com/office/drawing/2014/main" id="{5702C784-8828-76EB-DDFC-B8097C8F9F3C}"/>
              </a:ext>
            </a:extLst>
          </p:cNvPr>
          <p:cNvSpPr txBox="1"/>
          <p:nvPr/>
        </p:nvSpPr>
        <p:spPr>
          <a:xfrm>
            <a:off x="468466" y="5627068"/>
            <a:ext cx="689159" cy="1080000"/>
          </a:xfrm>
          <a:prstGeom prst="rect">
            <a:avLst/>
          </a:prstGeom>
          <a:noFill/>
          <a:ln>
            <a:solidFill>
              <a:srgbClr val="014A65"/>
            </a:solidFill>
          </a:ln>
        </p:spPr>
        <p:txBody>
          <a:bodyPr vert="horz" wrap="square" lIns="90000" rtlCol="0" anchor="ctr">
            <a:noAutofit/>
          </a:bodyPr>
          <a:lstStyle/>
          <a:p>
            <a:pPr algn="ctr"/>
            <a:r>
              <a:rPr lang="pt-BR" sz="1200" b="1" i="1" dirty="0" err="1"/>
              <a:t>Estalei-ros</a:t>
            </a:r>
            <a:endParaRPr lang="pt-BR" sz="1200" i="1" dirty="0"/>
          </a:p>
        </p:txBody>
      </p:sp>
      <p:sp>
        <p:nvSpPr>
          <p:cNvPr id="23" name="Espaço Reservado para Conteúdo 1">
            <a:extLst>
              <a:ext uri="{FF2B5EF4-FFF2-40B4-BE49-F238E27FC236}">
                <a16:creationId xmlns:a16="http://schemas.microsoft.com/office/drawing/2014/main" id="{B95E90A5-79EC-3A59-DF65-AAF1BEA80269}"/>
              </a:ext>
            </a:extLst>
          </p:cNvPr>
          <p:cNvSpPr txBox="1">
            <a:spLocks/>
          </p:cNvSpPr>
          <p:nvPr/>
        </p:nvSpPr>
        <p:spPr>
          <a:xfrm>
            <a:off x="1223649" y="2132031"/>
            <a:ext cx="2052000" cy="2232245"/>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primeiros lançamentos de valores estimados, agregados no nível de materiais</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Input manual no HUB</a:t>
            </a:r>
          </a:p>
        </p:txBody>
      </p:sp>
      <p:sp>
        <p:nvSpPr>
          <p:cNvPr id="34" name="Espaço Reservado para Conteúdo 1">
            <a:extLst>
              <a:ext uri="{FF2B5EF4-FFF2-40B4-BE49-F238E27FC236}">
                <a16:creationId xmlns:a16="http://schemas.microsoft.com/office/drawing/2014/main" id="{727E5BAB-7321-BB52-153B-3CDCBB62A8D6}"/>
              </a:ext>
            </a:extLst>
          </p:cNvPr>
          <p:cNvSpPr txBox="1">
            <a:spLocks/>
          </p:cNvSpPr>
          <p:nvPr/>
        </p:nvSpPr>
        <p:spPr>
          <a:xfrm>
            <a:off x="3392975" y="2132031"/>
            <a:ext cx="2052000" cy="2232245"/>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Marco do estágio</a:t>
            </a:r>
            <a:r>
              <a:rPr lang="pt-BR" sz="1200" dirty="0"/>
              <a:t>: desdobramento dos valores estimados de materiais por origem nacional ou importado</a:t>
            </a:r>
          </a:p>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Fonte de dado</a:t>
            </a:r>
            <a:r>
              <a:rPr lang="pt-BR" sz="1200" dirty="0"/>
              <a:t>: Input manual no HUB</a:t>
            </a:r>
          </a:p>
        </p:txBody>
      </p:sp>
      <p:sp>
        <p:nvSpPr>
          <p:cNvPr id="35" name="Espaço Reservado para Conteúdo 1">
            <a:extLst>
              <a:ext uri="{FF2B5EF4-FFF2-40B4-BE49-F238E27FC236}">
                <a16:creationId xmlns:a16="http://schemas.microsoft.com/office/drawing/2014/main" id="{BBBC363A-C8AB-D506-3DAD-537AAC2817BC}"/>
              </a:ext>
            </a:extLst>
          </p:cNvPr>
          <p:cNvSpPr txBox="1">
            <a:spLocks/>
          </p:cNvSpPr>
          <p:nvPr/>
        </p:nvSpPr>
        <p:spPr>
          <a:xfrm>
            <a:off x="5572701" y="2132031"/>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cotação recebida do fornecedor</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módulo de cotação do Protheus</a:t>
            </a:r>
          </a:p>
        </p:txBody>
      </p:sp>
      <p:sp>
        <p:nvSpPr>
          <p:cNvPr id="40" name="Espaço Reservado para Conteúdo 1">
            <a:extLst>
              <a:ext uri="{FF2B5EF4-FFF2-40B4-BE49-F238E27FC236}">
                <a16:creationId xmlns:a16="http://schemas.microsoft.com/office/drawing/2014/main" id="{60C708B0-408C-0101-3C58-B86DC2BF4CD9}"/>
              </a:ext>
            </a:extLst>
          </p:cNvPr>
          <p:cNvSpPr txBox="1">
            <a:spLocks/>
          </p:cNvSpPr>
          <p:nvPr/>
        </p:nvSpPr>
        <p:spPr>
          <a:xfrm>
            <a:off x="5572701" y="3285104"/>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Simulação de importação (SI) aberta</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a:t>
            </a:r>
            <a:r>
              <a:rPr lang="pt-BR" sz="1200" dirty="0" err="1"/>
              <a:t>Fluig</a:t>
            </a:r>
            <a:endParaRPr lang="pt-BR" sz="1200" dirty="0"/>
          </a:p>
        </p:txBody>
      </p:sp>
      <p:sp>
        <p:nvSpPr>
          <p:cNvPr id="41" name="Espaço Reservado para Conteúdo 1">
            <a:extLst>
              <a:ext uri="{FF2B5EF4-FFF2-40B4-BE49-F238E27FC236}">
                <a16:creationId xmlns:a16="http://schemas.microsoft.com/office/drawing/2014/main" id="{19712B6B-29D0-D95E-40AC-503802CDA0B3}"/>
              </a:ext>
            </a:extLst>
          </p:cNvPr>
          <p:cNvSpPr txBox="1">
            <a:spLocks/>
          </p:cNvSpPr>
          <p:nvPr/>
        </p:nvSpPr>
        <p:spPr>
          <a:xfrm>
            <a:off x="5572701" y="4474820"/>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OS emitida para fornecedor selecionado</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TM Master</a:t>
            </a:r>
          </a:p>
        </p:txBody>
      </p:sp>
      <p:sp>
        <p:nvSpPr>
          <p:cNvPr id="44" name="Espaço Reservado para Conteúdo 1">
            <a:extLst>
              <a:ext uri="{FF2B5EF4-FFF2-40B4-BE49-F238E27FC236}">
                <a16:creationId xmlns:a16="http://schemas.microsoft.com/office/drawing/2014/main" id="{C17B2BFE-6107-6627-BEC1-1B57B38E07C8}"/>
              </a:ext>
            </a:extLst>
          </p:cNvPr>
          <p:cNvSpPr txBox="1">
            <a:spLocks/>
          </p:cNvSpPr>
          <p:nvPr/>
        </p:nvSpPr>
        <p:spPr>
          <a:xfrm>
            <a:off x="5572701" y="5627068"/>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a:t>
            </a:r>
            <a:r>
              <a:rPr lang="pt-BR" sz="1200" dirty="0" err="1"/>
              <a:t>PPUs</a:t>
            </a:r>
            <a:r>
              <a:rPr lang="pt-BR" sz="1200" dirty="0"/>
              <a:t> e </a:t>
            </a:r>
            <a:r>
              <a:rPr lang="pt-BR" sz="1200" dirty="0" err="1"/>
              <a:t>VOR’s</a:t>
            </a:r>
            <a:r>
              <a:rPr lang="pt-BR" sz="1200" dirty="0"/>
              <a:t> aprovadas</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Input manual no HUB</a:t>
            </a:r>
          </a:p>
        </p:txBody>
      </p:sp>
      <p:sp>
        <p:nvSpPr>
          <p:cNvPr id="47" name="Espaço Reservado para Conteúdo 1">
            <a:extLst>
              <a:ext uri="{FF2B5EF4-FFF2-40B4-BE49-F238E27FC236}">
                <a16:creationId xmlns:a16="http://schemas.microsoft.com/office/drawing/2014/main" id="{FD931BA8-C86C-F161-67EC-8B39ADE6B405}"/>
              </a:ext>
            </a:extLst>
          </p:cNvPr>
          <p:cNvSpPr txBox="1">
            <a:spLocks/>
          </p:cNvSpPr>
          <p:nvPr/>
        </p:nvSpPr>
        <p:spPr>
          <a:xfrm>
            <a:off x="1223649" y="4474820"/>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primeiros lançamentos de valores estimados para oficinas</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Input manual no HUB</a:t>
            </a:r>
          </a:p>
        </p:txBody>
      </p:sp>
      <p:sp>
        <p:nvSpPr>
          <p:cNvPr id="50" name="Espaço Reservado para Conteúdo 1">
            <a:extLst>
              <a:ext uri="{FF2B5EF4-FFF2-40B4-BE49-F238E27FC236}">
                <a16:creationId xmlns:a16="http://schemas.microsoft.com/office/drawing/2014/main" id="{3B2F6F46-59F0-6617-81D5-81857C32F779}"/>
              </a:ext>
            </a:extLst>
          </p:cNvPr>
          <p:cNvSpPr txBox="1">
            <a:spLocks/>
          </p:cNvSpPr>
          <p:nvPr/>
        </p:nvSpPr>
        <p:spPr>
          <a:xfrm>
            <a:off x="7743871" y="2132031"/>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Pedido de Compra (PC) aprovado</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Protheus</a:t>
            </a:r>
          </a:p>
        </p:txBody>
      </p:sp>
      <p:sp>
        <p:nvSpPr>
          <p:cNvPr id="51" name="Espaço Reservado para Conteúdo 1">
            <a:extLst>
              <a:ext uri="{FF2B5EF4-FFF2-40B4-BE49-F238E27FC236}">
                <a16:creationId xmlns:a16="http://schemas.microsoft.com/office/drawing/2014/main" id="{3B36ED9A-E737-7470-5880-7CB8EE6453BB}"/>
              </a:ext>
            </a:extLst>
          </p:cNvPr>
          <p:cNvSpPr txBox="1">
            <a:spLocks/>
          </p:cNvSpPr>
          <p:nvPr/>
        </p:nvSpPr>
        <p:spPr>
          <a:xfrm>
            <a:off x="7743871" y="3285104"/>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a:t>
            </a:r>
            <a:r>
              <a:rPr lang="pt-BR" sz="1200" dirty="0">
                <a:solidFill>
                  <a:prstClr val="black"/>
                </a:solidFill>
              </a:rPr>
              <a:t>SI/PC aprovado (</a:t>
            </a:r>
            <a:r>
              <a:rPr lang="pt-BR" sz="1200" i="1" dirty="0">
                <a:solidFill>
                  <a:prstClr val="black"/>
                </a:solidFill>
              </a:rPr>
              <a:t>no valor total incluindo item + custos de importação)</a:t>
            </a:r>
            <a:endParaRPr lang="pt-BR" sz="1200" dirty="0">
              <a:solidFill>
                <a:prstClr val="black"/>
              </a:solidFill>
            </a:endParaRP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a:t>
            </a:r>
            <a:r>
              <a:rPr lang="pt-BR" sz="1200" dirty="0" err="1"/>
              <a:t>Fluig</a:t>
            </a:r>
            <a:endParaRPr lang="pt-BR" sz="1200" dirty="0"/>
          </a:p>
        </p:txBody>
      </p:sp>
      <p:sp>
        <p:nvSpPr>
          <p:cNvPr id="55" name="Espaço Reservado para Conteúdo 1">
            <a:extLst>
              <a:ext uri="{FF2B5EF4-FFF2-40B4-BE49-F238E27FC236}">
                <a16:creationId xmlns:a16="http://schemas.microsoft.com/office/drawing/2014/main" id="{3C06BE39-C334-865E-D7C5-6EF3BA644F8E}"/>
              </a:ext>
            </a:extLst>
          </p:cNvPr>
          <p:cNvSpPr txBox="1">
            <a:spLocks/>
          </p:cNvSpPr>
          <p:nvPr/>
        </p:nvSpPr>
        <p:spPr>
          <a:xfrm>
            <a:off x="1223649" y="5627068"/>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primeiros lançamentos de valores estimados para Estaleiro</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Input manual no HUB</a:t>
            </a:r>
          </a:p>
        </p:txBody>
      </p:sp>
      <p:sp>
        <p:nvSpPr>
          <p:cNvPr id="56" name="Espaço Reservado para Conteúdo 1">
            <a:extLst>
              <a:ext uri="{FF2B5EF4-FFF2-40B4-BE49-F238E27FC236}">
                <a16:creationId xmlns:a16="http://schemas.microsoft.com/office/drawing/2014/main" id="{BA43DF88-5B7F-5A01-BEEC-380286D58A10}"/>
              </a:ext>
            </a:extLst>
          </p:cNvPr>
          <p:cNvSpPr txBox="1">
            <a:spLocks/>
          </p:cNvSpPr>
          <p:nvPr/>
        </p:nvSpPr>
        <p:spPr>
          <a:xfrm>
            <a:off x="3392975" y="4474820"/>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Marco do estágio</a:t>
            </a:r>
            <a:r>
              <a:rPr lang="pt-BR" sz="1200" dirty="0"/>
              <a:t>: desdobramento dos valores estimados de Oficinas</a:t>
            </a:r>
          </a:p>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Fonte de dado</a:t>
            </a:r>
            <a:r>
              <a:rPr lang="pt-BR" sz="1200" dirty="0"/>
              <a:t>: Input manual no HUB</a:t>
            </a:r>
          </a:p>
        </p:txBody>
      </p:sp>
      <p:sp>
        <p:nvSpPr>
          <p:cNvPr id="57" name="Espaço Reservado para Conteúdo 1">
            <a:extLst>
              <a:ext uri="{FF2B5EF4-FFF2-40B4-BE49-F238E27FC236}">
                <a16:creationId xmlns:a16="http://schemas.microsoft.com/office/drawing/2014/main" id="{805E5A2B-3F92-B46A-F715-994147778B1F}"/>
              </a:ext>
            </a:extLst>
          </p:cNvPr>
          <p:cNvSpPr txBox="1">
            <a:spLocks/>
          </p:cNvSpPr>
          <p:nvPr/>
        </p:nvSpPr>
        <p:spPr>
          <a:xfrm>
            <a:off x="3392975" y="5627068"/>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Marco do estágio</a:t>
            </a:r>
            <a:r>
              <a:rPr lang="pt-BR" sz="1200" dirty="0"/>
              <a:t>: desdobramento dos valores estimados de Estaleiro</a:t>
            </a:r>
          </a:p>
          <a:p>
            <a:pPr marL="139700" marR="0" lvl="0" indent="-131763" fontAlgn="auto">
              <a:lnSpc>
                <a:spcPct val="90000"/>
              </a:lnSpc>
              <a:spcBef>
                <a:spcPts val="900"/>
              </a:spcBef>
              <a:spcAft>
                <a:spcPts val="0"/>
              </a:spcAft>
              <a:buFont typeface="Wingdings" panose="05000000000000000000" pitchFamily="2" charset="2"/>
              <a:buChar char="§"/>
              <a:tabLst/>
              <a:defRPr/>
            </a:pPr>
            <a:r>
              <a:rPr lang="pt-BR" sz="1200" b="1" dirty="0"/>
              <a:t>Fonte de dado</a:t>
            </a:r>
            <a:r>
              <a:rPr lang="pt-BR" sz="1200" dirty="0"/>
              <a:t>: Input manual no HUB</a:t>
            </a:r>
          </a:p>
        </p:txBody>
      </p:sp>
      <p:sp>
        <p:nvSpPr>
          <p:cNvPr id="58" name="Espaço Reservado para Conteúdo 1">
            <a:extLst>
              <a:ext uri="{FF2B5EF4-FFF2-40B4-BE49-F238E27FC236}">
                <a16:creationId xmlns:a16="http://schemas.microsoft.com/office/drawing/2014/main" id="{5383FF34-7CF5-FF0A-2444-CB1DCB58BE9D}"/>
              </a:ext>
            </a:extLst>
          </p:cNvPr>
          <p:cNvSpPr txBox="1">
            <a:spLocks/>
          </p:cNvSpPr>
          <p:nvPr/>
        </p:nvSpPr>
        <p:spPr>
          <a:xfrm>
            <a:off x="7743871" y="4474820"/>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Pedido de Compra (PC) aprovado após envio do Boletim de Medição (BM)</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Protheus</a:t>
            </a:r>
          </a:p>
        </p:txBody>
      </p:sp>
      <p:sp>
        <p:nvSpPr>
          <p:cNvPr id="59" name="Espaço Reservado para Conteúdo 1">
            <a:extLst>
              <a:ext uri="{FF2B5EF4-FFF2-40B4-BE49-F238E27FC236}">
                <a16:creationId xmlns:a16="http://schemas.microsoft.com/office/drawing/2014/main" id="{E7EE6A83-415B-26D8-6504-4B80B148A2C2}"/>
              </a:ext>
            </a:extLst>
          </p:cNvPr>
          <p:cNvSpPr txBox="1">
            <a:spLocks/>
          </p:cNvSpPr>
          <p:nvPr/>
        </p:nvSpPr>
        <p:spPr>
          <a:xfrm>
            <a:off x="7743871" y="5627068"/>
            <a:ext cx="2052000" cy="1080000"/>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Pedido de Compra (PC)</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Protheus</a:t>
            </a:r>
          </a:p>
        </p:txBody>
      </p:sp>
      <p:sp>
        <p:nvSpPr>
          <p:cNvPr id="60" name="Espaço Reservado para Conteúdo 1">
            <a:extLst>
              <a:ext uri="{FF2B5EF4-FFF2-40B4-BE49-F238E27FC236}">
                <a16:creationId xmlns:a16="http://schemas.microsoft.com/office/drawing/2014/main" id="{204595CE-3B63-5C65-EF0F-EC8A4CAFE8E8}"/>
              </a:ext>
            </a:extLst>
          </p:cNvPr>
          <p:cNvSpPr txBox="1">
            <a:spLocks/>
          </p:cNvSpPr>
          <p:nvPr/>
        </p:nvSpPr>
        <p:spPr>
          <a:xfrm>
            <a:off x="9921753" y="2132031"/>
            <a:ext cx="2118023" cy="4575037"/>
          </a:xfrm>
          <a:prstGeom prst="rect">
            <a:avLst/>
          </a:prstGeom>
          <a:solidFill>
            <a:schemeClr val="bg1">
              <a:lumMod val="95000"/>
            </a:schemeClr>
          </a:solidFill>
        </p:spPr>
        <p:txBody>
          <a:bodyPr lIns="36000" tIns="41537" rIns="54000"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139700" indent="-131763">
              <a:lnSpc>
                <a:spcPct val="90000"/>
              </a:lnSpc>
              <a:spcBef>
                <a:spcPts val="900"/>
              </a:spcBef>
              <a:buFont typeface="Wingdings" panose="05000000000000000000" pitchFamily="2" charset="2"/>
              <a:buChar char="§"/>
              <a:defRPr/>
            </a:pPr>
            <a:r>
              <a:rPr lang="pt-BR" sz="1200" b="1" dirty="0"/>
              <a:t>Marco do estágio</a:t>
            </a:r>
            <a:r>
              <a:rPr lang="pt-BR" sz="1200" dirty="0"/>
              <a:t>: recebimento, classificação e contabilização da NF e/ou Guia de Pagamento do Fornecedor ou Governo</a:t>
            </a:r>
          </a:p>
          <a:p>
            <a:pPr marL="139700" indent="-131763">
              <a:lnSpc>
                <a:spcPct val="90000"/>
              </a:lnSpc>
              <a:spcBef>
                <a:spcPts val="900"/>
              </a:spcBef>
              <a:buFont typeface="Wingdings" panose="05000000000000000000" pitchFamily="2" charset="2"/>
              <a:buChar char="§"/>
              <a:defRPr/>
            </a:pPr>
            <a:r>
              <a:rPr lang="pt-BR" sz="1200" b="1" dirty="0"/>
              <a:t>Fonte de dado</a:t>
            </a:r>
            <a:r>
              <a:rPr lang="pt-BR" sz="1200" dirty="0"/>
              <a:t>: Protheus</a:t>
            </a:r>
          </a:p>
        </p:txBody>
      </p:sp>
      <p:sp>
        <p:nvSpPr>
          <p:cNvPr id="61" name="Rectangle 60">
            <a:extLst>
              <a:ext uri="{FF2B5EF4-FFF2-40B4-BE49-F238E27FC236}">
                <a16:creationId xmlns:a16="http://schemas.microsoft.com/office/drawing/2014/main" id="{DAA9DD70-88CF-F71E-AAE0-90B35284DD20}"/>
              </a:ext>
            </a:extLst>
          </p:cNvPr>
          <p:cNvSpPr/>
          <p:nvPr/>
        </p:nvSpPr>
        <p:spPr>
          <a:xfrm>
            <a:off x="11064552"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62" name="Picture 2">
            <a:extLst>
              <a:ext uri="{FF2B5EF4-FFF2-40B4-BE49-F238E27FC236}">
                <a16:creationId xmlns:a16="http://schemas.microsoft.com/office/drawing/2014/main" id="{A60D4F46-488B-8EE8-D93E-45C022A6E25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6345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721D7-64D0-3218-498C-B1A84BF7F704}"/>
            </a:ext>
          </a:extLst>
        </p:cNvPr>
        <p:cNvGrpSpPr/>
        <p:nvPr/>
      </p:nvGrpSpPr>
      <p:grpSpPr>
        <a:xfrm>
          <a:off x="0" y="0"/>
          <a:ext cx="0" cy="0"/>
          <a:chOff x="0" y="0"/>
          <a:chExt cx="0" cy="0"/>
        </a:xfrm>
      </p:grpSpPr>
      <p:sp>
        <p:nvSpPr>
          <p:cNvPr id="221" name="Rectangle 220">
            <a:extLst>
              <a:ext uri="{FF2B5EF4-FFF2-40B4-BE49-F238E27FC236}">
                <a16:creationId xmlns:a16="http://schemas.microsoft.com/office/drawing/2014/main" id="{DB77AB3A-8B7F-4160-8D31-9C928B05C000}"/>
              </a:ext>
            </a:extLst>
          </p:cNvPr>
          <p:cNvSpPr/>
          <p:nvPr/>
        </p:nvSpPr>
        <p:spPr>
          <a:xfrm>
            <a:off x="11029326"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5" name="Título 4">
            <a:extLst>
              <a:ext uri="{FF2B5EF4-FFF2-40B4-BE49-F238E27FC236}">
                <a16:creationId xmlns:a16="http://schemas.microsoft.com/office/drawing/2014/main" id="{2B6BDDCF-83AA-207F-46C1-BF71D5C52538}"/>
              </a:ext>
            </a:extLst>
          </p:cNvPr>
          <p:cNvSpPr>
            <a:spLocks noGrp="1"/>
          </p:cNvSpPr>
          <p:nvPr>
            <p:ph type="title"/>
          </p:nvPr>
        </p:nvSpPr>
        <p:spPr>
          <a:xfrm>
            <a:off x="1106905" y="303578"/>
            <a:ext cx="10485852" cy="645195"/>
          </a:xfrm>
        </p:spPr>
        <p:txBody>
          <a:bodyPr/>
          <a:lstStyle/>
          <a:p>
            <a:r>
              <a:rPr lang="pt-BR" dirty="0"/>
              <a:t>Esteira Financeira</a:t>
            </a:r>
            <a:br>
              <a:rPr lang="pt-BR" dirty="0"/>
            </a:br>
            <a:r>
              <a:rPr lang="pt-BR" sz="1600" b="0" dirty="0"/>
              <a:t>Proposta HUB</a:t>
            </a:r>
            <a:endParaRPr lang="pt-BR" dirty="0"/>
          </a:p>
        </p:txBody>
      </p:sp>
      <p:sp>
        <p:nvSpPr>
          <p:cNvPr id="11" name="Espaço Reservado para Conteúdo 1">
            <a:extLst>
              <a:ext uri="{FF2B5EF4-FFF2-40B4-BE49-F238E27FC236}">
                <a16:creationId xmlns:a16="http://schemas.microsoft.com/office/drawing/2014/main" id="{7C3326B2-6BA1-E8AD-C68F-D6CA444FB9F3}"/>
              </a:ext>
            </a:extLst>
          </p:cNvPr>
          <p:cNvSpPr txBox="1">
            <a:spLocks/>
          </p:cNvSpPr>
          <p:nvPr/>
        </p:nvSpPr>
        <p:spPr>
          <a:xfrm>
            <a:off x="696000" y="980728"/>
            <a:ext cx="10800000" cy="504000"/>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Exemplo do Financeiro ao longo da Esteira</a:t>
            </a:r>
          </a:p>
        </p:txBody>
      </p:sp>
      <p:sp>
        <p:nvSpPr>
          <p:cNvPr id="7" name="Rectangle 6">
            <a:extLst>
              <a:ext uri="{FF2B5EF4-FFF2-40B4-BE49-F238E27FC236}">
                <a16:creationId xmlns:a16="http://schemas.microsoft.com/office/drawing/2014/main" id="{72129D8A-91D1-FADB-14F2-7A84A87F2662}"/>
              </a:ext>
            </a:extLst>
          </p:cNvPr>
          <p:cNvSpPr/>
          <p:nvPr/>
        </p:nvSpPr>
        <p:spPr>
          <a:xfrm>
            <a:off x="11064552" y="6276368"/>
            <a:ext cx="1126862" cy="581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4" name="Picture 2">
            <a:extLst>
              <a:ext uri="{FF2B5EF4-FFF2-40B4-BE49-F238E27FC236}">
                <a16:creationId xmlns:a16="http://schemas.microsoft.com/office/drawing/2014/main" id="{8234CA9F-B24F-BDE1-B893-D1FB000D076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729"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CaixaDeTexto 557">
            <a:extLst>
              <a:ext uri="{FF2B5EF4-FFF2-40B4-BE49-F238E27FC236}">
                <a16:creationId xmlns:a16="http://schemas.microsoft.com/office/drawing/2014/main" id="{BA76D193-A890-0500-2E4E-451088B890F3}"/>
              </a:ext>
            </a:extLst>
          </p:cNvPr>
          <p:cNvSpPr txBox="1"/>
          <p:nvPr/>
        </p:nvSpPr>
        <p:spPr>
          <a:xfrm>
            <a:off x="113625" y="1542328"/>
            <a:ext cx="1036638" cy="504000"/>
          </a:xfrm>
          <a:prstGeom prst="rect">
            <a:avLst/>
          </a:prstGeom>
          <a:noFill/>
          <a:ln>
            <a:solidFill>
              <a:srgbClr val="014A65"/>
            </a:solidFill>
          </a:ln>
        </p:spPr>
        <p:txBody>
          <a:bodyPr wrap="square" lIns="90000" rtlCol="0" anchor="ctr">
            <a:noAutofit/>
          </a:bodyPr>
          <a:lstStyle/>
          <a:p>
            <a:pPr algn="r"/>
            <a:r>
              <a:rPr lang="pt-BR" sz="1200" b="1" i="1" dirty="0"/>
              <a:t>Estágio da Esteira</a:t>
            </a:r>
          </a:p>
        </p:txBody>
      </p:sp>
      <p:sp>
        <p:nvSpPr>
          <p:cNvPr id="8" name="Retângulo 74">
            <a:extLst>
              <a:ext uri="{FF2B5EF4-FFF2-40B4-BE49-F238E27FC236}">
                <a16:creationId xmlns:a16="http://schemas.microsoft.com/office/drawing/2014/main" id="{1835C237-B36A-993A-20A6-17076F639845}"/>
              </a:ext>
            </a:extLst>
          </p:cNvPr>
          <p:cNvSpPr/>
          <p:nvPr/>
        </p:nvSpPr>
        <p:spPr>
          <a:xfrm>
            <a:off x="9904306" y="1526367"/>
            <a:ext cx="2160000" cy="535923"/>
          </a:xfrm>
          <a:prstGeom prst="rect">
            <a:avLst/>
          </a:prstGeom>
          <a:solidFill>
            <a:srgbClr val="093F5D"/>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Contabilizado</a:t>
            </a:r>
          </a:p>
        </p:txBody>
      </p:sp>
      <p:sp>
        <p:nvSpPr>
          <p:cNvPr id="10" name="Seta: Pentágono 71">
            <a:extLst>
              <a:ext uri="{FF2B5EF4-FFF2-40B4-BE49-F238E27FC236}">
                <a16:creationId xmlns:a16="http://schemas.microsoft.com/office/drawing/2014/main" id="{1B6B5696-9459-6AF9-29CE-6A680FF774FC}"/>
              </a:ext>
            </a:extLst>
          </p:cNvPr>
          <p:cNvSpPr/>
          <p:nvPr/>
        </p:nvSpPr>
        <p:spPr>
          <a:xfrm>
            <a:off x="7726034" y="1526367"/>
            <a:ext cx="2160000" cy="535923"/>
          </a:xfrm>
          <a:prstGeom prst="homePlate">
            <a:avLst>
              <a:gd name="adj" fmla="val 38625"/>
            </a:avLst>
          </a:prstGeom>
          <a:solidFill>
            <a:srgbClr val="07365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Empenhado</a:t>
            </a:r>
          </a:p>
        </p:txBody>
      </p:sp>
      <p:sp>
        <p:nvSpPr>
          <p:cNvPr id="12" name="Seta: Pentágono 71">
            <a:extLst>
              <a:ext uri="{FF2B5EF4-FFF2-40B4-BE49-F238E27FC236}">
                <a16:creationId xmlns:a16="http://schemas.microsoft.com/office/drawing/2014/main" id="{9E9C2275-213A-7B90-C307-5BD5F2F3957A}"/>
              </a:ext>
            </a:extLst>
          </p:cNvPr>
          <p:cNvSpPr/>
          <p:nvPr/>
        </p:nvSpPr>
        <p:spPr>
          <a:xfrm>
            <a:off x="5547762" y="1526367"/>
            <a:ext cx="2160000" cy="535923"/>
          </a:xfrm>
          <a:prstGeom prst="homePlate">
            <a:avLst>
              <a:gd name="adj" fmla="val 38625"/>
            </a:avLst>
          </a:prstGeom>
          <a:solidFill>
            <a:srgbClr val="052C4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Cotado</a:t>
            </a:r>
          </a:p>
        </p:txBody>
      </p:sp>
      <p:sp>
        <p:nvSpPr>
          <p:cNvPr id="13" name="Seta: Pentágono 71">
            <a:extLst>
              <a:ext uri="{FF2B5EF4-FFF2-40B4-BE49-F238E27FC236}">
                <a16:creationId xmlns:a16="http://schemas.microsoft.com/office/drawing/2014/main" id="{358F40EE-9DFF-D0C7-8095-CD477FC8C95E}"/>
              </a:ext>
            </a:extLst>
          </p:cNvPr>
          <p:cNvSpPr/>
          <p:nvPr/>
        </p:nvSpPr>
        <p:spPr>
          <a:xfrm>
            <a:off x="3369490" y="1526367"/>
            <a:ext cx="2160000" cy="535923"/>
          </a:xfrm>
          <a:prstGeom prst="homePlate">
            <a:avLst>
              <a:gd name="adj" fmla="val 38625"/>
            </a:avLst>
          </a:prstGeom>
          <a:solidFill>
            <a:srgbClr val="04293E"/>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Comprometido</a:t>
            </a:r>
          </a:p>
        </p:txBody>
      </p:sp>
      <p:sp>
        <p:nvSpPr>
          <p:cNvPr id="14" name="Seta: Pentágono 71">
            <a:extLst>
              <a:ext uri="{FF2B5EF4-FFF2-40B4-BE49-F238E27FC236}">
                <a16:creationId xmlns:a16="http://schemas.microsoft.com/office/drawing/2014/main" id="{463614B3-310F-3DCC-9561-BCF090268A4B}"/>
              </a:ext>
            </a:extLst>
          </p:cNvPr>
          <p:cNvSpPr/>
          <p:nvPr/>
        </p:nvSpPr>
        <p:spPr>
          <a:xfrm>
            <a:off x="1191218" y="1526367"/>
            <a:ext cx="2160000" cy="535923"/>
          </a:xfrm>
          <a:prstGeom prst="homePlate">
            <a:avLst>
              <a:gd name="adj" fmla="val 38625"/>
            </a:avLst>
          </a:prstGeom>
          <a:solidFill>
            <a:srgbClr val="031B2B"/>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4025"/>
            <a:r>
              <a:rPr lang="pt-BR" sz="1400" b="1" dirty="0"/>
              <a:t>Estimado</a:t>
            </a:r>
          </a:p>
        </p:txBody>
      </p:sp>
      <p:sp>
        <p:nvSpPr>
          <p:cNvPr id="15" name="Oval 14">
            <a:extLst>
              <a:ext uri="{FF2B5EF4-FFF2-40B4-BE49-F238E27FC236}">
                <a16:creationId xmlns:a16="http://schemas.microsoft.com/office/drawing/2014/main" id="{B9C38684-363F-8B05-989C-067A6FCD67F4}"/>
              </a:ext>
            </a:extLst>
          </p:cNvPr>
          <p:cNvSpPr>
            <a:spLocks noChangeAspect="1"/>
          </p:cNvSpPr>
          <p:nvPr/>
        </p:nvSpPr>
        <p:spPr>
          <a:xfrm>
            <a:off x="1296304" y="1636815"/>
            <a:ext cx="315026" cy="315026"/>
          </a:xfrm>
          <a:prstGeom prst="ellipse">
            <a:avLst/>
          </a:prstGeom>
          <a:solidFill>
            <a:srgbClr val="031B2B"/>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1</a:t>
            </a:r>
          </a:p>
        </p:txBody>
      </p:sp>
      <p:sp>
        <p:nvSpPr>
          <p:cNvPr id="16" name="Oval 15">
            <a:extLst>
              <a:ext uri="{FF2B5EF4-FFF2-40B4-BE49-F238E27FC236}">
                <a16:creationId xmlns:a16="http://schemas.microsoft.com/office/drawing/2014/main" id="{65357FB8-5E47-6097-C3EA-05904DE98AC1}"/>
              </a:ext>
            </a:extLst>
          </p:cNvPr>
          <p:cNvSpPr>
            <a:spLocks noChangeAspect="1"/>
          </p:cNvSpPr>
          <p:nvPr/>
        </p:nvSpPr>
        <p:spPr>
          <a:xfrm>
            <a:off x="3474599" y="1636815"/>
            <a:ext cx="315026" cy="315026"/>
          </a:xfrm>
          <a:prstGeom prst="ellipse">
            <a:avLst/>
          </a:prstGeom>
          <a:solidFill>
            <a:srgbClr val="04293E"/>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2</a:t>
            </a:r>
          </a:p>
        </p:txBody>
      </p:sp>
      <p:sp>
        <p:nvSpPr>
          <p:cNvPr id="25" name="Oval 24">
            <a:extLst>
              <a:ext uri="{FF2B5EF4-FFF2-40B4-BE49-F238E27FC236}">
                <a16:creationId xmlns:a16="http://schemas.microsoft.com/office/drawing/2014/main" id="{65868A07-A386-14A1-9621-684EC03FFC49}"/>
              </a:ext>
            </a:extLst>
          </p:cNvPr>
          <p:cNvSpPr>
            <a:spLocks noChangeAspect="1"/>
          </p:cNvSpPr>
          <p:nvPr/>
        </p:nvSpPr>
        <p:spPr>
          <a:xfrm>
            <a:off x="5652894" y="1636815"/>
            <a:ext cx="315026" cy="315026"/>
          </a:xfrm>
          <a:prstGeom prst="ellipse">
            <a:avLst/>
          </a:prstGeom>
          <a:solidFill>
            <a:srgbClr val="052C42"/>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3</a:t>
            </a:r>
          </a:p>
        </p:txBody>
      </p:sp>
      <p:sp>
        <p:nvSpPr>
          <p:cNvPr id="26" name="Oval 25">
            <a:extLst>
              <a:ext uri="{FF2B5EF4-FFF2-40B4-BE49-F238E27FC236}">
                <a16:creationId xmlns:a16="http://schemas.microsoft.com/office/drawing/2014/main" id="{D3625447-EAB5-E2FC-3A4A-DA5A366494C6}"/>
              </a:ext>
            </a:extLst>
          </p:cNvPr>
          <p:cNvSpPr>
            <a:spLocks noChangeAspect="1"/>
          </p:cNvSpPr>
          <p:nvPr/>
        </p:nvSpPr>
        <p:spPr>
          <a:xfrm>
            <a:off x="7831189" y="1636815"/>
            <a:ext cx="315026" cy="315026"/>
          </a:xfrm>
          <a:prstGeom prst="ellipse">
            <a:avLst/>
          </a:prstGeom>
          <a:solidFill>
            <a:srgbClr val="073651"/>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4</a:t>
            </a:r>
          </a:p>
        </p:txBody>
      </p:sp>
      <p:sp>
        <p:nvSpPr>
          <p:cNvPr id="27" name="Oval 26">
            <a:extLst>
              <a:ext uri="{FF2B5EF4-FFF2-40B4-BE49-F238E27FC236}">
                <a16:creationId xmlns:a16="http://schemas.microsoft.com/office/drawing/2014/main" id="{731CE941-C0B6-1247-AA72-090DF4709D0B}"/>
              </a:ext>
            </a:extLst>
          </p:cNvPr>
          <p:cNvSpPr>
            <a:spLocks noChangeAspect="1"/>
          </p:cNvSpPr>
          <p:nvPr/>
        </p:nvSpPr>
        <p:spPr>
          <a:xfrm>
            <a:off x="10009483" y="1636815"/>
            <a:ext cx="315026" cy="315026"/>
          </a:xfrm>
          <a:prstGeom prst="ellipse">
            <a:avLst/>
          </a:prstGeom>
          <a:solidFill>
            <a:srgbClr val="093F5D"/>
          </a:solidFill>
          <a:ln w="127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BR" sz="1400" b="1" dirty="0"/>
              <a:t>5</a:t>
            </a:r>
          </a:p>
        </p:txBody>
      </p:sp>
      <p:sp>
        <p:nvSpPr>
          <p:cNvPr id="75" name="Retângulo: Cantos Arredondados 2">
            <a:extLst>
              <a:ext uri="{FF2B5EF4-FFF2-40B4-BE49-F238E27FC236}">
                <a16:creationId xmlns:a16="http://schemas.microsoft.com/office/drawing/2014/main" id="{D56CD8E3-EFBB-0494-D390-860CB2F3B635}"/>
              </a:ext>
            </a:extLst>
          </p:cNvPr>
          <p:cNvSpPr/>
          <p:nvPr/>
        </p:nvSpPr>
        <p:spPr>
          <a:xfrm>
            <a:off x="131165" y="3102370"/>
            <a:ext cx="864000" cy="480370"/>
          </a:xfrm>
          <a:prstGeom prst="roundRect">
            <a:avLst>
              <a:gd name="adj" fmla="val 10296"/>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93663"/>
            <a:r>
              <a:rPr lang="pt-BR" sz="1100" dirty="0">
                <a:solidFill>
                  <a:schemeClr val="tx1"/>
                </a:solidFill>
              </a:rPr>
              <a:t>103 - Parada </a:t>
            </a:r>
            <a:r>
              <a:rPr lang="pt-BR" sz="1100" dirty="0" err="1">
                <a:solidFill>
                  <a:schemeClr val="tx1"/>
                </a:solidFill>
              </a:rPr>
              <a:t>Progamada</a:t>
            </a:r>
            <a:endParaRPr lang="pt-BR" sz="1100" dirty="0">
              <a:solidFill>
                <a:schemeClr val="tx1"/>
              </a:solidFill>
            </a:endParaRPr>
          </a:p>
        </p:txBody>
      </p:sp>
      <p:cxnSp>
        <p:nvCxnSpPr>
          <p:cNvPr id="76" name="Conector: Angulado 15">
            <a:extLst>
              <a:ext uri="{FF2B5EF4-FFF2-40B4-BE49-F238E27FC236}">
                <a16:creationId xmlns:a16="http://schemas.microsoft.com/office/drawing/2014/main" id="{1E6565D4-088A-6ADF-B475-37E580D143D5}"/>
              </a:ext>
            </a:extLst>
          </p:cNvPr>
          <p:cNvCxnSpPr>
            <a:cxnSpLocks/>
            <a:stCxn id="75" idx="3"/>
            <a:endCxn id="77" idx="1"/>
          </p:cNvCxnSpPr>
          <p:nvPr/>
        </p:nvCxnSpPr>
        <p:spPr>
          <a:xfrm flipV="1">
            <a:off x="995165" y="2460222"/>
            <a:ext cx="224851" cy="882333"/>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77" name="CaixaDeTexto 557">
            <a:extLst>
              <a:ext uri="{FF2B5EF4-FFF2-40B4-BE49-F238E27FC236}">
                <a16:creationId xmlns:a16="http://schemas.microsoft.com/office/drawing/2014/main" id="{2FA0803D-3EA9-BFA0-168A-A46A282045BF}"/>
              </a:ext>
            </a:extLst>
          </p:cNvPr>
          <p:cNvSpPr txBox="1"/>
          <p:nvPr/>
        </p:nvSpPr>
        <p:spPr>
          <a:xfrm>
            <a:off x="1220016" y="2316222"/>
            <a:ext cx="1908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78" name="CaixaDeTexto 557">
            <a:extLst>
              <a:ext uri="{FF2B5EF4-FFF2-40B4-BE49-F238E27FC236}">
                <a16:creationId xmlns:a16="http://schemas.microsoft.com/office/drawing/2014/main" id="{8F3007B4-3A7B-7CC5-F256-B86C94628FD0}"/>
              </a:ext>
            </a:extLst>
          </p:cNvPr>
          <p:cNvSpPr txBox="1"/>
          <p:nvPr/>
        </p:nvSpPr>
        <p:spPr>
          <a:xfrm>
            <a:off x="1732321" y="2905144"/>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R$ Material</a:t>
            </a:r>
          </a:p>
        </p:txBody>
      </p:sp>
      <p:sp>
        <p:nvSpPr>
          <p:cNvPr id="79" name="CaixaDeTexto 557">
            <a:extLst>
              <a:ext uri="{FF2B5EF4-FFF2-40B4-BE49-F238E27FC236}">
                <a16:creationId xmlns:a16="http://schemas.microsoft.com/office/drawing/2014/main" id="{AB4346CB-9D45-95A7-685E-F5A939550ABB}"/>
              </a:ext>
            </a:extLst>
          </p:cNvPr>
          <p:cNvSpPr txBox="1"/>
          <p:nvPr/>
        </p:nvSpPr>
        <p:spPr>
          <a:xfrm>
            <a:off x="1732321" y="3516183"/>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Oficina</a:t>
            </a:r>
          </a:p>
        </p:txBody>
      </p:sp>
      <p:sp>
        <p:nvSpPr>
          <p:cNvPr id="80" name="CaixaDeTexto 557">
            <a:extLst>
              <a:ext uri="{FF2B5EF4-FFF2-40B4-BE49-F238E27FC236}">
                <a16:creationId xmlns:a16="http://schemas.microsoft.com/office/drawing/2014/main" id="{D81BFD83-B0CF-771A-A694-5C06911D3EA6}"/>
              </a:ext>
            </a:extLst>
          </p:cNvPr>
          <p:cNvSpPr txBox="1"/>
          <p:nvPr/>
        </p:nvSpPr>
        <p:spPr>
          <a:xfrm>
            <a:off x="1732321" y="4164255"/>
            <a:ext cx="1404000"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Estaleiro</a:t>
            </a:r>
          </a:p>
        </p:txBody>
      </p:sp>
      <p:cxnSp>
        <p:nvCxnSpPr>
          <p:cNvPr id="81" name="Conector: Angulado 15">
            <a:extLst>
              <a:ext uri="{FF2B5EF4-FFF2-40B4-BE49-F238E27FC236}">
                <a16:creationId xmlns:a16="http://schemas.microsoft.com/office/drawing/2014/main" id="{7969E658-D985-6A27-AAFD-DB285082910C}"/>
              </a:ext>
            </a:extLst>
          </p:cNvPr>
          <p:cNvCxnSpPr>
            <a:cxnSpLocks/>
            <a:stCxn id="77" idx="2"/>
            <a:endCxn id="78" idx="1"/>
          </p:cNvCxnSpPr>
          <p:nvPr/>
        </p:nvCxnSpPr>
        <p:spPr>
          <a:xfrm rot="5400000">
            <a:off x="1730708" y="2605836"/>
            <a:ext cx="444922" cy="441695"/>
          </a:xfrm>
          <a:prstGeom prst="bentConnector4">
            <a:avLst>
              <a:gd name="adj1" fmla="val 33817"/>
              <a:gd name="adj2" fmla="val 147811"/>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2" name="Conector: Angulado 15">
            <a:extLst>
              <a:ext uri="{FF2B5EF4-FFF2-40B4-BE49-F238E27FC236}">
                <a16:creationId xmlns:a16="http://schemas.microsoft.com/office/drawing/2014/main" id="{33EFB15B-10D3-CFFD-8B45-4CB616194CAC}"/>
              </a:ext>
            </a:extLst>
          </p:cNvPr>
          <p:cNvCxnSpPr>
            <a:cxnSpLocks/>
            <a:stCxn id="78" idx="1"/>
            <a:endCxn id="79" idx="1"/>
          </p:cNvCxnSpPr>
          <p:nvPr/>
        </p:nvCxnSpPr>
        <p:spPr>
          <a:xfrm rot="10800000" flipV="1">
            <a:off x="1732321" y="3049143"/>
            <a:ext cx="12700" cy="611039"/>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83" name="Conector: Angulado 15">
            <a:extLst>
              <a:ext uri="{FF2B5EF4-FFF2-40B4-BE49-F238E27FC236}">
                <a16:creationId xmlns:a16="http://schemas.microsoft.com/office/drawing/2014/main" id="{3097F27B-9830-B12C-0947-EDD0A294A873}"/>
              </a:ext>
            </a:extLst>
          </p:cNvPr>
          <p:cNvCxnSpPr>
            <a:cxnSpLocks/>
            <a:stCxn id="79" idx="1"/>
            <a:endCxn id="80" idx="1"/>
          </p:cNvCxnSpPr>
          <p:nvPr/>
        </p:nvCxnSpPr>
        <p:spPr>
          <a:xfrm rot="10800000" flipV="1">
            <a:off x="1732321" y="3660183"/>
            <a:ext cx="12700" cy="648072"/>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85" name="Espaço Reservado para Conteúdo 1">
            <a:extLst>
              <a:ext uri="{FF2B5EF4-FFF2-40B4-BE49-F238E27FC236}">
                <a16:creationId xmlns:a16="http://schemas.microsoft.com/office/drawing/2014/main" id="{E237F045-A26C-6DD6-F7F1-D845A0DA6990}"/>
              </a:ext>
            </a:extLst>
          </p:cNvPr>
          <p:cNvSpPr txBox="1">
            <a:spLocks/>
          </p:cNvSpPr>
          <p:nvPr/>
        </p:nvSpPr>
        <p:spPr>
          <a:xfrm>
            <a:off x="2655131" y="2346441"/>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$100</a:t>
            </a:r>
          </a:p>
        </p:txBody>
      </p:sp>
      <p:sp>
        <p:nvSpPr>
          <p:cNvPr id="86" name="Espaço Reservado para Conteúdo 1">
            <a:extLst>
              <a:ext uri="{FF2B5EF4-FFF2-40B4-BE49-F238E27FC236}">
                <a16:creationId xmlns:a16="http://schemas.microsoft.com/office/drawing/2014/main" id="{8A6598D0-47F3-6D63-1318-5D8310B800BA}"/>
              </a:ext>
            </a:extLst>
          </p:cNvPr>
          <p:cNvSpPr txBox="1">
            <a:spLocks/>
          </p:cNvSpPr>
          <p:nvPr/>
        </p:nvSpPr>
        <p:spPr>
          <a:xfrm>
            <a:off x="2655131" y="2940985"/>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$60</a:t>
            </a:r>
          </a:p>
        </p:txBody>
      </p:sp>
      <p:sp>
        <p:nvSpPr>
          <p:cNvPr id="87" name="Espaço Reservado para Conteúdo 1">
            <a:extLst>
              <a:ext uri="{FF2B5EF4-FFF2-40B4-BE49-F238E27FC236}">
                <a16:creationId xmlns:a16="http://schemas.microsoft.com/office/drawing/2014/main" id="{C39491E1-101A-2938-A7D1-7DCD3128C5C6}"/>
              </a:ext>
            </a:extLst>
          </p:cNvPr>
          <p:cNvSpPr txBox="1">
            <a:spLocks/>
          </p:cNvSpPr>
          <p:nvPr/>
        </p:nvSpPr>
        <p:spPr>
          <a:xfrm>
            <a:off x="2655131" y="3544873"/>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sp>
        <p:nvSpPr>
          <p:cNvPr id="88" name="Espaço Reservado para Conteúdo 1">
            <a:extLst>
              <a:ext uri="{FF2B5EF4-FFF2-40B4-BE49-F238E27FC236}">
                <a16:creationId xmlns:a16="http://schemas.microsoft.com/office/drawing/2014/main" id="{F29909CD-6DCD-14AA-D71D-E4584E9B1A22}"/>
              </a:ext>
            </a:extLst>
          </p:cNvPr>
          <p:cNvSpPr txBox="1">
            <a:spLocks/>
          </p:cNvSpPr>
          <p:nvPr/>
        </p:nvSpPr>
        <p:spPr>
          <a:xfrm>
            <a:off x="2655131" y="4197369"/>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a:t>
            </a:r>
          </a:p>
        </p:txBody>
      </p:sp>
      <p:sp>
        <p:nvSpPr>
          <p:cNvPr id="89" name="CaixaDeTexto 557">
            <a:extLst>
              <a:ext uri="{FF2B5EF4-FFF2-40B4-BE49-F238E27FC236}">
                <a16:creationId xmlns:a16="http://schemas.microsoft.com/office/drawing/2014/main" id="{4BDFF67B-EE31-5A94-398A-CDC880041A82}"/>
              </a:ext>
            </a:extLst>
          </p:cNvPr>
          <p:cNvSpPr txBox="1"/>
          <p:nvPr/>
        </p:nvSpPr>
        <p:spPr>
          <a:xfrm>
            <a:off x="1732321" y="4668343"/>
            <a:ext cx="3350117" cy="288000"/>
          </a:xfrm>
          <a:prstGeom prst="roundRect">
            <a:avLst>
              <a:gd name="adj" fmla="val 0"/>
            </a:avLst>
          </a:prstGeom>
          <a:noFill/>
          <a:ln>
            <a:solidFill>
              <a:srgbClr val="014A65"/>
            </a:solidFill>
            <a:prstDash val="dash"/>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 </a:t>
            </a:r>
            <a:r>
              <a:rPr lang="pt-BR" dirty="0"/>
              <a:t>R$ Não Comprometido (NC)</a:t>
            </a:r>
          </a:p>
        </p:txBody>
      </p:sp>
      <p:cxnSp>
        <p:nvCxnSpPr>
          <p:cNvPr id="90" name="Conector: Angulado 15">
            <a:extLst>
              <a:ext uri="{FF2B5EF4-FFF2-40B4-BE49-F238E27FC236}">
                <a16:creationId xmlns:a16="http://schemas.microsoft.com/office/drawing/2014/main" id="{8B3FBE27-48A9-F644-FBA1-5BC1B4A7EDA0}"/>
              </a:ext>
            </a:extLst>
          </p:cNvPr>
          <p:cNvCxnSpPr>
            <a:cxnSpLocks/>
            <a:stCxn id="80" idx="1"/>
            <a:endCxn id="89" idx="1"/>
          </p:cNvCxnSpPr>
          <p:nvPr/>
        </p:nvCxnSpPr>
        <p:spPr>
          <a:xfrm rot="10800000" flipV="1">
            <a:off x="1732321" y="4308255"/>
            <a:ext cx="12700" cy="504088"/>
          </a:xfrm>
          <a:prstGeom prst="bentConnector3">
            <a:avLst>
              <a:gd name="adj1" fmla="val 180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91" name="CaixaDeTexto 557">
            <a:extLst>
              <a:ext uri="{FF2B5EF4-FFF2-40B4-BE49-F238E27FC236}">
                <a16:creationId xmlns:a16="http://schemas.microsoft.com/office/drawing/2014/main" id="{2FC85953-9185-F717-C5C3-C703BEAA99B4}"/>
              </a:ext>
            </a:extLst>
          </p:cNvPr>
          <p:cNvSpPr txBox="1"/>
          <p:nvPr/>
        </p:nvSpPr>
        <p:spPr>
          <a:xfrm>
            <a:off x="3648626" y="2708920"/>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a:t>Material 1</a:t>
            </a:r>
            <a:endParaRPr lang="pt-BR" dirty="0"/>
          </a:p>
        </p:txBody>
      </p:sp>
      <p:sp>
        <p:nvSpPr>
          <p:cNvPr id="92" name="CaixaDeTexto 557">
            <a:extLst>
              <a:ext uri="{FF2B5EF4-FFF2-40B4-BE49-F238E27FC236}">
                <a16:creationId xmlns:a16="http://schemas.microsoft.com/office/drawing/2014/main" id="{D3D23213-5A5C-2F31-F5E4-CA0E5039F8D6}"/>
              </a:ext>
            </a:extLst>
          </p:cNvPr>
          <p:cNvSpPr txBox="1"/>
          <p:nvPr/>
        </p:nvSpPr>
        <p:spPr>
          <a:xfrm>
            <a:off x="3648626" y="3065108"/>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Material 2</a:t>
            </a:r>
          </a:p>
        </p:txBody>
      </p:sp>
      <p:sp>
        <p:nvSpPr>
          <p:cNvPr id="93" name="CaixaDeTexto 557">
            <a:extLst>
              <a:ext uri="{FF2B5EF4-FFF2-40B4-BE49-F238E27FC236}">
                <a16:creationId xmlns:a16="http://schemas.microsoft.com/office/drawing/2014/main" id="{345DE1BA-557E-2E77-EA90-ED06A2693C57}"/>
              </a:ext>
            </a:extLst>
          </p:cNvPr>
          <p:cNvSpPr txBox="1"/>
          <p:nvPr/>
        </p:nvSpPr>
        <p:spPr>
          <a:xfrm>
            <a:off x="3648626" y="3824015"/>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Oficina 1</a:t>
            </a:r>
          </a:p>
        </p:txBody>
      </p:sp>
      <p:sp>
        <p:nvSpPr>
          <p:cNvPr id="94" name="Espaço Reservado para Conteúdo 1">
            <a:extLst>
              <a:ext uri="{FF2B5EF4-FFF2-40B4-BE49-F238E27FC236}">
                <a16:creationId xmlns:a16="http://schemas.microsoft.com/office/drawing/2014/main" id="{5141063A-98BE-A477-89C4-0C89F8DD5821}"/>
              </a:ext>
            </a:extLst>
          </p:cNvPr>
          <p:cNvSpPr txBox="1">
            <a:spLocks/>
          </p:cNvSpPr>
          <p:nvPr/>
        </p:nvSpPr>
        <p:spPr>
          <a:xfrm>
            <a:off x="4603559" y="27398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sp>
        <p:nvSpPr>
          <p:cNvPr id="95" name="Espaço Reservado para Conteúdo 1">
            <a:extLst>
              <a:ext uri="{FF2B5EF4-FFF2-40B4-BE49-F238E27FC236}">
                <a16:creationId xmlns:a16="http://schemas.microsoft.com/office/drawing/2014/main" id="{7E9B7152-30D0-2A9F-FF9B-28232D3E581C}"/>
              </a:ext>
            </a:extLst>
          </p:cNvPr>
          <p:cNvSpPr txBox="1">
            <a:spLocks/>
          </p:cNvSpPr>
          <p:nvPr/>
        </p:nvSpPr>
        <p:spPr>
          <a:xfrm>
            <a:off x="4603559" y="3098223"/>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96" name="Espaço Reservado para Conteúdo 1">
            <a:extLst>
              <a:ext uri="{FF2B5EF4-FFF2-40B4-BE49-F238E27FC236}">
                <a16:creationId xmlns:a16="http://schemas.microsoft.com/office/drawing/2014/main" id="{9578D296-74A8-C97B-1259-6F6BC20CDD72}"/>
              </a:ext>
            </a:extLst>
          </p:cNvPr>
          <p:cNvSpPr txBox="1">
            <a:spLocks/>
          </p:cNvSpPr>
          <p:nvPr/>
        </p:nvSpPr>
        <p:spPr>
          <a:xfrm>
            <a:off x="4603559" y="38571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$40</a:t>
            </a:r>
          </a:p>
        </p:txBody>
      </p:sp>
      <p:cxnSp>
        <p:nvCxnSpPr>
          <p:cNvPr id="97" name="Conector: Angulado 15">
            <a:extLst>
              <a:ext uri="{FF2B5EF4-FFF2-40B4-BE49-F238E27FC236}">
                <a16:creationId xmlns:a16="http://schemas.microsoft.com/office/drawing/2014/main" id="{9F659DAB-52D4-7941-F993-2329B0512C69}"/>
              </a:ext>
            </a:extLst>
          </p:cNvPr>
          <p:cNvCxnSpPr>
            <a:cxnSpLocks/>
            <a:stCxn id="78" idx="3"/>
            <a:endCxn id="91" idx="1"/>
          </p:cNvCxnSpPr>
          <p:nvPr/>
        </p:nvCxnSpPr>
        <p:spPr>
          <a:xfrm flipV="1">
            <a:off x="3136321" y="2852920"/>
            <a:ext cx="512305" cy="196224"/>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98" name="Conector: Angulado 15">
            <a:extLst>
              <a:ext uri="{FF2B5EF4-FFF2-40B4-BE49-F238E27FC236}">
                <a16:creationId xmlns:a16="http://schemas.microsoft.com/office/drawing/2014/main" id="{9EBFC344-23AB-E872-D04A-620A2AC54230}"/>
              </a:ext>
            </a:extLst>
          </p:cNvPr>
          <p:cNvCxnSpPr>
            <a:cxnSpLocks/>
            <a:stCxn id="78" idx="3"/>
            <a:endCxn id="92" idx="1"/>
          </p:cNvCxnSpPr>
          <p:nvPr/>
        </p:nvCxnSpPr>
        <p:spPr>
          <a:xfrm>
            <a:off x="3136321" y="3049144"/>
            <a:ext cx="512305" cy="159964"/>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cxnSp>
        <p:nvCxnSpPr>
          <p:cNvPr id="99" name="Conector: Angulado 15">
            <a:extLst>
              <a:ext uri="{FF2B5EF4-FFF2-40B4-BE49-F238E27FC236}">
                <a16:creationId xmlns:a16="http://schemas.microsoft.com/office/drawing/2014/main" id="{93358F04-272B-CA60-2155-4BC5EBE93A02}"/>
              </a:ext>
            </a:extLst>
          </p:cNvPr>
          <p:cNvCxnSpPr>
            <a:cxnSpLocks/>
            <a:stCxn id="79" idx="3"/>
            <a:endCxn id="93" idx="1"/>
          </p:cNvCxnSpPr>
          <p:nvPr/>
        </p:nvCxnSpPr>
        <p:spPr>
          <a:xfrm>
            <a:off x="3136321" y="3660183"/>
            <a:ext cx="512305" cy="307832"/>
          </a:xfrm>
          <a:prstGeom prst="bentConnector3">
            <a:avLst>
              <a:gd name="adj1" fmla="val 50000"/>
            </a:avLst>
          </a:prstGeom>
          <a:ln w="6350">
            <a:solidFill>
              <a:schemeClr val="tx1">
                <a:lumMod val="50000"/>
                <a:lumOff val="50000"/>
              </a:schemeClr>
            </a:solidFill>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100" name="Espaço Reservado para Conteúdo 1">
            <a:extLst>
              <a:ext uri="{FF2B5EF4-FFF2-40B4-BE49-F238E27FC236}">
                <a16:creationId xmlns:a16="http://schemas.microsoft.com/office/drawing/2014/main" id="{0B1B823B-2362-B373-B9BB-79F5ED9DE075}"/>
              </a:ext>
            </a:extLst>
          </p:cNvPr>
          <p:cNvSpPr txBox="1">
            <a:spLocks/>
          </p:cNvSpPr>
          <p:nvPr/>
        </p:nvSpPr>
        <p:spPr>
          <a:xfrm>
            <a:off x="4603559" y="470145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108" name="CaixaDeTexto 557">
            <a:extLst>
              <a:ext uri="{FF2B5EF4-FFF2-40B4-BE49-F238E27FC236}">
                <a16:creationId xmlns:a16="http://schemas.microsoft.com/office/drawing/2014/main" id="{BB406149-2DD7-3D1C-E98D-75FA2D1D84E4}"/>
              </a:ext>
            </a:extLst>
          </p:cNvPr>
          <p:cNvSpPr txBox="1"/>
          <p:nvPr/>
        </p:nvSpPr>
        <p:spPr>
          <a:xfrm>
            <a:off x="5547763" y="4668343"/>
            <a:ext cx="1944000" cy="288000"/>
          </a:xfrm>
          <a:prstGeom prst="roundRect">
            <a:avLst>
              <a:gd name="adj" fmla="val 0"/>
            </a:avLst>
          </a:prstGeom>
          <a:noFill/>
          <a:ln>
            <a:solidFill>
              <a:srgbClr val="014A65"/>
            </a:solidFill>
            <a:prstDash val="dash"/>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pt-BR" dirty="0"/>
              <a:t>Contingência</a:t>
            </a:r>
          </a:p>
        </p:txBody>
      </p:sp>
      <p:sp>
        <p:nvSpPr>
          <p:cNvPr id="109" name="Espaço Reservado para Conteúdo 1">
            <a:extLst>
              <a:ext uri="{FF2B5EF4-FFF2-40B4-BE49-F238E27FC236}">
                <a16:creationId xmlns:a16="http://schemas.microsoft.com/office/drawing/2014/main" id="{7798E4CD-A4DB-CB51-C412-2ED073923EB3}"/>
              </a:ext>
            </a:extLst>
          </p:cNvPr>
          <p:cNvSpPr txBox="1">
            <a:spLocks/>
          </p:cNvSpPr>
          <p:nvPr/>
        </p:nvSpPr>
        <p:spPr>
          <a:xfrm>
            <a:off x="7023076" y="470145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111" name="Rectangular Callout 110">
            <a:extLst>
              <a:ext uri="{FF2B5EF4-FFF2-40B4-BE49-F238E27FC236}">
                <a16:creationId xmlns:a16="http://schemas.microsoft.com/office/drawing/2014/main" id="{ECFDA977-7411-33A9-570D-FAAD25DC2BC6}"/>
              </a:ext>
            </a:extLst>
          </p:cNvPr>
          <p:cNvSpPr/>
          <p:nvPr/>
        </p:nvSpPr>
        <p:spPr>
          <a:xfrm>
            <a:off x="4088485" y="502799"/>
            <a:ext cx="5301677" cy="879506"/>
          </a:xfrm>
          <a:prstGeom prst="wedgeRectCallout">
            <a:avLst>
              <a:gd name="adj1" fmla="val -24600"/>
              <a:gd name="adj2" fmla="val 65960"/>
            </a:avLst>
          </a:prstGeom>
          <a:solidFill>
            <a:schemeClr val="bg1">
              <a:lumMod val="95000"/>
            </a:schemeClr>
          </a:solidFill>
          <a:ln w="28575">
            <a:solidFill>
              <a:schemeClr val="bg1"/>
            </a:solidFill>
          </a:ln>
        </p:spPr>
        <p:txBody>
          <a:bodyPr lIns="72000" tIns="108000" rIns="72000" bIns="41537">
            <a:noAutofit/>
          </a:bodyPr>
          <a:lstStyle/>
          <a:p>
            <a:pPr marL="7938" defTabSz="1055061">
              <a:lnSpc>
                <a:spcPct val="90000"/>
              </a:lnSpc>
              <a:spcBef>
                <a:spcPts val="900"/>
              </a:spcBef>
              <a:buClr>
                <a:srgbClr val="143244"/>
              </a:buClr>
              <a:buSzPct val="90000"/>
            </a:pPr>
            <a:r>
              <a:rPr lang="pt-BR" sz="1200" b="1" dirty="0"/>
              <a:t>A partir do Congelamento no FEL3:</a:t>
            </a:r>
          </a:p>
          <a:p>
            <a:pPr marL="182563" indent="-174625" defTabSz="1055061">
              <a:lnSpc>
                <a:spcPct val="90000"/>
              </a:lnSpc>
              <a:spcBef>
                <a:spcPts val="900"/>
              </a:spcBef>
              <a:buClr>
                <a:srgbClr val="143244"/>
              </a:buClr>
              <a:buSzPct val="90000"/>
              <a:buFont typeface="Wingdings" panose="05000000000000000000" pitchFamily="2" charset="2"/>
              <a:buChar char="§"/>
            </a:pPr>
            <a:r>
              <a:rPr lang="pt-BR" sz="1200" dirty="0"/>
              <a:t>O </a:t>
            </a:r>
            <a:r>
              <a:rPr lang="pt-BR" sz="1200" b="1" dirty="0"/>
              <a:t>valor de referência da demanda </a:t>
            </a:r>
            <a:r>
              <a:rPr lang="pt-BR" sz="1200" dirty="0"/>
              <a:t>passa a ser o </a:t>
            </a:r>
            <a:r>
              <a:rPr lang="pt-BR" sz="1200" b="1" dirty="0"/>
              <a:t>Comprometido</a:t>
            </a:r>
          </a:p>
          <a:p>
            <a:pPr marL="182563" indent="-174625" defTabSz="1055061">
              <a:lnSpc>
                <a:spcPct val="90000"/>
              </a:lnSpc>
              <a:spcBef>
                <a:spcPts val="400"/>
              </a:spcBef>
              <a:buClr>
                <a:srgbClr val="143244"/>
              </a:buClr>
              <a:buSzPct val="90000"/>
              <a:buFont typeface="Wingdings" panose="05000000000000000000" pitchFamily="2" charset="2"/>
              <a:buChar char="§"/>
            </a:pPr>
            <a:r>
              <a:rPr lang="pt-BR" sz="1200" dirty="0"/>
              <a:t>O valor </a:t>
            </a:r>
            <a:r>
              <a:rPr lang="pt-BR" sz="1200" b="1" dirty="0"/>
              <a:t>Não Comprometido</a:t>
            </a:r>
            <a:r>
              <a:rPr lang="pt-BR" sz="1200" dirty="0"/>
              <a:t>, se houver, passa a ser considerado </a:t>
            </a:r>
            <a:r>
              <a:rPr lang="pt-BR" sz="1200" b="1" dirty="0"/>
              <a:t>Contingência</a:t>
            </a:r>
            <a:endParaRPr lang="en-BR" sz="1200" b="1" dirty="0"/>
          </a:p>
        </p:txBody>
      </p:sp>
      <p:sp>
        <p:nvSpPr>
          <p:cNvPr id="114" name="CaixaDeTexto 557">
            <a:extLst>
              <a:ext uri="{FF2B5EF4-FFF2-40B4-BE49-F238E27FC236}">
                <a16:creationId xmlns:a16="http://schemas.microsoft.com/office/drawing/2014/main" id="{4FBB09D9-E245-A7DB-CD0A-1DBE0E6F58F3}"/>
              </a:ext>
            </a:extLst>
          </p:cNvPr>
          <p:cNvSpPr txBox="1"/>
          <p:nvPr/>
        </p:nvSpPr>
        <p:spPr>
          <a:xfrm>
            <a:off x="5547763" y="2316222"/>
            <a:ext cx="1944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115" name="Espaço Reservado para Conteúdo 1">
            <a:extLst>
              <a:ext uri="{FF2B5EF4-FFF2-40B4-BE49-F238E27FC236}">
                <a16:creationId xmlns:a16="http://schemas.microsoft.com/office/drawing/2014/main" id="{A7B3100E-AED0-BFA0-4558-CF1F55BB3629}"/>
              </a:ext>
            </a:extLst>
          </p:cNvPr>
          <p:cNvSpPr txBox="1">
            <a:spLocks/>
          </p:cNvSpPr>
          <p:nvPr/>
        </p:nvSpPr>
        <p:spPr>
          <a:xfrm>
            <a:off x="7023076" y="2346441"/>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$90</a:t>
            </a:r>
          </a:p>
        </p:txBody>
      </p:sp>
      <p:sp>
        <p:nvSpPr>
          <p:cNvPr id="121" name="CaixaDeTexto 557">
            <a:extLst>
              <a:ext uri="{FF2B5EF4-FFF2-40B4-BE49-F238E27FC236}">
                <a16:creationId xmlns:a16="http://schemas.microsoft.com/office/drawing/2014/main" id="{4CB287AA-CE9E-4687-45A5-C4281ACF8A61}"/>
              </a:ext>
            </a:extLst>
          </p:cNvPr>
          <p:cNvSpPr txBox="1"/>
          <p:nvPr/>
        </p:nvSpPr>
        <p:spPr>
          <a:xfrm>
            <a:off x="6057951" y="2708920"/>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a:t>Material 1</a:t>
            </a:r>
            <a:endParaRPr lang="pt-BR" dirty="0"/>
          </a:p>
        </p:txBody>
      </p:sp>
      <p:sp>
        <p:nvSpPr>
          <p:cNvPr id="122" name="CaixaDeTexto 557">
            <a:extLst>
              <a:ext uri="{FF2B5EF4-FFF2-40B4-BE49-F238E27FC236}">
                <a16:creationId xmlns:a16="http://schemas.microsoft.com/office/drawing/2014/main" id="{444477E9-F138-06B7-2398-06834EAFDC8B}"/>
              </a:ext>
            </a:extLst>
          </p:cNvPr>
          <p:cNvSpPr txBox="1"/>
          <p:nvPr/>
        </p:nvSpPr>
        <p:spPr>
          <a:xfrm>
            <a:off x="6057951" y="3065108"/>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Material 2</a:t>
            </a:r>
          </a:p>
        </p:txBody>
      </p:sp>
      <p:sp>
        <p:nvSpPr>
          <p:cNvPr id="123" name="CaixaDeTexto 557">
            <a:extLst>
              <a:ext uri="{FF2B5EF4-FFF2-40B4-BE49-F238E27FC236}">
                <a16:creationId xmlns:a16="http://schemas.microsoft.com/office/drawing/2014/main" id="{8D507ABC-EFCC-A7E7-D093-30FA5ED0CC60}"/>
              </a:ext>
            </a:extLst>
          </p:cNvPr>
          <p:cNvSpPr txBox="1"/>
          <p:nvPr/>
        </p:nvSpPr>
        <p:spPr>
          <a:xfrm>
            <a:off x="6057951" y="3824015"/>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Oficina 1</a:t>
            </a:r>
          </a:p>
        </p:txBody>
      </p:sp>
      <p:sp>
        <p:nvSpPr>
          <p:cNvPr id="124" name="Espaço Reservado para Conteúdo 1">
            <a:extLst>
              <a:ext uri="{FF2B5EF4-FFF2-40B4-BE49-F238E27FC236}">
                <a16:creationId xmlns:a16="http://schemas.microsoft.com/office/drawing/2014/main" id="{EDB4F151-5FDA-67F7-85A6-00453A2CD3B5}"/>
              </a:ext>
            </a:extLst>
          </p:cNvPr>
          <p:cNvSpPr txBox="1">
            <a:spLocks/>
          </p:cNvSpPr>
          <p:nvPr/>
        </p:nvSpPr>
        <p:spPr>
          <a:xfrm>
            <a:off x="7012884" y="27398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solidFill>
                  <a:srgbClr val="FF0000"/>
                </a:solidFill>
              </a:rPr>
              <a:t>$36</a:t>
            </a:r>
          </a:p>
        </p:txBody>
      </p:sp>
      <p:sp>
        <p:nvSpPr>
          <p:cNvPr id="125" name="Espaço Reservado para Conteúdo 1">
            <a:extLst>
              <a:ext uri="{FF2B5EF4-FFF2-40B4-BE49-F238E27FC236}">
                <a16:creationId xmlns:a16="http://schemas.microsoft.com/office/drawing/2014/main" id="{584C0775-AC01-B8BB-0822-98B425A17D05}"/>
              </a:ext>
            </a:extLst>
          </p:cNvPr>
          <p:cNvSpPr txBox="1">
            <a:spLocks/>
          </p:cNvSpPr>
          <p:nvPr/>
        </p:nvSpPr>
        <p:spPr>
          <a:xfrm>
            <a:off x="7012884" y="3098223"/>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126" name="Espaço Reservado para Conteúdo 1">
            <a:extLst>
              <a:ext uri="{FF2B5EF4-FFF2-40B4-BE49-F238E27FC236}">
                <a16:creationId xmlns:a16="http://schemas.microsoft.com/office/drawing/2014/main" id="{7443E851-1AF5-B1E8-E12C-F7D19BA9B92D}"/>
              </a:ext>
            </a:extLst>
          </p:cNvPr>
          <p:cNvSpPr txBox="1">
            <a:spLocks/>
          </p:cNvSpPr>
          <p:nvPr/>
        </p:nvSpPr>
        <p:spPr>
          <a:xfrm>
            <a:off x="7012884" y="38571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solidFill>
                  <a:srgbClr val="FF0000"/>
                </a:solidFill>
              </a:rPr>
              <a:t>$42</a:t>
            </a:r>
          </a:p>
        </p:txBody>
      </p:sp>
      <p:sp>
        <p:nvSpPr>
          <p:cNvPr id="194" name="Rectangular Callout 193">
            <a:extLst>
              <a:ext uri="{FF2B5EF4-FFF2-40B4-BE49-F238E27FC236}">
                <a16:creationId xmlns:a16="http://schemas.microsoft.com/office/drawing/2014/main" id="{B05BC26B-FFC5-9E9D-3426-799759DA9D93}"/>
              </a:ext>
            </a:extLst>
          </p:cNvPr>
          <p:cNvSpPr/>
          <p:nvPr/>
        </p:nvSpPr>
        <p:spPr>
          <a:xfrm>
            <a:off x="2714006" y="5173567"/>
            <a:ext cx="3210369" cy="1440000"/>
          </a:xfrm>
          <a:prstGeom prst="wedgeRectCallout">
            <a:avLst>
              <a:gd name="adj1" fmla="val 44342"/>
              <a:gd name="adj2" fmla="val -62543"/>
            </a:avLst>
          </a:prstGeom>
          <a:solidFill>
            <a:schemeClr val="bg1">
              <a:lumMod val="95000"/>
            </a:schemeClr>
          </a:solidFill>
          <a:ln w="28575">
            <a:solidFill>
              <a:schemeClr val="bg1"/>
            </a:solidFill>
          </a:ln>
        </p:spPr>
        <p:txBody>
          <a:bodyPr lIns="72000" tIns="108000" rIns="72000" bIns="41537">
            <a:noAutofit/>
          </a:bodyPr>
          <a:lstStyle/>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Valor da Demanda = $90 </a:t>
            </a:r>
            <a:r>
              <a:rPr lang="en-BR" sz="1200" dirty="0"/>
              <a:t>(= Comprometido)</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Cotado = $88 </a:t>
            </a:r>
            <a:r>
              <a:rPr lang="en-BR" sz="1200" dirty="0"/>
              <a:t>($36 + $10 + $42)</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Saldo = $2</a:t>
            </a:r>
            <a:r>
              <a:rPr lang="en-BR" sz="1200" dirty="0"/>
              <a:t> (Demanda – Cotado)</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Contingência = $10</a:t>
            </a:r>
          </a:p>
        </p:txBody>
      </p:sp>
      <p:cxnSp>
        <p:nvCxnSpPr>
          <p:cNvPr id="195" name="Straight Arrow Connector 194">
            <a:extLst>
              <a:ext uri="{FF2B5EF4-FFF2-40B4-BE49-F238E27FC236}">
                <a16:creationId xmlns:a16="http://schemas.microsoft.com/office/drawing/2014/main" id="{BB3D0E5E-ECDA-14DA-E06D-EDED1B2E4B7B}"/>
              </a:ext>
            </a:extLst>
          </p:cNvPr>
          <p:cNvCxnSpPr>
            <a:cxnSpLocks/>
            <a:stCxn id="89" idx="3"/>
            <a:endCxn id="108" idx="1"/>
          </p:cNvCxnSpPr>
          <p:nvPr/>
        </p:nvCxnSpPr>
        <p:spPr>
          <a:xfrm>
            <a:off x="5082438" y="4812343"/>
            <a:ext cx="465325" cy="0"/>
          </a:xfrm>
          <a:prstGeom prst="straightConnector1">
            <a:avLst/>
          </a:prstGeom>
          <a:ln w="6350">
            <a:solidFill>
              <a:schemeClr val="tx1">
                <a:lumMod val="50000"/>
                <a:lumOff val="50000"/>
              </a:schemeClr>
            </a:solidFill>
            <a:prstDash val="dash"/>
            <a:headEnd type="none" w="med" len="med"/>
            <a:tailEnd type="arrow" w="sm" len="sm"/>
          </a:ln>
          <a:effectLst/>
        </p:spPr>
        <p:style>
          <a:lnRef idx="2">
            <a:schemeClr val="accent1"/>
          </a:lnRef>
          <a:fillRef idx="0">
            <a:schemeClr val="accent1"/>
          </a:fillRef>
          <a:effectRef idx="1">
            <a:schemeClr val="accent1"/>
          </a:effectRef>
          <a:fontRef idx="minor">
            <a:schemeClr val="tx1"/>
          </a:fontRef>
        </p:style>
      </p:cxnSp>
      <p:sp>
        <p:nvSpPr>
          <p:cNvPr id="198" name="TextBox 197">
            <a:extLst>
              <a:ext uri="{FF2B5EF4-FFF2-40B4-BE49-F238E27FC236}">
                <a16:creationId xmlns:a16="http://schemas.microsoft.com/office/drawing/2014/main" id="{47C8B694-0DF2-CA48-A3DD-677A8DD1314C}"/>
              </a:ext>
            </a:extLst>
          </p:cNvPr>
          <p:cNvSpPr txBox="1"/>
          <p:nvPr/>
        </p:nvSpPr>
        <p:spPr>
          <a:xfrm rot="853798">
            <a:off x="10622643" y="443940"/>
            <a:ext cx="1343236" cy="450615"/>
          </a:xfrm>
          <a:prstGeom prst="rect">
            <a:avLst/>
          </a:prstGeom>
          <a:noFill/>
          <a:ln>
            <a:solidFill>
              <a:srgbClr val="FF0000"/>
            </a:solidFill>
            <a:prstDash val="dash"/>
          </a:ln>
        </p:spPr>
        <p:txBody>
          <a:bodyPr wrap="square" rtlCol="0" anchor="ctr">
            <a:noAutofit/>
          </a:bodyPr>
          <a:lstStyle/>
          <a:p>
            <a:pPr algn="ctr"/>
            <a:r>
              <a:rPr lang="en-BR" sz="1200" b="1" dirty="0">
                <a:solidFill>
                  <a:srgbClr val="FF0000"/>
                </a:solidFill>
              </a:rPr>
              <a:t>EXEMPLO NÃO EXAUTIVO</a:t>
            </a:r>
          </a:p>
        </p:txBody>
      </p:sp>
      <p:sp>
        <p:nvSpPr>
          <p:cNvPr id="202" name="CaixaDeTexto 557">
            <a:extLst>
              <a:ext uri="{FF2B5EF4-FFF2-40B4-BE49-F238E27FC236}">
                <a16:creationId xmlns:a16="http://schemas.microsoft.com/office/drawing/2014/main" id="{B2CF682D-F425-15CB-8B05-7E0DFEA341F5}"/>
              </a:ext>
            </a:extLst>
          </p:cNvPr>
          <p:cNvSpPr txBox="1"/>
          <p:nvPr/>
        </p:nvSpPr>
        <p:spPr>
          <a:xfrm>
            <a:off x="7751048" y="4668343"/>
            <a:ext cx="1944000" cy="288000"/>
          </a:xfrm>
          <a:prstGeom prst="roundRect">
            <a:avLst>
              <a:gd name="adj" fmla="val 0"/>
            </a:avLst>
          </a:prstGeom>
          <a:noFill/>
          <a:ln>
            <a:solidFill>
              <a:srgbClr val="014A65"/>
            </a:solidFill>
            <a:prstDash val="dash"/>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pt-BR" dirty="0"/>
              <a:t>Contingência</a:t>
            </a:r>
          </a:p>
        </p:txBody>
      </p:sp>
      <p:sp>
        <p:nvSpPr>
          <p:cNvPr id="203" name="Espaço Reservado para Conteúdo 1">
            <a:extLst>
              <a:ext uri="{FF2B5EF4-FFF2-40B4-BE49-F238E27FC236}">
                <a16:creationId xmlns:a16="http://schemas.microsoft.com/office/drawing/2014/main" id="{19A4D7C1-60AA-CF8A-E5C3-9FDA66A58985}"/>
              </a:ext>
            </a:extLst>
          </p:cNvPr>
          <p:cNvSpPr txBox="1">
            <a:spLocks/>
          </p:cNvSpPr>
          <p:nvPr/>
        </p:nvSpPr>
        <p:spPr>
          <a:xfrm>
            <a:off x="9226361" y="470145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solidFill>
                  <a:srgbClr val="FF0000"/>
                </a:solidFill>
              </a:rPr>
              <a:t>$4</a:t>
            </a:r>
          </a:p>
        </p:txBody>
      </p:sp>
      <p:sp>
        <p:nvSpPr>
          <p:cNvPr id="204" name="CaixaDeTexto 557">
            <a:extLst>
              <a:ext uri="{FF2B5EF4-FFF2-40B4-BE49-F238E27FC236}">
                <a16:creationId xmlns:a16="http://schemas.microsoft.com/office/drawing/2014/main" id="{9B6DBFAE-9791-9CD3-0FB5-2EE64ABD2CE1}"/>
              </a:ext>
            </a:extLst>
          </p:cNvPr>
          <p:cNvSpPr txBox="1"/>
          <p:nvPr/>
        </p:nvSpPr>
        <p:spPr>
          <a:xfrm>
            <a:off x="7751048" y="2316222"/>
            <a:ext cx="1944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205" name="Espaço Reservado para Conteúdo 1">
            <a:extLst>
              <a:ext uri="{FF2B5EF4-FFF2-40B4-BE49-F238E27FC236}">
                <a16:creationId xmlns:a16="http://schemas.microsoft.com/office/drawing/2014/main" id="{5505C560-D88C-1420-882D-25CA8F352967}"/>
              </a:ext>
            </a:extLst>
          </p:cNvPr>
          <p:cNvSpPr txBox="1">
            <a:spLocks/>
          </p:cNvSpPr>
          <p:nvPr/>
        </p:nvSpPr>
        <p:spPr>
          <a:xfrm>
            <a:off x="9226361" y="2346441"/>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$90</a:t>
            </a:r>
          </a:p>
        </p:txBody>
      </p:sp>
      <p:sp>
        <p:nvSpPr>
          <p:cNvPr id="206" name="CaixaDeTexto 557">
            <a:extLst>
              <a:ext uri="{FF2B5EF4-FFF2-40B4-BE49-F238E27FC236}">
                <a16:creationId xmlns:a16="http://schemas.microsoft.com/office/drawing/2014/main" id="{37037C27-28F1-14B8-A219-DAB36FBA84D9}"/>
              </a:ext>
            </a:extLst>
          </p:cNvPr>
          <p:cNvSpPr txBox="1"/>
          <p:nvPr/>
        </p:nvSpPr>
        <p:spPr>
          <a:xfrm>
            <a:off x="8261236" y="2708920"/>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a:t>Material 1</a:t>
            </a:r>
            <a:endParaRPr lang="pt-BR" dirty="0"/>
          </a:p>
        </p:txBody>
      </p:sp>
      <p:sp>
        <p:nvSpPr>
          <p:cNvPr id="207" name="CaixaDeTexto 557">
            <a:extLst>
              <a:ext uri="{FF2B5EF4-FFF2-40B4-BE49-F238E27FC236}">
                <a16:creationId xmlns:a16="http://schemas.microsoft.com/office/drawing/2014/main" id="{6E395F17-E276-E195-14AF-33CB8FABAEA1}"/>
              </a:ext>
            </a:extLst>
          </p:cNvPr>
          <p:cNvSpPr txBox="1"/>
          <p:nvPr/>
        </p:nvSpPr>
        <p:spPr>
          <a:xfrm>
            <a:off x="8261236" y="3065108"/>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Material 2</a:t>
            </a:r>
          </a:p>
        </p:txBody>
      </p:sp>
      <p:sp>
        <p:nvSpPr>
          <p:cNvPr id="208" name="CaixaDeTexto 557">
            <a:extLst>
              <a:ext uri="{FF2B5EF4-FFF2-40B4-BE49-F238E27FC236}">
                <a16:creationId xmlns:a16="http://schemas.microsoft.com/office/drawing/2014/main" id="{92802B49-9B99-5911-C345-BEFC5808A7A2}"/>
              </a:ext>
            </a:extLst>
          </p:cNvPr>
          <p:cNvSpPr txBox="1"/>
          <p:nvPr/>
        </p:nvSpPr>
        <p:spPr>
          <a:xfrm>
            <a:off x="8261236" y="3824015"/>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Oficina 1</a:t>
            </a:r>
          </a:p>
        </p:txBody>
      </p:sp>
      <p:sp>
        <p:nvSpPr>
          <p:cNvPr id="209" name="Espaço Reservado para Conteúdo 1">
            <a:extLst>
              <a:ext uri="{FF2B5EF4-FFF2-40B4-BE49-F238E27FC236}">
                <a16:creationId xmlns:a16="http://schemas.microsoft.com/office/drawing/2014/main" id="{5371A7BB-C889-F235-C36B-BDC09D252389}"/>
              </a:ext>
            </a:extLst>
          </p:cNvPr>
          <p:cNvSpPr txBox="1">
            <a:spLocks/>
          </p:cNvSpPr>
          <p:nvPr/>
        </p:nvSpPr>
        <p:spPr>
          <a:xfrm>
            <a:off x="9216169" y="27398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$36</a:t>
            </a:r>
          </a:p>
        </p:txBody>
      </p:sp>
      <p:sp>
        <p:nvSpPr>
          <p:cNvPr id="210" name="Espaço Reservado para Conteúdo 1">
            <a:extLst>
              <a:ext uri="{FF2B5EF4-FFF2-40B4-BE49-F238E27FC236}">
                <a16:creationId xmlns:a16="http://schemas.microsoft.com/office/drawing/2014/main" id="{4DECC67C-56A7-8C80-52ED-C563ECADA5B2}"/>
              </a:ext>
            </a:extLst>
          </p:cNvPr>
          <p:cNvSpPr txBox="1">
            <a:spLocks/>
          </p:cNvSpPr>
          <p:nvPr/>
        </p:nvSpPr>
        <p:spPr>
          <a:xfrm>
            <a:off x="9216169" y="3098223"/>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211" name="Espaço Reservado para Conteúdo 1">
            <a:extLst>
              <a:ext uri="{FF2B5EF4-FFF2-40B4-BE49-F238E27FC236}">
                <a16:creationId xmlns:a16="http://schemas.microsoft.com/office/drawing/2014/main" id="{E610258A-9221-D1B5-E857-A5545A89AF36}"/>
              </a:ext>
            </a:extLst>
          </p:cNvPr>
          <p:cNvSpPr txBox="1">
            <a:spLocks/>
          </p:cNvSpPr>
          <p:nvPr/>
        </p:nvSpPr>
        <p:spPr>
          <a:xfrm>
            <a:off x="9216169" y="38571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solidFill>
                  <a:srgbClr val="FF0000"/>
                </a:solidFill>
              </a:rPr>
              <a:t>$50</a:t>
            </a:r>
          </a:p>
        </p:txBody>
      </p:sp>
      <p:sp>
        <p:nvSpPr>
          <p:cNvPr id="212" name="Rectangular Callout 211">
            <a:extLst>
              <a:ext uri="{FF2B5EF4-FFF2-40B4-BE49-F238E27FC236}">
                <a16:creationId xmlns:a16="http://schemas.microsoft.com/office/drawing/2014/main" id="{A7615EF1-E33D-223C-E853-E78DDBB57010}"/>
              </a:ext>
            </a:extLst>
          </p:cNvPr>
          <p:cNvSpPr/>
          <p:nvPr/>
        </p:nvSpPr>
        <p:spPr>
          <a:xfrm>
            <a:off x="6145518" y="5173567"/>
            <a:ext cx="3747607" cy="1440000"/>
          </a:xfrm>
          <a:prstGeom prst="wedgeRectCallout">
            <a:avLst>
              <a:gd name="adj1" fmla="val -4547"/>
              <a:gd name="adj2" fmla="val -62508"/>
            </a:avLst>
          </a:prstGeom>
          <a:solidFill>
            <a:schemeClr val="bg1">
              <a:lumMod val="95000"/>
            </a:schemeClr>
          </a:solidFill>
          <a:ln w="28575">
            <a:solidFill>
              <a:schemeClr val="bg1"/>
            </a:solidFill>
          </a:ln>
        </p:spPr>
        <p:txBody>
          <a:bodyPr lIns="72000" tIns="108000" rIns="72000" bIns="41537">
            <a:noAutofit/>
          </a:bodyPr>
          <a:lstStyle/>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Valor da Demanda = $90</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Empenhado = $96 </a:t>
            </a:r>
            <a:r>
              <a:rPr lang="en-BR" sz="1200" dirty="0"/>
              <a:t>($36 + $10 + $50)</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Saldo = </a:t>
            </a:r>
            <a:r>
              <a:rPr lang="en-BR" sz="1200" b="1" dirty="0">
                <a:solidFill>
                  <a:srgbClr val="FF0000"/>
                </a:solidFill>
              </a:rPr>
              <a:t>– $6</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Contingência = $4 </a:t>
            </a:r>
            <a:r>
              <a:rPr lang="en-BR" sz="1200" dirty="0"/>
              <a:t>($10 – $6)</a:t>
            </a:r>
            <a:endParaRPr lang="en-BR" sz="1200" b="1" dirty="0"/>
          </a:p>
          <a:p>
            <a:pPr marL="7938" algn="ctr" defTabSz="1055061">
              <a:lnSpc>
                <a:spcPct val="90000"/>
              </a:lnSpc>
              <a:spcBef>
                <a:spcPts val="900"/>
              </a:spcBef>
              <a:buClr>
                <a:srgbClr val="143244"/>
              </a:buClr>
              <a:buSzPct val="90000"/>
            </a:pPr>
            <a:r>
              <a:rPr lang="en-BR" sz="1200" i="1" dirty="0"/>
              <a:t>Empenhado de Oficina aprovado utlizando Contingência</a:t>
            </a:r>
          </a:p>
        </p:txBody>
      </p:sp>
      <p:sp>
        <p:nvSpPr>
          <p:cNvPr id="213" name="CaixaDeTexto 557">
            <a:extLst>
              <a:ext uri="{FF2B5EF4-FFF2-40B4-BE49-F238E27FC236}">
                <a16:creationId xmlns:a16="http://schemas.microsoft.com/office/drawing/2014/main" id="{97F8C310-0534-89C8-DC75-05DE1A8311D5}"/>
              </a:ext>
            </a:extLst>
          </p:cNvPr>
          <p:cNvSpPr txBox="1"/>
          <p:nvPr/>
        </p:nvSpPr>
        <p:spPr>
          <a:xfrm>
            <a:off x="9937296" y="2316222"/>
            <a:ext cx="1944000" cy="288000"/>
          </a:xfrm>
          <a:prstGeom prst="roundRect">
            <a:avLst>
              <a:gd name="adj" fmla="val 0"/>
            </a:avLst>
          </a:prstGeom>
          <a:noFill/>
          <a:ln>
            <a:solidFill>
              <a:srgbClr val="014A65"/>
            </a:solidFill>
            <a:prstDash val="solid"/>
          </a:ln>
        </p:spPr>
        <p:txBody>
          <a:bodyPr wrap="square" lIns="72000" rtlCol="0" anchor="ctr">
            <a:noAutofit/>
          </a:bodyPr>
          <a:lstStyle>
            <a:defPPr>
              <a:defRPr lang="pt-BR"/>
            </a:defPPr>
            <a:lvl1pPr algn="ctr">
              <a:defRPr sz="1000" i="1">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el-GR" dirty="0"/>
              <a:t>Σ</a:t>
            </a:r>
            <a:r>
              <a:rPr lang="pt-BR" dirty="0"/>
              <a:t> </a:t>
            </a:r>
            <a:r>
              <a:rPr lang="pt-BR" dirty="0" err="1"/>
              <a:t>R</a:t>
            </a:r>
            <a:r>
              <a:rPr lang="pt-BR" dirty="0"/>
              <a:t>$ Demanda 1</a:t>
            </a:r>
          </a:p>
        </p:txBody>
      </p:sp>
      <p:sp>
        <p:nvSpPr>
          <p:cNvPr id="214" name="Espaço Reservado para Conteúdo 1">
            <a:extLst>
              <a:ext uri="{FF2B5EF4-FFF2-40B4-BE49-F238E27FC236}">
                <a16:creationId xmlns:a16="http://schemas.microsoft.com/office/drawing/2014/main" id="{23994BBB-E327-C9D1-CB8B-D3841D51697E}"/>
              </a:ext>
            </a:extLst>
          </p:cNvPr>
          <p:cNvSpPr txBox="1">
            <a:spLocks/>
          </p:cNvSpPr>
          <p:nvPr/>
        </p:nvSpPr>
        <p:spPr>
          <a:xfrm>
            <a:off x="11412609" y="2346441"/>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solidFill>
                  <a:srgbClr val="FF0000"/>
                </a:solidFill>
              </a:rPr>
              <a:t>$96</a:t>
            </a:r>
          </a:p>
        </p:txBody>
      </p:sp>
      <p:sp>
        <p:nvSpPr>
          <p:cNvPr id="215" name="CaixaDeTexto 557">
            <a:extLst>
              <a:ext uri="{FF2B5EF4-FFF2-40B4-BE49-F238E27FC236}">
                <a16:creationId xmlns:a16="http://schemas.microsoft.com/office/drawing/2014/main" id="{1650E397-FDEF-77E5-A27D-9D0F6B0FA21C}"/>
              </a:ext>
            </a:extLst>
          </p:cNvPr>
          <p:cNvSpPr txBox="1"/>
          <p:nvPr/>
        </p:nvSpPr>
        <p:spPr>
          <a:xfrm>
            <a:off x="10447484" y="2708920"/>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a:t>Material 1</a:t>
            </a:r>
            <a:endParaRPr lang="pt-BR" dirty="0"/>
          </a:p>
        </p:txBody>
      </p:sp>
      <p:sp>
        <p:nvSpPr>
          <p:cNvPr id="216" name="CaixaDeTexto 557">
            <a:extLst>
              <a:ext uri="{FF2B5EF4-FFF2-40B4-BE49-F238E27FC236}">
                <a16:creationId xmlns:a16="http://schemas.microsoft.com/office/drawing/2014/main" id="{BBB0BB99-E2FE-18FF-280C-109F530ABD64}"/>
              </a:ext>
            </a:extLst>
          </p:cNvPr>
          <p:cNvSpPr txBox="1"/>
          <p:nvPr/>
        </p:nvSpPr>
        <p:spPr>
          <a:xfrm>
            <a:off x="10447484" y="3065108"/>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Material 2</a:t>
            </a:r>
          </a:p>
        </p:txBody>
      </p:sp>
      <p:sp>
        <p:nvSpPr>
          <p:cNvPr id="217" name="CaixaDeTexto 557">
            <a:extLst>
              <a:ext uri="{FF2B5EF4-FFF2-40B4-BE49-F238E27FC236}">
                <a16:creationId xmlns:a16="http://schemas.microsoft.com/office/drawing/2014/main" id="{35541647-6175-74F9-F7C6-5C0D5051DD8E}"/>
              </a:ext>
            </a:extLst>
          </p:cNvPr>
          <p:cNvSpPr txBox="1"/>
          <p:nvPr/>
        </p:nvSpPr>
        <p:spPr>
          <a:xfrm>
            <a:off x="10447484" y="3824015"/>
            <a:ext cx="1433812" cy="288000"/>
          </a:xfrm>
          <a:prstGeom prst="roundRect">
            <a:avLst>
              <a:gd name="adj" fmla="val 0"/>
            </a:avLst>
          </a:prstGeom>
          <a:noFill/>
          <a:ln>
            <a:solidFill>
              <a:srgbClr val="014A65"/>
            </a:solidFill>
            <a:prstDash val="solid"/>
          </a:ln>
        </p:spPr>
        <p:txBody>
          <a:bodyPr wrap="square" lIns="72000" rIns="36000" rtlCol="0" anchor="ctr">
            <a:noAutofit/>
          </a:bodyPr>
          <a:lstStyle>
            <a:defPPr>
              <a:defRPr lang="pt-BR"/>
            </a:defPPr>
            <a:lvl1pPr>
              <a:defRPr sz="1000" i="1">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pt-BR" dirty="0"/>
              <a:t>Oficina 1</a:t>
            </a:r>
          </a:p>
        </p:txBody>
      </p:sp>
      <p:sp>
        <p:nvSpPr>
          <p:cNvPr id="218" name="Espaço Reservado para Conteúdo 1">
            <a:extLst>
              <a:ext uri="{FF2B5EF4-FFF2-40B4-BE49-F238E27FC236}">
                <a16:creationId xmlns:a16="http://schemas.microsoft.com/office/drawing/2014/main" id="{091A9274-C7F8-B4F4-1100-010FFB0E1C5B}"/>
              </a:ext>
            </a:extLst>
          </p:cNvPr>
          <p:cNvSpPr txBox="1">
            <a:spLocks/>
          </p:cNvSpPr>
          <p:nvPr/>
        </p:nvSpPr>
        <p:spPr>
          <a:xfrm>
            <a:off x="11402417" y="2739830"/>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$36</a:t>
            </a:r>
          </a:p>
        </p:txBody>
      </p:sp>
      <p:sp>
        <p:nvSpPr>
          <p:cNvPr id="219" name="Espaço Reservado para Conteúdo 1">
            <a:extLst>
              <a:ext uri="{FF2B5EF4-FFF2-40B4-BE49-F238E27FC236}">
                <a16:creationId xmlns:a16="http://schemas.microsoft.com/office/drawing/2014/main" id="{64B0222D-BB04-A620-DA12-FF2DD1098702}"/>
              </a:ext>
            </a:extLst>
          </p:cNvPr>
          <p:cNvSpPr txBox="1">
            <a:spLocks/>
          </p:cNvSpPr>
          <p:nvPr/>
        </p:nvSpPr>
        <p:spPr>
          <a:xfrm>
            <a:off x="11402417" y="3098223"/>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$10</a:t>
            </a:r>
          </a:p>
        </p:txBody>
      </p:sp>
      <p:sp>
        <p:nvSpPr>
          <p:cNvPr id="220" name="Espaço Reservado para Conteúdo 1">
            <a:extLst>
              <a:ext uri="{FF2B5EF4-FFF2-40B4-BE49-F238E27FC236}">
                <a16:creationId xmlns:a16="http://schemas.microsoft.com/office/drawing/2014/main" id="{4EC48042-26EF-8CF3-DE2B-1E1757540AA5}"/>
              </a:ext>
            </a:extLst>
          </p:cNvPr>
          <p:cNvSpPr txBox="1">
            <a:spLocks/>
          </p:cNvSpPr>
          <p:nvPr/>
        </p:nvSpPr>
        <p:spPr>
          <a:xfrm>
            <a:off x="11402417" y="3857130"/>
            <a:ext cx="421277" cy="221770"/>
          </a:xfrm>
          <a:prstGeom prst="rect">
            <a:avLst/>
          </a:prstGeom>
          <a:solidFill>
            <a:schemeClr val="bg1">
              <a:lumMod val="95000"/>
            </a:schemeClr>
          </a:solidFill>
        </p:spPr>
        <p:txBody>
          <a:bodyPr lIns="53998" tIns="41537" rIns="53998" bIns="41537" anchor="ctr">
            <a:noAutofit/>
          </a:bodyPr>
          <a:lstStyle>
            <a:defPPr>
              <a:defRPr lang="pt-BR"/>
            </a:defPPr>
            <a:lvl1pPr marL="7938" indent="0" algn="ctr" defTabSz="1055061">
              <a:lnSpc>
                <a:spcPct val="90000"/>
              </a:lnSpc>
              <a:spcBef>
                <a:spcPts val="600"/>
              </a:spcBef>
              <a:buClr>
                <a:srgbClr val="143244"/>
              </a:buClr>
              <a:buSzPct val="90000"/>
              <a:buFont typeface="Arial" panose="020B0604020202020204" pitchFamily="34" charset="0"/>
              <a:buNone/>
              <a:defRPr sz="1100" b="1"/>
            </a:lvl1pPr>
            <a:lvl2pPr marL="716197" indent="-188666" defTabSz="1055061">
              <a:spcBef>
                <a:spcPct val="20000"/>
              </a:spcBef>
              <a:buClr>
                <a:srgbClr val="143244"/>
              </a:buClr>
              <a:buSzPct val="90000"/>
              <a:buFont typeface="Arial" panose="020B0604020202020204" pitchFamily="34" charset="0"/>
              <a:buChar char="–"/>
              <a:tabLst/>
              <a:defRPr sz="1800"/>
            </a:lvl2pPr>
            <a:lvl3pPr marL="1135656" indent="-80595" defTabSz="1055061">
              <a:spcBef>
                <a:spcPct val="20000"/>
              </a:spcBef>
              <a:buClr>
                <a:srgbClr val="143244"/>
              </a:buClr>
              <a:buSzPct val="90000"/>
              <a:buFont typeface="Arial" panose="020B0604020202020204" pitchFamily="34" charset="0"/>
              <a:buChar char="•"/>
              <a:defRPr sz="1800"/>
            </a:lvl3pPr>
            <a:lvl4pPr marL="1846358" indent="-263766" defTabSz="1055061">
              <a:spcBef>
                <a:spcPct val="20000"/>
              </a:spcBef>
              <a:buFont typeface="Arial" panose="020B0604020202020204" pitchFamily="34" charset="0"/>
              <a:buChar char="–"/>
              <a:defRPr sz="1800"/>
            </a:lvl4pPr>
            <a:lvl5pPr marL="1650365" indent="-163022" defTabSz="1055061">
              <a:spcBef>
                <a:spcPct val="20000"/>
              </a:spcBef>
              <a:buClr>
                <a:srgbClr val="143244"/>
              </a:buClr>
              <a:buSzPct val="90000"/>
              <a:buFont typeface="Arial" panose="020B0604020202020204" pitchFamily="34" charset="0"/>
              <a:buChar char="»"/>
              <a:defRPr sz="1800"/>
            </a:lvl5pPr>
            <a:lvl6pPr marL="2901417" indent="-263766" defTabSz="1055061">
              <a:spcBef>
                <a:spcPct val="20000"/>
              </a:spcBef>
              <a:buFont typeface="Arial" panose="020B0604020202020204" pitchFamily="34" charset="0"/>
              <a:buChar char="•"/>
              <a:defRPr sz="2300"/>
            </a:lvl6pPr>
            <a:lvl7pPr marL="3428949" indent="-263766" defTabSz="1055061">
              <a:spcBef>
                <a:spcPct val="20000"/>
              </a:spcBef>
              <a:buFont typeface="Arial" panose="020B0604020202020204" pitchFamily="34" charset="0"/>
              <a:buChar char="•"/>
              <a:defRPr sz="2300"/>
            </a:lvl7pPr>
            <a:lvl8pPr marL="3956479" indent="-263766" defTabSz="1055061">
              <a:spcBef>
                <a:spcPct val="20000"/>
              </a:spcBef>
              <a:buFont typeface="Arial" panose="020B0604020202020204" pitchFamily="34" charset="0"/>
              <a:buChar char="•"/>
              <a:defRPr sz="2300"/>
            </a:lvl8pPr>
            <a:lvl9pPr marL="4484010" indent="-263766" defTabSz="1055061">
              <a:spcBef>
                <a:spcPct val="20000"/>
              </a:spcBef>
              <a:buFont typeface="Arial" panose="020B0604020202020204" pitchFamily="34" charset="0"/>
              <a:buChar char="•"/>
              <a:defRPr sz="2300"/>
            </a:lvl9pPr>
          </a:lstStyle>
          <a:p>
            <a:r>
              <a:rPr lang="pt-BR" dirty="0"/>
              <a:t>$50</a:t>
            </a:r>
          </a:p>
        </p:txBody>
      </p:sp>
      <p:sp>
        <p:nvSpPr>
          <p:cNvPr id="222" name="CaixaDeTexto 557">
            <a:extLst>
              <a:ext uri="{FF2B5EF4-FFF2-40B4-BE49-F238E27FC236}">
                <a16:creationId xmlns:a16="http://schemas.microsoft.com/office/drawing/2014/main" id="{C9CEB0D8-BDBB-5C2A-51E9-B34DC6C4ED18}"/>
              </a:ext>
            </a:extLst>
          </p:cNvPr>
          <p:cNvSpPr txBox="1"/>
          <p:nvPr/>
        </p:nvSpPr>
        <p:spPr>
          <a:xfrm>
            <a:off x="9937296" y="4668343"/>
            <a:ext cx="1944000" cy="288000"/>
          </a:xfrm>
          <a:prstGeom prst="roundRect">
            <a:avLst>
              <a:gd name="adj" fmla="val 0"/>
            </a:avLst>
          </a:prstGeom>
          <a:noFill/>
          <a:ln>
            <a:solidFill>
              <a:srgbClr val="014A65"/>
            </a:solidFill>
            <a:prstDash val="dash"/>
          </a:ln>
        </p:spPr>
        <p:txBody>
          <a:bodyPr wrap="square" lIns="72000" rIns="36000" rtlCol="0" anchor="ctr">
            <a:noAutofit/>
          </a:bodyPr>
          <a:lstStyle>
            <a:defPPr>
              <a:defRPr lang="pt-BR"/>
            </a:defPPr>
            <a:lvl1pPr algn="ctr">
              <a:defRPr sz="1000" i="1">
                <a:solidFill>
                  <a:schemeClr val="tx1"/>
                </a:solidFill>
                <a:latin typeface="Aptos" panose="020B000402020202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l"/>
            <a:r>
              <a:rPr lang="pt-BR" dirty="0"/>
              <a:t>Contingência</a:t>
            </a:r>
          </a:p>
        </p:txBody>
      </p:sp>
      <p:sp>
        <p:nvSpPr>
          <p:cNvPr id="223" name="Espaço Reservado para Conteúdo 1">
            <a:extLst>
              <a:ext uri="{FF2B5EF4-FFF2-40B4-BE49-F238E27FC236}">
                <a16:creationId xmlns:a16="http://schemas.microsoft.com/office/drawing/2014/main" id="{33DDB888-E8DF-019C-857C-81E6F2124BB9}"/>
              </a:ext>
            </a:extLst>
          </p:cNvPr>
          <p:cNvSpPr txBox="1">
            <a:spLocks/>
          </p:cNvSpPr>
          <p:nvPr/>
        </p:nvSpPr>
        <p:spPr>
          <a:xfrm>
            <a:off x="11412609" y="4701457"/>
            <a:ext cx="421277" cy="221770"/>
          </a:xfrm>
          <a:prstGeom prst="rect">
            <a:avLst/>
          </a:prstGeom>
          <a:solidFill>
            <a:schemeClr val="bg1">
              <a:lumMod val="95000"/>
            </a:schemeClr>
          </a:solidFill>
        </p:spPr>
        <p:txBody>
          <a:bodyPr lIns="53998" tIns="41537" rIns="53998" bIns="41537" anchor="ctr">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7938" indent="0" algn="ctr">
              <a:lnSpc>
                <a:spcPct val="90000"/>
              </a:lnSpc>
              <a:spcBef>
                <a:spcPts val="600"/>
              </a:spcBef>
              <a:buNone/>
            </a:pPr>
            <a:r>
              <a:rPr lang="pt-BR" sz="1100" b="1" dirty="0"/>
              <a:t>$4</a:t>
            </a:r>
          </a:p>
        </p:txBody>
      </p:sp>
      <p:sp>
        <p:nvSpPr>
          <p:cNvPr id="227" name="Rectangular Callout 226">
            <a:extLst>
              <a:ext uri="{FF2B5EF4-FFF2-40B4-BE49-F238E27FC236}">
                <a16:creationId xmlns:a16="http://schemas.microsoft.com/office/drawing/2014/main" id="{D49CBFAE-7622-9548-9595-9615132E2E23}"/>
              </a:ext>
            </a:extLst>
          </p:cNvPr>
          <p:cNvSpPr/>
          <p:nvPr/>
        </p:nvSpPr>
        <p:spPr>
          <a:xfrm>
            <a:off x="9949822" y="5173567"/>
            <a:ext cx="1944000" cy="1440000"/>
          </a:xfrm>
          <a:prstGeom prst="wedgeRectCallout">
            <a:avLst>
              <a:gd name="adj1" fmla="val -4547"/>
              <a:gd name="adj2" fmla="val -62508"/>
            </a:avLst>
          </a:prstGeom>
          <a:solidFill>
            <a:schemeClr val="bg1">
              <a:lumMod val="95000"/>
            </a:schemeClr>
          </a:solidFill>
          <a:ln w="28575">
            <a:solidFill>
              <a:schemeClr val="bg1"/>
            </a:solidFill>
          </a:ln>
        </p:spPr>
        <p:txBody>
          <a:bodyPr lIns="72000" tIns="108000" rIns="72000" bIns="41537">
            <a:noAutofit/>
          </a:bodyPr>
          <a:lstStyle/>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Valor Realizado da Demanda = $96</a:t>
            </a:r>
          </a:p>
          <a:p>
            <a:pPr marL="182563" indent="-174625" defTabSz="1055061">
              <a:lnSpc>
                <a:spcPct val="90000"/>
              </a:lnSpc>
              <a:spcBef>
                <a:spcPts val="900"/>
              </a:spcBef>
              <a:buClr>
                <a:srgbClr val="143244"/>
              </a:buClr>
              <a:buSzPct val="90000"/>
              <a:buFont typeface="Wingdings" panose="05000000000000000000" pitchFamily="2" charset="2"/>
              <a:buChar char="§"/>
            </a:pPr>
            <a:r>
              <a:rPr lang="en-BR" sz="1200" b="1" dirty="0"/>
              <a:t>Contingência</a:t>
            </a:r>
            <a:br>
              <a:rPr lang="en-BR" sz="1200" b="1" dirty="0"/>
            </a:br>
            <a:r>
              <a:rPr lang="en-BR" sz="1200" b="1" dirty="0"/>
              <a:t>residual = $4</a:t>
            </a:r>
          </a:p>
          <a:p>
            <a:pPr marL="7938" algn="ctr" defTabSz="1055061">
              <a:lnSpc>
                <a:spcPct val="90000"/>
              </a:lnSpc>
              <a:spcBef>
                <a:spcPts val="900"/>
              </a:spcBef>
              <a:buClr>
                <a:srgbClr val="143244"/>
              </a:buClr>
              <a:buSzPct val="90000"/>
            </a:pPr>
            <a:r>
              <a:rPr lang="en-BR" sz="1200" i="1" dirty="0"/>
              <a:t>Contingência sob gestão da Parada até Fechamento</a:t>
            </a:r>
          </a:p>
        </p:txBody>
      </p:sp>
    </p:spTree>
    <p:extLst>
      <p:ext uri="{BB962C8B-B14F-4D97-AF65-F5344CB8AC3E}">
        <p14:creationId xmlns:p14="http://schemas.microsoft.com/office/powerpoint/2010/main" val="8205542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B8646-C1CC-C7E4-25EF-5DA4CB6CD36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D1285E1-DC14-70C9-CDC7-5B608ABBD8EC}"/>
              </a:ext>
            </a:extLst>
          </p:cNvPr>
          <p:cNvSpPr>
            <a:spLocks noGrp="1"/>
          </p:cNvSpPr>
          <p:nvPr>
            <p:ph type="title"/>
          </p:nvPr>
        </p:nvSpPr>
        <p:spPr/>
        <p:txBody>
          <a:bodyPr/>
          <a:lstStyle/>
          <a:p>
            <a:r>
              <a:rPr lang="pt-BR" dirty="0"/>
              <a:t>Esteira Financeira</a:t>
            </a:r>
          </a:p>
        </p:txBody>
      </p:sp>
      <p:sp>
        <p:nvSpPr>
          <p:cNvPr id="44" name="Título 2">
            <a:extLst>
              <a:ext uri="{FF2B5EF4-FFF2-40B4-BE49-F238E27FC236}">
                <a16:creationId xmlns:a16="http://schemas.microsoft.com/office/drawing/2014/main" id="{2E8E754E-F7F0-C4F4-6489-11011E53EC03}"/>
              </a:ext>
            </a:extLst>
          </p:cNvPr>
          <p:cNvSpPr txBox="1">
            <a:spLocks/>
          </p:cNvSpPr>
          <p:nvPr/>
        </p:nvSpPr>
        <p:spPr>
          <a:xfrm>
            <a:off x="696000" y="906600"/>
            <a:ext cx="10800000" cy="645195"/>
          </a:xfrm>
          <a:prstGeom prst="rect">
            <a:avLst/>
          </a:prstGeom>
        </p:spPr>
        <p:txBody>
          <a:bodyPr lIns="53998" tIns="41537" rIns="53998" bIns="41537">
            <a:noAutofit/>
          </a:bodyPr>
          <a:lstStyle>
            <a:defPPr>
              <a:defRPr lang="pt-BR"/>
            </a:defPPr>
            <a:lvl1pPr indent="0" defTabSz="1055061">
              <a:spcBef>
                <a:spcPct val="20000"/>
              </a:spcBef>
              <a:buClr>
                <a:srgbClr val="143244"/>
              </a:buClr>
              <a:buSzPct val="90000"/>
              <a:buFont typeface="Arial" panose="020B0604020202020204" pitchFamily="34" charset="0"/>
              <a:buNone/>
              <a:defRPr sz="1400"/>
            </a:lvl1pPr>
            <a:lvl2pPr marL="716197" indent="-188666" defTabSz="1055061">
              <a:spcBef>
                <a:spcPct val="20000"/>
              </a:spcBef>
              <a:buClr>
                <a:srgbClr val="143244"/>
              </a:buClr>
              <a:buSzPct val="90000"/>
              <a:buFont typeface="Arial" panose="020B0604020202020204" pitchFamily="34" charset="0"/>
              <a:buChar char="–"/>
              <a:tabLst/>
              <a:defRPr sz="1800"/>
            </a:lvl2pPr>
            <a:lvl3pPr marL="1135656" indent="-80595" defTabSz="1055061">
              <a:spcBef>
                <a:spcPct val="20000"/>
              </a:spcBef>
              <a:buClr>
                <a:srgbClr val="143244"/>
              </a:buClr>
              <a:buSzPct val="90000"/>
              <a:buFont typeface="Arial" panose="020B0604020202020204" pitchFamily="34" charset="0"/>
              <a:buChar char="•"/>
              <a:defRPr sz="1800"/>
            </a:lvl3pPr>
            <a:lvl4pPr marL="1846358" indent="-263766" defTabSz="1055061">
              <a:spcBef>
                <a:spcPct val="20000"/>
              </a:spcBef>
              <a:buFont typeface="Arial" panose="020B0604020202020204" pitchFamily="34" charset="0"/>
              <a:buChar char="–"/>
              <a:defRPr sz="1800"/>
            </a:lvl4pPr>
            <a:lvl5pPr marL="1650365" indent="-163022" defTabSz="1055061">
              <a:spcBef>
                <a:spcPct val="20000"/>
              </a:spcBef>
              <a:buClr>
                <a:srgbClr val="143244"/>
              </a:buClr>
              <a:buSzPct val="90000"/>
              <a:buFont typeface="Arial" panose="020B0604020202020204" pitchFamily="34" charset="0"/>
              <a:buChar char="»"/>
              <a:defRPr sz="1800"/>
            </a:lvl5pPr>
            <a:lvl6pPr marL="2901417" indent="-263766" defTabSz="1055061">
              <a:spcBef>
                <a:spcPct val="20000"/>
              </a:spcBef>
              <a:buFont typeface="Arial" panose="020B0604020202020204" pitchFamily="34" charset="0"/>
              <a:buChar char="•"/>
              <a:defRPr sz="2300"/>
            </a:lvl6pPr>
            <a:lvl7pPr marL="3428949" indent="-263766" defTabSz="1055061">
              <a:spcBef>
                <a:spcPct val="20000"/>
              </a:spcBef>
              <a:buFont typeface="Arial" panose="020B0604020202020204" pitchFamily="34" charset="0"/>
              <a:buChar char="•"/>
              <a:defRPr sz="2300"/>
            </a:lvl7pPr>
            <a:lvl8pPr marL="3956479" indent="-263766" defTabSz="1055061">
              <a:spcBef>
                <a:spcPct val="20000"/>
              </a:spcBef>
              <a:buFont typeface="Arial" panose="020B0604020202020204" pitchFamily="34" charset="0"/>
              <a:buChar char="•"/>
              <a:defRPr sz="2300"/>
            </a:lvl8pPr>
            <a:lvl9pPr marL="4484010" indent="-263766" defTabSz="1055061">
              <a:spcBef>
                <a:spcPct val="20000"/>
              </a:spcBef>
              <a:buFont typeface="Arial" panose="020B0604020202020204" pitchFamily="34" charset="0"/>
              <a:buChar char="•"/>
              <a:defRPr sz="2300"/>
            </a:lvl9pPr>
          </a:lstStyle>
          <a:p>
            <a:r>
              <a:rPr lang="pt-BR" dirty="0"/>
              <a:t>Embora as etapas da esteira financeira sejam lineares, a contabilização dos custos da Parada tem dinâmicas temporais muito distintas.</a:t>
            </a:r>
          </a:p>
        </p:txBody>
      </p:sp>
      <p:sp>
        <p:nvSpPr>
          <p:cNvPr id="2" name="Rectangle 17">
            <a:extLst>
              <a:ext uri="{FF2B5EF4-FFF2-40B4-BE49-F238E27FC236}">
                <a16:creationId xmlns:a16="http://schemas.microsoft.com/office/drawing/2014/main" id="{126FFA50-AAA1-D641-B608-AD1667ED1CCF}"/>
              </a:ext>
            </a:extLst>
          </p:cNvPr>
          <p:cNvSpPr/>
          <p:nvPr/>
        </p:nvSpPr>
        <p:spPr>
          <a:xfrm>
            <a:off x="7687557" y="2595946"/>
            <a:ext cx="785738" cy="320931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graphicFrame>
        <p:nvGraphicFramePr>
          <p:cNvPr id="3" name="Gráfico 2">
            <a:extLst>
              <a:ext uri="{FF2B5EF4-FFF2-40B4-BE49-F238E27FC236}">
                <a16:creationId xmlns:a16="http://schemas.microsoft.com/office/drawing/2014/main" id="{399E0657-4B63-EA80-D0D3-528164CB6FBD}"/>
              </a:ext>
            </a:extLst>
          </p:cNvPr>
          <p:cNvGraphicFramePr>
            <a:graphicFrameLocks/>
          </p:cNvGraphicFramePr>
          <p:nvPr/>
        </p:nvGraphicFramePr>
        <p:xfrm>
          <a:off x="999135" y="2249208"/>
          <a:ext cx="10439933" cy="4132120"/>
        </p:xfrm>
        <a:graphic>
          <a:graphicData uri="http://schemas.openxmlformats.org/drawingml/2006/chart">
            <c:chart xmlns:c="http://schemas.openxmlformats.org/drawingml/2006/chart" xmlns:r="http://schemas.openxmlformats.org/officeDocument/2006/relationships" r:id="rId2"/>
          </a:graphicData>
        </a:graphic>
      </p:graphicFrame>
      <p:sp>
        <p:nvSpPr>
          <p:cNvPr id="4" name="Content Placeholder 4">
            <a:extLst>
              <a:ext uri="{FF2B5EF4-FFF2-40B4-BE49-F238E27FC236}">
                <a16:creationId xmlns:a16="http://schemas.microsoft.com/office/drawing/2014/main" id="{E6A921B4-75F1-2B88-C0D2-D0B97D2E990C}"/>
              </a:ext>
            </a:extLst>
          </p:cNvPr>
          <p:cNvSpPr txBox="1">
            <a:spLocks/>
          </p:cNvSpPr>
          <p:nvPr/>
        </p:nvSpPr>
        <p:spPr>
          <a:xfrm>
            <a:off x="4399658" y="5868498"/>
            <a:ext cx="3638886" cy="271011"/>
          </a:xfrm>
          <a:prstGeom prst="rect">
            <a:avLst/>
          </a:prstGeom>
          <a:noFill/>
        </p:spPr>
        <p:txBody>
          <a:bodyPr vert="horz" lIns="36000" tIns="45720" rIns="3600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200" b="1" dirty="0">
                <a:solidFill>
                  <a:schemeClr val="tx1">
                    <a:lumMod val="65000"/>
                    <a:lumOff val="35000"/>
                  </a:schemeClr>
                </a:solidFill>
              </a:rPr>
              <a:t>Ano e Mês</a:t>
            </a:r>
          </a:p>
        </p:txBody>
      </p:sp>
      <p:sp>
        <p:nvSpPr>
          <p:cNvPr id="6" name="Content Placeholder 4">
            <a:extLst>
              <a:ext uri="{FF2B5EF4-FFF2-40B4-BE49-F238E27FC236}">
                <a16:creationId xmlns:a16="http://schemas.microsoft.com/office/drawing/2014/main" id="{0F1035F1-E6EA-89BD-70B7-8137FF9E2890}"/>
              </a:ext>
            </a:extLst>
          </p:cNvPr>
          <p:cNvSpPr txBox="1">
            <a:spLocks/>
          </p:cNvSpPr>
          <p:nvPr/>
        </p:nvSpPr>
        <p:spPr>
          <a:xfrm rot="16200000">
            <a:off x="-304215" y="3530648"/>
            <a:ext cx="2448782" cy="271011"/>
          </a:xfrm>
          <a:prstGeom prst="rect">
            <a:avLst/>
          </a:prstGeom>
          <a:noFill/>
        </p:spPr>
        <p:txBody>
          <a:bodyPr vert="horz" lIns="36000" tIns="45720" rIns="3600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200" b="1" dirty="0" err="1">
                <a:solidFill>
                  <a:schemeClr val="tx1">
                    <a:lumMod val="65000"/>
                    <a:lumOff val="35000"/>
                  </a:schemeClr>
                </a:solidFill>
              </a:rPr>
              <a:t>R</a:t>
            </a:r>
            <a:r>
              <a:rPr lang="pt-BR" sz="1200" b="1" dirty="0">
                <a:solidFill>
                  <a:schemeClr val="tx1">
                    <a:lumMod val="65000"/>
                    <a:lumOff val="35000"/>
                  </a:schemeClr>
                </a:solidFill>
              </a:rPr>
              <a:t>$ mil</a:t>
            </a:r>
          </a:p>
        </p:txBody>
      </p:sp>
      <p:sp>
        <p:nvSpPr>
          <p:cNvPr id="11" name="Content Placeholder 4">
            <a:extLst>
              <a:ext uri="{FF2B5EF4-FFF2-40B4-BE49-F238E27FC236}">
                <a16:creationId xmlns:a16="http://schemas.microsoft.com/office/drawing/2014/main" id="{E580B4C5-0B66-F79D-A55A-753C3078F93A}"/>
              </a:ext>
            </a:extLst>
          </p:cNvPr>
          <p:cNvSpPr txBox="1">
            <a:spLocks/>
          </p:cNvSpPr>
          <p:nvPr/>
        </p:nvSpPr>
        <p:spPr>
          <a:xfrm>
            <a:off x="7648426" y="2249207"/>
            <a:ext cx="864000" cy="539233"/>
          </a:xfrm>
          <a:prstGeom prst="rect">
            <a:avLst/>
          </a:prstGeom>
          <a:solidFill>
            <a:schemeClr val="bg1">
              <a:lumMod val="95000"/>
            </a:schemeClr>
          </a:solidFill>
          <a:ln w="12700">
            <a:noFill/>
          </a:ln>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100" b="1" dirty="0"/>
              <a:t>Parada</a:t>
            </a:r>
            <a:br>
              <a:rPr lang="pt-BR" sz="1100" b="1" dirty="0"/>
            </a:br>
            <a:r>
              <a:rPr lang="pt-BR" sz="1100" b="1" dirty="0"/>
              <a:t>07/24 – 08/24</a:t>
            </a:r>
          </a:p>
        </p:txBody>
      </p:sp>
      <p:sp>
        <p:nvSpPr>
          <p:cNvPr id="12" name="Content Placeholder 4">
            <a:extLst>
              <a:ext uri="{FF2B5EF4-FFF2-40B4-BE49-F238E27FC236}">
                <a16:creationId xmlns:a16="http://schemas.microsoft.com/office/drawing/2014/main" id="{4D73353D-8AD3-277B-F48C-900F18F039D4}"/>
              </a:ext>
            </a:extLst>
          </p:cNvPr>
          <p:cNvSpPr txBox="1">
            <a:spLocks/>
          </p:cNvSpPr>
          <p:nvPr/>
        </p:nvSpPr>
        <p:spPr>
          <a:xfrm>
            <a:off x="2995847" y="1716866"/>
            <a:ext cx="6446508" cy="332234"/>
          </a:xfrm>
          <a:prstGeom prst="rect">
            <a:avLst/>
          </a:prstGeom>
          <a:noFill/>
        </p:spPr>
        <p:txBody>
          <a:bodyPr vert="horz" lIns="36000" tIns="45720" rIns="3600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t-BR" sz="1600" b="1" dirty="0"/>
              <a:t>Exemplo de curva de contabilização de custos Parada ID-23 | I. S. Pedro</a:t>
            </a:r>
            <a:endParaRPr lang="pt-BR" sz="1600" b="1" u="sng" dirty="0"/>
          </a:p>
        </p:txBody>
      </p:sp>
      <p:sp>
        <p:nvSpPr>
          <p:cNvPr id="13" name="Rectangular Callout 18">
            <a:extLst>
              <a:ext uri="{FF2B5EF4-FFF2-40B4-BE49-F238E27FC236}">
                <a16:creationId xmlns:a16="http://schemas.microsoft.com/office/drawing/2014/main" id="{DF13A300-74B4-E102-8A01-B044D339B628}"/>
              </a:ext>
            </a:extLst>
          </p:cNvPr>
          <p:cNvSpPr/>
          <p:nvPr/>
        </p:nvSpPr>
        <p:spPr>
          <a:xfrm>
            <a:off x="3321439" y="3980119"/>
            <a:ext cx="1183005" cy="867073"/>
          </a:xfrm>
          <a:prstGeom prst="wedgeRectCallout">
            <a:avLst>
              <a:gd name="adj1" fmla="val -27713"/>
              <a:gd name="adj2" fmla="val 97408"/>
            </a:avLst>
          </a:prstGeom>
          <a:solidFill>
            <a:schemeClr val="bg1"/>
          </a:solidFill>
          <a:ln w="12700">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b="1" dirty="0">
                <a:solidFill>
                  <a:schemeClr val="tx1"/>
                </a:solidFill>
              </a:rPr>
              <a:t>Materiais</a:t>
            </a:r>
            <a:r>
              <a:rPr lang="pt-BR" sz="1050" dirty="0">
                <a:solidFill>
                  <a:schemeClr val="tx1"/>
                </a:solidFill>
              </a:rPr>
              <a:t> iniciam tipicamente entre 7 a 12 meses antes do início da Parada</a:t>
            </a:r>
            <a:endParaRPr lang="en-BR" sz="1050" dirty="0">
              <a:solidFill>
                <a:schemeClr val="tx1"/>
              </a:solidFill>
            </a:endParaRPr>
          </a:p>
        </p:txBody>
      </p:sp>
      <p:sp>
        <p:nvSpPr>
          <p:cNvPr id="14" name="Rectangular Callout 18">
            <a:extLst>
              <a:ext uri="{FF2B5EF4-FFF2-40B4-BE49-F238E27FC236}">
                <a16:creationId xmlns:a16="http://schemas.microsoft.com/office/drawing/2014/main" id="{3E35D2A3-583E-898E-E1C3-24F7C8CC9F0F}"/>
              </a:ext>
            </a:extLst>
          </p:cNvPr>
          <p:cNvSpPr/>
          <p:nvPr/>
        </p:nvSpPr>
        <p:spPr>
          <a:xfrm>
            <a:off x="5603220" y="3980119"/>
            <a:ext cx="1183005" cy="867073"/>
          </a:xfrm>
          <a:prstGeom prst="wedgeRectCallout">
            <a:avLst>
              <a:gd name="adj1" fmla="val 39115"/>
              <a:gd name="adj2" fmla="val 92115"/>
            </a:avLst>
          </a:prstGeom>
          <a:solidFill>
            <a:schemeClr val="bg1"/>
          </a:solidFill>
          <a:ln w="12700">
            <a:solidFill>
              <a:srgbClr val="009DC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b="1" dirty="0">
                <a:solidFill>
                  <a:schemeClr val="tx1"/>
                </a:solidFill>
              </a:rPr>
              <a:t>Estaleiro</a:t>
            </a:r>
            <a:r>
              <a:rPr lang="pt-BR" sz="1050" dirty="0">
                <a:solidFill>
                  <a:schemeClr val="tx1"/>
                </a:solidFill>
              </a:rPr>
              <a:t> inicia tipicamente entre 2 a 3 meses antes do início da Parada</a:t>
            </a:r>
            <a:endParaRPr lang="en-BR" sz="1050" dirty="0">
              <a:solidFill>
                <a:schemeClr val="tx1"/>
              </a:solidFill>
            </a:endParaRPr>
          </a:p>
        </p:txBody>
      </p:sp>
      <p:sp>
        <p:nvSpPr>
          <p:cNvPr id="15" name="Rectangular Callout 18">
            <a:extLst>
              <a:ext uri="{FF2B5EF4-FFF2-40B4-BE49-F238E27FC236}">
                <a16:creationId xmlns:a16="http://schemas.microsoft.com/office/drawing/2014/main" id="{9440BD50-3B38-BDE7-D2DF-CCD74AC5A764}"/>
              </a:ext>
            </a:extLst>
          </p:cNvPr>
          <p:cNvSpPr/>
          <p:nvPr/>
        </p:nvSpPr>
        <p:spPr>
          <a:xfrm>
            <a:off x="7861772" y="3980119"/>
            <a:ext cx="1301306" cy="867073"/>
          </a:xfrm>
          <a:prstGeom prst="wedgeRectCallout">
            <a:avLst>
              <a:gd name="adj1" fmla="val -37594"/>
              <a:gd name="adj2" fmla="val 89918"/>
            </a:avLst>
          </a:prstGeom>
          <a:solidFill>
            <a:schemeClr val="bg1"/>
          </a:solidFill>
          <a:ln w="127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b="1" dirty="0">
                <a:solidFill>
                  <a:schemeClr val="tx1"/>
                </a:solidFill>
              </a:rPr>
              <a:t>Oficinas</a:t>
            </a:r>
            <a:r>
              <a:rPr lang="pt-BR" sz="1050" dirty="0">
                <a:solidFill>
                  <a:schemeClr val="tx1"/>
                </a:solidFill>
              </a:rPr>
              <a:t> iniciam tipicamente durante o período de execução da Parada</a:t>
            </a:r>
            <a:endParaRPr lang="en-BR" sz="1050" dirty="0">
              <a:solidFill>
                <a:schemeClr val="tx1"/>
              </a:solidFill>
            </a:endParaRPr>
          </a:p>
        </p:txBody>
      </p:sp>
    </p:spTree>
    <p:extLst>
      <p:ext uri="{BB962C8B-B14F-4D97-AF65-F5344CB8AC3E}">
        <p14:creationId xmlns:p14="http://schemas.microsoft.com/office/powerpoint/2010/main" val="20238604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38F03-0305-355C-FAFB-17B60B1DF1E7}"/>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D1818ED8-74AC-C905-5414-38714C437346}"/>
              </a:ext>
            </a:extLst>
          </p:cNvPr>
          <p:cNvSpPr>
            <a:spLocks noGrp="1"/>
          </p:cNvSpPr>
          <p:nvPr>
            <p:ph type="title"/>
          </p:nvPr>
        </p:nvSpPr>
        <p:spPr/>
        <p:txBody>
          <a:bodyPr/>
          <a:lstStyle/>
          <a:p>
            <a:r>
              <a:rPr lang="pt-BR" dirty="0"/>
              <a:t>Esteira Financeira</a:t>
            </a:r>
            <a:br>
              <a:rPr lang="pt-BR" dirty="0"/>
            </a:br>
            <a:r>
              <a:rPr lang="pt-BR" sz="1600" b="0" dirty="0"/>
              <a:t>Fluxo de Dados | Pedidos de Compras de Serviços - Oficinas</a:t>
            </a:r>
          </a:p>
        </p:txBody>
      </p:sp>
      <p:sp>
        <p:nvSpPr>
          <p:cNvPr id="11" name="Espaço Reservado para Conteúdo 1">
            <a:extLst>
              <a:ext uri="{FF2B5EF4-FFF2-40B4-BE49-F238E27FC236}">
                <a16:creationId xmlns:a16="http://schemas.microsoft.com/office/drawing/2014/main" id="{22580F8C-9FAB-9CE7-3918-CEEC42128B66}"/>
              </a:ext>
            </a:extLst>
          </p:cNvPr>
          <p:cNvSpPr txBox="1">
            <a:spLocks/>
          </p:cNvSpPr>
          <p:nvPr/>
        </p:nvSpPr>
        <p:spPr>
          <a:xfrm>
            <a:off x="696000" y="1172662"/>
            <a:ext cx="10800000" cy="850606"/>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None/>
            </a:pPr>
            <a:r>
              <a:rPr lang="pt-BR" sz="1400" dirty="0"/>
              <a:t>Através da integração entre o HUB, TM Master, </a:t>
            </a:r>
            <a:r>
              <a:rPr lang="pt-BR" sz="1400" dirty="0" err="1"/>
              <a:t>Fluig</a:t>
            </a:r>
            <a:r>
              <a:rPr lang="pt-BR" sz="1400" dirty="0"/>
              <a:t> e Protheus todos os dados da esteira financeira de oficinas serão registrados.</a:t>
            </a:r>
          </a:p>
          <a:p>
            <a:pPr marL="0" indent="0">
              <a:buFont typeface="Arial" panose="020B0604020202020204" pitchFamily="34" charset="0"/>
              <a:buNone/>
            </a:pPr>
            <a:endParaRPr lang="pt-BR" sz="1400" dirty="0"/>
          </a:p>
        </p:txBody>
      </p:sp>
      <p:sp>
        <p:nvSpPr>
          <p:cNvPr id="2" name="Retângulo 1">
            <a:extLst>
              <a:ext uri="{FF2B5EF4-FFF2-40B4-BE49-F238E27FC236}">
                <a16:creationId xmlns:a16="http://schemas.microsoft.com/office/drawing/2014/main" id="{2DB1B3CC-C07B-7989-EEC8-30270B72D51D}"/>
              </a:ext>
            </a:extLst>
          </p:cNvPr>
          <p:cNvSpPr/>
          <p:nvPr/>
        </p:nvSpPr>
        <p:spPr>
          <a:xfrm>
            <a:off x="6819699" y="3348987"/>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FLUIG BM</a:t>
            </a:r>
          </a:p>
        </p:txBody>
      </p:sp>
      <p:sp>
        <p:nvSpPr>
          <p:cNvPr id="12" name="Retângulo 11">
            <a:extLst>
              <a:ext uri="{FF2B5EF4-FFF2-40B4-BE49-F238E27FC236}">
                <a16:creationId xmlns:a16="http://schemas.microsoft.com/office/drawing/2014/main" id="{66ED18D8-1E54-56E6-E570-9A23E8211571}"/>
              </a:ext>
            </a:extLst>
          </p:cNvPr>
          <p:cNvSpPr/>
          <p:nvPr/>
        </p:nvSpPr>
        <p:spPr>
          <a:xfrm>
            <a:off x="1109413" y="3348987"/>
            <a:ext cx="1404000" cy="576064"/>
          </a:xfrm>
          <a:prstGeom prst="rect">
            <a:avLst/>
          </a:prstGeom>
          <a:solidFill>
            <a:srgbClr val="014A65"/>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dirty="0">
                <a:solidFill>
                  <a:schemeClr val="bg1"/>
                </a:solidFill>
              </a:rPr>
              <a:t>ID Serviço</a:t>
            </a:r>
          </a:p>
          <a:p>
            <a:pPr algn="ctr"/>
            <a:r>
              <a:rPr lang="pt-BR" sz="1100" dirty="0">
                <a:solidFill>
                  <a:schemeClr val="bg1"/>
                </a:solidFill>
              </a:rPr>
              <a:t>Registro no HUB</a:t>
            </a:r>
          </a:p>
        </p:txBody>
      </p:sp>
      <p:cxnSp>
        <p:nvCxnSpPr>
          <p:cNvPr id="48" name="Conector de Seta Reta 47">
            <a:extLst>
              <a:ext uri="{FF2B5EF4-FFF2-40B4-BE49-F238E27FC236}">
                <a16:creationId xmlns:a16="http://schemas.microsoft.com/office/drawing/2014/main" id="{98AA3EE4-3179-0353-7ED0-29F0DEFA28D3}"/>
              </a:ext>
            </a:extLst>
          </p:cNvPr>
          <p:cNvCxnSpPr>
            <a:cxnSpLocks/>
            <a:stCxn id="28" idx="3"/>
            <a:endCxn id="2" idx="1"/>
          </p:cNvCxnSpPr>
          <p:nvPr/>
        </p:nvCxnSpPr>
        <p:spPr>
          <a:xfrm>
            <a:off x="6376537" y="3637019"/>
            <a:ext cx="4431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Conector: Angulado 54">
            <a:extLst>
              <a:ext uri="{FF2B5EF4-FFF2-40B4-BE49-F238E27FC236}">
                <a16:creationId xmlns:a16="http://schemas.microsoft.com/office/drawing/2014/main" id="{7B82EE28-D825-4F49-390A-2B19EDC7BDAE}"/>
              </a:ext>
            </a:extLst>
          </p:cNvPr>
          <p:cNvCxnSpPr>
            <a:cxnSpLocks/>
            <a:stCxn id="2" idx="0"/>
            <a:endCxn id="12" idx="0"/>
          </p:cNvCxnSpPr>
          <p:nvPr/>
        </p:nvCxnSpPr>
        <p:spPr>
          <a:xfrm rot="16200000" flipV="1">
            <a:off x="4553599" y="606801"/>
            <a:ext cx="12700" cy="548437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Retângulo 7">
            <a:extLst>
              <a:ext uri="{FF2B5EF4-FFF2-40B4-BE49-F238E27FC236}">
                <a16:creationId xmlns:a16="http://schemas.microsoft.com/office/drawing/2014/main" id="{80DD15FC-3D78-28E7-FEB6-DB37D7D68CDA}"/>
              </a:ext>
            </a:extLst>
          </p:cNvPr>
          <p:cNvSpPr/>
          <p:nvPr/>
        </p:nvSpPr>
        <p:spPr>
          <a:xfrm>
            <a:off x="8445909" y="3347400"/>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PC</a:t>
            </a:r>
          </a:p>
          <a:p>
            <a:pPr algn="ctr"/>
            <a:r>
              <a:rPr lang="pt-BR" sz="1100" dirty="0">
                <a:solidFill>
                  <a:schemeClr val="tx1"/>
                </a:solidFill>
              </a:rPr>
              <a:t>Pedido de Compras</a:t>
            </a:r>
          </a:p>
        </p:txBody>
      </p:sp>
      <p:sp>
        <p:nvSpPr>
          <p:cNvPr id="81" name="CaixaDeTexto 80">
            <a:extLst>
              <a:ext uri="{FF2B5EF4-FFF2-40B4-BE49-F238E27FC236}">
                <a16:creationId xmlns:a16="http://schemas.microsoft.com/office/drawing/2014/main" id="{91220DD7-B1E6-55DD-9640-73B95EC9E82F}"/>
              </a:ext>
            </a:extLst>
          </p:cNvPr>
          <p:cNvSpPr txBox="1"/>
          <p:nvPr/>
        </p:nvSpPr>
        <p:spPr>
          <a:xfrm>
            <a:off x="8232839" y="4434497"/>
            <a:ext cx="1351562" cy="769441"/>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dirty="0"/>
              <a:t>Valor empenhado </a:t>
            </a:r>
            <a:r>
              <a:rPr lang="pt-BR" b="0" dirty="0"/>
              <a:t>do serviço com base nas informações inseridas no FLUIG</a:t>
            </a:r>
          </a:p>
        </p:txBody>
      </p:sp>
      <p:sp>
        <p:nvSpPr>
          <p:cNvPr id="83" name="Retângulo 82">
            <a:extLst>
              <a:ext uri="{FF2B5EF4-FFF2-40B4-BE49-F238E27FC236}">
                <a16:creationId xmlns:a16="http://schemas.microsoft.com/office/drawing/2014/main" id="{4684F18D-ADE6-F063-C38A-0A8CA4B3F822}"/>
              </a:ext>
            </a:extLst>
          </p:cNvPr>
          <p:cNvSpPr/>
          <p:nvPr/>
        </p:nvSpPr>
        <p:spPr>
          <a:xfrm>
            <a:off x="8334542" y="3203384"/>
            <a:ext cx="1148156" cy="829089"/>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84" name="Conector reto 83">
            <a:extLst>
              <a:ext uri="{FF2B5EF4-FFF2-40B4-BE49-F238E27FC236}">
                <a16:creationId xmlns:a16="http://schemas.microsoft.com/office/drawing/2014/main" id="{1D4E3149-9BD7-AFFA-44BE-D04692461DE5}"/>
              </a:ext>
            </a:extLst>
          </p:cNvPr>
          <p:cNvCxnSpPr>
            <a:cxnSpLocks/>
            <a:stCxn id="83" idx="2"/>
            <a:endCxn id="81" idx="0"/>
          </p:cNvCxnSpPr>
          <p:nvPr/>
        </p:nvCxnSpPr>
        <p:spPr>
          <a:xfrm>
            <a:off x="8908620" y="4032473"/>
            <a:ext cx="0" cy="402024"/>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9" name="Retângulo 8">
            <a:extLst>
              <a:ext uri="{FF2B5EF4-FFF2-40B4-BE49-F238E27FC236}">
                <a16:creationId xmlns:a16="http://schemas.microsoft.com/office/drawing/2014/main" id="{6D777FA3-BAC8-1DC7-59D6-67AF1D804CBB}"/>
              </a:ext>
            </a:extLst>
          </p:cNvPr>
          <p:cNvSpPr/>
          <p:nvPr/>
        </p:nvSpPr>
        <p:spPr>
          <a:xfrm>
            <a:off x="10072118" y="3347400"/>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NF </a:t>
            </a:r>
          </a:p>
          <a:p>
            <a:pPr algn="ctr"/>
            <a:r>
              <a:rPr lang="pt-BR" sz="1100" dirty="0">
                <a:solidFill>
                  <a:schemeClr val="tx1"/>
                </a:solidFill>
              </a:rPr>
              <a:t>Nota Fiscal</a:t>
            </a:r>
          </a:p>
        </p:txBody>
      </p:sp>
      <p:sp>
        <p:nvSpPr>
          <p:cNvPr id="87" name="CaixaDeTexto 86">
            <a:extLst>
              <a:ext uri="{FF2B5EF4-FFF2-40B4-BE49-F238E27FC236}">
                <a16:creationId xmlns:a16="http://schemas.microsoft.com/office/drawing/2014/main" id="{B97371A0-BE6E-B1B6-CDCB-9CE9F78DEBFE}"/>
              </a:ext>
            </a:extLst>
          </p:cNvPr>
          <p:cNvSpPr txBox="1"/>
          <p:nvPr/>
        </p:nvSpPr>
        <p:spPr>
          <a:xfrm>
            <a:off x="9872423" y="4434497"/>
            <a:ext cx="1351562" cy="430887"/>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dirty="0"/>
              <a:t>Valor contabilizado </a:t>
            </a:r>
            <a:r>
              <a:rPr lang="pt-BR" b="0" dirty="0"/>
              <a:t>das notas fiscais</a:t>
            </a:r>
          </a:p>
        </p:txBody>
      </p:sp>
      <p:cxnSp>
        <p:nvCxnSpPr>
          <p:cNvPr id="88" name="Conector reto 87">
            <a:extLst>
              <a:ext uri="{FF2B5EF4-FFF2-40B4-BE49-F238E27FC236}">
                <a16:creationId xmlns:a16="http://schemas.microsoft.com/office/drawing/2014/main" id="{23002582-F6F4-140A-EA66-F344CFE5998B}"/>
              </a:ext>
            </a:extLst>
          </p:cNvPr>
          <p:cNvCxnSpPr>
            <a:cxnSpLocks/>
            <a:stCxn id="90" idx="2"/>
            <a:endCxn id="87" idx="0"/>
          </p:cNvCxnSpPr>
          <p:nvPr/>
        </p:nvCxnSpPr>
        <p:spPr>
          <a:xfrm>
            <a:off x="10548204" y="4032473"/>
            <a:ext cx="0" cy="402024"/>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90" name="Retângulo 89">
            <a:extLst>
              <a:ext uri="{FF2B5EF4-FFF2-40B4-BE49-F238E27FC236}">
                <a16:creationId xmlns:a16="http://schemas.microsoft.com/office/drawing/2014/main" id="{AF155FFC-4AA8-3461-D02A-B54CBBFCFC7C}"/>
              </a:ext>
            </a:extLst>
          </p:cNvPr>
          <p:cNvSpPr/>
          <p:nvPr/>
        </p:nvSpPr>
        <p:spPr>
          <a:xfrm>
            <a:off x="9974126" y="3203384"/>
            <a:ext cx="1148156" cy="829089"/>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69B270BA-374C-5ABB-18BF-9EB05B3601E0}"/>
              </a:ext>
            </a:extLst>
          </p:cNvPr>
          <p:cNvSpPr/>
          <p:nvPr/>
        </p:nvSpPr>
        <p:spPr>
          <a:xfrm>
            <a:off x="3151451" y="3348987"/>
            <a:ext cx="1404000"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ONE/JOB</a:t>
            </a:r>
          </a:p>
          <a:p>
            <a:pPr algn="ctr"/>
            <a:r>
              <a:rPr lang="pt-BR" sz="1100" dirty="0">
                <a:solidFill>
                  <a:schemeClr val="tx1"/>
                </a:solidFill>
              </a:rPr>
              <a:t>Registro no </a:t>
            </a:r>
          </a:p>
          <a:p>
            <a:pPr algn="ctr"/>
            <a:r>
              <a:rPr lang="pt-BR" sz="1100" dirty="0">
                <a:solidFill>
                  <a:schemeClr val="tx1"/>
                </a:solidFill>
              </a:rPr>
              <a:t>TM Master</a:t>
            </a:r>
          </a:p>
        </p:txBody>
      </p:sp>
      <p:sp>
        <p:nvSpPr>
          <p:cNvPr id="28" name="Retângulo 27">
            <a:extLst>
              <a:ext uri="{FF2B5EF4-FFF2-40B4-BE49-F238E27FC236}">
                <a16:creationId xmlns:a16="http://schemas.microsoft.com/office/drawing/2014/main" id="{7FFD0946-22D1-9F6E-BB09-EDEC3E862510}"/>
              </a:ext>
            </a:extLst>
          </p:cNvPr>
          <p:cNvSpPr/>
          <p:nvPr/>
        </p:nvSpPr>
        <p:spPr>
          <a:xfrm>
            <a:off x="4972537" y="3348987"/>
            <a:ext cx="1404000" cy="576064"/>
          </a:xfrm>
          <a:prstGeom prst="rect">
            <a:avLst/>
          </a:prstGeom>
          <a:solidFill>
            <a:srgbClr val="014A65"/>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dirty="0">
                <a:solidFill>
                  <a:schemeClr val="bg1"/>
                </a:solidFill>
              </a:rPr>
              <a:t>Ordem de Serviço (OS)</a:t>
            </a:r>
          </a:p>
          <a:p>
            <a:pPr algn="ctr"/>
            <a:r>
              <a:rPr lang="pt-BR" sz="1100" dirty="0">
                <a:solidFill>
                  <a:schemeClr val="bg1"/>
                </a:solidFill>
              </a:rPr>
              <a:t>Registro no TM Master</a:t>
            </a:r>
          </a:p>
        </p:txBody>
      </p:sp>
      <p:sp>
        <p:nvSpPr>
          <p:cNvPr id="71" name="CaixaDeTexto 70">
            <a:extLst>
              <a:ext uri="{FF2B5EF4-FFF2-40B4-BE49-F238E27FC236}">
                <a16:creationId xmlns:a16="http://schemas.microsoft.com/office/drawing/2014/main" id="{8E34BBDA-9CD0-8E9A-C962-1E2AB66E848C}"/>
              </a:ext>
            </a:extLst>
          </p:cNvPr>
          <p:cNvSpPr txBox="1"/>
          <p:nvPr/>
        </p:nvSpPr>
        <p:spPr>
          <a:xfrm>
            <a:off x="4770112" y="4434497"/>
            <a:ext cx="1798929" cy="938719"/>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dirty="0"/>
              <a:t>Valor Cotado </a:t>
            </a:r>
          </a:p>
          <a:p>
            <a:r>
              <a:rPr lang="pt-BR" b="0" dirty="0"/>
              <a:t>dos serviços registrados manualmente no TM Master e registrados automaticamente no HUB</a:t>
            </a:r>
          </a:p>
        </p:txBody>
      </p:sp>
      <p:sp>
        <p:nvSpPr>
          <p:cNvPr id="73" name="Retângulo 72">
            <a:extLst>
              <a:ext uri="{FF2B5EF4-FFF2-40B4-BE49-F238E27FC236}">
                <a16:creationId xmlns:a16="http://schemas.microsoft.com/office/drawing/2014/main" id="{78719367-85FC-900D-8CDE-F3576DF24CC6}"/>
              </a:ext>
            </a:extLst>
          </p:cNvPr>
          <p:cNvSpPr/>
          <p:nvPr/>
        </p:nvSpPr>
        <p:spPr>
          <a:xfrm>
            <a:off x="4829068" y="3203384"/>
            <a:ext cx="1681016" cy="850605"/>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6" name="Conector reto 75">
            <a:extLst>
              <a:ext uri="{FF2B5EF4-FFF2-40B4-BE49-F238E27FC236}">
                <a16:creationId xmlns:a16="http://schemas.microsoft.com/office/drawing/2014/main" id="{B84759C2-2A2C-65CE-2BC2-F4FBC0313FA2}"/>
              </a:ext>
            </a:extLst>
          </p:cNvPr>
          <p:cNvCxnSpPr>
            <a:cxnSpLocks/>
            <a:stCxn id="73" idx="2"/>
            <a:endCxn id="71" idx="0"/>
          </p:cNvCxnSpPr>
          <p:nvPr/>
        </p:nvCxnSpPr>
        <p:spPr>
          <a:xfrm>
            <a:off x="5669576" y="4053989"/>
            <a:ext cx="1" cy="380508"/>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cxnSp>
        <p:nvCxnSpPr>
          <p:cNvPr id="77" name="Conector: Angulado 76">
            <a:extLst>
              <a:ext uri="{FF2B5EF4-FFF2-40B4-BE49-F238E27FC236}">
                <a16:creationId xmlns:a16="http://schemas.microsoft.com/office/drawing/2014/main" id="{38CC7B1E-5259-B47C-CDDA-83F651E81B3D}"/>
              </a:ext>
            </a:extLst>
          </p:cNvPr>
          <p:cNvCxnSpPr>
            <a:cxnSpLocks/>
            <a:stCxn id="28" idx="0"/>
            <a:endCxn id="12" idx="0"/>
          </p:cNvCxnSpPr>
          <p:nvPr/>
        </p:nvCxnSpPr>
        <p:spPr>
          <a:xfrm rot="16200000" flipV="1">
            <a:off x="3742975" y="1417425"/>
            <a:ext cx="12700" cy="386312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5" name="Agrupar 114">
            <a:extLst>
              <a:ext uri="{FF2B5EF4-FFF2-40B4-BE49-F238E27FC236}">
                <a16:creationId xmlns:a16="http://schemas.microsoft.com/office/drawing/2014/main" id="{3166E6AC-5E8E-00BC-A01E-3AF895E3D854}"/>
              </a:ext>
            </a:extLst>
          </p:cNvPr>
          <p:cNvGrpSpPr/>
          <p:nvPr/>
        </p:nvGrpSpPr>
        <p:grpSpPr>
          <a:xfrm>
            <a:off x="9398529" y="3490200"/>
            <a:ext cx="666000" cy="290464"/>
            <a:chOff x="9284458" y="2394644"/>
            <a:chExt cx="574577" cy="290464"/>
          </a:xfrm>
        </p:grpSpPr>
        <p:cxnSp>
          <p:nvCxnSpPr>
            <p:cNvPr id="106" name="Conector de Seta Reta 105">
              <a:extLst>
                <a:ext uri="{FF2B5EF4-FFF2-40B4-BE49-F238E27FC236}">
                  <a16:creationId xmlns:a16="http://schemas.microsoft.com/office/drawing/2014/main" id="{BFAFE3B6-8B37-E7FC-0B29-4EE06902C834}"/>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ector de Seta Reta 106">
              <a:extLst>
                <a:ext uri="{FF2B5EF4-FFF2-40B4-BE49-F238E27FC236}">
                  <a16:creationId xmlns:a16="http://schemas.microsoft.com/office/drawing/2014/main" id="{DBA436D6-40FE-4D8F-C5B9-61E290793AA8}"/>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Agrupar 120">
            <a:extLst>
              <a:ext uri="{FF2B5EF4-FFF2-40B4-BE49-F238E27FC236}">
                <a16:creationId xmlns:a16="http://schemas.microsoft.com/office/drawing/2014/main" id="{EDD36A6C-3965-D628-4351-1AD35B1FD3B5}"/>
              </a:ext>
            </a:extLst>
          </p:cNvPr>
          <p:cNvGrpSpPr/>
          <p:nvPr/>
        </p:nvGrpSpPr>
        <p:grpSpPr>
          <a:xfrm>
            <a:off x="7769893" y="3490200"/>
            <a:ext cx="684000" cy="290464"/>
            <a:chOff x="9284458" y="2394644"/>
            <a:chExt cx="574577" cy="290464"/>
          </a:xfrm>
        </p:grpSpPr>
        <p:cxnSp>
          <p:nvCxnSpPr>
            <p:cNvPr id="122" name="Conector de Seta Reta 121">
              <a:extLst>
                <a:ext uri="{FF2B5EF4-FFF2-40B4-BE49-F238E27FC236}">
                  <a16:creationId xmlns:a16="http://schemas.microsoft.com/office/drawing/2014/main" id="{37AE20A3-9074-4D80-80BA-96F4B6D355D3}"/>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ector de Seta Reta 122">
              <a:extLst>
                <a:ext uri="{FF2B5EF4-FFF2-40B4-BE49-F238E27FC236}">
                  <a16:creationId xmlns:a16="http://schemas.microsoft.com/office/drawing/2014/main" id="{A338C703-D9BD-8044-F34F-37ACAA193FC7}"/>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Agrupar 124">
            <a:extLst>
              <a:ext uri="{FF2B5EF4-FFF2-40B4-BE49-F238E27FC236}">
                <a16:creationId xmlns:a16="http://schemas.microsoft.com/office/drawing/2014/main" id="{DA205614-6A33-871D-57D7-3C8D28771CD6}"/>
              </a:ext>
            </a:extLst>
          </p:cNvPr>
          <p:cNvGrpSpPr/>
          <p:nvPr/>
        </p:nvGrpSpPr>
        <p:grpSpPr>
          <a:xfrm>
            <a:off x="2525847" y="3490200"/>
            <a:ext cx="621818" cy="290464"/>
            <a:chOff x="9284458" y="2394644"/>
            <a:chExt cx="574577" cy="290464"/>
          </a:xfrm>
        </p:grpSpPr>
        <p:cxnSp>
          <p:nvCxnSpPr>
            <p:cNvPr id="126" name="Conector de Seta Reta 125">
              <a:extLst>
                <a:ext uri="{FF2B5EF4-FFF2-40B4-BE49-F238E27FC236}">
                  <a16:creationId xmlns:a16="http://schemas.microsoft.com/office/drawing/2014/main" id="{23C952E9-4699-0DFF-EC3B-825C8EBCE814}"/>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ector de Seta Reta 126">
              <a:extLst>
                <a:ext uri="{FF2B5EF4-FFF2-40B4-BE49-F238E27FC236}">
                  <a16:creationId xmlns:a16="http://schemas.microsoft.com/office/drawing/2014/main" id="{C81A2425-6DCA-FF86-4DCF-5EAC47B15B66}"/>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8" name="Agrupar 127">
            <a:extLst>
              <a:ext uri="{FF2B5EF4-FFF2-40B4-BE49-F238E27FC236}">
                <a16:creationId xmlns:a16="http://schemas.microsoft.com/office/drawing/2014/main" id="{B4C44303-4193-9097-5099-0C00ED33AD08}"/>
              </a:ext>
            </a:extLst>
          </p:cNvPr>
          <p:cNvGrpSpPr/>
          <p:nvPr/>
        </p:nvGrpSpPr>
        <p:grpSpPr>
          <a:xfrm>
            <a:off x="4559983" y="3490200"/>
            <a:ext cx="424710" cy="290464"/>
            <a:chOff x="9284458" y="2394644"/>
            <a:chExt cx="574577" cy="290464"/>
          </a:xfrm>
        </p:grpSpPr>
        <p:cxnSp>
          <p:nvCxnSpPr>
            <p:cNvPr id="129" name="Conector de Seta Reta 128">
              <a:extLst>
                <a:ext uri="{FF2B5EF4-FFF2-40B4-BE49-F238E27FC236}">
                  <a16:creationId xmlns:a16="http://schemas.microsoft.com/office/drawing/2014/main" id="{39B86C4F-E689-24BA-155B-16F4E7BE51F4}"/>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ector de Seta Reta 129">
              <a:extLst>
                <a:ext uri="{FF2B5EF4-FFF2-40B4-BE49-F238E27FC236}">
                  <a16:creationId xmlns:a16="http://schemas.microsoft.com/office/drawing/2014/main" id="{0E2D1C16-9C18-B861-F276-ACE7EFE1CCD2}"/>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36" name="CaixaDeTexto 135">
            <a:extLst>
              <a:ext uri="{FF2B5EF4-FFF2-40B4-BE49-F238E27FC236}">
                <a16:creationId xmlns:a16="http://schemas.microsoft.com/office/drawing/2014/main" id="{9BC26093-C18C-2AA5-48AC-87482EDF18F4}"/>
              </a:ext>
            </a:extLst>
          </p:cNvPr>
          <p:cNvSpPr txBox="1"/>
          <p:nvPr/>
        </p:nvSpPr>
        <p:spPr>
          <a:xfrm>
            <a:off x="1080230" y="4434497"/>
            <a:ext cx="1486718" cy="600164"/>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dirty="0"/>
              <a:t>Valor estimado </a:t>
            </a:r>
            <a:r>
              <a:rPr lang="pt-BR" b="0" dirty="0"/>
              <a:t>registrado manualmente no HUB</a:t>
            </a:r>
          </a:p>
        </p:txBody>
      </p:sp>
      <p:sp>
        <p:nvSpPr>
          <p:cNvPr id="137" name="Retângulo 136">
            <a:extLst>
              <a:ext uri="{FF2B5EF4-FFF2-40B4-BE49-F238E27FC236}">
                <a16:creationId xmlns:a16="http://schemas.microsoft.com/office/drawing/2014/main" id="{DF44FBD8-84AD-4AC9-8D3F-902150887250}"/>
              </a:ext>
            </a:extLst>
          </p:cNvPr>
          <p:cNvSpPr/>
          <p:nvPr/>
        </p:nvSpPr>
        <p:spPr>
          <a:xfrm>
            <a:off x="983081" y="3203384"/>
            <a:ext cx="1681016" cy="850605"/>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0" name="Conector reto 139">
            <a:extLst>
              <a:ext uri="{FF2B5EF4-FFF2-40B4-BE49-F238E27FC236}">
                <a16:creationId xmlns:a16="http://schemas.microsoft.com/office/drawing/2014/main" id="{D85C904A-371B-6C60-B387-02673DDE2003}"/>
              </a:ext>
            </a:extLst>
          </p:cNvPr>
          <p:cNvCxnSpPr>
            <a:cxnSpLocks/>
            <a:stCxn id="137" idx="2"/>
            <a:endCxn id="136" idx="0"/>
          </p:cNvCxnSpPr>
          <p:nvPr/>
        </p:nvCxnSpPr>
        <p:spPr>
          <a:xfrm>
            <a:off x="1823589" y="4053989"/>
            <a:ext cx="0" cy="380508"/>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4" name="CaixaDeTexto 3">
            <a:extLst>
              <a:ext uri="{FF2B5EF4-FFF2-40B4-BE49-F238E27FC236}">
                <a16:creationId xmlns:a16="http://schemas.microsoft.com/office/drawing/2014/main" id="{49676EAE-460C-FC45-5CE8-17694CC44DCD}"/>
              </a:ext>
            </a:extLst>
          </p:cNvPr>
          <p:cNvSpPr txBox="1"/>
          <p:nvPr/>
        </p:nvSpPr>
        <p:spPr>
          <a:xfrm>
            <a:off x="6633039" y="1880613"/>
            <a:ext cx="1486718" cy="769441"/>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b="0" dirty="0"/>
              <a:t>Chave primária utilizada para integração dos dados</a:t>
            </a:r>
          </a:p>
          <a:p>
            <a:r>
              <a:rPr lang="pt-BR" dirty="0"/>
              <a:t>TM Master x </a:t>
            </a:r>
            <a:r>
              <a:rPr lang="pt-BR" dirty="0" err="1"/>
              <a:t>Fluig</a:t>
            </a:r>
            <a:endParaRPr lang="pt-BR" dirty="0"/>
          </a:p>
        </p:txBody>
      </p:sp>
      <p:cxnSp>
        <p:nvCxnSpPr>
          <p:cNvPr id="16" name="Conector: Angulado 15">
            <a:extLst>
              <a:ext uri="{FF2B5EF4-FFF2-40B4-BE49-F238E27FC236}">
                <a16:creationId xmlns:a16="http://schemas.microsoft.com/office/drawing/2014/main" id="{D50AC6E6-2A82-15EA-D196-91B284FB54D9}"/>
              </a:ext>
            </a:extLst>
          </p:cNvPr>
          <p:cNvCxnSpPr>
            <a:cxnSpLocks/>
            <a:endCxn id="4" idx="1"/>
          </p:cNvCxnSpPr>
          <p:nvPr/>
        </p:nvCxnSpPr>
        <p:spPr>
          <a:xfrm rot="5400000" flipH="1" flipV="1">
            <a:off x="5995629" y="2563924"/>
            <a:ext cx="936000" cy="338820"/>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17" name="CaixaDeTexto 16">
            <a:extLst>
              <a:ext uri="{FF2B5EF4-FFF2-40B4-BE49-F238E27FC236}">
                <a16:creationId xmlns:a16="http://schemas.microsoft.com/office/drawing/2014/main" id="{3E302470-510E-9C3E-E2B9-EFE8DB875F86}"/>
              </a:ext>
            </a:extLst>
          </p:cNvPr>
          <p:cNvSpPr txBox="1"/>
          <p:nvPr/>
        </p:nvSpPr>
        <p:spPr>
          <a:xfrm>
            <a:off x="1498916" y="1880613"/>
            <a:ext cx="1486718" cy="769441"/>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1"/>
            </a:lvl1pPr>
          </a:lstStyle>
          <a:p>
            <a:r>
              <a:rPr lang="pt-BR" b="0" dirty="0"/>
              <a:t>Chave primária utilizada para integração dos dados </a:t>
            </a:r>
            <a:r>
              <a:rPr lang="pt-BR" dirty="0"/>
              <a:t>HUB x TM Master</a:t>
            </a:r>
          </a:p>
        </p:txBody>
      </p:sp>
      <p:cxnSp>
        <p:nvCxnSpPr>
          <p:cNvPr id="18" name="Conector: Angulado 17">
            <a:extLst>
              <a:ext uri="{FF2B5EF4-FFF2-40B4-BE49-F238E27FC236}">
                <a16:creationId xmlns:a16="http://schemas.microsoft.com/office/drawing/2014/main" id="{BD8E554E-AF99-D0CC-9AC2-BBB0E8F2E769}"/>
              </a:ext>
            </a:extLst>
          </p:cNvPr>
          <p:cNvCxnSpPr>
            <a:cxnSpLocks/>
            <a:endCxn id="17" idx="1"/>
          </p:cNvCxnSpPr>
          <p:nvPr/>
        </p:nvCxnSpPr>
        <p:spPr>
          <a:xfrm rot="5400000" flipH="1" flipV="1">
            <a:off x="868916" y="2571335"/>
            <a:ext cx="936001" cy="324000"/>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20" name="CaixaDeTexto 19">
            <a:extLst>
              <a:ext uri="{FF2B5EF4-FFF2-40B4-BE49-F238E27FC236}">
                <a16:creationId xmlns:a16="http://schemas.microsoft.com/office/drawing/2014/main" id="{E1821E3B-0E7B-6315-539A-65604FF04BF3}"/>
              </a:ext>
            </a:extLst>
          </p:cNvPr>
          <p:cNvSpPr txBox="1"/>
          <p:nvPr/>
        </p:nvSpPr>
        <p:spPr>
          <a:xfrm>
            <a:off x="2970553" y="3935823"/>
            <a:ext cx="1765795" cy="415498"/>
          </a:xfrm>
          <a:prstGeom prst="rect">
            <a:avLst/>
          </a:prstGeom>
          <a:noFill/>
        </p:spPr>
        <p:txBody>
          <a:bodyPr wrap="square">
            <a:spAutoFit/>
          </a:bodyPr>
          <a:lstStyle/>
          <a:p>
            <a:pPr algn="ctr"/>
            <a:r>
              <a:rPr lang="pt-BR" sz="1000" i="1" dirty="0"/>
              <a:t>ID do serviço registrado no campo </a:t>
            </a:r>
            <a:r>
              <a:rPr lang="pt-BR" sz="1000" i="1" dirty="0" err="1"/>
              <a:t>Job</a:t>
            </a:r>
            <a:r>
              <a:rPr lang="pt-BR" sz="1000" i="1" dirty="0"/>
              <a:t> </a:t>
            </a:r>
            <a:r>
              <a:rPr lang="pt-BR" sz="1000" i="1" dirty="0" err="1"/>
              <a:t>Tag</a:t>
            </a:r>
            <a:r>
              <a:rPr lang="pt-BR" sz="1000" i="1" dirty="0"/>
              <a:t> (TM Master)</a:t>
            </a:r>
          </a:p>
        </p:txBody>
      </p:sp>
      <p:sp>
        <p:nvSpPr>
          <p:cNvPr id="21" name="CaixaDeTexto 20">
            <a:extLst>
              <a:ext uri="{FF2B5EF4-FFF2-40B4-BE49-F238E27FC236}">
                <a16:creationId xmlns:a16="http://schemas.microsoft.com/office/drawing/2014/main" id="{71437C2A-2FF9-C5E3-7066-FF0C8A5FC2FF}"/>
              </a:ext>
            </a:extLst>
          </p:cNvPr>
          <p:cNvSpPr txBox="1"/>
          <p:nvPr/>
        </p:nvSpPr>
        <p:spPr>
          <a:xfrm>
            <a:off x="6419237" y="3912906"/>
            <a:ext cx="1765795" cy="400110"/>
          </a:xfrm>
          <a:prstGeom prst="rect">
            <a:avLst/>
          </a:prstGeom>
          <a:noFill/>
        </p:spPr>
        <p:txBody>
          <a:bodyPr wrap="square">
            <a:spAutoFit/>
          </a:bodyPr>
          <a:lstStyle/>
          <a:p>
            <a:pPr algn="ctr"/>
            <a:r>
              <a:rPr lang="pt-BR" sz="1000" i="1" dirty="0"/>
              <a:t>Ordem de Serviço registrada no campo OS (</a:t>
            </a:r>
            <a:r>
              <a:rPr lang="pt-BR" sz="1000" i="1" dirty="0" err="1"/>
              <a:t>Fluig</a:t>
            </a:r>
            <a:r>
              <a:rPr lang="pt-BR" sz="1000" i="1" dirty="0"/>
              <a:t>)</a:t>
            </a:r>
          </a:p>
        </p:txBody>
      </p:sp>
      <p:sp>
        <p:nvSpPr>
          <p:cNvPr id="3" name="Elipse 2">
            <a:extLst>
              <a:ext uri="{FF2B5EF4-FFF2-40B4-BE49-F238E27FC236}">
                <a16:creationId xmlns:a16="http://schemas.microsoft.com/office/drawing/2014/main" id="{5736D226-F8FC-8ABC-A460-9AC4FF964106}"/>
              </a:ext>
            </a:extLst>
          </p:cNvPr>
          <p:cNvSpPr/>
          <p:nvPr/>
        </p:nvSpPr>
        <p:spPr>
          <a:xfrm>
            <a:off x="347930" y="3451817"/>
            <a:ext cx="370404" cy="370404"/>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3439FCBF-CAD0-5490-D096-9CFBBC7ACE18}"/>
              </a:ext>
            </a:extLst>
          </p:cNvPr>
          <p:cNvSpPr txBox="1"/>
          <p:nvPr/>
        </p:nvSpPr>
        <p:spPr>
          <a:xfrm>
            <a:off x="58688" y="3872421"/>
            <a:ext cx="948889" cy="553998"/>
          </a:xfrm>
          <a:prstGeom prst="rect">
            <a:avLst/>
          </a:prstGeom>
          <a:noFill/>
        </p:spPr>
        <p:txBody>
          <a:bodyPr wrap="square">
            <a:spAutoFit/>
          </a:bodyPr>
          <a:lstStyle/>
          <a:p>
            <a:pPr algn="ctr"/>
            <a:r>
              <a:rPr lang="pt-BR" sz="1000" i="1" dirty="0"/>
              <a:t>Necessidade de serviço identificada</a:t>
            </a:r>
          </a:p>
        </p:txBody>
      </p:sp>
      <p:cxnSp>
        <p:nvCxnSpPr>
          <p:cNvPr id="10" name="Conector de Seta Reta 9">
            <a:extLst>
              <a:ext uri="{FF2B5EF4-FFF2-40B4-BE49-F238E27FC236}">
                <a16:creationId xmlns:a16="http://schemas.microsoft.com/office/drawing/2014/main" id="{6DCA74E1-EDEC-A11C-2F61-2F9F424679AA}"/>
              </a:ext>
            </a:extLst>
          </p:cNvPr>
          <p:cNvCxnSpPr>
            <a:cxnSpLocks/>
            <a:stCxn id="3" idx="6"/>
            <a:endCxn id="12" idx="1"/>
          </p:cNvCxnSpPr>
          <p:nvPr/>
        </p:nvCxnSpPr>
        <p:spPr>
          <a:xfrm>
            <a:off x="718334" y="3637019"/>
            <a:ext cx="39107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Elipse 13">
            <a:extLst>
              <a:ext uri="{FF2B5EF4-FFF2-40B4-BE49-F238E27FC236}">
                <a16:creationId xmlns:a16="http://schemas.microsoft.com/office/drawing/2014/main" id="{B60444F0-329C-0347-21C3-991E1D7B11F6}"/>
              </a:ext>
            </a:extLst>
          </p:cNvPr>
          <p:cNvSpPr/>
          <p:nvPr/>
        </p:nvSpPr>
        <p:spPr>
          <a:xfrm>
            <a:off x="11473665" y="3450230"/>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CaixaDeTexto 14">
            <a:extLst>
              <a:ext uri="{FF2B5EF4-FFF2-40B4-BE49-F238E27FC236}">
                <a16:creationId xmlns:a16="http://schemas.microsoft.com/office/drawing/2014/main" id="{1E0CD97F-89CF-02A8-CAB3-263D318209AA}"/>
              </a:ext>
            </a:extLst>
          </p:cNvPr>
          <p:cNvSpPr txBox="1"/>
          <p:nvPr/>
        </p:nvSpPr>
        <p:spPr>
          <a:xfrm>
            <a:off x="11184423" y="3872421"/>
            <a:ext cx="948889" cy="400110"/>
          </a:xfrm>
          <a:prstGeom prst="rect">
            <a:avLst/>
          </a:prstGeom>
          <a:noFill/>
        </p:spPr>
        <p:txBody>
          <a:bodyPr wrap="square">
            <a:spAutoFit/>
          </a:bodyPr>
          <a:lstStyle/>
          <a:p>
            <a:pPr algn="ctr"/>
            <a:r>
              <a:rPr lang="pt-BR" sz="1000" i="1" dirty="0"/>
              <a:t>Serviço contabilizado</a:t>
            </a:r>
          </a:p>
        </p:txBody>
      </p:sp>
      <p:cxnSp>
        <p:nvCxnSpPr>
          <p:cNvPr id="19" name="Conector de Seta Reta 18">
            <a:extLst>
              <a:ext uri="{FF2B5EF4-FFF2-40B4-BE49-F238E27FC236}">
                <a16:creationId xmlns:a16="http://schemas.microsoft.com/office/drawing/2014/main" id="{FF706A80-1BFB-EBF8-DD16-FD336D452595}"/>
              </a:ext>
            </a:extLst>
          </p:cNvPr>
          <p:cNvCxnSpPr>
            <a:cxnSpLocks/>
            <a:stCxn id="9" idx="3"/>
            <a:endCxn id="14" idx="2"/>
          </p:cNvCxnSpPr>
          <p:nvPr/>
        </p:nvCxnSpPr>
        <p:spPr>
          <a:xfrm>
            <a:off x="11024290" y="3635432"/>
            <a:ext cx="44937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D7DD54B7-94D8-BA83-9D11-FCF392051C5D}"/>
              </a:ext>
            </a:extLst>
          </p:cNvPr>
          <p:cNvGrpSpPr/>
          <p:nvPr/>
        </p:nvGrpSpPr>
        <p:grpSpPr>
          <a:xfrm>
            <a:off x="1386043" y="5744578"/>
            <a:ext cx="9413455" cy="845859"/>
            <a:chOff x="1386043" y="5744578"/>
            <a:chExt cx="9413455" cy="845859"/>
          </a:xfrm>
        </p:grpSpPr>
        <p:sp>
          <p:nvSpPr>
            <p:cNvPr id="22" name="Retângulo 145">
              <a:extLst>
                <a:ext uri="{FF2B5EF4-FFF2-40B4-BE49-F238E27FC236}">
                  <a16:creationId xmlns:a16="http://schemas.microsoft.com/office/drawing/2014/main" id="{5B459C7D-8165-60CB-E732-474D9797EDC0}"/>
                </a:ext>
              </a:extLst>
            </p:cNvPr>
            <p:cNvSpPr/>
            <p:nvPr/>
          </p:nvSpPr>
          <p:spPr>
            <a:xfrm>
              <a:off x="1386043" y="5744578"/>
              <a:ext cx="9413455" cy="845859"/>
            </a:xfrm>
            <a:prstGeom prst="rect">
              <a:avLst/>
            </a:prstGeom>
            <a:solidFill>
              <a:srgbClr val="FFFFFF"/>
            </a:solidFill>
            <a:ln w="1270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146">
              <a:extLst>
                <a:ext uri="{FF2B5EF4-FFF2-40B4-BE49-F238E27FC236}">
                  <a16:creationId xmlns:a16="http://schemas.microsoft.com/office/drawing/2014/main" id="{8E35AB72-7D4D-792B-36D5-AC0EBAA4BC83}"/>
                </a:ext>
              </a:extLst>
            </p:cNvPr>
            <p:cNvSpPr txBox="1"/>
            <p:nvPr/>
          </p:nvSpPr>
          <p:spPr>
            <a:xfrm>
              <a:off x="1547904" y="5798175"/>
              <a:ext cx="9089732" cy="738664"/>
            </a:xfrm>
            <a:prstGeom prst="rect">
              <a:avLst/>
            </a:prstGeom>
            <a:noFill/>
          </p:spPr>
          <p:txBody>
            <a:bodyPr wrap="square" rtlCol="0">
              <a:spAutoFit/>
            </a:bodyPr>
            <a:lstStyle/>
            <a:p>
              <a:r>
                <a:rPr lang="pt-BR" sz="1400" b="1" dirty="0"/>
                <a:t>Importante: </a:t>
              </a:r>
              <a:r>
                <a:rPr lang="pt-BR" sz="1400" dirty="0"/>
                <a:t>No momento em que produzimos essa documentação o FLUIG BM está em fase final de homologação com previsão de entrada em produção em outubro/2025. Caso a solução não seja implantada ou tenha seu go-live postergado além da construção do HUB, será necessário redesenhar esse fluxo.</a:t>
              </a:r>
            </a:p>
          </p:txBody>
        </p:sp>
      </p:grpSp>
      <p:sp>
        <p:nvSpPr>
          <p:cNvPr id="24" name="Retângulo 23">
            <a:extLst>
              <a:ext uri="{FF2B5EF4-FFF2-40B4-BE49-F238E27FC236}">
                <a16:creationId xmlns:a16="http://schemas.microsoft.com/office/drawing/2014/main" id="{F9A8F32D-EC6A-2FDE-DB4A-93E36A26DDD3}"/>
              </a:ext>
            </a:extLst>
          </p:cNvPr>
          <p:cNvSpPr/>
          <p:nvPr/>
        </p:nvSpPr>
        <p:spPr>
          <a:xfrm>
            <a:off x="13080776" y="28219"/>
            <a:ext cx="3577422" cy="2182149"/>
          </a:xfrm>
          <a:prstGeom prst="rect">
            <a:avLst/>
          </a:prstGeom>
          <a:solidFill>
            <a:srgbClr val="FFFF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pt-BR" sz="1400" dirty="0">
                <a:solidFill>
                  <a:srgbClr val="FF0000"/>
                </a:solidFill>
              </a:rPr>
              <a:t>Prever o caso N pra N entre ID de Serviço e </a:t>
            </a:r>
            <a:r>
              <a:rPr lang="pt-BR" sz="1400" dirty="0" err="1">
                <a:solidFill>
                  <a:srgbClr val="FF0000"/>
                </a:solidFill>
              </a:rPr>
              <a:t>Job</a:t>
            </a:r>
            <a:endParaRPr lang="pt-BR" sz="1400" dirty="0">
              <a:solidFill>
                <a:srgbClr val="FF0000"/>
              </a:solidFill>
            </a:endParaRPr>
          </a:p>
          <a:p>
            <a:pPr marL="285750" indent="-285750">
              <a:buFont typeface="Wingdings" panose="05000000000000000000" pitchFamily="2" charset="2"/>
              <a:buChar char="§"/>
            </a:pPr>
            <a:r>
              <a:rPr lang="pt-BR" sz="1400" dirty="0">
                <a:solidFill>
                  <a:srgbClr val="FF0000"/>
                </a:solidFill>
              </a:rPr>
              <a:t>Prever adiantamentos e pagamentos parcelados </a:t>
            </a:r>
          </a:p>
          <a:p>
            <a:pPr marL="285750" indent="-285750">
              <a:buFont typeface="Wingdings" panose="05000000000000000000" pitchFamily="2" charset="2"/>
              <a:buChar char="§"/>
            </a:pPr>
            <a:r>
              <a:rPr lang="pt-BR" sz="1400" dirty="0">
                <a:solidFill>
                  <a:srgbClr val="FF0000"/>
                </a:solidFill>
              </a:rPr>
              <a:t>Colocar uma observação sobre o valor cotado, que é um processo manual e pode não cobrir todos os casos</a:t>
            </a:r>
          </a:p>
          <a:p>
            <a:pPr marL="285750" indent="-285750">
              <a:buFont typeface="Wingdings" panose="05000000000000000000" pitchFamily="2" charset="2"/>
              <a:buChar char="§"/>
            </a:pPr>
            <a:r>
              <a:rPr lang="pt-BR" sz="1400" dirty="0">
                <a:solidFill>
                  <a:srgbClr val="FF0000"/>
                </a:solidFill>
              </a:rPr>
              <a:t>Atualizar o box “importante” que o </a:t>
            </a:r>
            <a:r>
              <a:rPr lang="pt-BR" sz="1400" dirty="0" err="1">
                <a:solidFill>
                  <a:srgbClr val="FF0000"/>
                </a:solidFill>
              </a:rPr>
              <a:t>Fluig</a:t>
            </a:r>
            <a:r>
              <a:rPr lang="pt-BR" sz="1400" dirty="0">
                <a:solidFill>
                  <a:srgbClr val="FF0000"/>
                </a:solidFill>
              </a:rPr>
              <a:t> continua em homologação</a:t>
            </a:r>
          </a:p>
        </p:txBody>
      </p:sp>
    </p:spTree>
    <p:extLst>
      <p:ext uri="{BB962C8B-B14F-4D97-AF65-F5344CB8AC3E}">
        <p14:creationId xmlns:p14="http://schemas.microsoft.com/office/powerpoint/2010/main" val="40343406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21492-E0D5-69E5-65D5-110B492D77E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10B6A3CD-8DE2-C527-A38D-19D73A7AA32F}"/>
              </a:ext>
            </a:extLst>
          </p:cNvPr>
          <p:cNvSpPr>
            <a:spLocks noGrp="1"/>
          </p:cNvSpPr>
          <p:nvPr>
            <p:ph type="title"/>
          </p:nvPr>
        </p:nvSpPr>
        <p:spPr/>
        <p:txBody>
          <a:bodyPr/>
          <a:lstStyle/>
          <a:p>
            <a:r>
              <a:rPr lang="pt-BR" dirty="0"/>
              <a:t>Esteira Financeira</a:t>
            </a:r>
            <a:br>
              <a:rPr lang="pt-BR" dirty="0"/>
            </a:br>
            <a:r>
              <a:rPr lang="pt-BR" sz="1600" b="0" dirty="0"/>
              <a:t>Processo | Pedidos de Compras de Serviços - Oficinas</a:t>
            </a:r>
          </a:p>
        </p:txBody>
      </p:sp>
      <p:sp>
        <p:nvSpPr>
          <p:cNvPr id="6" name="Retângulo 5">
            <a:extLst>
              <a:ext uri="{FF2B5EF4-FFF2-40B4-BE49-F238E27FC236}">
                <a16:creationId xmlns:a16="http://schemas.microsoft.com/office/drawing/2014/main" id="{7633641F-40D1-8EDE-63CB-8271A3E1D912}"/>
              </a:ext>
            </a:extLst>
          </p:cNvPr>
          <p:cNvSpPr/>
          <p:nvPr/>
        </p:nvSpPr>
        <p:spPr>
          <a:xfrm>
            <a:off x="623392" y="1124744"/>
            <a:ext cx="10952113" cy="242342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E9D3659B-9D26-0D1B-FC93-11676FA04390}"/>
              </a:ext>
            </a:extLst>
          </p:cNvPr>
          <p:cNvSpPr txBox="1"/>
          <p:nvPr/>
        </p:nvSpPr>
        <p:spPr>
          <a:xfrm rot="16200000">
            <a:off x="119784" y="2197956"/>
            <a:ext cx="1282973" cy="276999"/>
          </a:xfrm>
          <a:prstGeom prst="rect">
            <a:avLst/>
          </a:prstGeom>
          <a:noFill/>
        </p:spPr>
        <p:txBody>
          <a:bodyPr wrap="square" rtlCol="0">
            <a:spAutoFit/>
          </a:bodyPr>
          <a:lstStyle/>
          <a:p>
            <a:pPr algn="ctr"/>
            <a:r>
              <a:rPr lang="pt-BR" sz="1200" b="1" dirty="0"/>
              <a:t>Área Técnica</a:t>
            </a:r>
          </a:p>
        </p:txBody>
      </p:sp>
      <p:sp>
        <p:nvSpPr>
          <p:cNvPr id="13" name="Retângulo 12">
            <a:extLst>
              <a:ext uri="{FF2B5EF4-FFF2-40B4-BE49-F238E27FC236}">
                <a16:creationId xmlns:a16="http://schemas.microsoft.com/office/drawing/2014/main" id="{A1DBFC85-6892-9E82-6BCF-263F19676A4C}"/>
              </a:ext>
            </a:extLst>
          </p:cNvPr>
          <p:cNvSpPr/>
          <p:nvPr/>
        </p:nvSpPr>
        <p:spPr>
          <a:xfrm>
            <a:off x="623392" y="3542615"/>
            <a:ext cx="10952113" cy="1152128"/>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CaixaDeTexto 13">
            <a:extLst>
              <a:ext uri="{FF2B5EF4-FFF2-40B4-BE49-F238E27FC236}">
                <a16:creationId xmlns:a16="http://schemas.microsoft.com/office/drawing/2014/main" id="{FF2DB78E-2DCA-BB58-2509-522020259F3A}"/>
              </a:ext>
            </a:extLst>
          </p:cNvPr>
          <p:cNvSpPr txBox="1"/>
          <p:nvPr/>
        </p:nvSpPr>
        <p:spPr>
          <a:xfrm rot="16200000">
            <a:off x="185207" y="3992877"/>
            <a:ext cx="1152129" cy="276999"/>
          </a:xfrm>
          <a:prstGeom prst="rect">
            <a:avLst/>
          </a:prstGeom>
          <a:noFill/>
        </p:spPr>
        <p:txBody>
          <a:bodyPr wrap="square" rtlCol="0">
            <a:spAutoFit/>
          </a:bodyPr>
          <a:lstStyle/>
          <a:p>
            <a:pPr algn="ctr"/>
            <a:r>
              <a:rPr lang="pt-BR" sz="1200" b="1" dirty="0"/>
              <a:t>Fornecedor</a:t>
            </a:r>
          </a:p>
        </p:txBody>
      </p:sp>
      <p:cxnSp>
        <p:nvCxnSpPr>
          <p:cNvPr id="20" name="Conector: Angulado 19">
            <a:extLst>
              <a:ext uri="{FF2B5EF4-FFF2-40B4-BE49-F238E27FC236}">
                <a16:creationId xmlns:a16="http://schemas.microsoft.com/office/drawing/2014/main" id="{8267CFE4-801E-D05D-B4D0-B7E65D4BD55B}"/>
              </a:ext>
            </a:extLst>
          </p:cNvPr>
          <p:cNvCxnSpPr>
            <a:cxnSpLocks/>
            <a:stCxn id="126" idx="3"/>
            <a:endCxn id="134" idx="2"/>
          </p:cNvCxnSpPr>
          <p:nvPr/>
        </p:nvCxnSpPr>
        <p:spPr>
          <a:xfrm flipV="1">
            <a:off x="8389768" y="3429598"/>
            <a:ext cx="571948" cy="168437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Elipse 20">
            <a:extLst>
              <a:ext uri="{FF2B5EF4-FFF2-40B4-BE49-F238E27FC236}">
                <a16:creationId xmlns:a16="http://schemas.microsoft.com/office/drawing/2014/main" id="{BE669410-8D41-A987-0FE9-582D7BBFBFF9}"/>
              </a:ext>
            </a:extLst>
          </p:cNvPr>
          <p:cNvSpPr/>
          <p:nvPr/>
        </p:nvSpPr>
        <p:spPr>
          <a:xfrm>
            <a:off x="9882742" y="5730081"/>
            <a:ext cx="360040" cy="36004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4A3BE4DB-CBFC-B549-F134-B0A0C2ADDF5A}"/>
              </a:ext>
            </a:extLst>
          </p:cNvPr>
          <p:cNvSpPr txBox="1"/>
          <p:nvPr/>
        </p:nvSpPr>
        <p:spPr>
          <a:xfrm>
            <a:off x="10273363" y="5635295"/>
            <a:ext cx="1320401" cy="577081"/>
          </a:xfrm>
          <a:prstGeom prst="rect">
            <a:avLst/>
          </a:prstGeom>
          <a:noFill/>
        </p:spPr>
        <p:txBody>
          <a:bodyPr wrap="square" rtlCol="0">
            <a:spAutoFit/>
          </a:bodyPr>
          <a:lstStyle/>
          <a:p>
            <a:r>
              <a:rPr lang="pt-BR" sz="1050" dirty="0"/>
              <a:t>Nota fiscal classificada e contabilizada</a:t>
            </a:r>
          </a:p>
        </p:txBody>
      </p:sp>
      <p:cxnSp>
        <p:nvCxnSpPr>
          <p:cNvPr id="34" name="Conector de Seta Reta 33">
            <a:extLst>
              <a:ext uri="{FF2B5EF4-FFF2-40B4-BE49-F238E27FC236}">
                <a16:creationId xmlns:a16="http://schemas.microsoft.com/office/drawing/2014/main" id="{9FF4E9D1-6766-1D08-0160-3243C56560F7}"/>
              </a:ext>
            </a:extLst>
          </p:cNvPr>
          <p:cNvCxnSpPr>
            <a:cxnSpLocks/>
            <a:stCxn id="151" idx="2"/>
            <a:endCxn id="21" idx="0"/>
          </p:cNvCxnSpPr>
          <p:nvPr/>
        </p:nvCxnSpPr>
        <p:spPr>
          <a:xfrm>
            <a:off x="10062762" y="4509120"/>
            <a:ext cx="0" cy="12209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Elipse 1">
            <a:extLst>
              <a:ext uri="{FF2B5EF4-FFF2-40B4-BE49-F238E27FC236}">
                <a16:creationId xmlns:a16="http://schemas.microsoft.com/office/drawing/2014/main" id="{74C76111-27F5-AC9C-0C8E-0BED6C32EB4F}"/>
              </a:ext>
            </a:extLst>
          </p:cNvPr>
          <p:cNvSpPr/>
          <p:nvPr/>
        </p:nvSpPr>
        <p:spPr>
          <a:xfrm>
            <a:off x="1110571" y="1553238"/>
            <a:ext cx="308904" cy="30890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3F4451B9-F3E9-69B2-CE56-F426B76F5AF4}"/>
              </a:ext>
            </a:extLst>
          </p:cNvPr>
          <p:cNvSpPr txBox="1"/>
          <p:nvPr/>
        </p:nvSpPr>
        <p:spPr>
          <a:xfrm>
            <a:off x="878107" y="1862142"/>
            <a:ext cx="773832" cy="507831"/>
          </a:xfrm>
          <a:prstGeom prst="rect">
            <a:avLst/>
          </a:prstGeom>
          <a:noFill/>
        </p:spPr>
        <p:txBody>
          <a:bodyPr wrap="square" rtlCol="0">
            <a:spAutoFit/>
          </a:bodyPr>
          <a:lstStyle>
            <a:defPPr>
              <a:defRPr lang="pt-BR"/>
            </a:defPPr>
            <a:lvl1pPr algn="ctr">
              <a:defRPr sz="900" i="1"/>
            </a:lvl1pPr>
          </a:lstStyle>
          <a:p>
            <a:r>
              <a:rPr lang="pt-BR" dirty="0"/>
              <a:t>Serviço registrado no HUB</a:t>
            </a:r>
          </a:p>
        </p:txBody>
      </p:sp>
      <p:cxnSp>
        <p:nvCxnSpPr>
          <p:cNvPr id="12" name="Conector de Seta Reta 11">
            <a:extLst>
              <a:ext uri="{FF2B5EF4-FFF2-40B4-BE49-F238E27FC236}">
                <a16:creationId xmlns:a16="http://schemas.microsoft.com/office/drawing/2014/main" id="{05D04F6F-1493-80FF-4BB5-47613DCDFE3F}"/>
              </a:ext>
            </a:extLst>
          </p:cNvPr>
          <p:cNvCxnSpPr>
            <a:cxnSpLocks/>
            <a:stCxn id="2" idx="6"/>
            <a:endCxn id="19" idx="1"/>
          </p:cNvCxnSpPr>
          <p:nvPr/>
        </p:nvCxnSpPr>
        <p:spPr>
          <a:xfrm>
            <a:off x="1419475" y="1707690"/>
            <a:ext cx="2566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tângulo: Cantos Arredondados 18">
            <a:extLst>
              <a:ext uri="{FF2B5EF4-FFF2-40B4-BE49-F238E27FC236}">
                <a16:creationId xmlns:a16="http://schemas.microsoft.com/office/drawing/2014/main" id="{28EC2B43-7E11-9419-8246-6F025CC3C879}"/>
              </a:ext>
            </a:extLst>
          </p:cNvPr>
          <p:cNvSpPr/>
          <p:nvPr/>
        </p:nvSpPr>
        <p:spPr>
          <a:xfrm>
            <a:off x="1676137" y="1445172"/>
            <a:ext cx="1111480"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Orçar serviço com fornecedor</a:t>
            </a:r>
          </a:p>
        </p:txBody>
      </p:sp>
      <p:sp>
        <p:nvSpPr>
          <p:cNvPr id="31" name="Elipse 30">
            <a:extLst>
              <a:ext uri="{FF2B5EF4-FFF2-40B4-BE49-F238E27FC236}">
                <a16:creationId xmlns:a16="http://schemas.microsoft.com/office/drawing/2014/main" id="{2A15D084-EA35-8C05-6AC8-BD1E6A2DCDB0}"/>
              </a:ext>
            </a:extLst>
          </p:cNvPr>
          <p:cNvSpPr/>
          <p:nvPr/>
        </p:nvSpPr>
        <p:spPr>
          <a:xfrm>
            <a:off x="3066734" y="1553238"/>
            <a:ext cx="308904" cy="308904"/>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CaixaDeTexto 31">
            <a:extLst>
              <a:ext uri="{FF2B5EF4-FFF2-40B4-BE49-F238E27FC236}">
                <a16:creationId xmlns:a16="http://schemas.microsoft.com/office/drawing/2014/main" id="{9CB9F2EF-D90A-0B24-AC37-6730F2F63F6B}"/>
              </a:ext>
            </a:extLst>
          </p:cNvPr>
          <p:cNvSpPr txBox="1"/>
          <p:nvPr/>
        </p:nvSpPr>
        <p:spPr>
          <a:xfrm>
            <a:off x="2802772" y="1862142"/>
            <a:ext cx="851215" cy="369332"/>
          </a:xfrm>
          <a:prstGeom prst="rect">
            <a:avLst/>
          </a:prstGeom>
          <a:noFill/>
        </p:spPr>
        <p:txBody>
          <a:bodyPr wrap="square" rtlCol="0">
            <a:spAutoFit/>
          </a:bodyPr>
          <a:lstStyle>
            <a:defPPr>
              <a:defRPr lang="pt-BR"/>
            </a:defPPr>
            <a:lvl1pPr algn="ctr">
              <a:defRPr sz="900" i="1"/>
            </a:lvl1pPr>
          </a:lstStyle>
          <a:p>
            <a:r>
              <a:rPr lang="pt-BR" dirty="0"/>
              <a:t>Fornecedor definido</a:t>
            </a:r>
          </a:p>
        </p:txBody>
      </p:sp>
      <p:cxnSp>
        <p:nvCxnSpPr>
          <p:cNvPr id="37" name="Conector de Seta Reta 36">
            <a:extLst>
              <a:ext uri="{FF2B5EF4-FFF2-40B4-BE49-F238E27FC236}">
                <a16:creationId xmlns:a16="http://schemas.microsoft.com/office/drawing/2014/main" id="{386F73E4-A091-BBAD-FAAE-A892EC18DB37}"/>
              </a:ext>
            </a:extLst>
          </p:cNvPr>
          <p:cNvCxnSpPr>
            <a:cxnSpLocks/>
            <a:stCxn id="19" idx="3"/>
            <a:endCxn id="31" idx="2"/>
          </p:cNvCxnSpPr>
          <p:nvPr/>
        </p:nvCxnSpPr>
        <p:spPr>
          <a:xfrm>
            <a:off x="2787617" y="1707690"/>
            <a:ext cx="2791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Retângulo: Cantos Arredondados 43">
            <a:extLst>
              <a:ext uri="{FF2B5EF4-FFF2-40B4-BE49-F238E27FC236}">
                <a16:creationId xmlns:a16="http://schemas.microsoft.com/office/drawing/2014/main" id="{C41BC370-9148-406F-8C66-F5FAAF20972F}"/>
              </a:ext>
            </a:extLst>
          </p:cNvPr>
          <p:cNvSpPr/>
          <p:nvPr/>
        </p:nvSpPr>
        <p:spPr>
          <a:xfrm>
            <a:off x="3734475" y="1445172"/>
            <a:ext cx="1111480"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Emitir OS com valor orçado</a:t>
            </a:r>
          </a:p>
        </p:txBody>
      </p:sp>
      <p:cxnSp>
        <p:nvCxnSpPr>
          <p:cNvPr id="45" name="Conector de Seta Reta 44">
            <a:extLst>
              <a:ext uri="{FF2B5EF4-FFF2-40B4-BE49-F238E27FC236}">
                <a16:creationId xmlns:a16="http://schemas.microsoft.com/office/drawing/2014/main" id="{403DC3E3-2340-49C0-2327-A8AAAE006834}"/>
              </a:ext>
            </a:extLst>
          </p:cNvPr>
          <p:cNvCxnSpPr>
            <a:cxnSpLocks/>
            <a:stCxn id="31" idx="6"/>
            <a:endCxn id="44" idx="1"/>
          </p:cNvCxnSpPr>
          <p:nvPr/>
        </p:nvCxnSpPr>
        <p:spPr>
          <a:xfrm>
            <a:off x="3375638" y="1707690"/>
            <a:ext cx="35883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Retângulo 55">
            <a:extLst>
              <a:ext uri="{FF2B5EF4-FFF2-40B4-BE49-F238E27FC236}">
                <a16:creationId xmlns:a16="http://schemas.microsoft.com/office/drawing/2014/main" id="{1097B709-FDF7-9673-95B7-EB9EDD37A820}"/>
              </a:ext>
            </a:extLst>
          </p:cNvPr>
          <p:cNvSpPr/>
          <p:nvPr/>
        </p:nvSpPr>
        <p:spPr>
          <a:xfrm>
            <a:off x="623392" y="4694743"/>
            <a:ext cx="10952113" cy="85776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CaixaDeTexto 56">
            <a:extLst>
              <a:ext uri="{FF2B5EF4-FFF2-40B4-BE49-F238E27FC236}">
                <a16:creationId xmlns:a16="http://schemas.microsoft.com/office/drawing/2014/main" id="{88EF19C0-468C-BF5B-9EB9-5275E15AC4B7}"/>
              </a:ext>
            </a:extLst>
          </p:cNvPr>
          <p:cNvSpPr txBox="1"/>
          <p:nvPr/>
        </p:nvSpPr>
        <p:spPr>
          <a:xfrm rot="16200000">
            <a:off x="332390" y="4997824"/>
            <a:ext cx="857762" cy="276999"/>
          </a:xfrm>
          <a:prstGeom prst="rect">
            <a:avLst/>
          </a:prstGeom>
          <a:noFill/>
        </p:spPr>
        <p:txBody>
          <a:bodyPr wrap="square" rtlCol="0">
            <a:spAutoFit/>
          </a:bodyPr>
          <a:lstStyle/>
          <a:p>
            <a:pPr algn="ctr"/>
            <a:r>
              <a:rPr lang="pt-BR" sz="1200" b="1" dirty="0"/>
              <a:t>CSC</a:t>
            </a:r>
          </a:p>
        </p:txBody>
      </p:sp>
      <p:sp>
        <p:nvSpPr>
          <p:cNvPr id="62" name="Retângulo: Cantos Arredondados 61">
            <a:extLst>
              <a:ext uri="{FF2B5EF4-FFF2-40B4-BE49-F238E27FC236}">
                <a16:creationId xmlns:a16="http://schemas.microsoft.com/office/drawing/2014/main" id="{23498F02-82A2-B1B2-8EB8-4ACF9CADE902}"/>
              </a:ext>
            </a:extLst>
          </p:cNvPr>
          <p:cNvSpPr/>
          <p:nvPr/>
        </p:nvSpPr>
        <p:spPr>
          <a:xfrm>
            <a:off x="3734475" y="3717032"/>
            <a:ext cx="1111480"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Executar o serviço</a:t>
            </a:r>
          </a:p>
        </p:txBody>
      </p:sp>
      <p:cxnSp>
        <p:nvCxnSpPr>
          <p:cNvPr id="63" name="Conector de Seta Reta 62">
            <a:extLst>
              <a:ext uri="{FF2B5EF4-FFF2-40B4-BE49-F238E27FC236}">
                <a16:creationId xmlns:a16="http://schemas.microsoft.com/office/drawing/2014/main" id="{BDE92C20-F652-F418-EA79-E26EBF936B91}"/>
              </a:ext>
            </a:extLst>
          </p:cNvPr>
          <p:cNvCxnSpPr>
            <a:cxnSpLocks/>
            <a:stCxn id="44" idx="2"/>
            <a:endCxn id="62" idx="0"/>
          </p:cNvCxnSpPr>
          <p:nvPr/>
        </p:nvCxnSpPr>
        <p:spPr>
          <a:xfrm>
            <a:off x="4290215" y="1970208"/>
            <a:ext cx="0" cy="174682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Retângulo: Cantos Arredondados 66">
            <a:extLst>
              <a:ext uri="{FF2B5EF4-FFF2-40B4-BE49-F238E27FC236}">
                <a16:creationId xmlns:a16="http://schemas.microsoft.com/office/drawing/2014/main" id="{12091FE8-AFC2-F042-4E19-656000305121}"/>
              </a:ext>
            </a:extLst>
          </p:cNvPr>
          <p:cNvSpPr/>
          <p:nvPr/>
        </p:nvSpPr>
        <p:spPr>
          <a:xfrm>
            <a:off x="5772602" y="3717032"/>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Enviar medição para aprovação</a:t>
            </a:r>
          </a:p>
        </p:txBody>
      </p:sp>
      <p:cxnSp>
        <p:nvCxnSpPr>
          <p:cNvPr id="68" name="Conector de Seta Reta 67">
            <a:extLst>
              <a:ext uri="{FF2B5EF4-FFF2-40B4-BE49-F238E27FC236}">
                <a16:creationId xmlns:a16="http://schemas.microsoft.com/office/drawing/2014/main" id="{8049B522-F27D-175A-3245-E9BAE6E6B8C7}"/>
              </a:ext>
            </a:extLst>
          </p:cNvPr>
          <p:cNvCxnSpPr>
            <a:cxnSpLocks/>
            <a:stCxn id="62" idx="3"/>
            <a:endCxn id="111" idx="1"/>
          </p:cNvCxnSpPr>
          <p:nvPr/>
        </p:nvCxnSpPr>
        <p:spPr>
          <a:xfrm>
            <a:off x="4845955" y="3979550"/>
            <a:ext cx="243282"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3" name="Imagem 72" descr="Forma&#10;&#10;O conteúdo gerado por IA pode estar incorreto.">
            <a:extLst>
              <a:ext uri="{FF2B5EF4-FFF2-40B4-BE49-F238E27FC236}">
                <a16:creationId xmlns:a16="http://schemas.microsoft.com/office/drawing/2014/main" id="{77D4750F-5DF8-EAB0-E49A-529341CF6E80}"/>
              </a:ext>
            </a:extLst>
          </p:cNvPr>
          <p:cNvPicPr>
            <a:picLocks noChangeAspect="1"/>
          </p:cNvPicPr>
          <p:nvPr/>
        </p:nvPicPr>
        <p:blipFill>
          <a:blip r:embed="rId2" cstate="print">
            <a:extLst>
              <a:ext uri="{28A0092B-C50C-407E-A947-70E740481C1C}">
                <a14:useLocalDpi xmlns:a14="http://schemas.microsoft.com/office/drawing/2010/main" val="0"/>
              </a:ext>
            </a:extLst>
          </a:blip>
          <a:srcRect l="11241" t="15441" r="11680" b="28400"/>
          <a:stretch>
            <a:fillRect/>
          </a:stretch>
        </p:blipFill>
        <p:spPr>
          <a:xfrm>
            <a:off x="5820191" y="3754364"/>
            <a:ext cx="125810" cy="91664"/>
          </a:xfrm>
          <a:prstGeom prst="rect">
            <a:avLst/>
          </a:prstGeom>
        </p:spPr>
      </p:pic>
      <p:sp>
        <p:nvSpPr>
          <p:cNvPr id="75" name="Retângulo: Cantos Arredondados 74">
            <a:extLst>
              <a:ext uri="{FF2B5EF4-FFF2-40B4-BE49-F238E27FC236}">
                <a16:creationId xmlns:a16="http://schemas.microsoft.com/office/drawing/2014/main" id="{35A9DAB9-66F6-1B10-C9E4-C80ACF188CFC}"/>
              </a:ext>
            </a:extLst>
          </p:cNvPr>
          <p:cNvSpPr/>
          <p:nvPr/>
        </p:nvSpPr>
        <p:spPr>
          <a:xfrm>
            <a:off x="5772602" y="1436529"/>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Analisar medição</a:t>
            </a:r>
          </a:p>
        </p:txBody>
      </p:sp>
      <p:cxnSp>
        <p:nvCxnSpPr>
          <p:cNvPr id="76" name="Conector de Seta Reta 75">
            <a:extLst>
              <a:ext uri="{FF2B5EF4-FFF2-40B4-BE49-F238E27FC236}">
                <a16:creationId xmlns:a16="http://schemas.microsoft.com/office/drawing/2014/main" id="{5F7D2BAC-C7DA-C459-D887-10A727523991}"/>
              </a:ext>
            </a:extLst>
          </p:cNvPr>
          <p:cNvCxnSpPr>
            <a:cxnSpLocks/>
            <a:stCxn id="67" idx="0"/>
            <a:endCxn id="75" idx="2"/>
          </p:cNvCxnSpPr>
          <p:nvPr/>
        </p:nvCxnSpPr>
        <p:spPr>
          <a:xfrm flipV="1">
            <a:off x="6384670" y="1961565"/>
            <a:ext cx="0" cy="17554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Losango 78">
            <a:extLst>
              <a:ext uri="{FF2B5EF4-FFF2-40B4-BE49-F238E27FC236}">
                <a16:creationId xmlns:a16="http://schemas.microsoft.com/office/drawing/2014/main" id="{65EEFDAC-359D-53EB-3671-9FAC0BAE3051}"/>
              </a:ext>
            </a:extLst>
          </p:cNvPr>
          <p:cNvSpPr/>
          <p:nvPr/>
        </p:nvSpPr>
        <p:spPr>
          <a:xfrm>
            <a:off x="7569952" y="1491299"/>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0" name="CaixaDeTexto 79">
            <a:extLst>
              <a:ext uri="{FF2B5EF4-FFF2-40B4-BE49-F238E27FC236}">
                <a16:creationId xmlns:a16="http://schemas.microsoft.com/office/drawing/2014/main" id="{89903BA3-6AB1-D911-E0CC-188EC021E636}"/>
              </a:ext>
            </a:extLst>
          </p:cNvPr>
          <p:cNvSpPr txBox="1"/>
          <p:nvPr/>
        </p:nvSpPr>
        <p:spPr>
          <a:xfrm>
            <a:off x="7432185" y="1276445"/>
            <a:ext cx="691030" cy="230832"/>
          </a:xfrm>
          <a:prstGeom prst="rect">
            <a:avLst/>
          </a:prstGeom>
          <a:noFill/>
        </p:spPr>
        <p:txBody>
          <a:bodyPr wrap="square" rtlCol="0">
            <a:spAutoFit/>
          </a:bodyPr>
          <a:lstStyle/>
          <a:p>
            <a:pPr algn="ctr"/>
            <a:r>
              <a:rPr lang="pt-BR" sz="900" i="1" dirty="0"/>
              <a:t>Aprovado?</a:t>
            </a:r>
          </a:p>
        </p:txBody>
      </p:sp>
      <p:cxnSp>
        <p:nvCxnSpPr>
          <p:cNvPr id="81" name="Conector de Seta Reta 80">
            <a:extLst>
              <a:ext uri="{FF2B5EF4-FFF2-40B4-BE49-F238E27FC236}">
                <a16:creationId xmlns:a16="http://schemas.microsoft.com/office/drawing/2014/main" id="{A6E7CF53-80E5-A83B-F3E3-68B7BBC5469E}"/>
              </a:ext>
            </a:extLst>
          </p:cNvPr>
          <p:cNvCxnSpPr>
            <a:cxnSpLocks/>
            <a:stCxn id="75" idx="3"/>
            <a:endCxn id="79" idx="1"/>
          </p:cNvCxnSpPr>
          <p:nvPr/>
        </p:nvCxnSpPr>
        <p:spPr>
          <a:xfrm>
            <a:off x="6996738" y="1699047"/>
            <a:ext cx="57321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Retângulo: Cantos Arredondados 85">
            <a:extLst>
              <a:ext uri="{FF2B5EF4-FFF2-40B4-BE49-F238E27FC236}">
                <a16:creationId xmlns:a16="http://schemas.microsoft.com/office/drawing/2014/main" id="{1C63C1EF-EC22-37D5-E075-B5505940EC99}"/>
              </a:ext>
            </a:extLst>
          </p:cNvPr>
          <p:cNvSpPr/>
          <p:nvPr/>
        </p:nvSpPr>
        <p:spPr>
          <a:xfrm>
            <a:off x="8473342" y="1436529"/>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Negociar ajustes</a:t>
            </a:r>
          </a:p>
        </p:txBody>
      </p:sp>
      <p:cxnSp>
        <p:nvCxnSpPr>
          <p:cNvPr id="87" name="Conector de Seta Reta 86">
            <a:extLst>
              <a:ext uri="{FF2B5EF4-FFF2-40B4-BE49-F238E27FC236}">
                <a16:creationId xmlns:a16="http://schemas.microsoft.com/office/drawing/2014/main" id="{70E5B8A2-5318-3B9B-6614-6E39453E12F9}"/>
              </a:ext>
            </a:extLst>
          </p:cNvPr>
          <p:cNvCxnSpPr>
            <a:cxnSpLocks/>
            <a:stCxn id="79" idx="3"/>
            <a:endCxn id="86" idx="1"/>
          </p:cNvCxnSpPr>
          <p:nvPr/>
        </p:nvCxnSpPr>
        <p:spPr>
          <a:xfrm flipV="1">
            <a:off x="7985449" y="1699047"/>
            <a:ext cx="48789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CaixaDeTexto 91">
            <a:extLst>
              <a:ext uri="{FF2B5EF4-FFF2-40B4-BE49-F238E27FC236}">
                <a16:creationId xmlns:a16="http://schemas.microsoft.com/office/drawing/2014/main" id="{D1FD8691-C23A-45AD-3FC9-7A23251518D2}"/>
              </a:ext>
            </a:extLst>
          </p:cNvPr>
          <p:cNvSpPr txBox="1"/>
          <p:nvPr/>
        </p:nvSpPr>
        <p:spPr>
          <a:xfrm>
            <a:off x="7990075" y="1498133"/>
            <a:ext cx="429075" cy="230832"/>
          </a:xfrm>
          <a:prstGeom prst="rect">
            <a:avLst/>
          </a:prstGeom>
          <a:noFill/>
        </p:spPr>
        <p:txBody>
          <a:bodyPr wrap="square" rtlCol="0">
            <a:spAutoFit/>
          </a:bodyPr>
          <a:lstStyle/>
          <a:p>
            <a:pPr algn="ctr"/>
            <a:r>
              <a:rPr lang="pt-BR" sz="900" i="1" dirty="0"/>
              <a:t>Não</a:t>
            </a:r>
          </a:p>
        </p:txBody>
      </p:sp>
      <p:sp>
        <p:nvSpPr>
          <p:cNvPr id="93" name="Retângulo: Cantos Arredondados 92">
            <a:extLst>
              <a:ext uri="{FF2B5EF4-FFF2-40B4-BE49-F238E27FC236}">
                <a16:creationId xmlns:a16="http://schemas.microsoft.com/office/drawing/2014/main" id="{738D883D-3743-BA40-ABF8-6919E6BCA76E}"/>
              </a:ext>
            </a:extLst>
          </p:cNvPr>
          <p:cNvSpPr/>
          <p:nvPr/>
        </p:nvSpPr>
        <p:spPr>
          <a:xfrm>
            <a:off x="7165632" y="3717032"/>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Enviar medição via </a:t>
            </a:r>
            <a:r>
              <a:rPr lang="pt-BR" sz="1050" dirty="0" err="1">
                <a:solidFill>
                  <a:srgbClr val="000000"/>
                </a:solidFill>
              </a:rPr>
              <a:t>Fluig</a:t>
            </a:r>
            <a:endParaRPr lang="pt-BR" sz="1050" dirty="0">
              <a:solidFill>
                <a:srgbClr val="000000"/>
              </a:solidFill>
            </a:endParaRPr>
          </a:p>
        </p:txBody>
      </p:sp>
      <p:cxnSp>
        <p:nvCxnSpPr>
          <p:cNvPr id="95" name="Conector de Seta Reta 94">
            <a:extLst>
              <a:ext uri="{FF2B5EF4-FFF2-40B4-BE49-F238E27FC236}">
                <a16:creationId xmlns:a16="http://schemas.microsoft.com/office/drawing/2014/main" id="{5B3C158D-7A8E-FFA4-4A8F-752CB0854435}"/>
              </a:ext>
            </a:extLst>
          </p:cNvPr>
          <p:cNvCxnSpPr>
            <a:cxnSpLocks/>
            <a:stCxn id="79" idx="2"/>
            <a:endCxn id="100" idx="0"/>
          </p:cNvCxnSpPr>
          <p:nvPr/>
        </p:nvCxnSpPr>
        <p:spPr>
          <a:xfrm flipH="1">
            <a:off x="7777700" y="1906796"/>
            <a:ext cx="1" cy="277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CaixaDeTexto 97">
            <a:extLst>
              <a:ext uri="{FF2B5EF4-FFF2-40B4-BE49-F238E27FC236}">
                <a16:creationId xmlns:a16="http://schemas.microsoft.com/office/drawing/2014/main" id="{86F611DF-0674-2114-9469-C1DB37BD601F}"/>
              </a:ext>
            </a:extLst>
          </p:cNvPr>
          <p:cNvSpPr txBox="1"/>
          <p:nvPr/>
        </p:nvSpPr>
        <p:spPr>
          <a:xfrm>
            <a:off x="7716818" y="1876878"/>
            <a:ext cx="429075" cy="230832"/>
          </a:xfrm>
          <a:prstGeom prst="rect">
            <a:avLst/>
          </a:prstGeom>
          <a:noFill/>
        </p:spPr>
        <p:txBody>
          <a:bodyPr wrap="square" rtlCol="0">
            <a:spAutoFit/>
          </a:bodyPr>
          <a:lstStyle/>
          <a:p>
            <a:pPr algn="ctr"/>
            <a:r>
              <a:rPr lang="pt-BR" sz="900" i="1" dirty="0"/>
              <a:t>Sim</a:t>
            </a:r>
          </a:p>
        </p:txBody>
      </p:sp>
      <p:sp>
        <p:nvSpPr>
          <p:cNvPr id="100" name="Retângulo: Cantos Arredondados 99">
            <a:extLst>
              <a:ext uri="{FF2B5EF4-FFF2-40B4-BE49-F238E27FC236}">
                <a16:creationId xmlns:a16="http://schemas.microsoft.com/office/drawing/2014/main" id="{B50F918F-7594-1A6E-2206-2B444BBAFFD0}"/>
              </a:ext>
            </a:extLst>
          </p:cNvPr>
          <p:cNvSpPr/>
          <p:nvPr/>
        </p:nvSpPr>
        <p:spPr>
          <a:xfrm>
            <a:off x="6963037" y="2183884"/>
            <a:ext cx="162932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Alterar status da OS para </a:t>
            </a:r>
            <a:r>
              <a:rPr lang="pt-BR" sz="1050" dirty="0" err="1">
                <a:solidFill>
                  <a:srgbClr val="000000"/>
                </a:solidFill>
              </a:rPr>
              <a:t>Completed</a:t>
            </a:r>
            <a:r>
              <a:rPr lang="pt-BR" sz="1050" dirty="0">
                <a:solidFill>
                  <a:srgbClr val="000000"/>
                </a:solidFill>
              </a:rPr>
              <a:t>/</a:t>
            </a:r>
            <a:r>
              <a:rPr lang="pt-BR" sz="1050" dirty="0" err="1">
                <a:solidFill>
                  <a:srgbClr val="000000"/>
                </a:solidFill>
              </a:rPr>
              <a:t>Received</a:t>
            </a:r>
            <a:r>
              <a:rPr lang="pt-BR" sz="1050" dirty="0">
                <a:solidFill>
                  <a:srgbClr val="000000"/>
                </a:solidFill>
              </a:rPr>
              <a:t> no TM Master</a:t>
            </a:r>
          </a:p>
        </p:txBody>
      </p:sp>
      <p:cxnSp>
        <p:nvCxnSpPr>
          <p:cNvPr id="102" name="Conector de Seta Reta 101">
            <a:extLst>
              <a:ext uri="{FF2B5EF4-FFF2-40B4-BE49-F238E27FC236}">
                <a16:creationId xmlns:a16="http://schemas.microsoft.com/office/drawing/2014/main" id="{13308981-83B4-1830-0E0A-71AC83D606D7}"/>
              </a:ext>
            </a:extLst>
          </p:cNvPr>
          <p:cNvCxnSpPr>
            <a:cxnSpLocks/>
            <a:stCxn id="100" idx="2"/>
            <a:endCxn id="93" idx="0"/>
          </p:cNvCxnSpPr>
          <p:nvPr/>
        </p:nvCxnSpPr>
        <p:spPr>
          <a:xfrm>
            <a:off x="7777700" y="2708920"/>
            <a:ext cx="0" cy="10081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Losango 110">
            <a:extLst>
              <a:ext uri="{FF2B5EF4-FFF2-40B4-BE49-F238E27FC236}">
                <a16:creationId xmlns:a16="http://schemas.microsoft.com/office/drawing/2014/main" id="{A5A30CD2-FDA0-B699-8965-68712429A3F1}"/>
              </a:ext>
            </a:extLst>
          </p:cNvPr>
          <p:cNvSpPr/>
          <p:nvPr/>
        </p:nvSpPr>
        <p:spPr>
          <a:xfrm>
            <a:off x="5089237" y="3771802"/>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13" name="Conector de Seta Reta 112">
            <a:extLst>
              <a:ext uri="{FF2B5EF4-FFF2-40B4-BE49-F238E27FC236}">
                <a16:creationId xmlns:a16="http://schemas.microsoft.com/office/drawing/2014/main" id="{3C411DD4-86F7-B256-87DF-7A7411DF5DD6}"/>
              </a:ext>
            </a:extLst>
          </p:cNvPr>
          <p:cNvCxnSpPr>
            <a:cxnSpLocks/>
            <a:stCxn id="111" idx="3"/>
            <a:endCxn id="67" idx="1"/>
          </p:cNvCxnSpPr>
          <p:nvPr/>
        </p:nvCxnSpPr>
        <p:spPr>
          <a:xfrm flipV="1">
            <a:off x="5504734" y="3979550"/>
            <a:ext cx="267868"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 name="Elipse 115">
            <a:extLst>
              <a:ext uri="{FF2B5EF4-FFF2-40B4-BE49-F238E27FC236}">
                <a16:creationId xmlns:a16="http://schemas.microsoft.com/office/drawing/2014/main" id="{C6237F6C-F8D2-B7DF-F9F5-1AC95EB7F67F}"/>
              </a:ext>
            </a:extLst>
          </p:cNvPr>
          <p:cNvSpPr/>
          <p:nvPr/>
        </p:nvSpPr>
        <p:spPr>
          <a:xfrm>
            <a:off x="10030571" y="1544247"/>
            <a:ext cx="309600" cy="30960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sp>
        <p:nvSpPr>
          <p:cNvPr id="117" name="Elipse 116">
            <a:extLst>
              <a:ext uri="{FF2B5EF4-FFF2-40B4-BE49-F238E27FC236}">
                <a16:creationId xmlns:a16="http://schemas.microsoft.com/office/drawing/2014/main" id="{F943CE29-894D-C8F6-7562-A3A2CEA64B96}"/>
              </a:ext>
            </a:extLst>
          </p:cNvPr>
          <p:cNvSpPr/>
          <p:nvPr/>
        </p:nvSpPr>
        <p:spPr>
          <a:xfrm>
            <a:off x="5142107" y="4328957"/>
            <a:ext cx="309600" cy="309600"/>
          </a:xfrm>
          <a:prstGeom prst="ellipse">
            <a:avLst/>
          </a:prstGeom>
          <a:solidFill>
            <a:srgbClr val="014A65"/>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bg1"/>
                </a:solidFill>
              </a:rPr>
              <a:t>1</a:t>
            </a:r>
          </a:p>
        </p:txBody>
      </p:sp>
      <p:cxnSp>
        <p:nvCxnSpPr>
          <p:cNvPr id="118" name="Conector de Seta Reta 117">
            <a:extLst>
              <a:ext uri="{FF2B5EF4-FFF2-40B4-BE49-F238E27FC236}">
                <a16:creationId xmlns:a16="http://schemas.microsoft.com/office/drawing/2014/main" id="{B90ECCCE-4B2A-10AF-BD9F-52B69BB90A90}"/>
              </a:ext>
            </a:extLst>
          </p:cNvPr>
          <p:cNvCxnSpPr>
            <a:cxnSpLocks/>
            <a:stCxn id="86" idx="3"/>
            <a:endCxn id="116" idx="2"/>
          </p:cNvCxnSpPr>
          <p:nvPr/>
        </p:nvCxnSpPr>
        <p:spPr>
          <a:xfrm>
            <a:off x="9697478" y="1699047"/>
            <a:ext cx="33309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Conector de Seta Reta 121">
            <a:extLst>
              <a:ext uri="{FF2B5EF4-FFF2-40B4-BE49-F238E27FC236}">
                <a16:creationId xmlns:a16="http://schemas.microsoft.com/office/drawing/2014/main" id="{8394B851-DDBC-A477-FBC2-2B9AEBDF3636}"/>
              </a:ext>
            </a:extLst>
          </p:cNvPr>
          <p:cNvCxnSpPr>
            <a:cxnSpLocks/>
            <a:stCxn id="117" idx="0"/>
            <a:endCxn id="111" idx="2"/>
          </p:cNvCxnSpPr>
          <p:nvPr/>
        </p:nvCxnSpPr>
        <p:spPr>
          <a:xfrm flipV="1">
            <a:off x="5296907" y="4187299"/>
            <a:ext cx="79" cy="1416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6" name="Retângulo: Cantos Arredondados 125">
            <a:extLst>
              <a:ext uri="{FF2B5EF4-FFF2-40B4-BE49-F238E27FC236}">
                <a16:creationId xmlns:a16="http://schemas.microsoft.com/office/drawing/2014/main" id="{F8BDC5EF-9998-1BA2-0233-EE192B6B67D7}"/>
              </a:ext>
            </a:extLst>
          </p:cNvPr>
          <p:cNvSpPr/>
          <p:nvPr/>
        </p:nvSpPr>
        <p:spPr>
          <a:xfrm>
            <a:off x="7165632" y="4851459"/>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Abrir Pedido de Compras (PC)</a:t>
            </a:r>
          </a:p>
        </p:txBody>
      </p:sp>
      <p:cxnSp>
        <p:nvCxnSpPr>
          <p:cNvPr id="127" name="Conector de Seta Reta 126">
            <a:extLst>
              <a:ext uri="{FF2B5EF4-FFF2-40B4-BE49-F238E27FC236}">
                <a16:creationId xmlns:a16="http://schemas.microsoft.com/office/drawing/2014/main" id="{77CDEB9C-23CE-E89B-95A7-83B1408C5F6C}"/>
              </a:ext>
            </a:extLst>
          </p:cNvPr>
          <p:cNvCxnSpPr>
            <a:cxnSpLocks/>
            <a:stCxn id="93" idx="2"/>
            <a:endCxn id="126" idx="0"/>
          </p:cNvCxnSpPr>
          <p:nvPr/>
        </p:nvCxnSpPr>
        <p:spPr>
          <a:xfrm>
            <a:off x="7777700" y="4242068"/>
            <a:ext cx="0" cy="6093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Fluxograma: Processo Predefinido 133">
            <a:extLst>
              <a:ext uri="{FF2B5EF4-FFF2-40B4-BE49-F238E27FC236}">
                <a16:creationId xmlns:a16="http://schemas.microsoft.com/office/drawing/2014/main" id="{F56E0715-1063-FD3C-89EA-3914C26C18EF}"/>
              </a:ext>
            </a:extLst>
          </p:cNvPr>
          <p:cNvSpPr/>
          <p:nvPr/>
        </p:nvSpPr>
        <p:spPr>
          <a:xfrm>
            <a:off x="8372514" y="2932849"/>
            <a:ext cx="1178404" cy="496749"/>
          </a:xfrm>
          <a:prstGeom prst="flowChartPredefinedProcess">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Aprovação de Pedido de Compra</a:t>
            </a:r>
          </a:p>
        </p:txBody>
      </p:sp>
      <p:sp>
        <p:nvSpPr>
          <p:cNvPr id="138" name="Losango 137">
            <a:extLst>
              <a:ext uri="{FF2B5EF4-FFF2-40B4-BE49-F238E27FC236}">
                <a16:creationId xmlns:a16="http://schemas.microsoft.com/office/drawing/2014/main" id="{BAC27255-A260-C64A-E6DD-E04E48F58E0C}"/>
              </a:ext>
            </a:extLst>
          </p:cNvPr>
          <p:cNvSpPr/>
          <p:nvPr/>
        </p:nvSpPr>
        <p:spPr>
          <a:xfrm>
            <a:off x="9855014" y="2973475"/>
            <a:ext cx="415497" cy="415497"/>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9" name="CaixaDeTexto 138">
            <a:extLst>
              <a:ext uri="{FF2B5EF4-FFF2-40B4-BE49-F238E27FC236}">
                <a16:creationId xmlns:a16="http://schemas.microsoft.com/office/drawing/2014/main" id="{F176C6E1-7D71-9C76-B066-490C98A8718B}"/>
              </a:ext>
            </a:extLst>
          </p:cNvPr>
          <p:cNvSpPr txBox="1"/>
          <p:nvPr/>
        </p:nvSpPr>
        <p:spPr>
          <a:xfrm>
            <a:off x="9506307" y="2708920"/>
            <a:ext cx="1112911" cy="230832"/>
          </a:xfrm>
          <a:prstGeom prst="rect">
            <a:avLst/>
          </a:prstGeom>
          <a:noFill/>
        </p:spPr>
        <p:txBody>
          <a:bodyPr wrap="square" rtlCol="0">
            <a:spAutoFit/>
          </a:bodyPr>
          <a:lstStyle/>
          <a:p>
            <a:pPr algn="ctr"/>
            <a:r>
              <a:rPr lang="pt-BR" sz="900" i="1" dirty="0"/>
              <a:t>Aprovado?</a:t>
            </a:r>
          </a:p>
        </p:txBody>
      </p:sp>
      <p:cxnSp>
        <p:nvCxnSpPr>
          <p:cNvPr id="140" name="Conector de Seta Reta 139">
            <a:extLst>
              <a:ext uri="{FF2B5EF4-FFF2-40B4-BE49-F238E27FC236}">
                <a16:creationId xmlns:a16="http://schemas.microsoft.com/office/drawing/2014/main" id="{F27C468A-E964-F209-C013-99554798D9DA}"/>
              </a:ext>
            </a:extLst>
          </p:cNvPr>
          <p:cNvCxnSpPr>
            <a:cxnSpLocks/>
            <a:stCxn id="134" idx="3"/>
            <a:endCxn id="138" idx="1"/>
          </p:cNvCxnSpPr>
          <p:nvPr/>
        </p:nvCxnSpPr>
        <p:spPr>
          <a:xfrm>
            <a:off x="9550918" y="3181224"/>
            <a:ext cx="30409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Elipse 144">
            <a:extLst>
              <a:ext uri="{FF2B5EF4-FFF2-40B4-BE49-F238E27FC236}">
                <a16:creationId xmlns:a16="http://schemas.microsoft.com/office/drawing/2014/main" id="{59027A24-BE34-AE9B-A37F-D01297E96554}"/>
              </a:ext>
            </a:extLst>
          </p:cNvPr>
          <p:cNvSpPr/>
          <p:nvPr/>
        </p:nvSpPr>
        <p:spPr>
          <a:xfrm>
            <a:off x="10610936" y="3026423"/>
            <a:ext cx="309600" cy="309600"/>
          </a:xfrm>
          <a:prstGeom prst="ellipse">
            <a:avLst/>
          </a:prstGeom>
          <a:solidFill>
            <a:schemeClr val="bg1"/>
          </a:solidFill>
          <a:ln>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rgbClr val="014A65"/>
                </a:solidFill>
              </a:rPr>
              <a:t>1</a:t>
            </a:r>
          </a:p>
        </p:txBody>
      </p:sp>
      <p:cxnSp>
        <p:nvCxnSpPr>
          <p:cNvPr id="146" name="Conector de Seta Reta 145">
            <a:extLst>
              <a:ext uri="{FF2B5EF4-FFF2-40B4-BE49-F238E27FC236}">
                <a16:creationId xmlns:a16="http://schemas.microsoft.com/office/drawing/2014/main" id="{208F0BA1-6187-58D1-34FB-C4C9F9B5AB8D}"/>
              </a:ext>
            </a:extLst>
          </p:cNvPr>
          <p:cNvCxnSpPr>
            <a:cxnSpLocks/>
            <a:stCxn id="138" idx="3"/>
            <a:endCxn id="145" idx="2"/>
          </p:cNvCxnSpPr>
          <p:nvPr/>
        </p:nvCxnSpPr>
        <p:spPr>
          <a:xfrm flipV="1">
            <a:off x="10270511" y="3181223"/>
            <a:ext cx="34042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CaixaDeTexto 147">
            <a:extLst>
              <a:ext uri="{FF2B5EF4-FFF2-40B4-BE49-F238E27FC236}">
                <a16:creationId xmlns:a16="http://schemas.microsoft.com/office/drawing/2014/main" id="{B8ACE242-1169-2495-3048-3B2F76B49312}"/>
              </a:ext>
            </a:extLst>
          </p:cNvPr>
          <p:cNvSpPr txBox="1"/>
          <p:nvPr/>
        </p:nvSpPr>
        <p:spPr>
          <a:xfrm>
            <a:off x="10181141" y="2986592"/>
            <a:ext cx="429075" cy="230832"/>
          </a:xfrm>
          <a:prstGeom prst="rect">
            <a:avLst/>
          </a:prstGeom>
          <a:noFill/>
        </p:spPr>
        <p:txBody>
          <a:bodyPr wrap="square" rtlCol="0">
            <a:spAutoFit/>
          </a:bodyPr>
          <a:lstStyle/>
          <a:p>
            <a:pPr algn="ctr"/>
            <a:r>
              <a:rPr lang="pt-BR" sz="900" i="1" dirty="0"/>
              <a:t>Não</a:t>
            </a:r>
          </a:p>
        </p:txBody>
      </p:sp>
      <p:sp>
        <p:nvSpPr>
          <p:cNvPr id="151" name="Retângulo: Cantos Arredondados 150">
            <a:extLst>
              <a:ext uri="{FF2B5EF4-FFF2-40B4-BE49-F238E27FC236}">
                <a16:creationId xmlns:a16="http://schemas.microsoft.com/office/drawing/2014/main" id="{9FE460F0-4CD4-03C6-0F79-9F523FBA115E}"/>
              </a:ext>
            </a:extLst>
          </p:cNvPr>
          <p:cNvSpPr/>
          <p:nvPr/>
        </p:nvSpPr>
        <p:spPr>
          <a:xfrm>
            <a:off x="9450694" y="3984084"/>
            <a:ext cx="1224136"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50" dirty="0">
                <a:solidFill>
                  <a:srgbClr val="000000"/>
                </a:solidFill>
              </a:rPr>
              <a:t>Emitir nota fiscal</a:t>
            </a:r>
          </a:p>
        </p:txBody>
      </p:sp>
      <p:cxnSp>
        <p:nvCxnSpPr>
          <p:cNvPr id="152" name="Conector de Seta Reta 151">
            <a:extLst>
              <a:ext uri="{FF2B5EF4-FFF2-40B4-BE49-F238E27FC236}">
                <a16:creationId xmlns:a16="http://schemas.microsoft.com/office/drawing/2014/main" id="{0322E6A8-0EBD-EDB6-A4C3-F917CEAE7FF7}"/>
              </a:ext>
            </a:extLst>
          </p:cNvPr>
          <p:cNvCxnSpPr>
            <a:cxnSpLocks/>
            <a:stCxn id="138" idx="2"/>
            <a:endCxn id="151" idx="0"/>
          </p:cNvCxnSpPr>
          <p:nvPr/>
        </p:nvCxnSpPr>
        <p:spPr>
          <a:xfrm flipH="1">
            <a:off x="10062762" y="3388972"/>
            <a:ext cx="1" cy="5951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CaixaDeTexto 154">
            <a:extLst>
              <a:ext uri="{FF2B5EF4-FFF2-40B4-BE49-F238E27FC236}">
                <a16:creationId xmlns:a16="http://schemas.microsoft.com/office/drawing/2014/main" id="{ABA55E4A-C3F9-FDB5-A655-C915001D6A39}"/>
              </a:ext>
            </a:extLst>
          </p:cNvPr>
          <p:cNvSpPr txBox="1"/>
          <p:nvPr/>
        </p:nvSpPr>
        <p:spPr>
          <a:xfrm>
            <a:off x="9966603" y="3367698"/>
            <a:ext cx="429075" cy="230832"/>
          </a:xfrm>
          <a:prstGeom prst="rect">
            <a:avLst/>
          </a:prstGeom>
          <a:noFill/>
        </p:spPr>
        <p:txBody>
          <a:bodyPr wrap="square" rtlCol="0">
            <a:spAutoFit/>
          </a:bodyPr>
          <a:lstStyle/>
          <a:p>
            <a:pPr algn="ctr"/>
            <a:r>
              <a:rPr lang="pt-BR" sz="900" i="1" dirty="0"/>
              <a:t>Sim</a:t>
            </a:r>
          </a:p>
        </p:txBody>
      </p:sp>
      <p:sp>
        <p:nvSpPr>
          <p:cNvPr id="158" name="Retângulo 157">
            <a:extLst>
              <a:ext uri="{FF2B5EF4-FFF2-40B4-BE49-F238E27FC236}">
                <a16:creationId xmlns:a16="http://schemas.microsoft.com/office/drawing/2014/main" id="{93FFD6FD-2081-1876-74EE-0C5470CC2640}"/>
              </a:ext>
            </a:extLst>
          </p:cNvPr>
          <p:cNvSpPr/>
          <p:nvPr/>
        </p:nvSpPr>
        <p:spPr>
          <a:xfrm>
            <a:off x="623392" y="5553412"/>
            <a:ext cx="10952113" cy="857762"/>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9" name="CaixaDeTexto 158">
            <a:extLst>
              <a:ext uri="{FF2B5EF4-FFF2-40B4-BE49-F238E27FC236}">
                <a16:creationId xmlns:a16="http://schemas.microsoft.com/office/drawing/2014/main" id="{151232B4-3889-5228-4996-58921881CA37}"/>
              </a:ext>
            </a:extLst>
          </p:cNvPr>
          <p:cNvSpPr txBox="1"/>
          <p:nvPr/>
        </p:nvSpPr>
        <p:spPr>
          <a:xfrm rot="16200000">
            <a:off x="243270" y="5865521"/>
            <a:ext cx="1036003" cy="253916"/>
          </a:xfrm>
          <a:prstGeom prst="rect">
            <a:avLst/>
          </a:prstGeom>
          <a:noFill/>
        </p:spPr>
        <p:txBody>
          <a:bodyPr wrap="square" rtlCol="0">
            <a:spAutoFit/>
          </a:bodyPr>
          <a:lstStyle/>
          <a:p>
            <a:pPr algn="ctr"/>
            <a:r>
              <a:rPr lang="pt-BR" sz="1050" b="1" dirty="0"/>
              <a:t>Contabilidade</a:t>
            </a:r>
          </a:p>
        </p:txBody>
      </p:sp>
    </p:spTree>
    <p:extLst>
      <p:ext uri="{BB962C8B-B14F-4D97-AF65-F5344CB8AC3E}">
        <p14:creationId xmlns:p14="http://schemas.microsoft.com/office/powerpoint/2010/main" val="620552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205D1-8219-764E-8A8A-ED79D810B544}"/>
            </a:ext>
          </a:extLst>
        </p:cNvPr>
        <p:cNvGrpSpPr/>
        <p:nvPr/>
      </p:nvGrpSpPr>
      <p:grpSpPr>
        <a:xfrm>
          <a:off x="0" y="0"/>
          <a:ext cx="0" cy="0"/>
          <a:chOff x="0" y="0"/>
          <a:chExt cx="0" cy="0"/>
        </a:xfrm>
      </p:grpSpPr>
      <p:sp>
        <p:nvSpPr>
          <p:cNvPr id="2" name="CaixaDeTexto 1">
            <a:extLst>
              <a:ext uri="{FF2B5EF4-FFF2-40B4-BE49-F238E27FC236}">
                <a16:creationId xmlns:a16="http://schemas.microsoft.com/office/drawing/2014/main" id="{C7F6C993-A14C-D46D-E887-5A9F28087E39}"/>
              </a:ext>
            </a:extLst>
          </p:cNvPr>
          <p:cNvSpPr txBox="1"/>
          <p:nvPr/>
        </p:nvSpPr>
        <p:spPr>
          <a:xfrm>
            <a:off x="667123" y="451014"/>
            <a:ext cx="981548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2000" b="1" dirty="0"/>
              <a:t>Fluxos de Pedido de Compras para regularização de serviços de Oficinas</a:t>
            </a:r>
          </a:p>
        </p:txBody>
      </p:sp>
      <p:sp>
        <p:nvSpPr>
          <p:cNvPr id="5" name="Retângulo 4">
            <a:extLst>
              <a:ext uri="{FF2B5EF4-FFF2-40B4-BE49-F238E27FC236}">
                <a16:creationId xmlns:a16="http://schemas.microsoft.com/office/drawing/2014/main" id="{933EDF05-8084-359D-3AD3-6FD635B857AD}"/>
              </a:ext>
            </a:extLst>
          </p:cNvPr>
          <p:cNvSpPr/>
          <p:nvPr/>
        </p:nvSpPr>
        <p:spPr>
          <a:xfrm>
            <a:off x="1334909" y="1574455"/>
            <a:ext cx="1292533"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Levar fornecedores a bordo</a:t>
            </a:r>
          </a:p>
        </p:txBody>
      </p:sp>
      <p:sp>
        <p:nvSpPr>
          <p:cNvPr id="10" name="Elipse 9">
            <a:extLst>
              <a:ext uri="{FF2B5EF4-FFF2-40B4-BE49-F238E27FC236}">
                <a16:creationId xmlns:a16="http://schemas.microsoft.com/office/drawing/2014/main" id="{92FF9881-9E6C-5B2F-4B14-839153397241}"/>
              </a:ext>
            </a:extLst>
          </p:cNvPr>
          <p:cNvSpPr/>
          <p:nvPr/>
        </p:nvSpPr>
        <p:spPr>
          <a:xfrm>
            <a:off x="763637" y="1645105"/>
            <a:ext cx="308904" cy="30890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80C9BD6A-C660-A7D4-DC5D-FECB35EAA53D}"/>
              </a:ext>
            </a:extLst>
          </p:cNvPr>
          <p:cNvSpPr txBox="1"/>
          <p:nvPr/>
        </p:nvSpPr>
        <p:spPr>
          <a:xfrm>
            <a:off x="164098" y="2105612"/>
            <a:ext cx="1507981" cy="600164"/>
          </a:xfrm>
          <a:prstGeom prst="rect">
            <a:avLst/>
          </a:prstGeom>
          <a:noFill/>
        </p:spPr>
        <p:txBody>
          <a:bodyPr wrap="square" rtlCol="0">
            <a:spAutoFit/>
          </a:bodyPr>
          <a:lstStyle/>
          <a:p>
            <a:pPr algn="ctr"/>
            <a:r>
              <a:rPr lang="pt-BR" sz="1100" dirty="0"/>
              <a:t>Necessidade de serviço identificado</a:t>
            </a:r>
          </a:p>
          <a:p>
            <a:pPr algn="ctr"/>
            <a:r>
              <a:rPr lang="pt-BR" sz="1100" dirty="0"/>
              <a:t>(PCS congelada)</a:t>
            </a:r>
          </a:p>
        </p:txBody>
      </p:sp>
      <p:cxnSp>
        <p:nvCxnSpPr>
          <p:cNvPr id="19" name="Conector de Seta Reta 18">
            <a:extLst>
              <a:ext uri="{FF2B5EF4-FFF2-40B4-BE49-F238E27FC236}">
                <a16:creationId xmlns:a16="http://schemas.microsoft.com/office/drawing/2014/main" id="{1A99287F-3011-CA69-C945-5133F647030A}"/>
              </a:ext>
            </a:extLst>
          </p:cNvPr>
          <p:cNvCxnSpPr>
            <a:cxnSpLocks/>
            <a:stCxn id="10" idx="6"/>
            <a:endCxn id="5" idx="1"/>
          </p:cNvCxnSpPr>
          <p:nvPr/>
        </p:nvCxnSpPr>
        <p:spPr>
          <a:xfrm>
            <a:off x="1072541" y="1799557"/>
            <a:ext cx="262368"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onector de Seta Reta 25">
            <a:extLst>
              <a:ext uri="{FF2B5EF4-FFF2-40B4-BE49-F238E27FC236}">
                <a16:creationId xmlns:a16="http://schemas.microsoft.com/office/drawing/2014/main" id="{51942FB1-8243-7A6E-30AE-921C8B279C6D}"/>
              </a:ext>
            </a:extLst>
          </p:cNvPr>
          <p:cNvCxnSpPr>
            <a:cxnSpLocks/>
            <a:stCxn id="5" idx="3"/>
            <a:endCxn id="12" idx="1"/>
          </p:cNvCxnSpPr>
          <p:nvPr/>
        </p:nvCxnSpPr>
        <p:spPr>
          <a:xfrm>
            <a:off x="2627442" y="1799558"/>
            <a:ext cx="2397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7" name="Retângulo 116">
            <a:extLst>
              <a:ext uri="{FF2B5EF4-FFF2-40B4-BE49-F238E27FC236}">
                <a16:creationId xmlns:a16="http://schemas.microsoft.com/office/drawing/2014/main" id="{C3FB2A07-B001-41D1-FDA2-D6A217543488}"/>
              </a:ext>
            </a:extLst>
          </p:cNvPr>
          <p:cNvSpPr/>
          <p:nvPr/>
        </p:nvSpPr>
        <p:spPr>
          <a:xfrm>
            <a:off x="4768157" y="5790969"/>
            <a:ext cx="1698515"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Baixa do empenho na base compras / PCO</a:t>
            </a:r>
          </a:p>
        </p:txBody>
      </p:sp>
      <p:cxnSp>
        <p:nvCxnSpPr>
          <p:cNvPr id="125" name="Conector de Seta Reta 124">
            <a:extLst>
              <a:ext uri="{FF2B5EF4-FFF2-40B4-BE49-F238E27FC236}">
                <a16:creationId xmlns:a16="http://schemas.microsoft.com/office/drawing/2014/main" id="{39AA80AF-2F2B-394F-56C7-0B38E226F5E7}"/>
              </a:ext>
            </a:extLst>
          </p:cNvPr>
          <p:cNvCxnSpPr>
            <a:cxnSpLocks/>
            <a:stCxn id="117" idx="3"/>
            <a:endCxn id="128" idx="1"/>
          </p:cNvCxnSpPr>
          <p:nvPr/>
        </p:nvCxnSpPr>
        <p:spPr>
          <a:xfrm>
            <a:off x="6466672" y="6016072"/>
            <a:ext cx="29363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8" name="Retângulo 127">
            <a:extLst>
              <a:ext uri="{FF2B5EF4-FFF2-40B4-BE49-F238E27FC236}">
                <a16:creationId xmlns:a16="http://schemas.microsoft.com/office/drawing/2014/main" id="{6A09894F-647B-2429-7417-10D26C92DF30}"/>
              </a:ext>
            </a:extLst>
          </p:cNvPr>
          <p:cNvSpPr/>
          <p:nvPr/>
        </p:nvSpPr>
        <p:spPr>
          <a:xfrm>
            <a:off x="6760306" y="5790969"/>
            <a:ext cx="1218021"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Registro da NF na CT2</a:t>
            </a:r>
          </a:p>
        </p:txBody>
      </p:sp>
      <p:sp>
        <p:nvSpPr>
          <p:cNvPr id="55" name="Retângulo 54">
            <a:extLst>
              <a:ext uri="{FF2B5EF4-FFF2-40B4-BE49-F238E27FC236}">
                <a16:creationId xmlns:a16="http://schemas.microsoft.com/office/drawing/2014/main" id="{6E8F0438-A8D9-D44C-5509-46A49A695ED6}"/>
              </a:ext>
            </a:extLst>
          </p:cNvPr>
          <p:cNvSpPr/>
          <p:nvPr/>
        </p:nvSpPr>
        <p:spPr>
          <a:xfrm>
            <a:off x="10637184" y="4013995"/>
            <a:ext cx="1047262" cy="731660"/>
          </a:xfrm>
          <a:prstGeom prst="rect">
            <a:avLst/>
          </a:prstGeom>
          <a:solidFill>
            <a:schemeClr val="bg1">
              <a:lumMod val="95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900" dirty="0">
                <a:solidFill>
                  <a:srgbClr val="000000"/>
                </a:solidFill>
              </a:rPr>
              <a:t>Empenho do valor do serviço segundo BM aprovado</a:t>
            </a:r>
          </a:p>
        </p:txBody>
      </p:sp>
      <p:cxnSp>
        <p:nvCxnSpPr>
          <p:cNvPr id="59" name="Conector: Angulado 58">
            <a:extLst>
              <a:ext uri="{FF2B5EF4-FFF2-40B4-BE49-F238E27FC236}">
                <a16:creationId xmlns:a16="http://schemas.microsoft.com/office/drawing/2014/main" id="{FA34526D-7158-E481-6C24-A3EF49D8753E}"/>
              </a:ext>
            </a:extLst>
          </p:cNvPr>
          <p:cNvCxnSpPr>
            <a:cxnSpLocks/>
            <a:stCxn id="46" idx="3"/>
            <a:endCxn id="47" idx="1"/>
          </p:cNvCxnSpPr>
          <p:nvPr/>
        </p:nvCxnSpPr>
        <p:spPr>
          <a:xfrm flipH="1">
            <a:off x="1334909" y="1799558"/>
            <a:ext cx="10349537" cy="1769090"/>
          </a:xfrm>
          <a:prstGeom prst="bentConnector5">
            <a:avLst>
              <a:gd name="adj1" fmla="val -2209"/>
              <a:gd name="adj2" fmla="val 73449"/>
              <a:gd name="adj3" fmla="val 102209"/>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tângulo 11">
            <a:extLst>
              <a:ext uri="{FF2B5EF4-FFF2-40B4-BE49-F238E27FC236}">
                <a16:creationId xmlns:a16="http://schemas.microsoft.com/office/drawing/2014/main" id="{116FF8DB-3D44-1FB3-E057-89821136A360}"/>
              </a:ext>
            </a:extLst>
          </p:cNvPr>
          <p:cNvSpPr/>
          <p:nvPr/>
        </p:nvSpPr>
        <p:spPr>
          <a:xfrm>
            <a:off x="2867185" y="1574455"/>
            <a:ext cx="1154818"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Orçar serviço (fornecedor)</a:t>
            </a:r>
          </a:p>
        </p:txBody>
      </p:sp>
      <p:sp>
        <p:nvSpPr>
          <p:cNvPr id="27" name="Retângulo 26">
            <a:extLst>
              <a:ext uri="{FF2B5EF4-FFF2-40B4-BE49-F238E27FC236}">
                <a16:creationId xmlns:a16="http://schemas.microsoft.com/office/drawing/2014/main" id="{E3C752A2-619B-A462-A538-2C85422E238F}"/>
              </a:ext>
            </a:extLst>
          </p:cNvPr>
          <p:cNvSpPr/>
          <p:nvPr/>
        </p:nvSpPr>
        <p:spPr>
          <a:xfrm>
            <a:off x="4261747" y="1574455"/>
            <a:ext cx="1154818"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Definir fornecedor (AT)</a:t>
            </a:r>
          </a:p>
        </p:txBody>
      </p:sp>
      <p:cxnSp>
        <p:nvCxnSpPr>
          <p:cNvPr id="28" name="Conector de Seta Reta 27">
            <a:extLst>
              <a:ext uri="{FF2B5EF4-FFF2-40B4-BE49-F238E27FC236}">
                <a16:creationId xmlns:a16="http://schemas.microsoft.com/office/drawing/2014/main" id="{79A3EBA3-7C1F-1E4D-37F9-A78B4C6E07C3}"/>
              </a:ext>
            </a:extLst>
          </p:cNvPr>
          <p:cNvCxnSpPr>
            <a:cxnSpLocks/>
            <a:stCxn id="12" idx="3"/>
            <a:endCxn id="27" idx="1"/>
          </p:cNvCxnSpPr>
          <p:nvPr/>
        </p:nvCxnSpPr>
        <p:spPr>
          <a:xfrm>
            <a:off x="4022003" y="1799558"/>
            <a:ext cx="23974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onector de Seta Reta 34">
            <a:extLst>
              <a:ext uri="{FF2B5EF4-FFF2-40B4-BE49-F238E27FC236}">
                <a16:creationId xmlns:a16="http://schemas.microsoft.com/office/drawing/2014/main" id="{C1F79563-70CB-92CE-04EC-8CF4D360D210}"/>
              </a:ext>
            </a:extLst>
          </p:cNvPr>
          <p:cNvCxnSpPr>
            <a:cxnSpLocks/>
            <a:stCxn id="27" idx="3"/>
            <a:endCxn id="41" idx="1"/>
          </p:cNvCxnSpPr>
          <p:nvPr/>
        </p:nvCxnSpPr>
        <p:spPr>
          <a:xfrm>
            <a:off x="5416565" y="1799558"/>
            <a:ext cx="29360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Retângulo 40">
            <a:extLst>
              <a:ext uri="{FF2B5EF4-FFF2-40B4-BE49-F238E27FC236}">
                <a16:creationId xmlns:a16="http://schemas.microsoft.com/office/drawing/2014/main" id="{89F084C4-D503-95DC-9263-351FA8E26CDC}"/>
              </a:ext>
            </a:extLst>
          </p:cNvPr>
          <p:cNvSpPr/>
          <p:nvPr/>
        </p:nvSpPr>
        <p:spPr>
          <a:xfrm>
            <a:off x="5710166" y="1574455"/>
            <a:ext cx="1154818"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Emitir OS com valor orçado (AT)</a:t>
            </a:r>
          </a:p>
        </p:txBody>
      </p:sp>
      <p:sp>
        <p:nvSpPr>
          <p:cNvPr id="44" name="Retângulo 43">
            <a:extLst>
              <a:ext uri="{FF2B5EF4-FFF2-40B4-BE49-F238E27FC236}">
                <a16:creationId xmlns:a16="http://schemas.microsoft.com/office/drawing/2014/main" id="{BE6B87D7-E23C-5C72-0D6E-22196B429A5C}"/>
              </a:ext>
            </a:extLst>
          </p:cNvPr>
          <p:cNvSpPr/>
          <p:nvPr/>
        </p:nvSpPr>
        <p:spPr>
          <a:xfrm>
            <a:off x="7121566" y="1574455"/>
            <a:ext cx="1154818"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Executar serviço (fornecedor)</a:t>
            </a:r>
          </a:p>
        </p:txBody>
      </p:sp>
      <p:sp>
        <p:nvSpPr>
          <p:cNvPr id="45" name="Retângulo 44">
            <a:extLst>
              <a:ext uri="{FF2B5EF4-FFF2-40B4-BE49-F238E27FC236}">
                <a16:creationId xmlns:a16="http://schemas.microsoft.com/office/drawing/2014/main" id="{F572470B-565C-537D-6D51-FC0BB44981DC}"/>
              </a:ext>
            </a:extLst>
          </p:cNvPr>
          <p:cNvSpPr/>
          <p:nvPr/>
        </p:nvSpPr>
        <p:spPr>
          <a:xfrm>
            <a:off x="8548232" y="1574455"/>
            <a:ext cx="1685033"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Enviar medição para aprovação (fornecedor)</a:t>
            </a:r>
          </a:p>
        </p:txBody>
      </p:sp>
      <p:sp>
        <p:nvSpPr>
          <p:cNvPr id="46" name="Retângulo 45">
            <a:extLst>
              <a:ext uri="{FF2B5EF4-FFF2-40B4-BE49-F238E27FC236}">
                <a16:creationId xmlns:a16="http://schemas.microsoft.com/office/drawing/2014/main" id="{80BC1B21-38A0-CC18-CD99-E0801EADA1EE}"/>
              </a:ext>
            </a:extLst>
          </p:cNvPr>
          <p:cNvSpPr/>
          <p:nvPr/>
        </p:nvSpPr>
        <p:spPr>
          <a:xfrm>
            <a:off x="10465663" y="1574455"/>
            <a:ext cx="1218783"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Aprovar medição (AT)</a:t>
            </a:r>
          </a:p>
        </p:txBody>
      </p:sp>
      <p:sp>
        <p:nvSpPr>
          <p:cNvPr id="47" name="Retângulo 46">
            <a:extLst>
              <a:ext uri="{FF2B5EF4-FFF2-40B4-BE49-F238E27FC236}">
                <a16:creationId xmlns:a16="http://schemas.microsoft.com/office/drawing/2014/main" id="{FDBE752E-0441-08F6-C5D5-54755068A83E}"/>
              </a:ext>
            </a:extLst>
          </p:cNvPr>
          <p:cNvSpPr/>
          <p:nvPr/>
        </p:nvSpPr>
        <p:spPr>
          <a:xfrm>
            <a:off x="1334909" y="3343648"/>
            <a:ext cx="1364222" cy="45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Atualizar PCS (Obras - AT)</a:t>
            </a:r>
          </a:p>
        </p:txBody>
      </p:sp>
      <p:sp>
        <p:nvSpPr>
          <p:cNvPr id="51" name="Retângulo 50">
            <a:extLst>
              <a:ext uri="{FF2B5EF4-FFF2-40B4-BE49-F238E27FC236}">
                <a16:creationId xmlns:a16="http://schemas.microsoft.com/office/drawing/2014/main" id="{8084E5B9-6580-E4FE-1C5C-DBF1B553E9B6}"/>
              </a:ext>
            </a:extLst>
          </p:cNvPr>
          <p:cNvSpPr/>
          <p:nvPr/>
        </p:nvSpPr>
        <p:spPr>
          <a:xfrm>
            <a:off x="1334909" y="4013995"/>
            <a:ext cx="1364219" cy="450204"/>
          </a:xfrm>
          <a:prstGeom prst="rect">
            <a:avLst/>
          </a:prstGeom>
          <a:solidFill>
            <a:schemeClr val="bg1">
              <a:lumMod val="95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900" dirty="0">
                <a:solidFill>
                  <a:srgbClr val="000000"/>
                </a:solidFill>
              </a:rPr>
              <a:t>Valor da medição aprovada no campo Relatório Final</a:t>
            </a:r>
          </a:p>
        </p:txBody>
      </p:sp>
      <p:sp>
        <p:nvSpPr>
          <p:cNvPr id="52" name="Retângulo 51">
            <a:extLst>
              <a:ext uri="{FF2B5EF4-FFF2-40B4-BE49-F238E27FC236}">
                <a16:creationId xmlns:a16="http://schemas.microsoft.com/office/drawing/2014/main" id="{858E99BB-9EAA-9F9A-FA42-BE48B521498F}"/>
              </a:ext>
            </a:extLst>
          </p:cNvPr>
          <p:cNvSpPr/>
          <p:nvPr/>
        </p:nvSpPr>
        <p:spPr>
          <a:xfrm>
            <a:off x="2874100" y="3343648"/>
            <a:ext cx="1698515" cy="45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Enviar medição aprovada para o fornecedor (AT)</a:t>
            </a:r>
          </a:p>
        </p:txBody>
      </p:sp>
      <p:sp>
        <p:nvSpPr>
          <p:cNvPr id="53" name="Retângulo 52">
            <a:extLst>
              <a:ext uri="{FF2B5EF4-FFF2-40B4-BE49-F238E27FC236}">
                <a16:creationId xmlns:a16="http://schemas.microsoft.com/office/drawing/2014/main" id="{50042919-60F9-64AC-1A80-A5CB50DED790}"/>
              </a:ext>
            </a:extLst>
          </p:cNvPr>
          <p:cNvSpPr/>
          <p:nvPr/>
        </p:nvSpPr>
        <p:spPr>
          <a:xfrm>
            <a:off x="4741726" y="3343648"/>
            <a:ext cx="1967876" cy="450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Abrir ticket medição aprovada no </a:t>
            </a:r>
            <a:r>
              <a:rPr lang="pt-BR" sz="1050" dirty="0" err="1">
                <a:solidFill>
                  <a:srgbClr val="000000"/>
                </a:solidFill>
              </a:rPr>
              <a:t>Movidesk</a:t>
            </a:r>
            <a:r>
              <a:rPr lang="pt-BR" sz="1050" dirty="0">
                <a:solidFill>
                  <a:srgbClr val="000000"/>
                </a:solidFill>
              </a:rPr>
              <a:t> (fornecedor)</a:t>
            </a:r>
          </a:p>
        </p:txBody>
      </p:sp>
      <p:cxnSp>
        <p:nvCxnSpPr>
          <p:cNvPr id="58" name="Conector de Seta Reta 57">
            <a:extLst>
              <a:ext uri="{FF2B5EF4-FFF2-40B4-BE49-F238E27FC236}">
                <a16:creationId xmlns:a16="http://schemas.microsoft.com/office/drawing/2014/main" id="{0BE7D63C-1895-6724-CC17-066F613D88EA}"/>
              </a:ext>
            </a:extLst>
          </p:cNvPr>
          <p:cNvCxnSpPr>
            <a:cxnSpLocks/>
            <a:stCxn id="128" idx="3"/>
            <a:endCxn id="60" idx="2"/>
          </p:cNvCxnSpPr>
          <p:nvPr/>
        </p:nvCxnSpPr>
        <p:spPr>
          <a:xfrm flipV="1">
            <a:off x="7978327" y="6016071"/>
            <a:ext cx="326041"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0" name="Elipse 59">
            <a:extLst>
              <a:ext uri="{FF2B5EF4-FFF2-40B4-BE49-F238E27FC236}">
                <a16:creationId xmlns:a16="http://schemas.microsoft.com/office/drawing/2014/main" id="{80E597C3-5B7E-EBBC-2CD8-565A225C2199}"/>
              </a:ext>
            </a:extLst>
          </p:cNvPr>
          <p:cNvSpPr/>
          <p:nvPr/>
        </p:nvSpPr>
        <p:spPr>
          <a:xfrm>
            <a:off x="8304368" y="5861619"/>
            <a:ext cx="308904" cy="3089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CaixaDeTexto 60">
            <a:extLst>
              <a:ext uri="{FF2B5EF4-FFF2-40B4-BE49-F238E27FC236}">
                <a16:creationId xmlns:a16="http://schemas.microsoft.com/office/drawing/2014/main" id="{2F8D8484-9DF8-B4BD-A403-D276387544AA}"/>
              </a:ext>
            </a:extLst>
          </p:cNvPr>
          <p:cNvSpPr txBox="1"/>
          <p:nvPr/>
        </p:nvSpPr>
        <p:spPr>
          <a:xfrm>
            <a:off x="7907730" y="6261287"/>
            <a:ext cx="1102181" cy="430887"/>
          </a:xfrm>
          <a:prstGeom prst="rect">
            <a:avLst/>
          </a:prstGeom>
          <a:noFill/>
        </p:spPr>
        <p:txBody>
          <a:bodyPr wrap="square" rtlCol="0">
            <a:spAutoFit/>
          </a:bodyPr>
          <a:lstStyle/>
          <a:p>
            <a:pPr algn="ctr"/>
            <a:r>
              <a:rPr lang="pt-BR" sz="1100" dirty="0"/>
              <a:t>NF contabilizada</a:t>
            </a:r>
          </a:p>
        </p:txBody>
      </p:sp>
      <p:cxnSp>
        <p:nvCxnSpPr>
          <p:cNvPr id="64" name="Conector de Seta Reta 63">
            <a:extLst>
              <a:ext uri="{FF2B5EF4-FFF2-40B4-BE49-F238E27FC236}">
                <a16:creationId xmlns:a16="http://schemas.microsoft.com/office/drawing/2014/main" id="{42B8904B-B4ED-D151-0B01-53D88158A9FA}"/>
              </a:ext>
            </a:extLst>
          </p:cNvPr>
          <p:cNvCxnSpPr>
            <a:cxnSpLocks/>
            <a:stCxn id="41" idx="3"/>
            <a:endCxn id="44" idx="1"/>
          </p:cNvCxnSpPr>
          <p:nvPr/>
        </p:nvCxnSpPr>
        <p:spPr>
          <a:xfrm>
            <a:off x="6864984" y="1799558"/>
            <a:ext cx="25658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7" name="Conector de Seta Reta 66">
            <a:extLst>
              <a:ext uri="{FF2B5EF4-FFF2-40B4-BE49-F238E27FC236}">
                <a16:creationId xmlns:a16="http://schemas.microsoft.com/office/drawing/2014/main" id="{C03E8B33-EA00-65DB-AF51-D2D4D1AD056A}"/>
              </a:ext>
            </a:extLst>
          </p:cNvPr>
          <p:cNvCxnSpPr>
            <a:cxnSpLocks/>
            <a:stCxn id="44" idx="3"/>
            <a:endCxn id="45" idx="1"/>
          </p:cNvCxnSpPr>
          <p:nvPr/>
        </p:nvCxnSpPr>
        <p:spPr>
          <a:xfrm>
            <a:off x="8276384" y="1799558"/>
            <a:ext cx="27184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Conector de Seta Reta 69">
            <a:extLst>
              <a:ext uri="{FF2B5EF4-FFF2-40B4-BE49-F238E27FC236}">
                <a16:creationId xmlns:a16="http://schemas.microsoft.com/office/drawing/2014/main" id="{D3B76DD9-4490-DD74-0862-B739D2282CA7}"/>
              </a:ext>
            </a:extLst>
          </p:cNvPr>
          <p:cNvCxnSpPr>
            <a:cxnSpLocks/>
            <a:stCxn id="45" idx="3"/>
            <a:endCxn id="46" idx="1"/>
          </p:cNvCxnSpPr>
          <p:nvPr/>
        </p:nvCxnSpPr>
        <p:spPr>
          <a:xfrm>
            <a:off x="10233265" y="1799558"/>
            <a:ext cx="23239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Retângulo 73">
            <a:extLst>
              <a:ext uri="{FF2B5EF4-FFF2-40B4-BE49-F238E27FC236}">
                <a16:creationId xmlns:a16="http://schemas.microsoft.com/office/drawing/2014/main" id="{59A92838-9920-ABF1-63F8-00B158DD961E}"/>
              </a:ext>
            </a:extLst>
          </p:cNvPr>
          <p:cNvSpPr/>
          <p:nvPr/>
        </p:nvSpPr>
        <p:spPr>
          <a:xfrm>
            <a:off x="4747182" y="4013995"/>
            <a:ext cx="1956964" cy="1013592"/>
          </a:xfrm>
          <a:prstGeom prst="rect">
            <a:avLst/>
          </a:prstGeom>
          <a:solidFill>
            <a:schemeClr val="bg1">
              <a:lumMod val="95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900" dirty="0">
                <a:solidFill>
                  <a:srgbClr val="000000"/>
                </a:solidFill>
              </a:rPr>
              <a:t>Fornecedor preenche algumas informações e envia: </a:t>
            </a:r>
          </a:p>
          <a:p>
            <a:pPr marL="171450" indent="-171450">
              <a:buFont typeface="Wingdings" panose="05000000000000000000" pitchFamily="2" charset="2"/>
              <a:buChar char="§"/>
            </a:pPr>
            <a:r>
              <a:rPr lang="pt-BR" sz="900" dirty="0">
                <a:solidFill>
                  <a:srgbClr val="000000"/>
                </a:solidFill>
              </a:rPr>
              <a:t>OS assinada</a:t>
            </a:r>
          </a:p>
          <a:p>
            <a:pPr marL="171450" indent="-171450">
              <a:buFont typeface="Wingdings" panose="05000000000000000000" pitchFamily="2" charset="2"/>
              <a:buChar char="§"/>
            </a:pPr>
            <a:r>
              <a:rPr lang="pt-BR" sz="900" dirty="0">
                <a:solidFill>
                  <a:srgbClr val="000000"/>
                </a:solidFill>
              </a:rPr>
              <a:t>Boletim de medição</a:t>
            </a:r>
          </a:p>
          <a:p>
            <a:pPr marL="171450" indent="-171450">
              <a:buFont typeface="Wingdings" panose="05000000000000000000" pitchFamily="2" charset="2"/>
              <a:buChar char="§"/>
            </a:pPr>
            <a:r>
              <a:rPr lang="pt-BR" sz="900" dirty="0">
                <a:solidFill>
                  <a:srgbClr val="000000"/>
                </a:solidFill>
              </a:rPr>
              <a:t>Evidências da execução do serviço</a:t>
            </a:r>
          </a:p>
          <a:p>
            <a:r>
              <a:rPr lang="pt-BR" sz="900" dirty="0">
                <a:solidFill>
                  <a:srgbClr val="000000"/>
                </a:solidFill>
              </a:rPr>
              <a:t>(ver próximo slide)</a:t>
            </a:r>
          </a:p>
        </p:txBody>
      </p:sp>
      <p:sp>
        <p:nvSpPr>
          <p:cNvPr id="75" name="Retângulo 74">
            <a:extLst>
              <a:ext uri="{FF2B5EF4-FFF2-40B4-BE49-F238E27FC236}">
                <a16:creationId xmlns:a16="http://schemas.microsoft.com/office/drawing/2014/main" id="{982CE619-4AE6-A1FB-8CF5-C598D252FC86}"/>
              </a:ext>
            </a:extLst>
          </p:cNvPr>
          <p:cNvSpPr/>
          <p:nvPr/>
        </p:nvSpPr>
        <p:spPr>
          <a:xfrm>
            <a:off x="6890430" y="3343443"/>
            <a:ext cx="1698515"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Preencher informações (backoffice)</a:t>
            </a:r>
          </a:p>
        </p:txBody>
      </p:sp>
      <p:sp>
        <p:nvSpPr>
          <p:cNvPr id="78" name="Retângulo 77">
            <a:extLst>
              <a:ext uri="{FF2B5EF4-FFF2-40B4-BE49-F238E27FC236}">
                <a16:creationId xmlns:a16="http://schemas.microsoft.com/office/drawing/2014/main" id="{54A6F518-E41F-1FFC-E278-CD744F9A747F}"/>
              </a:ext>
            </a:extLst>
          </p:cNvPr>
          <p:cNvSpPr/>
          <p:nvPr/>
        </p:nvSpPr>
        <p:spPr>
          <a:xfrm>
            <a:off x="6890430" y="4013995"/>
            <a:ext cx="1698515" cy="450204"/>
          </a:xfrm>
          <a:prstGeom prst="rect">
            <a:avLst/>
          </a:prstGeom>
          <a:solidFill>
            <a:schemeClr val="bg1">
              <a:lumMod val="95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pt-BR" sz="900" dirty="0">
                <a:solidFill>
                  <a:srgbClr val="000000"/>
                </a:solidFill>
              </a:rPr>
              <a:t>Backoffice analisa o ticket e atualiza com informações internas (ver próximo slide)</a:t>
            </a:r>
          </a:p>
        </p:txBody>
      </p:sp>
      <p:cxnSp>
        <p:nvCxnSpPr>
          <p:cNvPr id="80" name="Conector de Seta Reta 79">
            <a:extLst>
              <a:ext uri="{FF2B5EF4-FFF2-40B4-BE49-F238E27FC236}">
                <a16:creationId xmlns:a16="http://schemas.microsoft.com/office/drawing/2014/main" id="{CEAB522B-F8D4-57E8-4467-F5CC4A3887F5}"/>
              </a:ext>
            </a:extLst>
          </p:cNvPr>
          <p:cNvCxnSpPr>
            <a:cxnSpLocks/>
            <a:stCxn id="47" idx="3"/>
            <a:endCxn id="52" idx="1"/>
          </p:cNvCxnSpPr>
          <p:nvPr/>
        </p:nvCxnSpPr>
        <p:spPr>
          <a:xfrm>
            <a:off x="2699131" y="3568648"/>
            <a:ext cx="1749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3" name="Conector de Seta Reta 82">
            <a:extLst>
              <a:ext uri="{FF2B5EF4-FFF2-40B4-BE49-F238E27FC236}">
                <a16:creationId xmlns:a16="http://schemas.microsoft.com/office/drawing/2014/main" id="{C09E9D76-15B3-1C30-9FC3-4A5FBB24B78E}"/>
              </a:ext>
            </a:extLst>
          </p:cNvPr>
          <p:cNvCxnSpPr>
            <a:cxnSpLocks/>
            <a:stCxn id="52" idx="3"/>
            <a:endCxn id="53" idx="1"/>
          </p:cNvCxnSpPr>
          <p:nvPr/>
        </p:nvCxnSpPr>
        <p:spPr>
          <a:xfrm>
            <a:off x="4572615" y="3568648"/>
            <a:ext cx="16911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Conector de Seta Reta 86">
            <a:extLst>
              <a:ext uri="{FF2B5EF4-FFF2-40B4-BE49-F238E27FC236}">
                <a16:creationId xmlns:a16="http://schemas.microsoft.com/office/drawing/2014/main" id="{C88AA332-9A02-44C6-4BC8-16EC2A7807E0}"/>
              </a:ext>
            </a:extLst>
          </p:cNvPr>
          <p:cNvCxnSpPr>
            <a:cxnSpLocks/>
            <a:stCxn id="53" idx="3"/>
            <a:endCxn id="75" idx="1"/>
          </p:cNvCxnSpPr>
          <p:nvPr/>
        </p:nvCxnSpPr>
        <p:spPr>
          <a:xfrm flipV="1">
            <a:off x="6709602" y="3568546"/>
            <a:ext cx="180828" cy="1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0" name="Retângulo 89">
            <a:extLst>
              <a:ext uri="{FF2B5EF4-FFF2-40B4-BE49-F238E27FC236}">
                <a16:creationId xmlns:a16="http://schemas.microsoft.com/office/drawing/2014/main" id="{D3322933-40CC-5389-15AA-E5734A27CCD9}"/>
              </a:ext>
            </a:extLst>
          </p:cNvPr>
          <p:cNvSpPr/>
          <p:nvPr/>
        </p:nvSpPr>
        <p:spPr>
          <a:xfrm>
            <a:off x="8736225" y="3343443"/>
            <a:ext cx="1685033"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Abrir PC e dar baixa na OS</a:t>
            </a:r>
          </a:p>
          <a:p>
            <a:pPr algn="ctr"/>
            <a:r>
              <a:rPr lang="pt-BR" sz="1050" dirty="0">
                <a:solidFill>
                  <a:srgbClr val="000000"/>
                </a:solidFill>
              </a:rPr>
              <a:t>(RPA backoffice)</a:t>
            </a:r>
          </a:p>
        </p:txBody>
      </p:sp>
      <p:sp>
        <p:nvSpPr>
          <p:cNvPr id="91" name="Retângulo 90">
            <a:extLst>
              <a:ext uri="{FF2B5EF4-FFF2-40B4-BE49-F238E27FC236}">
                <a16:creationId xmlns:a16="http://schemas.microsoft.com/office/drawing/2014/main" id="{AA137180-8329-FF7C-20F7-02F5B6A7DB6F}"/>
              </a:ext>
            </a:extLst>
          </p:cNvPr>
          <p:cNvSpPr/>
          <p:nvPr/>
        </p:nvSpPr>
        <p:spPr>
          <a:xfrm>
            <a:off x="10637184" y="3343442"/>
            <a:ext cx="1047262"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Aprovar PC</a:t>
            </a:r>
          </a:p>
          <a:p>
            <a:pPr algn="ctr"/>
            <a:r>
              <a:rPr lang="pt-BR" sz="1050" dirty="0">
                <a:solidFill>
                  <a:srgbClr val="000000"/>
                </a:solidFill>
              </a:rPr>
              <a:t>(AT)</a:t>
            </a:r>
          </a:p>
        </p:txBody>
      </p:sp>
      <p:cxnSp>
        <p:nvCxnSpPr>
          <p:cNvPr id="92" name="Conector de Seta Reta 91">
            <a:extLst>
              <a:ext uri="{FF2B5EF4-FFF2-40B4-BE49-F238E27FC236}">
                <a16:creationId xmlns:a16="http://schemas.microsoft.com/office/drawing/2014/main" id="{DE5C49CF-5C20-140F-87A8-A27177DFEC1B}"/>
              </a:ext>
            </a:extLst>
          </p:cNvPr>
          <p:cNvCxnSpPr>
            <a:cxnSpLocks/>
            <a:stCxn id="75" idx="3"/>
            <a:endCxn id="90" idx="1"/>
          </p:cNvCxnSpPr>
          <p:nvPr/>
        </p:nvCxnSpPr>
        <p:spPr>
          <a:xfrm>
            <a:off x="8588945" y="3568546"/>
            <a:ext cx="14728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5" name="Conector de Seta Reta 94">
            <a:extLst>
              <a:ext uri="{FF2B5EF4-FFF2-40B4-BE49-F238E27FC236}">
                <a16:creationId xmlns:a16="http://schemas.microsoft.com/office/drawing/2014/main" id="{D2D120A6-2800-0C94-5AAB-9CE0CEC60D7C}"/>
              </a:ext>
            </a:extLst>
          </p:cNvPr>
          <p:cNvCxnSpPr>
            <a:cxnSpLocks/>
            <a:stCxn id="90" idx="3"/>
            <a:endCxn id="91" idx="1"/>
          </p:cNvCxnSpPr>
          <p:nvPr/>
        </p:nvCxnSpPr>
        <p:spPr>
          <a:xfrm flipV="1">
            <a:off x="10421258" y="3568545"/>
            <a:ext cx="215926"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9" name="Retângulo 98">
            <a:extLst>
              <a:ext uri="{FF2B5EF4-FFF2-40B4-BE49-F238E27FC236}">
                <a16:creationId xmlns:a16="http://schemas.microsoft.com/office/drawing/2014/main" id="{9C36A153-D26B-0CBE-4E45-B3144C292DFF}"/>
              </a:ext>
            </a:extLst>
          </p:cNvPr>
          <p:cNvSpPr/>
          <p:nvPr/>
        </p:nvSpPr>
        <p:spPr>
          <a:xfrm>
            <a:off x="2938174" y="5790969"/>
            <a:ext cx="1536348"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Capturar NF e Registrar no Protheus (V360)</a:t>
            </a:r>
          </a:p>
        </p:txBody>
      </p:sp>
      <p:sp>
        <p:nvSpPr>
          <p:cNvPr id="100" name="Retângulo 99">
            <a:extLst>
              <a:ext uri="{FF2B5EF4-FFF2-40B4-BE49-F238E27FC236}">
                <a16:creationId xmlns:a16="http://schemas.microsoft.com/office/drawing/2014/main" id="{B78AFFF0-1484-1EED-0B87-B377710B43F6}"/>
              </a:ext>
            </a:extLst>
          </p:cNvPr>
          <p:cNvSpPr/>
          <p:nvPr/>
        </p:nvSpPr>
        <p:spPr>
          <a:xfrm>
            <a:off x="1334909" y="5790969"/>
            <a:ext cx="1309630" cy="45020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pt-BR" sz="1050" dirty="0">
                <a:solidFill>
                  <a:srgbClr val="000000"/>
                </a:solidFill>
              </a:rPr>
              <a:t>Emitir NF</a:t>
            </a:r>
          </a:p>
          <a:p>
            <a:pPr algn="ctr"/>
            <a:r>
              <a:rPr lang="pt-BR" sz="1050" dirty="0">
                <a:solidFill>
                  <a:srgbClr val="000000"/>
                </a:solidFill>
              </a:rPr>
              <a:t>(fornecedor)</a:t>
            </a:r>
          </a:p>
        </p:txBody>
      </p:sp>
      <p:cxnSp>
        <p:nvCxnSpPr>
          <p:cNvPr id="103" name="Conector de Seta Reta 102">
            <a:extLst>
              <a:ext uri="{FF2B5EF4-FFF2-40B4-BE49-F238E27FC236}">
                <a16:creationId xmlns:a16="http://schemas.microsoft.com/office/drawing/2014/main" id="{5B8C95E9-AC6C-809D-0FE5-219677853DF7}"/>
              </a:ext>
            </a:extLst>
          </p:cNvPr>
          <p:cNvCxnSpPr>
            <a:cxnSpLocks/>
            <a:stCxn id="99" idx="3"/>
            <a:endCxn id="117" idx="1"/>
          </p:cNvCxnSpPr>
          <p:nvPr/>
        </p:nvCxnSpPr>
        <p:spPr>
          <a:xfrm>
            <a:off x="4474522" y="6016072"/>
            <a:ext cx="2936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6" name="Conector de Seta Reta 105">
            <a:extLst>
              <a:ext uri="{FF2B5EF4-FFF2-40B4-BE49-F238E27FC236}">
                <a16:creationId xmlns:a16="http://schemas.microsoft.com/office/drawing/2014/main" id="{8A95722B-BE8C-D4E3-A81B-50C0ECF9DD73}"/>
              </a:ext>
            </a:extLst>
          </p:cNvPr>
          <p:cNvCxnSpPr>
            <a:cxnSpLocks/>
            <a:stCxn id="100" idx="3"/>
            <a:endCxn id="99" idx="1"/>
          </p:cNvCxnSpPr>
          <p:nvPr/>
        </p:nvCxnSpPr>
        <p:spPr>
          <a:xfrm>
            <a:off x="2644539" y="6016072"/>
            <a:ext cx="29363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9" name="Conector: Angulado 108">
            <a:extLst>
              <a:ext uri="{FF2B5EF4-FFF2-40B4-BE49-F238E27FC236}">
                <a16:creationId xmlns:a16="http://schemas.microsoft.com/office/drawing/2014/main" id="{A19B0A9F-5A45-3213-77B0-611CBE26DED6}"/>
              </a:ext>
            </a:extLst>
          </p:cNvPr>
          <p:cNvCxnSpPr>
            <a:cxnSpLocks/>
            <a:stCxn id="91" idx="3"/>
            <a:endCxn id="100" idx="1"/>
          </p:cNvCxnSpPr>
          <p:nvPr/>
        </p:nvCxnSpPr>
        <p:spPr>
          <a:xfrm flipH="1">
            <a:off x="1334909" y="3568545"/>
            <a:ext cx="10349537" cy="2447527"/>
          </a:xfrm>
          <a:prstGeom prst="bentConnector5">
            <a:avLst>
              <a:gd name="adj1" fmla="val -2209"/>
              <a:gd name="adj2" fmla="val 72724"/>
              <a:gd name="adj3" fmla="val 102209"/>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3" name="Conector de Seta Reta 112">
            <a:extLst>
              <a:ext uri="{FF2B5EF4-FFF2-40B4-BE49-F238E27FC236}">
                <a16:creationId xmlns:a16="http://schemas.microsoft.com/office/drawing/2014/main" id="{7FD5CC72-2D91-7630-0EFD-92B626B5E29A}"/>
              </a:ext>
            </a:extLst>
          </p:cNvPr>
          <p:cNvCxnSpPr>
            <a:cxnSpLocks/>
            <a:stCxn id="47" idx="2"/>
            <a:endCxn id="51" idx="0"/>
          </p:cNvCxnSpPr>
          <p:nvPr/>
        </p:nvCxnSpPr>
        <p:spPr>
          <a:xfrm flipH="1">
            <a:off x="2017019" y="3793648"/>
            <a:ext cx="1" cy="220347"/>
          </a:xfrm>
          <a:prstGeom prst="straightConnector1">
            <a:avLst/>
          </a:prstGeom>
          <a:ln w="3175">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16" name="Conector de Seta Reta 115">
            <a:extLst>
              <a:ext uri="{FF2B5EF4-FFF2-40B4-BE49-F238E27FC236}">
                <a16:creationId xmlns:a16="http://schemas.microsoft.com/office/drawing/2014/main" id="{4A2EB6F2-682E-6E29-80C9-6FA8776D1FB5}"/>
              </a:ext>
            </a:extLst>
          </p:cNvPr>
          <p:cNvCxnSpPr>
            <a:cxnSpLocks/>
            <a:stCxn id="53" idx="2"/>
            <a:endCxn id="74" idx="0"/>
          </p:cNvCxnSpPr>
          <p:nvPr/>
        </p:nvCxnSpPr>
        <p:spPr>
          <a:xfrm>
            <a:off x="5725664" y="3793648"/>
            <a:ext cx="0" cy="220347"/>
          </a:xfrm>
          <a:prstGeom prst="straightConnector1">
            <a:avLst/>
          </a:prstGeom>
          <a:ln w="3175">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1" name="Conector de Seta Reta 120">
            <a:extLst>
              <a:ext uri="{FF2B5EF4-FFF2-40B4-BE49-F238E27FC236}">
                <a16:creationId xmlns:a16="http://schemas.microsoft.com/office/drawing/2014/main" id="{10F721A3-030B-C699-2ADC-102401E96230}"/>
              </a:ext>
            </a:extLst>
          </p:cNvPr>
          <p:cNvCxnSpPr>
            <a:cxnSpLocks/>
            <a:stCxn id="75" idx="2"/>
            <a:endCxn id="78" idx="0"/>
          </p:cNvCxnSpPr>
          <p:nvPr/>
        </p:nvCxnSpPr>
        <p:spPr>
          <a:xfrm>
            <a:off x="7739688" y="3793648"/>
            <a:ext cx="0" cy="220347"/>
          </a:xfrm>
          <a:prstGeom prst="straightConnector1">
            <a:avLst/>
          </a:prstGeom>
          <a:ln w="3175">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126" name="Conector de Seta Reta 125">
            <a:extLst>
              <a:ext uri="{FF2B5EF4-FFF2-40B4-BE49-F238E27FC236}">
                <a16:creationId xmlns:a16="http://schemas.microsoft.com/office/drawing/2014/main" id="{1FEC851B-9BB7-98B2-7C58-71900CDB6A79}"/>
              </a:ext>
            </a:extLst>
          </p:cNvPr>
          <p:cNvCxnSpPr>
            <a:cxnSpLocks/>
            <a:stCxn id="91" idx="2"/>
            <a:endCxn id="55" idx="0"/>
          </p:cNvCxnSpPr>
          <p:nvPr/>
        </p:nvCxnSpPr>
        <p:spPr>
          <a:xfrm>
            <a:off x="11160815" y="3793647"/>
            <a:ext cx="0" cy="220348"/>
          </a:xfrm>
          <a:prstGeom prst="straightConnector1">
            <a:avLst/>
          </a:prstGeom>
          <a:ln w="3175">
            <a:solidFill>
              <a:schemeClr val="bg1">
                <a:lumMod val="75000"/>
              </a:schemeClr>
            </a:solidFill>
            <a:prstDash val="dash"/>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79195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DFE7-A35A-78E3-B00E-5ED7BE03949F}"/>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1017FDB-6CEA-574D-3BAA-37371BAD72BB}"/>
              </a:ext>
            </a:extLst>
          </p:cNvPr>
          <p:cNvSpPr>
            <a:spLocks noGrp="1"/>
          </p:cNvSpPr>
          <p:nvPr>
            <p:ph type="title"/>
          </p:nvPr>
        </p:nvSpPr>
        <p:spPr/>
        <p:txBody>
          <a:bodyPr/>
          <a:lstStyle/>
          <a:p>
            <a:r>
              <a:rPr lang="pt-BR" dirty="0"/>
              <a:t>Esteira Financeira</a:t>
            </a:r>
            <a:br>
              <a:rPr lang="pt-BR" dirty="0"/>
            </a:br>
            <a:r>
              <a:rPr lang="pt-BR" sz="1600" b="0" dirty="0"/>
              <a:t>Fluxo de Dados | Pedidos de Compras de Serviços - Estaleiro</a:t>
            </a:r>
          </a:p>
        </p:txBody>
      </p:sp>
      <p:sp>
        <p:nvSpPr>
          <p:cNvPr id="23" name="Retângulo 22">
            <a:extLst>
              <a:ext uri="{FF2B5EF4-FFF2-40B4-BE49-F238E27FC236}">
                <a16:creationId xmlns:a16="http://schemas.microsoft.com/office/drawing/2014/main" id="{28FE9486-BAFE-E8A7-B0EF-65DF2F8C64D2}"/>
              </a:ext>
            </a:extLst>
          </p:cNvPr>
          <p:cNvSpPr/>
          <p:nvPr/>
        </p:nvSpPr>
        <p:spPr>
          <a:xfrm>
            <a:off x="4442608" y="3672342"/>
            <a:ext cx="1404000" cy="576064"/>
          </a:xfrm>
          <a:prstGeom prst="rect">
            <a:avLst/>
          </a:prstGeom>
          <a:solidFill>
            <a:srgbClr val="014A65"/>
          </a:solidFill>
          <a:ln w="31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bg1"/>
                </a:solidFill>
              </a:rPr>
              <a:t>ID PPU ou ID VOR</a:t>
            </a:r>
          </a:p>
          <a:p>
            <a:pPr algn="ctr"/>
            <a:r>
              <a:rPr lang="pt-BR" sz="1100" dirty="0">
                <a:solidFill>
                  <a:schemeClr val="bg1"/>
                </a:solidFill>
              </a:rPr>
              <a:t>Registro no HUB</a:t>
            </a:r>
          </a:p>
        </p:txBody>
      </p:sp>
      <p:sp>
        <p:nvSpPr>
          <p:cNvPr id="21" name="Retângulo 20">
            <a:extLst>
              <a:ext uri="{FF2B5EF4-FFF2-40B4-BE49-F238E27FC236}">
                <a16:creationId xmlns:a16="http://schemas.microsoft.com/office/drawing/2014/main" id="{E708267A-6FDD-0B79-9201-3F49C1A05F71}"/>
              </a:ext>
            </a:extLst>
          </p:cNvPr>
          <p:cNvSpPr/>
          <p:nvPr/>
        </p:nvSpPr>
        <p:spPr>
          <a:xfrm>
            <a:off x="7133439" y="2627597"/>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FLUIG’s</a:t>
            </a:r>
            <a:r>
              <a:rPr lang="pt-BR" sz="1100" b="1" dirty="0">
                <a:solidFill>
                  <a:schemeClr val="tx1"/>
                </a:solidFill>
              </a:rPr>
              <a:t> PC</a:t>
            </a:r>
          </a:p>
          <a:p>
            <a:pPr algn="ctr"/>
            <a:r>
              <a:rPr lang="pt-BR" sz="1100" dirty="0">
                <a:solidFill>
                  <a:schemeClr val="tx1"/>
                </a:solidFill>
              </a:rPr>
              <a:t>Aprovações dos </a:t>
            </a:r>
            <a:r>
              <a:rPr lang="pt-BR" sz="1100" dirty="0" err="1">
                <a:solidFill>
                  <a:schemeClr val="tx1"/>
                </a:solidFill>
              </a:rPr>
              <a:t>PC’s</a:t>
            </a:r>
            <a:endParaRPr lang="pt-BR" sz="1100" dirty="0">
              <a:solidFill>
                <a:schemeClr val="tx1"/>
              </a:solidFill>
            </a:endParaRPr>
          </a:p>
        </p:txBody>
      </p:sp>
      <p:sp>
        <p:nvSpPr>
          <p:cNvPr id="20" name="Retângulo 19">
            <a:extLst>
              <a:ext uri="{FF2B5EF4-FFF2-40B4-BE49-F238E27FC236}">
                <a16:creationId xmlns:a16="http://schemas.microsoft.com/office/drawing/2014/main" id="{9E447E19-6DE6-4419-433A-87166C3E122B}"/>
              </a:ext>
            </a:extLst>
          </p:cNvPr>
          <p:cNvSpPr/>
          <p:nvPr/>
        </p:nvSpPr>
        <p:spPr>
          <a:xfrm>
            <a:off x="7106687" y="2604032"/>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FLUIG’s</a:t>
            </a:r>
            <a:r>
              <a:rPr lang="pt-BR" sz="1100" b="1" dirty="0">
                <a:solidFill>
                  <a:schemeClr val="tx1"/>
                </a:solidFill>
              </a:rPr>
              <a:t> PC</a:t>
            </a:r>
          </a:p>
          <a:p>
            <a:pPr algn="ctr"/>
            <a:r>
              <a:rPr lang="pt-BR" sz="1100" dirty="0">
                <a:solidFill>
                  <a:schemeClr val="tx1"/>
                </a:solidFill>
              </a:rPr>
              <a:t>Aprovações dos </a:t>
            </a:r>
            <a:r>
              <a:rPr lang="pt-BR" sz="1100" dirty="0" err="1">
                <a:solidFill>
                  <a:schemeClr val="tx1"/>
                </a:solidFill>
              </a:rPr>
              <a:t>PC’s</a:t>
            </a:r>
            <a:endParaRPr lang="pt-BR" sz="1100" dirty="0">
              <a:solidFill>
                <a:schemeClr val="tx1"/>
              </a:solidFill>
            </a:endParaRPr>
          </a:p>
        </p:txBody>
      </p:sp>
      <p:sp>
        <p:nvSpPr>
          <p:cNvPr id="14" name="Retângulo 13">
            <a:extLst>
              <a:ext uri="{FF2B5EF4-FFF2-40B4-BE49-F238E27FC236}">
                <a16:creationId xmlns:a16="http://schemas.microsoft.com/office/drawing/2014/main" id="{0FF6987A-FDD3-74DF-6573-9E94F281E0E1}"/>
              </a:ext>
            </a:extLst>
          </p:cNvPr>
          <p:cNvSpPr/>
          <p:nvPr/>
        </p:nvSpPr>
        <p:spPr>
          <a:xfrm>
            <a:off x="9477171" y="3661292"/>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NF’s</a:t>
            </a:r>
            <a:endParaRPr lang="pt-BR" sz="1100" b="1" dirty="0">
              <a:solidFill>
                <a:schemeClr val="tx1"/>
              </a:solidFill>
            </a:endParaRPr>
          </a:p>
          <a:p>
            <a:pPr algn="ctr"/>
            <a:r>
              <a:rPr lang="pt-BR" sz="1100" dirty="0">
                <a:solidFill>
                  <a:schemeClr val="tx1"/>
                </a:solidFill>
              </a:rPr>
              <a:t>Notas Fiscais</a:t>
            </a:r>
          </a:p>
        </p:txBody>
      </p:sp>
      <p:sp>
        <p:nvSpPr>
          <p:cNvPr id="13" name="Retângulo 12">
            <a:extLst>
              <a:ext uri="{FF2B5EF4-FFF2-40B4-BE49-F238E27FC236}">
                <a16:creationId xmlns:a16="http://schemas.microsoft.com/office/drawing/2014/main" id="{7076B173-FF71-FBF1-E712-52EFD1988FB5}"/>
              </a:ext>
            </a:extLst>
          </p:cNvPr>
          <p:cNvSpPr/>
          <p:nvPr/>
        </p:nvSpPr>
        <p:spPr>
          <a:xfrm>
            <a:off x="9445859" y="3629160"/>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NF’s</a:t>
            </a:r>
            <a:endParaRPr lang="pt-BR" sz="1100" b="1" dirty="0">
              <a:solidFill>
                <a:schemeClr val="tx1"/>
              </a:solidFill>
            </a:endParaRPr>
          </a:p>
          <a:p>
            <a:pPr algn="ctr"/>
            <a:r>
              <a:rPr lang="pt-BR" sz="1100" dirty="0">
                <a:solidFill>
                  <a:schemeClr val="tx1"/>
                </a:solidFill>
              </a:rPr>
              <a:t>Notas Fiscais</a:t>
            </a:r>
          </a:p>
        </p:txBody>
      </p:sp>
      <p:sp>
        <p:nvSpPr>
          <p:cNvPr id="10" name="Retângulo 9">
            <a:extLst>
              <a:ext uri="{FF2B5EF4-FFF2-40B4-BE49-F238E27FC236}">
                <a16:creationId xmlns:a16="http://schemas.microsoft.com/office/drawing/2014/main" id="{225BBEE0-80D2-CBC5-00BB-0D2285D58EE2}"/>
              </a:ext>
            </a:extLst>
          </p:cNvPr>
          <p:cNvSpPr/>
          <p:nvPr/>
        </p:nvSpPr>
        <p:spPr>
          <a:xfrm>
            <a:off x="7131058" y="3645575"/>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PC</a:t>
            </a:r>
          </a:p>
          <a:p>
            <a:pPr algn="ctr"/>
            <a:r>
              <a:rPr lang="pt-BR" sz="1100" dirty="0">
                <a:solidFill>
                  <a:schemeClr val="tx1"/>
                </a:solidFill>
              </a:rPr>
              <a:t>Pedido de Compras</a:t>
            </a:r>
          </a:p>
        </p:txBody>
      </p:sp>
      <p:sp>
        <p:nvSpPr>
          <p:cNvPr id="6" name="Retângulo 5">
            <a:extLst>
              <a:ext uri="{FF2B5EF4-FFF2-40B4-BE49-F238E27FC236}">
                <a16:creationId xmlns:a16="http://schemas.microsoft.com/office/drawing/2014/main" id="{0DD46D35-A5BA-5E0E-A5A6-3096FBDA332D}"/>
              </a:ext>
            </a:extLst>
          </p:cNvPr>
          <p:cNvSpPr/>
          <p:nvPr/>
        </p:nvSpPr>
        <p:spPr>
          <a:xfrm>
            <a:off x="7107022" y="3621302"/>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PC</a:t>
            </a:r>
          </a:p>
          <a:p>
            <a:pPr algn="ctr"/>
            <a:r>
              <a:rPr lang="pt-BR" sz="1100" dirty="0">
                <a:solidFill>
                  <a:schemeClr val="tx1"/>
                </a:solidFill>
              </a:rPr>
              <a:t>Pedido de Compras</a:t>
            </a:r>
          </a:p>
        </p:txBody>
      </p:sp>
      <p:sp>
        <p:nvSpPr>
          <p:cNvPr id="12" name="Retângulo 11">
            <a:extLst>
              <a:ext uri="{FF2B5EF4-FFF2-40B4-BE49-F238E27FC236}">
                <a16:creationId xmlns:a16="http://schemas.microsoft.com/office/drawing/2014/main" id="{7AAEAE81-5E80-C6C1-FF9C-F0096EE17A40}"/>
              </a:ext>
            </a:extLst>
          </p:cNvPr>
          <p:cNvSpPr/>
          <p:nvPr/>
        </p:nvSpPr>
        <p:spPr>
          <a:xfrm>
            <a:off x="1720910" y="3598615"/>
            <a:ext cx="1404000"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ID Serviço</a:t>
            </a:r>
          </a:p>
          <a:p>
            <a:pPr algn="ctr"/>
            <a:r>
              <a:rPr lang="pt-BR" sz="1100" dirty="0">
                <a:solidFill>
                  <a:schemeClr val="tx1"/>
                </a:solidFill>
              </a:rPr>
              <a:t>Registro no HUB</a:t>
            </a:r>
          </a:p>
        </p:txBody>
      </p:sp>
      <p:sp>
        <p:nvSpPr>
          <p:cNvPr id="8" name="Retângulo 7">
            <a:extLst>
              <a:ext uri="{FF2B5EF4-FFF2-40B4-BE49-F238E27FC236}">
                <a16:creationId xmlns:a16="http://schemas.microsoft.com/office/drawing/2014/main" id="{4F002357-3718-3092-3539-FCBD09219979}"/>
              </a:ext>
            </a:extLst>
          </p:cNvPr>
          <p:cNvSpPr/>
          <p:nvPr/>
        </p:nvSpPr>
        <p:spPr>
          <a:xfrm>
            <a:off x="7082986" y="3597028"/>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err="1">
                <a:solidFill>
                  <a:schemeClr val="tx1"/>
                </a:solidFill>
              </a:rPr>
              <a:t>PC’s</a:t>
            </a:r>
            <a:endParaRPr lang="pt-BR" sz="1100" b="1" dirty="0">
              <a:solidFill>
                <a:schemeClr val="tx1"/>
              </a:solidFill>
            </a:endParaRPr>
          </a:p>
          <a:p>
            <a:pPr algn="ctr"/>
            <a:r>
              <a:rPr lang="pt-BR" sz="1100" dirty="0">
                <a:solidFill>
                  <a:schemeClr val="tx1"/>
                </a:solidFill>
              </a:rPr>
              <a:t>Pedidos de Compras</a:t>
            </a:r>
          </a:p>
        </p:txBody>
      </p:sp>
      <p:sp>
        <p:nvSpPr>
          <p:cNvPr id="81" name="CaixaDeTexto 80">
            <a:extLst>
              <a:ext uri="{FF2B5EF4-FFF2-40B4-BE49-F238E27FC236}">
                <a16:creationId xmlns:a16="http://schemas.microsoft.com/office/drawing/2014/main" id="{F76FB432-A70F-10F7-B19E-5CC35C26803A}"/>
              </a:ext>
            </a:extLst>
          </p:cNvPr>
          <p:cNvSpPr txBox="1"/>
          <p:nvPr/>
        </p:nvSpPr>
        <p:spPr>
          <a:xfrm>
            <a:off x="6766947" y="4967094"/>
            <a:ext cx="1635390" cy="600164"/>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0"/>
            </a:lvl1pPr>
          </a:lstStyle>
          <a:p>
            <a:r>
              <a:rPr lang="pt-BR" b="1" dirty="0"/>
              <a:t>Valor empenhado </a:t>
            </a:r>
            <a:r>
              <a:rPr lang="pt-BR" dirty="0"/>
              <a:t>de acordo com os pedidos de compra aprovados</a:t>
            </a:r>
          </a:p>
        </p:txBody>
      </p:sp>
      <p:sp>
        <p:nvSpPr>
          <p:cNvPr id="83" name="Retângulo 82">
            <a:extLst>
              <a:ext uri="{FF2B5EF4-FFF2-40B4-BE49-F238E27FC236}">
                <a16:creationId xmlns:a16="http://schemas.microsoft.com/office/drawing/2014/main" id="{2F128C85-7F55-BF39-BD1A-42AF077C8F8A}"/>
              </a:ext>
            </a:extLst>
          </p:cNvPr>
          <p:cNvSpPr/>
          <p:nvPr/>
        </p:nvSpPr>
        <p:spPr>
          <a:xfrm>
            <a:off x="6744134" y="2511902"/>
            <a:ext cx="1681016" cy="2314777"/>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84" name="Conector reto 83">
            <a:extLst>
              <a:ext uri="{FF2B5EF4-FFF2-40B4-BE49-F238E27FC236}">
                <a16:creationId xmlns:a16="http://schemas.microsoft.com/office/drawing/2014/main" id="{557EBEA0-ED1E-DFC3-E0CA-33774132A4E4}"/>
              </a:ext>
            </a:extLst>
          </p:cNvPr>
          <p:cNvCxnSpPr>
            <a:cxnSpLocks/>
            <a:stCxn id="83" idx="2"/>
            <a:endCxn id="81" idx="0"/>
          </p:cNvCxnSpPr>
          <p:nvPr/>
        </p:nvCxnSpPr>
        <p:spPr>
          <a:xfrm>
            <a:off x="7584642" y="4826679"/>
            <a:ext cx="0" cy="140415"/>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9" name="Retângulo 8">
            <a:extLst>
              <a:ext uri="{FF2B5EF4-FFF2-40B4-BE49-F238E27FC236}">
                <a16:creationId xmlns:a16="http://schemas.microsoft.com/office/drawing/2014/main" id="{385EF405-1C90-EB06-9CB6-DB53CA048AE6}"/>
              </a:ext>
            </a:extLst>
          </p:cNvPr>
          <p:cNvSpPr/>
          <p:nvPr/>
        </p:nvSpPr>
        <p:spPr>
          <a:xfrm>
            <a:off x="9414547" y="3597028"/>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NF’s</a:t>
            </a:r>
            <a:endParaRPr lang="pt-BR" sz="1100" b="1" dirty="0">
              <a:solidFill>
                <a:schemeClr val="tx1"/>
              </a:solidFill>
            </a:endParaRPr>
          </a:p>
          <a:p>
            <a:pPr algn="ctr"/>
            <a:r>
              <a:rPr lang="pt-BR" sz="1100" dirty="0">
                <a:solidFill>
                  <a:schemeClr val="tx1"/>
                </a:solidFill>
              </a:rPr>
              <a:t>Notas Fiscais</a:t>
            </a:r>
          </a:p>
        </p:txBody>
      </p:sp>
      <p:sp>
        <p:nvSpPr>
          <p:cNvPr id="87" name="CaixaDeTexto 86">
            <a:extLst>
              <a:ext uri="{FF2B5EF4-FFF2-40B4-BE49-F238E27FC236}">
                <a16:creationId xmlns:a16="http://schemas.microsoft.com/office/drawing/2014/main" id="{6892C045-F2AF-B98A-12F2-2DC823E527C0}"/>
              </a:ext>
            </a:extLst>
          </p:cNvPr>
          <p:cNvSpPr txBox="1"/>
          <p:nvPr/>
        </p:nvSpPr>
        <p:spPr>
          <a:xfrm>
            <a:off x="9245861" y="4684125"/>
            <a:ext cx="1351562" cy="938719"/>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0"/>
            </a:lvl1pPr>
          </a:lstStyle>
          <a:p>
            <a:r>
              <a:rPr lang="pt-BR" b="1" dirty="0"/>
              <a:t>Valor contabilizado </a:t>
            </a:r>
            <a:r>
              <a:rPr lang="pt-BR" dirty="0"/>
              <a:t>das notas fiscais conforme os Pedidos de Compra aprovados</a:t>
            </a:r>
          </a:p>
        </p:txBody>
      </p:sp>
      <p:cxnSp>
        <p:nvCxnSpPr>
          <p:cNvPr id="88" name="Conector reto 87">
            <a:extLst>
              <a:ext uri="{FF2B5EF4-FFF2-40B4-BE49-F238E27FC236}">
                <a16:creationId xmlns:a16="http://schemas.microsoft.com/office/drawing/2014/main" id="{A5DE6CA8-B87E-EEB8-8BE1-E01D69391AF3}"/>
              </a:ext>
            </a:extLst>
          </p:cNvPr>
          <p:cNvCxnSpPr>
            <a:cxnSpLocks/>
            <a:stCxn id="90" idx="2"/>
            <a:endCxn id="87" idx="0"/>
          </p:cNvCxnSpPr>
          <p:nvPr/>
        </p:nvCxnSpPr>
        <p:spPr>
          <a:xfrm>
            <a:off x="9921642" y="4282101"/>
            <a:ext cx="0" cy="402024"/>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90" name="Retângulo 89">
            <a:extLst>
              <a:ext uri="{FF2B5EF4-FFF2-40B4-BE49-F238E27FC236}">
                <a16:creationId xmlns:a16="http://schemas.microsoft.com/office/drawing/2014/main" id="{7FC974FA-5ED5-7F2B-207A-5F8B8F111570}"/>
              </a:ext>
            </a:extLst>
          </p:cNvPr>
          <p:cNvSpPr/>
          <p:nvPr/>
        </p:nvSpPr>
        <p:spPr>
          <a:xfrm>
            <a:off x="9347564" y="3453012"/>
            <a:ext cx="1148156" cy="829089"/>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Retângulo 21">
            <a:extLst>
              <a:ext uri="{FF2B5EF4-FFF2-40B4-BE49-F238E27FC236}">
                <a16:creationId xmlns:a16="http://schemas.microsoft.com/office/drawing/2014/main" id="{3E6D7215-5C20-FB02-C7B3-9AB213CB5B73}"/>
              </a:ext>
            </a:extLst>
          </p:cNvPr>
          <p:cNvSpPr/>
          <p:nvPr/>
        </p:nvSpPr>
        <p:spPr>
          <a:xfrm>
            <a:off x="4406886" y="3632718"/>
            <a:ext cx="1404000" cy="576064"/>
          </a:xfrm>
          <a:prstGeom prst="rect">
            <a:avLst/>
          </a:prstGeom>
          <a:solidFill>
            <a:srgbClr val="014A65"/>
          </a:solidFill>
          <a:ln w="31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bg1"/>
                </a:solidFill>
              </a:rPr>
              <a:t>ID PPU ou ID VOR</a:t>
            </a:r>
          </a:p>
          <a:p>
            <a:pPr algn="ctr"/>
            <a:r>
              <a:rPr lang="pt-BR" sz="1100" dirty="0">
                <a:solidFill>
                  <a:schemeClr val="bg1"/>
                </a:solidFill>
              </a:rPr>
              <a:t>Registro no HUB</a:t>
            </a:r>
          </a:p>
        </p:txBody>
      </p:sp>
      <p:sp>
        <p:nvSpPr>
          <p:cNvPr id="7" name="Retângulo 6">
            <a:extLst>
              <a:ext uri="{FF2B5EF4-FFF2-40B4-BE49-F238E27FC236}">
                <a16:creationId xmlns:a16="http://schemas.microsoft.com/office/drawing/2014/main" id="{107222A4-2CB3-198A-692C-E6E2902FCBBC}"/>
              </a:ext>
            </a:extLst>
          </p:cNvPr>
          <p:cNvSpPr/>
          <p:nvPr/>
        </p:nvSpPr>
        <p:spPr>
          <a:xfrm>
            <a:off x="4372327" y="3598615"/>
            <a:ext cx="1404000" cy="576064"/>
          </a:xfrm>
          <a:prstGeom prst="rect">
            <a:avLst/>
          </a:prstGeom>
          <a:solidFill>
            <a:srgbClr val="014A65"/>
          </a:solidFill>
          <a:ln w="3175">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bg1"/>
                </a:solidFill>
              </a:rPr>
              <a:t>ID PPU ou ID VOR</a:t>
            </a:r>
          </a:p>
          <a:p>
            <a:pPr algn="ctr"/>
            <a:r>
              <a:rPr lang="pt-BR" sz="1100" dirty="0">
                <a:solidFill>
                  <a:schemeClr val="bg1"/>
                </a:solidFill>
              </a:rPr>
              <a:t>Registro no HUB</a:t>
            </a:r>
          </a:p>
        </p:txBody>
      </p:sp>
      <p:sp>
        <p:nvSpPr>
          <p:cNvPr id="71" name="CaixaDeTexto 70">
            <a:extLst>
              <a:ext uri="{FF2B5EF4-FFF2-40B4-BE49-F238E27FC236}">
                <a16:creationId xmlns:a16="http://schemas.microsoft.com/office/drawing/2014/main" id="{99D7B3BA-2EF1-D4DA-C3C0-B747D989FE92}"/>
              </a:ext>
            </a:extLst>
          </p:cNvPr>
          <p:cNvSpPr txBox="1"/>
          <p:nvPr/>
        </p:nvSpPr>
        <p:spPr>
          <a:xfrm>
            <a:off x="4333499" y="4684125"/>
            <a:ext cx="1486718" cy="600164"/>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0"/>
            </a:lvl1pPr>
          </a:lstStyle>
          <a:p>
            <a:r>
              <a:rPr lang="pt-BR" b="1" dirty="0"/>
              <a:t>Valor Cotado </a:t>
            </a:r>
          </a:p>
          <a:p>
            <a:r>
              <a:rPr lang="pt-BR" dirty="0"/>
              <a:t>dos serviços registrados no HUB</a:t>
            </a:r>
          </a:p>
        </p:txBody>
      </p:sp>
      <p:sp>
        <p:nvSpPr>
          <p:cNvPr id="73" name="Retângulo 72">
            <a:extLst>
              <a:ext uri="{FF2B5EF4-FFF2-40B4-BE49-F238E27FC236}">
                <a16:creationId xmlns:a16="http://schemas.microsoft.com/office/drawing/2014/main" id="{20F4ED35-1599-B72E-8245-308ABE03641B}"/>
              </a:ext>
            </a:extLst>
          </p:cNvPr>
          <p:cNvSpPr/>
          <p:nvPr/>
        </p:nvSpPr>
        <p:spPr>
          <a:xfrm>
            <a:off x="4236350" y="1988840"/>
            <a:ext cx="1681016" cy="2314777"/>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76" name="Conector reto 75">
            <a:extLst>
              <a:ext uri="{FF2B5EF4-FFF2-40B4-BE49-F238E27FC236}">
                <a16:creationId xmlns:a16="http://schemas.microsoft.com/office/drawing/2014/main" id="{23F56DBE-288C-9EDF-D295-A40F51812D36}"/>
              </a:ext>
            </a:extLst>
          </p:cNvPr>
          <p:cNvCxnSpPr>
            <a:cxnSpLocks/>
            <a:stCxn id="73" idx="2"/>
            <a:endCxn id="71" idx="0"/>
          </p:cNvCxnSpPr>
          <p:nvPr/>
        </p:nvCxnSpPr>
        <p:spPr>
          <a:xfrm>
            <a:off x="5076858" y="4303617"/>
            <a:ext cx="0" cy="380508"/>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grpSp>
        <p:nvGrpSpPr>
          <p:cNvPr id="115" name="Agrupar 114">
            <a:extLst>
              <a:ext uri="{FF2B5EF4-FFF2-40B4-BE49-F238E27FC236}">
                <a16:creationId xmlns:a16="http://schemas.microsoft.com/office/drawing/2014/main" id="{6F630032-4F55-5130-D6E3-FCEA7C3C304C}"/>
              </a:ext>
            </a:extLst>
          </p:cNvPr>
          <p:cNvGrpSpPr/>
          <p:nvPr/>
        </p:nvGrpSpPr>
        <p:grpSpPr>
          <a:xfrm>
            <a:off x="8102071" y="3739828"/>
            <a:ext cx="1224000" cy="290464"/>
            <a:chOff x="9284458" y="2394644"/>
            <a:chExt cx="574577" cy="290464"/>
          </a:xfrm>
        </p:grpSpPr>
        <p:cxnSp>
          <p:nvCxnSpPr>
            <p:cNvPr id="106" name="Conector de Seta Reta 105">
              <a:extLst>
                <a:ext uri="{FF2B5EF4-FFF2-40B4-BE49-F238E27FC236}">
                  <a16:creationId xmlns:a16="http://schemas.microsoft.com/office/drawing/2014/main" id="{F45DA22C-F4FD-5BDF-70CB-488C978FEB4B}"/>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ector de Seta Reta 106">
              <a:extLst>
                <a:ext uri="{FF2B5EF4-FFF2-40B4-BE49-F238E27FC236}">
                  <a16:creationId xmlns:a16="http://schemas.microsoft.com/office/drawing/2014/main" id="{C0B9C68E-F11C-8B2C-8071-62C2563F9611}"/>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1" name="Agrupar 120">
            <a:extLst>
              <a:ext uri="{FF2B5EF4-FFF2-40B4-BE49-F238E27FC236}">
                <a16:creationId xmlns:a16="http://schemas.microsoft.com/office/drawing/2014/main" id="{CE359542-5147-5F6C-8E24-0B90114779BF}"/>
              </a:ext>
            </a:extLst>
          </p:cNvPr>
          <p:cNvGrpSpPr/>
          <p:nvPr/>
        </p:nvGrpSpPr>
        <p:grpSpPr>
          <a:xfrm>
            <a:off x="5845941" y="3739828"/>
            <a:ext cx="1224000" cy="290464"/>
            <a:chOff x="9284458" y="2394644"/>
            <a:chExt cx="574577" cy="290464"/>
          </a:xfrm>
        </p:grpSpPr>
        <p:cxnSp>
          <p:nvCxnSpPr>
            <p:cNvPr id="122" name="Conector de Seta Reta 121">
              <a:extLst>
                <a:ext uri="{FF2B5EF4-FFF2-40B4-BE49-F238E27FC236}">
                  <a16:creationId xmlns:a16="http://schemas.microsoft.com/office/drawing/2014/main" id="{D82244B8-8A36-FD04-AF39-C85CD31F9429}"/>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Conector de Seta Reta 122">
              <a:extLst>
                <a:ext uri="{FF2B5EF4-FFF2-40B4-BE49-F238E27FC236}">
                  <a16:creationId xmlns:a16="http://schemas.microsoft.com/office/drawing/2014/main" id="{A0694636-58C5-187E-A4FD-75DADC570EF0}"/>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5" name="Agrupar 124">
            <a:extLst>
              <a:ext uri="{FF2B5EF4-FFF2-40B4-BE49-F238E27FC236}">
                <a16:creationId xmlns:a16="http://schemas.microsoft.com/office/drawing/2014/main" id="{202538F5-D298-94F0-9788-8E2C487C43AD}"/>
              </a:ext>
            </a:extLst>
          </p:cNvPr>
          <p:cNvGrpSpPr/>
          <p:nvPr/>
        </p:nvGrpSpPr>
        <p:grpSpPr>
          <a:xfrm>
            <a:off x="3144520" y="3739828"/>
            <a:ext cx="1224000" cy="290464"/>
            <a:chOff x="9284458" y="2394644"/>
            <a:chExt cx="574577" cy="290464"/>
          </a:xfrm>
        </p:grpSpPr>
        <p:cxnSp>
          <p:nvCxnSpPr>
            <p:cNvPr id="126" name="Conector de Seta Reta 125">
              <a:extLst>
                <a:ext uri="{FF2B5EF4-FFF2-40B4-BE49-F238E27FC236}">
                  <a16:creationId xmlns:a16="http://schemas.microsoft.com/office/drawing/2014/main" id="{BC9C6B0D-B542-20EA-D523-02E2654C2850}"/>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Conector de Seta Reta 126">
              <a:extLst>
                <a:ext uri="{FF2B5EF4-FFF2-40B4-BE49-F238E27FC236}">
                  <a16:creationId xmlns:a16="http://schemas.microsoft.com/office/drawing/2014/main" id="{2626E794-D7E2-119E-8958-345434614962}"/>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30" name="Conector de Seta Reta 129">
            <a:extLst>
              <a:ext uri="{FF2B5EF4-FFF2-40B4-BE49-F238E27FC236}">
                <a16:creationId xmlns:a16="http://schemas.microsoft.com/office/drawing/2014/main" id="{0B33BA4C-6633-7BFB-DA8C-418D553E0A37}"/>
              </a:ext>
            </a:extLst>
          </p:cNvPr>
          <p:cNvCxnSpPr>
            <a:cxnSpLocks/>
            <a:stCxn id="4" idx="2"/>
            <a:endCxn id="7" idx="0"/>
          </p:cNvCxnSpPr>
          <p:nvPr/>
        </p:nvCxnSpPr>
        <p:spPr>
          <a:xfrm>
            <a:off x="5074327" y="3216949"/>
            <a:ext cx="0" cy="381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6" name="CaixaDeTexto 135">
            <a:extLst>
              <a:ext uri="{FF2B5EF4-FFF2-40B4-BE49-F238E27FC236}">
                <a16:creationId xmlns:a16="http://schemas.microsoft.com/office/drawing/2014/main" id="{7C0BB6A3-2751-7243-9DC5-00C3A8B533CA}"/>
              </a:ext>
            </a:extLst>
          </p:cNvPr>
          <p:cNvSpPr txBox="1"/>
          <p:nvPr/>
        </p:nvSpPr>
        <p:spPr>
          <a:xfrm>
            <a:off x="1759305" y="4684125"/>
            <a:ext cx="1351562" cy="600164"/>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0"/>
            </a:lvl1pPr>
          </a:lstStyle>
          <a:p>
            <a:r>
              <a:rPr lang="pt-BR" b="1" dirty="0"/>
              <a:t>Valor estimado </a:t>
            </a:r>
            <a:r>
              <a:rPr lang="pt-BR" dirty="0"/>
              <a:t>registrado manualmente</a:t>
            </a:r>
          </a:p>
        </p:txBody>
      </p:sp>
      <p:sp>
        <p:nvSpPr>
          <p:cNvPr id="137" name="Retângulo 136">
            <a:extLst>
              <a:ext uri="{FF2B5EF4-FFF2-40B4-BE49-F238E27FC236}">
                <a16:creationId xmlns:a16="http://schemas.microsoft.com/office/drawing/2014/main" id="{690BE8FF-2C7D-BD00-285E-C4382911D7F3}"/>
              </a:ext>
            </a:extLst>
          </p:cNvPr>
          <p:cNvSpPr/>
          <p:nvPr/>
        </p:nvSpPr>
        <p:spPr>
          <a:xfrm>
            <a:off x="1594578" y="2511902"/>
            <a:ext cx="1681016" cy="1791715"/>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40" name="Conector reto 139">
            <a:extLst>
              <a:ext uri="{FF2B5EF4-FFF2-40B4-BE49-F238E27FC236}">
                <a16:creationId xmlns:a16="http://schemas.microsoft.com/office/drawing/2014/main" id="{2AB76802-99B5-C1BB-97C0-7B327F978A1C}"/>
              </a:ext>
            </a:extLst>
          </p:cNvPr>
          <p:cNvCxnSpPr>
            <a:cxnSpLocks/>
            <a:stCxn id="137" idx="2"/>
            <a:endCxn id="136" idx="0"/>
          </p:cNvCxnSpPr>
          <p:nvPr/>
        </p:nvCxnSpPr>
        <p:spPr>
          <a:xfrm>
            <a:off x="2435086" y="4303617"/>
            <a:ext cx="0" cy="380508"/>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4" name="Retângulo 3">
            <a:extLst>
              <a:ext uri="{FF2B5EF4-FFF2-40B4-BE49-F238E27FC236}">
                <a16:creationId xmlns:a16="http://schemas.microsoft.com/office/drawing/2014/main" id="{39A0F334-619E-EE00-D2B0-53DCA4EBE78C}"/>
              </a:ext>
            </a:extLst>
          </p:cNvPr>
          <p:cNvSpPr/>
          <p:nvPr/>
        </p:nvSpPr>
        <p:spPr>
          <a:xfrm>
            <a:off x="4372327" y="2640885"/>
            <a:ext cx="1404000"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err="1">
                <a:solidFill>
                  <a:schemeClr val="tx1"/>
                </a:solidFill>
              </a:rPr>
              <a:t>PPU’s</a:t>
            </a:r>
            <a:r>
              <a:rPr lang="pt-BR" sz="1100" b="1" dirty="0">
                <a:solidFill>
                  <a:schemeClr val="tx1"/>
                </a:solidFill>
              </a:rPr>
              <a:t> e </a:t>
            </a:r>
            <a:r>
              <a:rPr lang="pt-BR" sz="1100" b="1" dirty="0" err="1">
                <a:solidFill>
                  <a:schemeClr val="tx1"/>
                </a:solidFill>
              </a:rPr>
              <a:t>VOR’s</a:t>
            </a:r>
            <a:endParaRPr lang="pt-BR" sz="1100" b="1" dirty="0">
              <a:solidFill>
                <a:schemeClr val="tx1"/>
              </a:solidFill>
            </a:endParaRPr>
          </a:p>
        </p:txBody>
      </p:sp>
      <p:sp>
        <p:nvSpPr>
          <p:cNvPr id="2" name="CaixaDeTexto 1">
            <a:extLst>
              <a:ext uri="{FF2B5EF4-FFF2-40B4-BE49-F238E27FC236}">
                <a16:creationId xmlns:a16="http://schemas.microsoft.com/office/drawing/2014/main" id="{4647946E-86B6-75E0-16B6-4EE508B0D0CC}"/>
              </a:ext>
            </a:extLst>
          </p:cNvPr>
          <p:cNvSpPr txBox="1"/>
          <p:nvPr/>
        </p:nvSpPr>
        <p:spPr>
          <a:xfrm>
            <a:off x="5433673" y="1196752"/>
            <a:ext cx="1486718" cy="600164"/>
          </a:xfrm>
          <a:prstGeom prst="rect">
            <a:avLst/>
          </a:prstGeom>
          <a:solidFill>
            <a:schemeClr val="bg1">
              <a:lumMod val="95000"/>
            </a:schemeClr>
          </a:solidFill>
          <a:ln>
            <a:solidFill>
              <a:srgbClr val="014A65"/>
            </a:solidFill>
            <a:prstDash val="dash"/>
          </a:ln>
        </p:spPr>
        <p:txBody>
          <a:bodyPr wrap="square" rtlCol="0">
            <a:spAutoFit/>
          </a:bodyPr>
          <a:lstStyle>
            <a:defPPr>
              <a:defRPr lang="pt-BR"/>
            </a:defPPr>
            <a:lvl1pPr algn="ctr">
              <a:defRPr sz="1100" b="0"/>
            </a:lvl1pPr>
          </a:lstStyle>
          <a:p>
            <a:r>
              <a:rPr lang="pt-BR" dirty="0"/>
              <a:t>Chave primária utilizada para integração dos dados</a:t>
            </a:r>
          </a:p>
        </p:txBody>
      </p:sp>
      <p:cxnSp>
        <p:nvCxnSpPr>
          <p:cNvPr id="3" name="Conector: Angulado 2">
            <a:extLst>
              <a:ext uri="{FF2B5EF4-FFF2-40B4-BE49-F238E27FC236}">
                <a16:creationId xmlns:a16="http://schemas.microsoft.com/office/drawing/2014/main" id="{42F9CA8B-E46F-D12C-72CF-98840F27CC41}"/>
              </a:ext>
            </a:extLst>
          </p:cNvPr>
          <p:cNvCxnSpPr>
            <a:cxnSpLocks/>
            <a:stCxn id="73" idx="0"/>
            <a:endCxn id="2" idx="1"/>
          </p:cNvCxnSpPr>
          <p:nvPr/>
        </p:nvCxnSpPr>
        <p:spPr>
          <a:xfrm rot="5400000" flipH="1" flipV="1">
            <a:off x="5009262" y="1564430"/>
            <a:ext cx="492006" cy="356815"/>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17" name="Retângulo 16">
            <a:extLst>
              <a:ext uri="{FF2B5EF4-FFF2-40B4-BE49-F238E27FC236}">
                <a16:creationId xmlns:a16="http://schemas.microsoft.com/office/drawing/2014/main" id="{2DF24E01-CF5A-7F0F-EE6E-D159693E0099}"/>
              </a:ext>
            </a:extLst>
          </p:cNvPr>
          <p:cNvSpPr/>
          <p:nvPr/>
        </p:nvSpPr>
        <p:spPr>
          <a:xfrm>
            <a:off x="7079935" y="2580467"/>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err="1">
                <a:solidFill>
                  <a:schemeClr val="tx1"/>
                </a:solidFill>
              </a:rPr>
              <a:t>FLUIG’s</a:t>
            </a:r>
            <a:r>
              <a:rPr lang="pt-BR" sz="1100" b="1" dirty="0">
                <a:solidFill>
                  <a:schemeClr val="tx1"/>
                </a:solidFill>
              </a:rPr>
              <a:t> PC</a:t>
            </a:r>
          </a:p>
          <a:p>
            <a:pPr algn="ctr"/>
            <a:r>
              <a:rPr lang="pt-BR" sz="1100" dirty="0">
                <a:solidFill>
                  <a:schemeClr val="tx1"/>
                </a:solidFill>
              </a:rPr>
              <a:t>Aprovações dos </a:t>
            </a:r>
            <a:r>
              <a:rPr lang="pt-BR" sz="1100" dirty="0" err="1">
                <a:solidFill>
                  <a:schemeClr val="tx1"/>
                </a:solidFill>
              </a:rPr>
              <a:t>PC’s</a:t>
            </a:r>
            <a:endParaRPr lang="pt-BR" sz="1100" dirty="0">
              <a:solidFill>
                <a:schemeClr val="tx1"/>
              </a:solidFill>
            </a:endParaRPr>
          </a:p>
        </p:txBody>
      </p:sp>
      <p:cxnSp>
        <p:nvCxnSpPr>
          <p:cNvPr id="18" name="Conector de Seta Reta 17">
            <a:extLst>
              <a:ext uri="{FF2B5EF4-FFF2-40B4-BE49-F238E27FC236}">
                <a16:creationId xmlns:a16="http://schemas.microsoft.com/office/drawing/2014/main" id="{4984F74B-2A8C-6592-A936-EA5408972751}"/>
              </a:ext>
            </a:extLst>
          </p:cNvPr>
          <p:cNvCxnSpPr>
            <a:cxnSpLocks/>
          </p:cNvCxnSpPr>
          <p:nvPr/>
        </p:nvCxnSpPr>
        <p:spPr>
          <a:xfrm flipV="1">
            <a:off x="7403667" y="3156531"/>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9CB02C03-CAC9-7ED7-4CA8-3C8A0DBF1075}"/>
              </a:ext>
            </a:extLst>
          </p:cNvPr>
          <p:cNvCxnSpPr>
            <a:cxnSpLocks/>
          </p:cNvCxnSpPr>
          <p:nvPr/>
        </p:nvCxnSpPr>
        <p:spPr>
          <a:xfrm flipH="1">
            <a:off x="7763707" y="3156530"/>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CaixaDeTexto 26">
            <a:extLst>
              <a:ext uri="{FF2B5EF4-FFF2-40B4-BE49-F238E27FC236}">
                <a16:creationId xmlns:a16="http://schemas.microsoft.com/office/drawing/2014/main" id="{71A92D2E-3AB4-7F54-9189-A65D4AC694D1}"/>
              </a:ext>
            </a:extLst>
          </p:cNvPr>
          <p:cNvSpPr txBox="1"/>
          <p:nvPr/>
        </p:nvSpPr>
        <p:spPr>
          <a:xfrm>
            <a:off x="4344659" y="2039056"/>
            <a:ext cx="1459335" cy="553998"/>
          </a:xfrm>
          <a:prstGeom prst="rect">
            <a:avLst/>
          </a:prstGeom>
          <a:noFill/>
        </p:spPr>
        <p:txBody>
          <a:bodyPr wrap="square">
            <a:spAutoFit/>
          </a:bodyPr>
          <a:lstStyle/>
          <a:p>
            <a:pPr algn="ctr"/>
            <a:r>
              <a:rPr lang="pt-BR" sz="1000" i="1" dirty="0" err="1"/>
              <a:t>ID’s</a:t>
            </a:r>
            <a:r>
              <a:rPr lang="pt-BR" sz="1000" i="1" dirty="0"/>
              <a:t> do HUB registrados em campo exclusivo </a:t>
            </a:r>
          </a:p>
          <a:p>
            <a:pPr algn="ctr"/>
            <a:r>
              <a:rPr lang="pt-BR" sz="1000" i="1" dirty="0"/>
              <a:t>no documento</a:t>
            </a:r>
          </a:p>
        </p:txBody>
      </p:sp>
      <p:sp>
        <p:nvSpPr>
          <p:cNvPr id="29" name="Retângulo 28">
            <a:extLst>
              <a:ext uri="{FF2B5EF4-FFF2-40B4-BE49-F238E27FC236}">
                <a16:creationId xmlns:a16="http://schemas.microsoft.com/office/drawing/2014/main" id="{E1151343-49DA-8744-FB5D-810A856246C5}"/>
              </a:ext>
            </a:extLst>
          </p:cNvPr>
          <p:cNvSpPr/>
          <p:nvPr/>
        </p:nvSpPr>
        <p:spPr>
          <a:xfrm>
            <a:off x="1720910" y="2580467"/>
            <a:ext cx="1404000"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Outros Custos Estaleiro</a:t>
            </a:r>
          </a:p>
          <a:p>
            <a:pPr algn="ctr"/>
            <a:r>
              <a:rPr lang="pt-BR" sz="1100" dirty="0">
                <a:solidFill>
                  <a:schemeClr val="tx1"/>
                </a:solidFill>
              </a:rPr>
              <a:t>Registro no HUB</a:t>
            </a:r>
          </a:p>
        </p:txBody>
      </p:sp>
      <p:grpSp>
        <p:nvGrpSpPr>
          <p:cNvPr id="30" name="Agrupar 29">
            <a:extLst>
              <a:ext uri="{FF2B5EF4-FFF2-40B4-BE49-F238E27FC236}">
                <a16:creationId xmlns:a16="http://schemas.microsoft.com/office/drawing/2014/main" id="{0BBAEA66-0B04-C727-394E-963A67C19743}"/>
              </a:ext>
            </a:extLst>
          </p:cNvPr>
          <p:cNvGrpSpPr/>
          <p:nvPr/>
        </p:nvGrpSpPr>
        <p:grpSpPr>
          <a:xfrm rot="16200000">
            <a:off x="2259586" y="3225096"/>
            <a:ext cx="351000" cy="290464"/>
            <a:chOff x="9284458" y="2394644"/>
            <a:chExt cx="574577" cy="290464"/>
          </a:xfrm>
        </p:grpSpPr>
        <p:cxnSp>
          <p:nvCxnSpPr>
            <p:cNvPr id="31" name="Conector de Seta Reta 30">
              <a:extLst>
                <a:ext uri="{FF2B5EF4-FFF2-40B4-BE49-F238E27FC236}">
                  <a16:creationId xmlns:a16="http://schemas.microsoft.com/office/drawing/2014/main" id="{E9DA1253-EB78-04E5-B09E-6E4A98D15704}"/>
                </a:ext>
              </a:extLst>
            </p:cNvPr>
            <p:cNvCxnSpPr>
              <a:cxnSpLocks/>
            </p:cNvCxnSpPr>
            <p:nvPr/>
          </p:nvCxnSpPr>
          <p:spPr>
            <a:xfrm>
              <a:off x="9284458" y="2394644"/>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4701102A-E5F3-88E2-97E6-DFAE2D3497E6}"/>
                </a:ext>
              </a:extLst>
            </p:cNvPr>
            <p:cNvCxnSpPr>
              <a:cxnSpLocks/>
            </p:cNvCxnSpPr>
            <p:nvPr/>
          </p:nvCxnSpPr>
          <p:spPr>
            <a:xfrm flipH="1">
              <a:off x="9284458" y="2685108"/>
              <a:ext cx="57457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CaixaDeTexto 32">
            <a:extLst>
              <a:ext uri="{FF2B5EF4-FFF2-40B4-BE49-F238E27FC236}">
                <a16:creationId xmlns:a16="http://schemas.microsoft.com/office/drawing/2014/main" id="{15778F76-73DC-99B5-E74B-B5E7AE2D050A}"/>
              </a:ext>
            </a:extLst>
          </p:cNvPr>
          <p:cNvSpPr txBox="1"/>
          <p:nvPr/>
        </p:nvSpPr>
        <p:spPr>
          <a:xfrm>
            <a:off x="3412407" y="5911180"/>
            <a:ext cx="5815872" cy="769441"/>
          </a:xfrm>
          <a:prstGeom prst="rect">
            <a:avLst/>
          </a:prstGeom>
          <a:noFill/>
        </p:spPr>
        <p:txBody>
          <a:bodyPr wrap="square">
            <a:spAutoFit/>
          </a:bodyPr>
          <a:lstStyle/>
          <a:p>
            <a:pPr algn="ctr"/>
            <a:r>
              <a:rPr lang="pt-BR" sz="1100" b="1" i="1" dirty="0"/>
              <a:t>Premissa importante:</a:t>
            </a:r>
          </a:p>
          <a:p>
            <a:pPr algn="ctr"/>
            <a:r>
              <a:rPr lang="pt-BR" sz="1100" i="1" dirty="0"/>
              <a:t>Cada instrumento de “contrato” (</a:t>
            </a:r>
            <a:r>
              <a:rPr lang="pt-BR" sz="1100" i="1" dirty="0" err="1"/>
              <a:t>PPU’s</a:t>
            </a:r>
            <a:r>
              <a:rPr lang="pt-BR" sz="1100" i="1" dirty="0"/>
              <a:t> e </a:t>
            </a:r>
            <a:r>
              <a:rPr lang="pt-BR" sz="1100" i="1" dirty="0" err="1"/>
              <a:t>VOR’s</a:t>
            </a:r>
            <a:r>
              <a:rPr lang="pt-BR" sz="1100" i="1" dirty="0"/>
              <a:t>) deve ter um fluxo de pagamento exclusivo. Ou seja, não será permitido ao estaleiro emitir uma </a:t>
            </a:r>
            <a:r>
              <a:rPr lang="pt-BR" sz="1100" i="1" dirty="0" err="1"/>
              <a:t>invoice</a:t>
            </a:r>
            <a:r>
              <a:rPr lang="pt-BR" sz="1100" i="1" dirty="0"/>
              <a:t>/fatura consolidando dois ou mais documentos. Ex.: Fatura com o pagamento de parte da PPU e parte de uma VOR</a:t>
            </a:r>
          </a:p>
        </p:txBody>
      </p:sp>
      <p:sp>
        <p:nvSpPr>
          <p:cNvPr id="34" name="Chave Direita 33">
            <a:extLst>
              <a:ext uri="{FF2B5EF4-FFF2-40B4-BE49-F238E27FC236}">
                <a16:creationId xmlns:a16="http://schemas.microsoft.com/office/drawing/2014/main" id="{C0A01F48-902C-2947-E6BA-A8B5411E4297}"/>
              </a:ext>
            </a:extLst>
          </p:cNvPr>
          <p:cNvSpPr/>
          <p:nvPr/>
        </p:nvSpPr>
        <p:spPr>
          <a:xfrm rot="5400000">
            <a:off x="6202184" y="3890411"/>
            <a:ext cx="236319" cy="3777995"/>
          </a:xfrm>
          <a:prstGeom prst="rightBrace">
            <a:avLst>
              <a:gd name="adj1" fmla="val 6887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36" name="CaixaDeTexto 35">
            <a:extLst>
              <a:ext uri="{FF2B5EF4-FFF2-40B4-BE49-F238E27FC236}">
                <a16:creationId xmlns:a16="http://schemas.microsoft.com/office/drawing/2014/main" id="{4E323585-A522-8BAD-FE67-37F7D6F30C6D}"/>
              </a:ext>
            </a:extLst>
          </p:cNvPr>
          <p:cNvSpPr txBox="1"/>
          <p:nvPr/>
        </p:nvSpPr>
        <p:spPr>
          <a:xfrm>
            <a:off x="6871523" y="4259329"/>
            <a:ext cx="1459335" cy="553998"/>
          </a:xfrm>
          <a:prstGeom prst="rect">
            <a:avLst/>
          </a:prstGeom>
          <a:noFill/>
        </p:spPr>
        <p:txBody>
          <a:bodyPr wrap="square">
            <a:spAutoFit/>
          </a:bodyPr>
          <a:lstStyle/>
          <a:p>
            <a:pPr algn="ctr"/>
            <a:r>
              <a:rPr lang="pt-BR" sz="1000" i="1" dirty="0" err="1"/>
              <a:t>ID’s</a:t>
            </a:r>
            <a:r>
              <a:rPr lang="pt-BR" sz="1000" i="1" dirty="0"/>
              <a:t> das </a:t>
            </a:r>
            <a:r>
              <a:rPr lang="pt-BR" sz="1000" i="1" dirty="0" err="1"/>
              <a:t>PPU’s</a:t>
            </a:r>
            <a:r>
              <a:rPr lang="pt-BR" sz="1000" i="1" dirty="0"/>
              <a:t> e </a:t>
            </a:r>
            <a:r>
              <a:rPr lang="pt-BR" sz="1000" i="1" dirty="0" err="1"/>
              <a:t>VOR’s</a:t>
            </a:r>
            <a:r>
              <a:rPr lang="pt-BR" sz="1000" i="1" dirty="0"/>
              <a:t> registradas em campo exclusivo no Protheus</a:t>
            </a:r>
          </a:p>
        </p:txBody>
      </p:sp>
      <p:sp>
        <p:nvSpPr>
          <p:cNvPr id="11" name="Elipse 10">
            <a:extLst>
              <a:ext uri="{FF2B5EF4-FFF2-40B4-BE49-F238E27FC236}">
                <a16:creationId xmlns:a16="http://schemas.microsoft.com/office/drawing/2014/main" id="{2F0BC9DA-A639-29A0-8667-B0133512031E}"/>
              </a:ext>
            </a:extLst>
          </p:cNvPr>
          <p:cNvSpPr/>
          <p:nvPr/>
        </p:nvSpPr>
        <p:spPr>
          <a:xfrm>
            <a:off x="863389" y="3701445"/>
            <a:ext cx="370404" cy="370404"/>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CaixaDeTexto 14">
            <a:extLst>
              <a:ext uri="{FF2B5EF4-FFF2-40B4-BE49-F238E27FC236}">
                <a16:creationId xmlns:a16="http://schemas.microsoft.com/office/drawing/2014/main" id="{4EA89EEF-4ED1-CB13-FE2D-D4F1A07BA547}"/>
              </a:ext>
            </a:extLst>
          </p:cNvPr>
          <p:cNvSpPr txBox="1"/>
          <p:nvPr/>
        </p:nvSpPr>
        <p:spPr>
          <a:xfrm>
            <a:off x="574147" y="4179590"/>
            <a:ext cx="948889" cy="553998"/>
          </a:xfrm>
          <a:prstGeom prst="rect">
            <a:avLst/>
          </a:prstGeom>
          <a:noFill/>
        </p:spPr>
        <p:txBody>
          <a:bodyPr wrap="square">
            <a:spAutoFit/>
          </a:bodyPr>
          <a:lstStyle/>
          <a:p>
            <a:pPr algn="ctr"/>
            <a:r>
              <a:rPr lang="pt-BR" sz="1000" i="1" dirty="0"/>
              <a:t>Definição do estaleiro da Parada</a:t>
            </a:r>
          </a:p>
        </p:txBody>
      </p:sp>
      <p:cxnSp>
        <p:nvCxnSpPr>
          <p:cNvPr id="16" name="Conector de Seta Reta 15">
            <a:extLst>
              <a:ext uri="{FF2B5EF4-FFF2-40B4-BE49-F238E27FC236}">
                <a16:creationId xmlns:a16="http://schemas.microsoft.com/office/drawing/2014/main" id="{227461C7-F203-17DD-2833-D85FBC204FD5}"/>
              </a:ext>
            </a:extLst>
          </p:cNvPr>
          <p:cNvCxnSpPr>
            <a:cxnSpLocks/>
            <a:stCxn id="11" idx="6"/>
            <a:endCxn id="12" idx="1"/>
          </p:cNvCxnSpPr>
          <p:nvPr/>
        </p:nvCxnSpPr>
        <p:spPr>
          <a:xfrm>
            <a:off x="1233793" y="3886647"/>
            <a:ext cx="4871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Elipse 24">
            <a:extLst>
              <a:ext uri="{FF2B5EF4-FFF2-40B4-BE49-F238E27FC236}">
                <a16:creationId xmlns:a16="http://schemas.microsoft.com/office/drawing/2014/main" id="{A8E433FB-B305-FB74-7FDF-E27DFC153526}"/>
              </a:ext>
            </a:extLst>
          </p:cNvPr>
          <p:cNvSpPr/>
          <p:nvPr/>
        </p:nvSpPr>
        <p:spPr>
          <a:xfrm>
            <a:off x="11069798" y="3764122"/>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CaixaDeTexto 25">
            <a:extLst>
              <a:ext uri="{FF2B5EF4-FFF2-40B4-BE49-F238E27FC236}">
                <a16:creationId xmlns:a16="http://schemas.microsoft.com/office/drawing/2014/main" id="{1D09495F-4E8F-3B53-9D88-6E46E1D9855D}"/>
              </a:ext>
            </a:extLst>
          </p:cNvPr>
          <p:cNvSpPr txBox="1"/>
          <p:nvPr/>
        </p:nvSpPr>
        <p:spPr>
          <a:xfrm>
            <a:off x="10780556" y="4284462"/>
            <a:ext cx="948889" cy="553998"/>
          </a:xfrm>
          <a:prstGeom prst="rect">
            <a:avLst/>
          </a:prstGeom>
          <a:noFill/>
        </p:spPr>
        <p:txBody>
          <a:bodyPr wrap="square">
            <a:spAutoFit/>
          </a:bodyPr>
          <a:lstStyle/>
          <a:p>
            <a:pPr algn="ctr"/>
            <a:r>
              <a:rPr lang="pt-BR" sz="1000" i="1" dirty="0"/>
              <a:t>Custos de Estaleiro contabilizados</a:t>
            </a:r>
          </a:p>
        </p:txBody>
      </p:sp>
      <p:cxnSp>
        <p:nvCxnSpPr>
          <p:cNvPr id="28" name="Conector de Seta Reta 27">
            <a:extLst>
              <a:ext uri="{FF2B5EF4-FFF2-40B4-BE49-F238E27FC236}">
                <a16:creationId xmlns:a16="http://schemas.microsoft.com/office/drawing/2014/main" id="{33E91FBF-D626-04C8-96C0-D8BF353F4789}"/>
              </a:ext>
            </a:extLst>
          </p:cNvPr>
          <p:cNvCxnSpPr>
            <a:cxnSpLocks/>
            <a:stCxn id="14" idx="3"/>
            <a:endCxn id="25" idx="2"/>
          </p:cNvCxnSpPr>
          <p:nvPr/>
        </p:nvCxnSpPr>
        <p:spPr>
          <a:xfrm>
            <a:off x="10429343" y="3949324"/>
            <a:ext cx="64045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6272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22EE3-BED0-9E6A-1F5F-45A45C9AFF53}"/>
            </a:ext>
          </a:extLst>
        </p:cNvPr>
        <p:cNvGrpSpPr/>
        <p:nvPr/>
      </p:nvGrpSpPr>
      <p:grpSpPr>
        <a:xfrm>
          <a:off x="0" y="0"/>
          <a:ext cx="0" cy="0"/>
          <a:chOff x="0" y="0"/>
          <a:chExt cx="0" cy="0"/>
        </a:xfrm>
      </p:grpSpPr>
      <p:sp>
        <p:nvSpPr>
          <p:cNvPr id="27" name="Retângulo 26">
            <a:extLst>
              <a:ext uri="{FF2B5EF4-FFF2-40B4-BE49-F238E27FC236}">
                <a16:creationId xmlns:a16="http://schemas.microsoft.com/office/drawing/2014/main" id="{A576AD65-ADF9-675D-0071-BE424D99C3CB}"/>
              </a:ext>
            </a:extLst>
          </p:cNvPr>
          <p:cNvSpPr/>
          <p:nvPr/>
        </p:nvSpPr>
        <p:spPr>
          <a:xfrm rot="305734">
            <a:off x="4856572" y="2925387"/>
            <a:ext cx="2478857" cy="1007225"/>
          </a:xfrm>
          <a:prstGeom prst="rect">
            <a:avLst/>
          </a:prstGeom>
          <a:solidFill>
            <a:srgbClr val="FFFF99"/>
          </a:solid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0000"/>
                </a:solidFill>
              </a:rPr>
              <a:t>Em Desenvolvimento</a:t>
            </a:r>
          </a:p>
        </p:txBody>
      </p:sp>
      <p:sp>
        <p:nvSpPr>
          <p:cNvPr id="4" name="Título 4">
            <a:extLst>
              <a:ext uri="{FF2B5EF4-FFF2-40B4-BE49-F238E27FC236}">
                <a16:creationId xmlns:a16="http://schemas.microsoft.com/office/drawing/2014/main" id="{AC995294-4417-929E-463F-EE25C2BBF3FD}"/>
              </a:ext>
            </a:extLst>
          </p:cNvPr>
          <p:cNvSpPr>
            <a:spLocks noGrp="1"/>
          </p:cNvSpPr>
          <p:nvPr>
            <p:ph type="title"/>
          </p:nvPr>
        </p:nvSpPr>
        <p:spPr>
          <a:xfrm>
            <a:off x="1089653" y="303578"/>
            <a:ext cx="10485852" cy="645195"/>
          </a:xfrm>
        </p:spPr>
        <p:txBody>
          <a:bodyPr/>
          <a:lstStyle/>
          <a:p>
            <a:r>
              <a:rPr lang="pt-BR" dirty="0"/>
              <a:t>Esteira Financeira</a:t>
            </a:r>
            <a:br>
              <a:rPr lang="pt-BR" dirty="0"/>
            </a:br>
            <a:r>
              <a:rPr lang="pt-BR" sz="1600" b="0" dirty="0"/>
              <a:t>Processo | Pedidos de Compras de Serviços - Estaleiro</a:t>
            </a:r>
          </a:p>
        </p:txBody>
      </p:sp>
    </p:spTree>
    <p:extLst>
      <p:ext uri="{BB962C8B-B14F-4D97-AF65-F5344CB8AC3E}">
        <p14:creationId xmlns:p14="http://schemas.microsoft.com/office/powerpoint/2010/main" val="35503033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2F63-8ED8-A5EF-9ABA-4B7F4803F2B3}"/>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13876ED-2935-40C2-45A4-4D98FDD0F39D}"/>
              </a:ext>
            </a:extLst>
          </p:cNvPr>
          <p:cNvSpPr>
            <a:spLocks noGrp="1"/>
          </p:cNvSpPr>
          <p:nvPr>
            <p:ph type="title"/>
          </p:nvPr>
        </p:nvSpPr>
        <p:spPr/>
        <p:txBody>
          <a:bodyPr/>
          <a:lstStyle/>
          <a:p>
            <a:r>
              <a:rPr lang="pt-BR" dirty="0"/>
              <a:t>Esteira Financeira</a:t>
            </a:r>
            <a:br>
              <a:rPr lang="pt-BR" dirty="0"/>
            </a:br>
            <a:r>
              <a:rPr lang="pt-BR" sz="1600" b="0" dirty="0"/>
              <a:t>Fluxo de Dados | Pedidos de Compras de Materiais Nacionais</a:t>
            </a:r>
          </a:p>
        </p:txBody>
      </p:sp>
      <p:sp>
        <p:nvSpPr>
          <p:cNvPr id="2" name="Retângulo 1">
            <a:extLst>
              <a:ext uri="{FF2B5EF4-FFF2-40B4-BE49-F238E27FC236}">
                <a16:creationId xmlns:a16="http://schemas.microsoft.com/office/drawing/2014/main" id="{32DE9FE2-58A7-2942-2186-F3267FEF70FB}"/>
              </a:ext>
            </a:extLst>
          </p:cNvPr>
          <p:cNvSpPr/>
          <p:nvPr/>
        </p:nvSpPr>
        <p:spPr>
          <a:xfrm>
            <a:off x="3562328" y="3275555"/>
            <a:ext cx="952172" cy="576064"/>
          </a:xfrm>
          <a:prstGeom prst="rect">
            <a:avLst/>
          </a:prstGeom>
          <a:solidFill>
            <a:srgbClr val="014A65"/>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bg1"/>
                </a:solidFill>
              </a:rPr>
              <a:t>FLUIG SA</a:t>
            </a:r>
          </a:p>
        </p:txBody>
      </p:sp>
      <p:sp>
        <p:nvSpPr>
          <p:cNvPr id="4" name="Retângulo 3">
            <a:extLst>
              <a:ext uri="{FF2B5EF4-FFF2-40B4-BE49-F238E27FC236}">
                <a16:creationId xmlns:a16="http://schemas.microsoft.com/office/drawing/2014/main" id="{DADDF24C-4900-D6B0-BE56-DC16E1ED869F}"/>
              </a:ext>
            </a:extLst>
          </p:cNvPr>
          <p:cNvSpPr/>
          <p:nvPr/>
        </p:nvSpPr>
        <p:spPr>
          <a:xfrm>
            <a:off x="5095011" y="3275555"/>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SA</a:t>
            </a:r>
          </a:p>
          <a:p>
            <a:pPr algn="ctr"/>
            <a:r>
              <a:rPr lang="pt-BR" sz="1100" dirty="0">
                <a:solidFill>
                  <a:schemeClr val="tx1"/>
                </a:solidFill>
              </a:rPr>
              <a:t>Solicitação de Armazém</a:t>
            </a:r>
          </a:p>
        </p:txBody>
      </p:sp>
      <p:sp>
        <p:nvSpPr>
          <p:cNvPr id="6" name="Retângulo 5">
            <a:extLst>
              <a:ext uri="{FF2B5EF4-FFF2-40B4-BE49-F238E27FC236}">
                <a16:creationId xmlns:a16="http://schemas.microsoft.com/office/drawing/2014/main" id="{A1308A21-68BB-3793-70C1-1FE401B4B02A}"/>
              </a:ext>
            </a:extLst>
          </p:cNvPr>
          <p:cNvSpPr/>
          <p:nvPr/>
        </p:nvSpPr>
        <p:spPr>
          <a:xfrm>
            <a:off x="6640001" y="3275555"/>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SC</a:t>
            </a:r>
          </a:p>
          <a:p>
            <a:pPr algn="ctr"/>
            <a:r>
              <a:rPr lang="pt-BR" sz="1100" dirty="0">
                <a:solidFill>
                  <a:schemeClr val="tx1"/>
                </a:solidFill>
              </a:rPr>
              <a:t>Solicitação de Compras</a:t>
            </a:r>
          </a:p>
        </p:txBody>
      </p:sp>
      <p:sp>
        <p:nvSpPr>
          <p:cNvPr id="8" name="Retângulo 7">
            <a:extLst>
              <a:ext uri="{FF2B5EF4-FFF2-40B4-BE49-F238E27FC236}">
                <a16:creationId xmlns:a16="http://schemas.microsoft.com/office/drawing/2014/main" id="{36A6232B-CFF2-0BB0-91F6-5DFFE71009AF}"/>
              </a:ext>
            </a:extLst>
          </p:cNvPr>
          <p:cNvSpPr/>
          <p:nvPr/>
        </p:nvSpPr>
        <p:spPr>
          <a:xfrm>
            <a:off x="8117685" y="3275555"/>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PC</a:t>
            </a:r>
          </a:p>
          <a:p>
            <a:pPr algn="ctr"/>
            <a:r>
              <a:rPr lang="pt-BR" sz="1100" dirty="0">
                <a:solidFill>
                  <a:schemeClr val="tx1"/>
                </a:solidFill>
              </a:rPr>
              <a:t>Pedido de Compras</a:t>
            </a:r>
          </a:p>
        </p:txBody>
      </p:sp>
      <p:sp>
        <p:nvSpPr>
          <p:cNvPr id="9" name="Retângulo 8">
            <a:extLst>
              <a:ext uri="{FF2B5EF4-FFF2-40B4-BE49-F238E27FC236}">
                <a16:creationId xmlns:a16="http://schemas.microsoft.com/office/drawing/2014/main" id="{813F8BAA-61B2-5290-F3E6-FFEBDC999283}"/>
              </a:ext>
            </a:extLst>
          </p:cNvPr>
          <p:cNvSpPr/>
          <p:nvPr/>
        </p:nvSpPr>
        <p:spPr>
          <a:xfrm>
            <a:off x="9623060" y="3275555"/>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NF</a:t>
            </a:r>
          </a:p>
          <a:p>
            <a:pPr algn="ctr"/>
            <a:r>
              <a:rPr lang="pt-BR" sz="1100" dirty="0">
                <a:solidFill>
                  <a:schemeClr val="tx1"/>
                </a:solidFill>
              </a:rPr>
              <a:t>Nota Fiscal</a:t>
            </a:r>
          </a:p>
        </p:txBody>
      </p:sp>
      <p:sp>
        <p:nvSpPr>
          <p:cNvPr id="12" name="Retângulo 11">
            <a:extLst>
              <a:ext uri="{FF2B5EF4-FFF2-40B4-BE49-F238E27FC236}">
                <a16:creationId xmlns:a16="http://schemas.microsoft.com/office/drawing/2014/main" id="{B30F288B-99F9-C160-E6BC-2223E689B411}"/>
              </a:ext>
            </a:extLst>
          </p:cNvPr>
          <p:cNvSpPr/>
          <p:nvPr/>
        </p:nvSpPr>
        <p:spPr>
          <a:xfrm>
            <a:off x="1582236" y="3275555"/>
            <a:ext cx="1394075"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ID Material</a:t>
            </a:r>
          </a:p>
          <a:p>
            <a:pPr algn="ctr"/>
            <a:r>
              <a:rPr lang="pt-BR" sz="1100" dirty="0">
                <a:solidFill>
                  <a:schemeClr val="tx1"/>
                </a:solidFill>
              </a:rPr>
              <a:t>Registro do material no HUB</a:t>
            </a:r>
          </a:p>
        </p:txBody>
      </p:sp>
      <p:cxnSp>
        <p:nvCxnSpPr>
          <p:cNvPr id="14" name="Conector de Seta Reta 13">
            <a:extLst>
              <a:ext uri="{FF2B5EF4-FFF2-40B4-BE49-F238E27FC236}">
                <a16:creationId xmlns:a16="http://schemas.microsoft.com/office/drawing/2014/main" id="{544F2DEA-C374-2A52-0FE1-F7AB414BFD1F}"/>
              </a:ext>
            </a:extLst>
          </p:cNvPr>
          <p:cNvCxnSpPr>
            <a:cxnSpLocks/>
          </p:cNvCxnSpPr>
          <p:nvPr/>
        </p:nvCxnSpPr>
        <p:spPr>
          <a:xfrm>
            <a:off x="2987753" y="3441874"/>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Retângulo 20">
            <a:extLst>
              <a:ext uri="{FF2B5EF4-FFF2-40B4-BE49-F238E27FC236}">
                <a16:creationId xmlns:a16="http://schemas.microsoft.com/office/drawing/2014/main" id="{F173AF52-C9F3-7005-879C-789B62A84EA0}"/>
              </a:ext>
            </a:extLst>
          </p:cNvPr>
          <p:cNvSpPr/>
          <p:nvPr/>
        </p:nvSpPr>
        <p:spPr>
          <a:xfrm>
            <a:off x="5095011" y="2253244"/>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WMS</a:t>
            </a:r>
          </a:p>
          <a:p>
            <a:pPr algn="ctr"/>
            <a:r>
              <a:rPr lang="pt-BR" sz="1100" dirty="0">
                <a:solidFill>
                  <a:schemeClr val="tx1"/>
                </a:solidFill>
              </a:rPr>
              <a:t>Gestão de Estoque</a:t>
            </a:r>
          </a:p>
        </p:txBody>
      </p:sp>
      <p:cxnSp>
        <p:nvCxnSpPr>
          <p:cNvPr id="22" name="Conector de Seta Reta 21">
            <a:extLst>
              <a:ext uri="{FF2B5EF4-FFF2-40B4-BE49-F238E27FC236}">
                <a16:creationId xmlns:a16="http://schemas.microsoft.com/office/drawing/2014/main" id="{C5DE6505-29AB-56A3-7A38-A76CFA32FEF4}"/>
              </a:ext>
            </a:extLst>
          </p:cNvPr>
          <p:cNvCxnSpPr>
            <a:cxnSpLocks/>
            <a:stCxn id="4" idx="3"/>
            <a:endCxn id="6" idx="1"/>
          </p:cNvCxnSpPr>
          <p:nvPr/>
        </p:nvCxnSpPr>
        <p:spPr>
          <a:xfrm>
            <a:off x="6047183" y="3563587"/>
            <a:ext cx="59281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1989EAC0-9746-BC7D-F059-06DF12121B8C}"/>
              </a:ext>
            </a:extLst>
          </p:cNvPr>
          <p:cNvCxnSpPr>
            <a:cxnSpLocks/>
            <a:stCxn id="6" idx="3"/>
            <a:endCxn id="8" idx="1"/>
          </p:cNvCxnSpPr>
          <p:nvPr/>
        </p:nvCxnSpPr>
        <p:spPr>
          <a:xfrm>
            <a:off x="7592173" y="3563587"/>
            <a:ext cx="5255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30">
            <a:extLst>
              <a:ext uri="{FF2B5EF4-FFF2-40B4-BE49-F238E27FC236}">
                <a16:creationId xmlns:a16="http://schemas.microsoft.com/office/drawing/2014/main" id="{3FD964E3-594A-E323-4860-F50ED3C61B73}"/>
              </a:ext>
            </a:extLst>
          </p:cNvPr>
          <p:cNvCxnSpPr>
            <a:cxnSpLocks/>
          </p:cNvCxnSpPr>
          <p:nvPr/>
        </p:nvCxnSpPr>
        <p:spPr>
          <a:xfrm>
            <a:off x="9067897" y="3439442"/>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2D728A95-82EB-5DF6-BA89-3E324AD0CFB6}"/>
              </a:ext>
            </a:extLst>
          </p:cNvPr>
          <p:cNvCxnSpPr>
            <a:cxnSpLocks/>
          </p:cNvCxnSpPr>
          <p:nvPr/>
        </p:nvCxnSpPr>
        <p:spPr>
          <a:xfrm flipV="1">
            <a:off x="5383153" y="2829308"/>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a:extLst>
              <a:ext uri="{FF2B5EF4-FFF2-40B4-BE49-F238E27FC236}">
                <a16:creationId xmlns:a16="http://schemas.microsoft.com/office/drawing/2014/main" id="{2C538AAC-A6B6-366E-B9A8-2EDFB18AB911}"/>
              </a:ext>
            </a:extLst>
          </p:cNvPr>
          <p:cNvCxnSpPr>
            <a:cxnSpLocks/>
          </p:cNvCxnSpPr>
          <p:nvPr/>
        </p:nvCxnSpPr>
        <p:spPr>
          <a:xfrm flipH="1">
            <a:off x="5743193" y="2829307"/>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25FF99E0-7411-F9B1-6167-79719CE6F8B3}"/>
              </a:ext>
            </a:extLst>
          </p:cNvPr>
          <p:cNvCxnSpPr>
            <a:cxnSpLocks/>
          </p:cNvCxnSpPr>
          <p:nvPr/>
        </p:nvCxnSpPr>
        <p:spPr>
          <a:xfrm flipH="1">
            <a:off x="2987753" y="3729906"/>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741231E2-ACA8-7FBD-F17F-F547C3AF1406}"/>
              </a:ext>
            </a:extLst>
          </p:cNvPr>
          <p:cNvCxnSpPr>
            <a:cxnSpLocks/>
          </p:cNvCxnSpPr>
          <p:nvPr/>
        </p:nvCxnSpPr>
        <p:spPr>
          <a:xfrm flipH="1">
            <a:off x="9067897" y="3729906"/>
            <a:ext cx="540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47">
            <a:extLst>
              <a:ext uri="{FF2B5EF4-FFF2-40B4-BE49-F238E27FC236}">
                <a16:creationId xmlns:a16="http://schemas.microsoft.com/office/drawing/2014/main" id="{7A105D54-18C2-2C15-9C9D-5678902308CD}"/>
              </a:ext>
            </a:extLst>
          </p:cNvPr>
          <p:cNvCxnSpPr>
            <a:cxnSpLocks/>
          </p:cNvCxnSpPr>
          <p:nvPr/>
        </p:nvCxnSpPr>
        <p:spPr>
          <a:xfrm>
            <a:off x="4514500" y="3441874"/>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31FF4236-143D-85A3-BACA-3B411D487D97}"/>
              </a:ext>
            </a:extLst>
          </p:cNvPr>
          <p:cNvCxnSpPr>
            <a:cxnSpLocks/>
          </p:cNvCxnSpPr>
          <p:nvPr/>
        </p:nvCxnSpPr>
        <p:spPr>
          <a:xfrm flipH="1">
            <a:off x="4514500" y="3729906"/>
            <a:ext cx="5760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ector: Angulado 50">
            <a:extLst>
              <a:ext uri="{FF2B5EF4-FFF2-40B4-BE49-F238E27FC236}">
                <a16:creationId xmlns:a16="http://schemas.microsoft.com/office/drawing/2014/main" id="{83FF9FA6-9610-2E44-A106-2C0252C996FA}"/>
              </a:ext>
            </a:extLst>
          </p:cNvPr>
          <p:cNvCxnSpPr>
            <a:stCxn id="6" idx="2"/>
            <a:endCxn id="2" idx="2"/>
          </p:cNvCxnSpPr>
          <p:nvPr/>
        </p:nvCxnSpPr>
        <p:spPr>
          <a:xfrm rot="5400000">
            <a:off x="5577251" y="2312783"/>
            <a:ext cx="12700" cy="3077673"/>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Angulado 54">
            <a:extLst>
              <a:ext uri="{FF2B5EF4-FFF2-40B4-BE49-F238E27FC236}">
                <a16:creationId xmlns:a16="http://schemas.microsoft.com/office/drawing/2014/main" id="{EA0A6343-FA20-1658-9708-B891834D4ACA}"/>
              </a:ext>
            </a:extLst>
          </p:cNvPr>
          <p:cNvCxnSpPr>
            <a:cxnSpLocks/>
            <a:stCxn id="8" idx="2"/>
            <a:endCxn id="2" idx="2"/>
          </p:cNvCxnSpPr>
          <p:nvPr/>
        </p:nvCxnSpPr>
        <p:spPr>
          <a:xfrm rot="5400000">
            <a:off x="6316093" y="1573941"/>
            <a:ext cx="12700" cy="4555357"/>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tângulo 69">
            <a:extLst>
              <a:ext uri="{FF2B5EF4-FFF2-40B4-BE49-F238E27FC236}">
                <a16:creationId xmlns:a16="http://schemas.microsoft.com/office/drawing/2014/main" id="{34D15B1A-8C7F-3C9A-352A-D59675CFBA78}"/>
              </a:ext>
            </a:extLst>
          </p:cNvPr>
          <p:cNvSpPr/>
          <p:nvPr/>
        </p:nvSpPr>
        <p:spPr>
          <a:xfrm>
            <a:off x="4997019" y="2123427"/>
            <a:ext cx="1148156"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104EA8E-BF89-2B73-C2DD-D02F18E24889}"/>
              </a:ext>
            </a:extLst>
          </p:cNvPr>
          <p:cNvSpPr/>
          <p:nvPr/>
        </p:nvSpPr>
        <p:spPr>
          <a:xfrm>
            <a:off x="6542009" y="2123427"/>
            <a:ext cx="1148156"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3" name="Retângulo 82">
            <a:extLst>
              <a:ext uri="{FF2B5EF4-FFF2-40B4-BE49-F238E27FC236}">
                <a16:creationId xmlns:a16="http://schemas.microsoft.com/office/drawing/2014/main" id="{2765E1BA-89A6-97E1-301C-AF80E877F15B}"/>
              </a:ext>
            </a:extLst>
          </p:cNvPr>
          <p:cNvSpPr/>
          <p:nvPr/>
        </p:nvSpPr>
        <p:spPr>
          <a:xfrm>
            <a:off x="8019693" y="2123427"/>
            <a:ext cx="1148156"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0" name="Retângulo 89">
            <a:extLst>
              <a:ext uri="{FF2B5EF4-FFF2-40B4-BE49-F238E27FC236}">
                <a16:creationId xmlns:a16="http://schemas.microsoft.com/office/drawing/2014/main" id="{D68FCC66-D6A0-4369-6627-1C3A63A06BA6}"/>
              </a:ext>
            </a:extLst>
          </p:cNvPr>
          <p:cNvSpPr/>
          <p:nvPr/>
        </p:nvSpPr>
        <p:spPr>
          <a:xfrm>
            <a:off x="9525068" y="3131539"/>
            <a:ext cx="1148156" cy="829089"/>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A863D055-EC1D-4CB0-28E3-FEA062F897DF}"/>
              </a:ext>
            </a:extLst>
          </p:cNvPr>
          <p:cNvSpPr txBox="1"/>
          <p:nvPr/>
        </p:nvSpPr>
        <p:spPr>
          <a:xfrm>
            <a:off x="1669169" y="4870484"/>
            <a:ext cx="1228693" cy="600164"/>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estimado </a:t>
            </a:r>
            <a:r>
              <a:rPr lang="pt-BR" sz="1100" dirty="0"/>
              <a:t>registrado manualmente</a:t>
            </a:r>
          </a:p>
        </p:txBody>
      </p:sp>
      <p:cxnSp>
        <p:nvCxnSpPr>
          <p:cNvPr id="10" name="Conector reto 9">
            <a:extLst>
              <a:ext uri="{FF2B5EF4-FFF2-40B4-BE49-F238E27FC236}">
                <a16:creationId xmlns:a16="http://schemas.microsoft.com/office/drawing/2014/main" id="{95134C49-07C4-B1F4-1320-1920A961DA42}"/>
              </a:ext>
            </a:extLst>
          </p:cNvPr>
          <p:cNvCxnSpPr>
            <a:cxnSpLocks/>
            <a:stCxn id="68" idx="2"/>
            <a:endCxn id="3" idx="0"/>
          </p:cNvCxnSpPr>
          <p:nvPr/>
        </p:nvCxnSpPr>
        <p:spPr>
          <a:xfrm>
            <a:off x="2283515" y="4465144"/>
            <a:ext cx="1" cy="405340"/>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19" name="CaixaDeTexto 18">
            <a:extLst>
              <a:ext uri="{FF2B5EF4-FFF2-40B4-BE49-F238E27FC236}">
                <a16:creationId xmlns:a16="http://schemas.microsoft.com/office/drawing/2014/main" id="{48C84585-FD44-161B-15F3-4330CFFA5D10}"/>
              </a:ext>
            </a:extLst>
          </p:cNvPr>
          <p:cNvSpPr txBox="1"/>
          <p:nvPr/>
        </p:nvSpPr>
        <p:spPr>
          <a:xfrm>
            <a:off x="3267779" y="1412776"/>
            <a:ext cx="4491026" cy="461665"/>
          </a:xfrm>
          <a:prstGeom prst="rect">
            <a:avLst/>
          </a:prstGeom>
          <a:noFill/>
        </p:spPr>
        <p:txBody>
          <a:bodyPr wrap="square" rtlCol="0">
            <a:spAutoFit/>
          </a:bodyPr>
          <a:lstStyle/>
          <a:p>
            <a:pPr algn="ctr"/>
            <a:r>
              <a:rPr lang="pt-BR" sz="1200" dirty="0"/>
              <a:t>Fluxo de redundância para pedidos de compra abertos fora do </a:t>
            </a:r>
            <a:r>
              <a:rPr lang="pt-BR" sz="1200" dirty="0" err="1"/>
              <a:t>Fluig</a:t>
            </a:r>
            <a:r>
              <a:rPr lang="pt-BR" sz="1200" dirty="0"/>
              <a:t>, integrados ao HUB por meio da chave “ID da Parada”</a:t>
            </a:r>
          </a:p>
        </p:txBody>
      </p:sp>
      <p:sp>
        <p:nvSpPr>
          <p:cNvPr id="32" name="Retângulo 31">
            <a:extLst>
              <a:ext uri="{FF2B5EF4-FFF2-40B4-BE49-F238E27FC236}">
                <a16:creationId xmlns:a16="http://schemas.microsoft.com/office/drawing/2014/main" id="{820E0092-7D2F-3AD6-DA7B-C5E0E753A26A}"/>
              </a:ext>
            </a:extLst>
          </p:cNvPr>
          <p:cNvSpPr/>
          <p:nvPr/>
        </p:nvSpPr>
        <p:spPr>
          <a:xfrm>
            <a:off x="6640001" y="2253244"/>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Módulo de Cotação</a:t>
            </a:r>
          </a:p>
          <a:p>
            <a:pPr algn="ctr"/>
            <a:r>
              <a:rPr lang="pt-BR" sz="1100" dirty="0">
                <a:solidFill>
                  <a:schemeClr val="tx1"/>
                </a:solidFill>
              </a:rPr>
              <a:t>Protheus</a:t>
            </a:r>
          </a:p>
        </p:txBody>
      </p:sp>
      <p:cxnSp>
        <p:nvCxnSpPr>
          <p:cNvPr id="33" name="Conector de Seta Reta 32">
            <a:extLst>
              <a:ext uri="{FF2B5EF4-FFF2-40B4-BE49-F238E27FC236}">
                <a16:creationId xmlns:a16="http://schemas.microsoft.com/office/drawing/2014/main" id="{7228AA11-8806-1D6A-0174-AE8A66E9FE00}"/>
              </a:ext>
            </a:extLst>
          </p:cNvPr>
          <p:cNvCxnSpPr>
            <a:cxnSpLocks/>
          </p:cNvCxnSpPr>
          <p:nvPr/>
        </p:nvCxnSpPr>
        <p:spPr>
          <a:xfrm flipV="1">
            <a:off x="6934494" y="2829308"/>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382F3A6E-2F00-3E7F-A353-0055A8896BAE}"/>
              </a:ext>
            </a:extLst>
          </p:cNvPr>
          <p:cNvCxnSpPr>
            <a:cxnSpLocks/>
          </p:cNvCxnSpPr>
          <p:nvPr/>
        </p:nvCxnSpPr>
        <p:spPr>
          <a:xfrm flipH="1">
            <a:off x="7294534" y="2829307"/>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Retângulo 40">
            <a:extLst>
              <a:ext uri="{FF2B5EF4-FFF2-40B4-BE49-F238E27FC236}">
                <a16:creationId xmlns:a16="http://schemas.microsoft.com/office/drawing/2014/main" id="{E11DED29-62E2-11B5-501E-46E3F41484B6}"/>
              </a:ext>
            </a:extLst>
          </p:cNvPr>
          <p:cNvSpPr/>
          <p:nvPr/>
        </p:nvSpPr>
        <p:spPr>
          <a:xfrm>
            <a:off x="8117685" y="2253244"/>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FLUIG PC</a:t>
            </a:r>
          </a:p>
          <a:p>
            <a:pPr algn="ctr"/>
            <a:r>
              <a:rPr lang="pt-BR" sz="1100" dirty="0">
                <a:solidFill>
                  <a:schemeClr val="tx1"/>
                </a:solidFill>
              </a:rPr>
              <a:t>Aprovação PC</a:t>
            </a:r>
          </a:p>
        </p:txBody>
      </p:sp>
      <p:cxnSp>
        <p:nvCxnSpPr>
          <p:cNvPr id="44" name="Conector de Seta Reta 43">
            <a:extLst>
              <a:ext uri="{FF2B5EF4-FFF2-40B4-BE49-F238E27FC236}">
                <a16:creationId xmlns:a16="http://schemas.microsoft.com/office/drawing/2014/main" id="{4D1C9FA3-312D-A18B-8188-F9C100924443}"/>
              </a:ext>
            </a:extLst>
          </p:cNvPr>
          <p:cNvCxnSpPr>
            <a:cxnSpLocks/>
          </p:cNvCxnSpPr>
          <p:nvPr/>
        </p:nvCxnSpPr>
        <p:spPr>
          <a:xfrm flipV="1">
            <a:off x="8431183" y="2829308"/>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42544B4A-8B0E-A51F-154B-4FD1D2FF0A09}"/>
              </a:ext>
            </a:extLst>
          </p:cNvPr>
          <p:cNvCxnSpPr>
            <a:cxnSpLocks/>
          </p:cNvCxnSpPr>
          <p:nvPr/>
        </p:nvCxnSpPr>
        <p:spPr>
          <a:xfrm flipH="1">
            <a:off x="8791223" y="2829307"/>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ector: Angulado 45">
            <a:extLst>
              <a:ext uri="{FF2B5EF4-FFF2-40B4-BE49-F238E27FC236}">
                <a16:creationId xmlns:a16="http://schemas.microsoft.com/office/drawing/2014/main" id="{722B4275-F64D-13C5-22FE-CE0AA8904BDC}"/>
              </a:ext>
            </a:extLst>
          </p:cNvPr>
          <p:cNvCxnSpPr>
            <a:cxnSpLocks/>
            <a:stCxn id="6" idx="2"/>
            <a:endCxn id="2" idx="2"/>
          </p:cNvCxnSpPr>
          <p:nvPr/>
        </p:nvCxnSpPr>
        <p:spPr>
          <a:xfrm rot="5400000">
            <a:off x="5577251" y="2312783"/>
            <a:ext cx="12700" cy="307767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Conector: Angulado 53">
            <a:extLst>
              <a:ext uri="{FF2B5EF4-FFF2-40B4-BE49-F238E27FC236}">
                <a16:creationId xmlns:a16="http://schemas.microsoft.com/office/drawing/2014/main" id="{8E591E11-4A02-AEAE-A5A8-00E72CA1D03F}"/>
              </a:ext>
            </a:extLst>
          </p:cNvPr>
          <p:cNvCxnSpPr>
            <a:cxnSpLocks/>
            <a:stCxn id="4" idx="2"/>
            <a:endCxn id="2" idx="2"/>
          </p:cNvCxnSpPr>
          <p:nvPr/>
        </p:nvCxnSpPr>
        <p:spPr>
          <a:xfrm rot="5400000">
            <a:off x="4804756" y="3085278"/>
            <a:ext cx="12700" cy="1532683"/>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Conector: Angulado 60">
            <a:extLst>
              <a:ext uri="{FF2B5EF4-FFF2-40B4-BE49-F238E27FC236}">
                <a16:creationId xmlns:a16="http://schemas.microsoft.com/office/drawing/2014/main" id="{5D230656-29B1-C2DA-A4D0-D6A60F6EBA82}"/>
              </a:ext>
            </a:extLst>
          </p:cNvPr>
          <p:cNvCxnSpPr>
            <a:cxnSpLocks/>
            <a:stCxn id="83" idx="0"/>
            <a:endCxn id="12" idx="0"/>
          </p:cNvCxnSpPr>
          <p:nvPr/>
        </p:nvCxnSpPr>
        <p:spPr>
          <a:xfrm rot="16200000" flipH="1" flipV="1">
            <a:off x="4860459" y="-457758"/>
            <a:ext cx="1152128" cy="6314497"/>
          </a:xfrm>
          <a:prstGeom prst="bentConnector3">
            <a:avLst>
              <a:gd name="adj1" fmla="val -1984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Retângulo 67">
            <a:extLst>
              <a:ext uri="{FF2B5EF4-FFF2-40B4-BE49-F238E27FC236}">
                <a16:creationId xmlns:a16="http://schemas.microsoft.com/office/drawing/2014/main" id="{0BD37B54-02EB-455B-C04E-D0C396116E63}"/>
              </a:ext>
            </a:extLst>
          </p:cNvPr>
          <p:cNvSpPr/>
          <p:nvPr/>
        </p:nvSpPr>
        <p:spPr>
          <a:xfrm>
            <a:off x="1443007" y="3131539"/>
            <a:ext cx="1681016" cy="1333605"/>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85715FF4-4E88-5B0B-E752-DD8587E18331}"/>
              </a:ext>
            </a:extLst>
          </p:cNvPr>
          <p:cNvSpPr txBox="1"/>
          <p:nvPr/>
        </p:nvSpPr>
        <p:spPr>
          <a:xfrm>
            <a:off x="3139805" y="2229143"/>
            <a:ext cx="1798929" cy="600164"/>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dirty="0"/>
              <a:t>Chave primária utilizada para integração dos dados</a:t>
            </a:r>
          </a:p>
          <a:p>
            <a:pPr algn="ctr"/>
            <a:r>
              <a:rPr lang="pt-BR" sz="1100" b="1" dirty="0"/>
              <a:t>HUB x </a:t>
            </a:r>
            <a:r>
              <a:rPr lang="pt-BR" sz="1100" b="1" dirty="0" err="1"/>
              <a:t>Fluig</a:t>
            </a:r>
            <a:r>
              <a:rPr lang="pt-BR" sz="1100" b="1" dirty="0"/>
              <a:t> x Protheus</a:t>
            </a:r>
          </a:p>
        </p:txBody>
      </p:sp>
      <p:cxnSp>
        <p:nvCxnSpPr>
          <p:cNvPr id="13" name="Conector reto 12">
            <a:extLst>
              <a:ext uri="{FF2B5EF4-FFF2-40B4-BE49-F238E27FC236}">
                <a16:creationId xmlns:a16="http://schemas.microsoft.com/office/drawing/2014/main" id="{5F78A68A-7470-45F5-6743-B1E045F53359}"/>
              </a:ext>
            </a:extLst>
          </p:cNvPr>
          <p:cNvCxnSpPr>
            <a:cxnSpLocks/>
            <a:stCxn id="7" idx="2"/>
            <a:endCxn id="15" idx="0"/>
          </p:cNvCxnSpPr>
          <p:nvPr/>
        </p:nvCxnSpPr>
        <p:spPr>
          <a:xfrm flipH="1">
            <a:off x="4039269" y="2829307"/>
            <a:ext cx="1" cy="302232"/>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15" name="Retângulo 14">
            <a:extLst>
              <a:ext uri="{FF2B5EF4-FFF2-40B4-BE49-F238E27FC236}">
                <a16:creationId xmlns:a16="http://schemas.microsoft.com/office/drawing/2014/main" id="{D08B0B0E-1BA8-DE76-8350-B595FC5A2C90}"/>
              </a:ext>
            </a:extLst>
          </p:cNvPr>
          <p:cNvSpPr/>
          <p:nvPr/>
        </p:nvSpPr>
        <p:spPr>
          <a:xfrm>
            <a:off x="3465191" y="3131539"/>
            <a:ext cx="1148156" cy="829089"/>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CaixaDeTexto 15">
            <a:extLst>
              <a:ext uri="{FF2B5EF4-FFF2-40B4-BE49-F238E27FC236}">
                <a16:creationId xmlns:a16="http://schemas.microsoft.com/office/drawing/2014/main" id="{E228A83A-D0E4-034A-CBFE-DF4B066CA460}"/>
              </a:ext>
            </a:extLst>
          </p:cNvPr>
          <p:cNvSpPr txBox="1"/>
          <p:nvPr/>
        </p:nvSpPr>
        <p:spPr>
          <a:xfrm>
            <a:off x="5279724" y="4362652"/>
            <a:ext cx="1228693" cy="769441"/>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dirty="0"/>
              <a:t>Quantidade de </a:t>
            </a:r>
            <a:r>
              <a:rPr lang="pt-BR" sz="1100" b="1" dirty="0"/>
              <a:t>material atendido pelo estoque </a:t>
            </a:r>
            <a:r>
              <a:rPr lang="pt-BR" sz="1100" dirty="0"/>
              <a:t>do almoxarifado</a:t>
            </a:r>
          </a:p>
        </p:txBody>
      </p:sp>
      <p:sp>
        <p:nvSpPr>
          <p:cNvPr id="17" name="CaixaDeTexto 16">
            <a:extLst>
              <a:ext uri="{FF2B5EF4-FFF2-40B4-BE49-F238E27FC236}">
                <a16:creationId xmlns:a16="http://schemas.microsoft.com/office/drawing/2014/main" id="{ED597E2F-4055-6822-DCDA-EC158C7CF8E4}"/>
              </a:ext>
            </a:extLst>
          </p:cNvPr>
          <p:cNvSpPr txBox="1"/>
          <p:nvPr/>
        </p:nvSpPr>
        <p:spPr>
          <a:xfrm>
            <a:off x="6838179" y="4362652"/>
            <a:ext cx="1351562" cy="430887"/>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cotado </a:t>
            </a:r>
            <a:r>
              <a:rPr lang="pt-BR" sz="1100" dirty="0"/>
              <a:t>dos materiais</a:t>
            </a:r>
          </a:p>
        </p:txBody>
      </p:sp>
      <p:sp>
        <p:nvSpPr>
          <p:cNvPr id="18" name="CaixaDeTexto 17">
            <a:extLst>
              <a:ext uri="{FF2B5EF4-FFF2-40B4-BE49-F238E27FC236}">
                <a16:creationId xmlns:a16="http://schemas.microsoft.com/office/drawing/2014/main" id="{78F34ABB-A145-0390-EDFB-AC7EC12205EA}"/>
              </a:ext>
            </a:extLst>
          </p:cNvPr>
          <p:cNvSpPr txBox="1"/>
          <p:nvPr/>
        </p:nvSpPr>
        <p:spPr>
          <a:xfrm>
            <a:off x="8469223" y="4331138"/>
            <a:ext cx="1351562" cy="430887"/>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empenhado </a:t>
            </a:r>
            <a:r>
              <a:rPr lang="pt-BR" sz="1100" dirty="0"/>
              <a:t>dos materiais</a:t>
            </a:r>
          </a:p>
        </p:txBody>
      </p:sp>
      <p:sp>
        <p:nvSpPr>
          <p:cNvPr id="26" name="CaixaDeTexto 25">
            <a:extLst>
              <a:ext uri="{FF2B5EF4-FFF2-40B4-BE49-F238E27FC236}">
                <a16:creationId xmlns:a16="http://schemas.microsoft.com/office/drawing/2014/main" id="{EFDF8681-0479-4A64-EE66-472D567E16A7}"/>
              </a:ext>
            </a:extLst>
          </p:cNvPr>
          <p:cNvSpPr txBox="1"/>
          <p:nvPr/>
        </p:nvSpPr>
        <p:spPr>
          <a:xfrm>
            <a:off x="10053399" y="4611497"/>
            <a:ext cx="1351562" cy="430887"/>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contabilizado </a:t>
            </a:r>
            <a:r>
              <a:rPr lang="pt-BR" sz="1100" dirty="0"/>
              <a:t>das notas fiscais</a:t>
            </a:r>
          </a:p>
        </p:txBody>
      </p:sp>
      <p:cxnSp>
        <p:nvCxnSpPr>
          <p:cNvPr id="27" name="Conector: Angulado 26">
            <a:extLst>
              <a:ext uri="{FF2B5EF4-FFF2-40B4-BE49-F238E27FC236}">
                <a16:creationId xmlns:a16="http://schemas.microsoft.com/office/drawing/2014/main" id="{CC785FAC-4DEB-C01A-356C-007DEB35942E}"/>
              </a:ext>
            </a:extLst>
          </p:cNvPr>
          <p:cNvCxnSpPr>
            <a:cxnSpLocks/>
            <a:endCxn id="16" idx="1"/>
          </p:cNvCxnSpPr>
          <p:nvPr/>
        </p:nvCxnSpPr>
        <p:spPr>
          <a:xfrm rot="16200000" flipH="1">
            <a:off x="4800304" y="4267952"/>
            <a:ext cx="786745" cy="172096"/>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cxnSp>
        <p:nvCxnSpPr>
          <p:cNvPr id="28" name="Conector: Angulado 27">
            <a:extLst>
              <a:ext uri="{FF2B5EF4-FFF2-40B4-BE49-F238E27FC236}">
                <a16:creationId xmlns:a16="http://schemas.microsoft.com/office/drawing/2014/main" id="{4A95D3E0-167F-D5CF-4498-CD4A669A024C}"/>
              </a:ext>
            </a:extLst>
          </p:cNvPr>
          <p:cNvCxnSpPr>
            <a:cxnSpLocks/>
            <a:endCxn id="17" idx="1"/>
          </p:cNvCxnSpPr>
          <p:nvPr/>
        </p:nvCxnSpPr>
        <p:spPr>
          <a:xfrm rot="16200000" flipH="1">
            <a:off x="6436572" y="4176488"/>
            <a:ext cx="617469" cy="185746"/>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cxnSp>
        <p:nvCxnSpPr>
          <p:cNvPr id="29" name="Conector: Angulado 28">
            <a:extLst>
              <a:ext uri="{FF2B5EF4-FFF2-40B4-BE49-F238E27FC236}">
                <a16:creationId xmlns:a16="http://schemas.microsoft.com/office/drawing/2014/main" id="{FC0349AE-C677-D16A-79D3-010560A8625B}"/>
              </a:ext>
            </a:extLst>
          </p:cNvPr>
          <p:cNvCxnSpPr>
            <a:cxnSpLocks/>
            <a:endCxn id="18" idx="1"/>
          </p:cNvCxnSpPr>
          <p:nvPr/>
        </p:nvCxnSpPr>
        <p:spPr>
          <a:xfrm rot="16200000" flipH="1">
            <a:off x="8097852" y="4175210"/>
            <a:ext cx="585955" cy="156788"/>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cxnSp>
        <p:nvCxnSpPr>
          <p:cNvPr id="30" name="Conector: Angulado 29">
            <a:extLst>
              <a:ext uri="{FF2B5EF4-FFF2-40B4-BE49-F238E27FC236}">
                <a16:creationId xmlns:a16="http://schemas.microsoft.com/office/drawing/2014/main" id="{D7A60887-C946-01EE-539C-DC0F296FCB37}"/>
              </a:ext>
            </a:extLst>
          </p:cNvPr>
          <p:cNvCxnSpPr>
            <a:cxnSpLocks/>
            <a:endCxn id="26" idx="1"/>
          </p:cNvCxnSpPr>
          <p:nvPr/>
        </p:nvCxnSpPr>
        <p:spPr>
          <a:xfrm rot="16200000" flipH="1">
            <a:off x="9552252" y="4325793"/>
            <a:ext cx="866313" cy="135982"/>
          </a:xfrm>
          <a:prstGeom prst="bentConnector2">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50" name="CaixaDeTexto 49">
            <a:extLst>
              <a:ext uri="{FF2B5EF4-FFF2-40B4-BE49-F238E27FC236}">
                <a16:creationId xmlns:a16="http://schemas.microsoft.com/office/drawing/2014/main" id="{C855435A-B962-B625-F40C-939B8CCB7A56}"/>
              </a:ext>
            </a:extLst>
          </p:cNvPr>
          <p:cNvSpPr txBox="1"/>
          <p:nvPr/>
        </p:nvSpPr>
        <p:spPr>
          <a:xfrm>
            <a:off x="1443007" y="3930257"/>
            <a:ext cx="1681016" cy="363736"/>
          </a:xfrm>
          <a:prstGeom prst="rect">
            <a:avLst/>
          </a:prstGeom>
          <a:noFill/>
        </p:spPr>
        <p:txBody>
          <a:bodyPr wrap="square">
            <a:spAutoFit/>
          </a:bodyPr>
          <a:lstStyle/>
          <a:p>
            <a:pPr algn="ctr"/>
            <a:r>
              <a:rPr lang="pt-BR" sz="1000" i="1" dirty="0"/>
              <a:t>ID do </a:t>
            </a:r>
            <a:r>
              <a:rPr lang="pt-BR" sz="1000" i="1" dirty="0" err="1"/>
              <a:t>Fluig</a:t>
            </a:r>
            <a:r>
              <a:rPr lang="pt-BR" sz="1000" i="1" dirty="0"/>
              <a:t> SA registrado no grupo de material do HUB</a:t>
            </a:r>
          </a:p>
        </p:txBody>
      </p:sp>
      <p:sp>
        <p:nvSpPr>
          <p:cNvPr id="53" name="Elipse 52">
            <a:extLst>
              <a:ext uri="{FF2B5EF4-FFF2-40B4-BE49-F238E27FC236}">
                <a16:creationId xmlns:a16="http://schemas.microsoft.com/office/drawing/2014/main" id="{187E7E99-0D81-BB22-E507-EACD4727244D}"/>
              </a:ext>
            </a:extLst>
          </p:cNvPr>
          <p:cNvSpPr/>
          <p:nvPr/>
        </p:nvSpPr>
        <p:spPr>
          <a:xfrm>
            <a:off x="688931" y="3378385"/>
            <a:ext cx="370404" cy="370404"/>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CaixaDeTexto 55">
            <a:extLst>
              <a:ext uri="{FF2B5EF4-FFF2-40B4-BE49-F238E27FC236}">
                <a16:creationId xmlns:a16="http://schemas.microsoft.com/office/drawing/2014/main" id="{8BBBD30D-342F-4977-96B8-CBE4C3F4BEAE}"/>
              </a:ext>
            </a:extLst>
          </p:cNvPr>
          <p:cNvSpPr txBox="1"/>
          <p:nvPr/>
        </p:nvSpPr>
        <p:spPr>
          <a:xfrm>
            <a:off x="399689" y="3872421"/>
            <a:ext cx="948889" cy="553998"/>
          </a:xfrm>
          <a:prstGeom prst="rect">
            <a:avLst/>
          </a:prstGeom>
          <a:noFill/>
        </p:spPr>
        <p:txBody>
          <a:bodyPr wrap="square">
            <a:spAutoFit/>
          </a:bodyPr>
          <a:lstStyle/>
          <a:p>
            <a:pPr algn="ctr"/>
            <a:r>
              <a:rPr lang="pt-BR" sz="1000" i="1" dirty="0"/>
              <a:t>Necessidade de material identificada</a:t>
            </a:r>
          </a:p>
        </p:txBody>
      </p:sp>
      <p:cxnSp>
        <p:nvCxnSpPr>
          <p:cNvPr id="57" name="Conector de Seta Reta 56">
            <a:extLst>
              <a:ext uri="{FF2B5EF4-FFF2-40B4-BE49-F238E27FC236}">
                <a16:creationId xmlns:a16="http://schemas.microsoft.com/office/drawing/2014/main" id="{82F98F4F-6C07-F98C-02CA-F85F9C9A1BAA}"/>
              </a:ext>
            </a:extLst>
          </p:cNvPr>
          <p:cNvCxnSpPr>
            <a:cxnSpLocks/>
            <a:stCxn id="53" idx="6"/>
            <a:endCxn id="12" idx="1"/>
          </p:cNvCxnSpPr>
          <p:nvPr/>
        </p:nvCxnSpPr>
        <p:spPr>
          <a:xfrm>
            <a:off x="1059335" y="3563587"/>
            <a:ext cx="52290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Elipse 61">
            <a:extLst>
              <a:ext uri="{FF2B5EF4-FFF2-40B4-BE49-F238E27FC236}">
                <a16:creationId xmlns:a16="http://schemas.microsoft.com/office/drawing/2014/main" id="{3CE9C98A-0920-8256-D091-BE300ACC6DF4}"/>
              </a:ext>
            </a:extLst>
          </p:cNvPr>
          <p:cNvSpPr/>
          <p:nvPr/>
        </p:nvSpPr>
        <p:spPr>
          <a:xfrm>
            <a:off x="11132664" y="3378385"/>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3" name="CaixaDeTexto 62">
            <a:extLst>
              <a:ext uri="{FF2B5EF4-FFF2-40B4-BE49-F238E27FC236}">
                <a16:creationId xmlns:a16="http://schemas.microsoft.com/office/drawing/2014/main" id="{1FADED8A-3F5B-E4E1-B142-13DB13E2C1C9}"/>
              </a:ext>
            </a:extLst>
          </p:cNvPr>
          <p:cNvSpPr txBox="1"/>
          <p:nvPr/>
        </p:nvSpPr>
        <p:spPr>
          <a:xfrm>
            <a:off x="10843422" y="3872421"/>
            <a:ext cx="948889" cy="400110"/>
          </a:xfrm>
          <a:prstGeom prst="rect">
            <a:avLst/>
          </a:prstGeom>
          <a:noFill/>
        </p:spPr>
        <p:txBody>
          <a:bodyPr wrap="square">
            <a:spAutoFit/>
          </a:bodyPr>
          <a:lstStyle/>
          <a:p>
            <a:pPr algn="ctr"/>
            <a:r>
              <a:rPr lang="pt-BR" sz="1000" i="1" dirty="0"/>
              <a:t>Material contabilizado</a:t>
            </a:r>
          </a:p>
        </p:txBody>
      </p:sp>
      <p:cxnSp>
        <p:nvCxnSpPr>
          <p:cNvPr id="64" name="Conector de Seta Reta 63">
            <a:extLst>
              <a:ext uri="{FF2B5EF4-FFF2-40B4-BE49-F238E27FC236}">
                <a16:creationId xmlns:a16="http://schemas.microsoft.com/office/drawing/2014/main" id="{171C715E-834A-5539-88DA-8D51DB774DF5}"/>
              </a:ext>
            </a:extLst>
          </p:cNvPr>
          <p:cNvCxnSpPr>
            <a:cxnSpLocks/>
            <a:stCxn id="9" idx="3"/>
            <a:endCxn id="62" idx="2"/>
          </p:cNvCxnSpPr>
          <p:nvPr/>
        </p:nvCxnSpPr>
        <p:spPr>
          <a:xfrm>
            <a:off x="10575232" y="3563587"/>
            <a:ext cx="55743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 name="Agrupar 23">
            <a:extLst>
              <a:ext uri="{FF2B5EF4-FFF2-40B4-BE49-F238E27FC236}">
                <a16:creationId xmlns:a16="http://schemas.microsoft.com/office/drawing/2014/main" id="{56D84807-BD34-3A7C-BCE8-48BFECAE169A}"/>
              </a:ext>
            </a:extLst>
          </p:cNvPr>
          <p:cNvGrpSpPr/>
          <p:nvPr/>
        </p:nvGrpSpPr>
        <p:grpSpPr>
          <a:xfrm>
            <a:off x="1813927" y="6028801"/>
            <a:ext cx="8557687" cy="568551"/>
            <a:chOff x="1642770" y="6084384"/>
            <a:chExt cx="8557687" cy="568551"/>
          </a:xfrm>
        </p:grpSpPr>
        <p:sp>
          <p:nvSpPr>
            <p:cNvPr id="35" name="Retângulo 22">
              <a:extLst>
                <a:ext uri="{FF2B5EF4-FFF2-40B4-BE49-F238E27FC236}">
                  <a16:creationId xmlns:a16="http://schemas.microsoft.com/office/drawing/2014/main" id="{22017EC6-A251-424C-80CD-A880612C31F1}"/>
                </a:ext>
              </a:extLst>
            </p:cNvPr>
            <p:cNvSpPr/>
            <p:nvPr/>
          </p:nvSpPr>
          <p:spPr>
            <a:xfrm>
              <a:off x="1642770" y="6084384"/>
              <a:ext cx="8557687" cy="568551"/>
            </a:xfrm>
            <a:prstGeom prst="rect">
              <a:avLst/>
            </a:prstGeom>
            <a:solidFill>
              <a:srgbClr val="FFFFFF"/>
            </a:solidFill>
            <a:ln w="12700">
              <a:solidFill>
                <a:schemeClr val="tx1">
                  <a:lumMod val="50000"/>
                  <a:lumOff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CaixaDeTexto 19">
              <a:extLst>
                <a:ext uri="{FF2B5EF4-FFF2-40B4-BE49-F238E27FC236}">
                  <a16:creationId xmlns:a16="http://schemas.microsoft.com/office/drawing/2014/main" id="{62817570-C5A6-B13F-EDCF-5D6078F1B1AF}"/>
                </a:ext>
              </a:extLst>
            </p:cNvPr>
            <p:cNvSpPr txBox="1"/>
            <p:nvPr/>
          </p:nvSpPr>
          <p:spPr>
            <a:xfrm>
              <a:off x="1875595" y="6107049"/>
              <a:ext cx="8092036" cy="523220"/>
            </a:xfrm>
            <a:prstGeom prst="rect">
              <a:avLst/>
            </a:prstGeom>
            <a:noFill/>
          </p:spPr>
          <p:txBody>
            <a:bodyPr wrap="square" rtlCol="0">
              <a:spAutoFit/>
            </a:bodyPr>
            <a:lstStyle/>
            <a:p>
              <a:r>
                <a:rPr lang="pt-BR" sz="1400" b="1" dirty="0"/>
                <a:t>Nota: </a:t>
              </a:r>
              <a:r>
                <a:rPr lang="pt-BR" sz="1400" dirty="0"/>
                <a:t>Uma solução para abertura de pedidos de compra de materiais de manutenção via TM Master está em discussão. No momento, não há previsão de entrada em produção para solicitações de materiais de Obras.</a:t>
              </a:r>
            </a:p>
          </p:txBody>
        </p:sp>
      </p:grpSp>
    </p:spTree>
    <p:extLst>
      <p:ext uri="{BB962C8B-B14F-4D97-AF65-F5344CB8AC3E}">
        <p14:creationId xmlns:p14="http://schemas.microsoft.com/office/powerpoint/2010/main" val="17885695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C4402-79DA-3AEB-4A2A-D698243632F1}"/>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76B11CDC-A7AC-35CA-E78C-6FD075CF9171}"/>
              </a:ext>
            </a:extLst>
          </p:cNvPr>
          <p:cNvSpPr>
            <a:spLocks noGrp="1"/>
          </p:cNvSpPr>
          <p:nvPr>
            <p:ph type="title"/>
          </p:nvPr>
        </p:nvSpPr>
        <p:spPr/>
        <p:txBody>
          <a:bodyPr/>
          <a:lstStyle/>
          <a:p>
            <a:r>
              <a:rPr lang="pt-BR" dirty="0"/>
              <a:t>Esteira Financeira</a:t>
            </a:r>
            <a:br>
              <a:rPr lang="pt-BR" dirty="0"/>
            </a:br>
            <a:r>
              <a:rPr lang="pt-BR" sz="1600" b="0" dirty="0"/>
              <a:t>Processo | Pedidos de Compras de Materiais Nacionais</a:t>
            </a:r>
          </a:p>
        </p:txBody>
      </p:sp>
      <p:sp>
        <p:nvSpPr>
          <p:cNvPr id="20" name="Retângulo 26">
            <a:extLst>
              <a:ext uri="{FF2B5EF4-FFF2-40B4-BE49-F238E27FC236}">
                <a16:creationId xmlns:a16="http://schemas.microsoft.com/office/drawing/2014/main" id="{A954B382-873B-DAE5-9DC2-F9308B8725CB}"/>
              </a:ext>
            </a:extLst>
          </p:cNvPr>
          <p:cNvSpPr/>
          <p:nvPr/>
        </p:nvSpPr>
        <p:spPr>
          <a:xfrm rot="305734">
            <a:off x="4856572" y="2925387"/>
            <a:ext cx="2478857" cy="1007225"/>
          </a:xfrm>
          <a:prstGeom prst="rect">
            <a:avLst/>
          </a:prstGeom>
          <a:solidFill>
            <a:srgbClr val="FFFF99"/>
          </a:solid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0000"/>
                </a:solidFill>
              </a:rPr>
              <a:t>Em Desenvolvimento</a:t>
            </a:r>
          </a:p>
        </p:txBody>
      </p:sp>
    </p:spTree>
    <p:extLst>
      <p:ext uri="{BB962C8B-B14F-4D97-AF65-F5344CB8AC3E}">
        <p14:creationId xmlns:p14="http://schemas.microsoft.com/office/powerpoint/2010/main" val="33207474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1B9B0-2BBB-C943-EB9E-938D70834FE3}"/>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3DD56B9C-BAC0-DD7A-06F3-FB9AD8A6EDC5}"/>
              </a:ext>
            </a:extLst>
          </p:cNvPr>
          <p:cNvSpPr>
            <a:spLocks noGrp="1"/>
          </p:cNvSpPr>
          <p:nvPr>
            <p:ph type="title"/>
          </p:nvPr>
        </p:nvSpPr>
        <p:spPr/>
        <p:txBody>
          <a:bodyPr/>
          <a:lstStyle/>
          <a:p>
            <a:r>
              <a:rPr lang="pt-BR" dirty="0"/>
              <a:t>Esteira Financeira</a:t>
            </a:r>
            <a:br>
              <a:rPr lang="pt-BR" dirty="0"/>
            </a:br>
            <a:r>
              <a:rPr lang="pt-BR" sz="1600" b="0" dirty="0"/>
              <a:t>Fluxo de Dados | Pedidos de Compras de Materiais Importados</a:t>
            </a:r>
          </a:p>
        </p:txBody>
      </p:sp>
      <p:sp>
        <p:nvSpPr>
          <p:cNvPr id="2" name="Retângulo 1">
            <a:extLst>
              <a:ext uri="{FF2B5EF4-FFF2-40B4-BE49-F238E27FC236}">
                <a16:creationId xmlns:a16="http://schemas.microsoft.com/office/drawing/2014/main" id="{DD1F6760-D813-8419-9279-03959E3D46D3}"/>
              </a:ext>
            </a:extLst>
          </p:cNvPr>
          <p:cNvSpPr/>
          <p:nvPr/>
        </p:nvSpPr>
        <p:spPr>
          <a:xfrm>
            <a:off x="2869305" y="3278006"/>
            <a:ext cx="952172" cy="576064"/>
          </a:xfrm>
          <a:prstGeom prst="rect">
            <a:avLst/>
          </a:prstGeom>
          <a:solidFill>
            <a:srgbClr val="014A65"/>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solidFill>
                  <a:schemeClr val="bg1"/>
                </a:solidFill>
              </a:rPr>
              <a:t>FLUIG SA</a:t>
            </a:r>
          </a:p>
        </p:txBody>
      </p:sp>
      <p:sp>
        <p:nvSpPr>
          <p:cNvPr id="3" name="Retângulo 2">
            <a:extLst>
              <a:ext uri="{FF2B5EF4-FFF2-40B4-BE49-F238E27FC236}">
                <a16:creationId xmlns:a16="http://schemas.microsoft.com/office/drawing/2014/main" id="{8CF20EAF-DF96-265D-4D69-888C4A651034}"/>
              </a:ext>
            </a:extLst>
          </p:cNvPr>
          <p:cNvSpPr/>
          <p:nvPr/>
        </p:nvSpPr>
        <p:spPr>
          <a:xfrm>
            <a:off x="4099402" y="3278006"/>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SA</a:t>
            </a:r>
          </a:p>
          <a:p>
            <a:pPr algn="ctr"/>
            <a:r>
              <a:rPr lang="pt-BR" sz="1100" dirty="0">
                <a:solidFill>
                  <a:schemeClr val="tx1"/>
                </a:solidFill>
              </a:rPr>
              <a:t>Solicitação de Armazém</a:t>
            </a:r>
          </a:p>
        </p:txBody>
      </p:sp>
      <p:sp>
        <p:nvSpPr>
          <p:cNvPr id="4" name="Retângulo 3">
            <a:extLst>
              <a:ext uri="{FF2B5EF4-FFF2-40B4-BE49-F238E27FC236}">
                <a16:creationId xmlns:a16="http://schemas.microsoft.com/office/drawing/2014/main" id="{5D2E8CCE-5251-4922-8858-ED67DBBDBF4F}"/>
              </a:ext>
            </a:extLst>
          </p:cNvPr>
          <p:cNvSpPr/>
          <p:nvPr/>
        </p:nvSpPr>
        <p:spPr>
          <a:xfrm>
            <a:off x="5620213" y="3278006"/>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SC</a:t>
            </a:r>
          </a:p>
          <a:p>
            <a:pPr algn="ctr"/>
            <a:r>
              <a:rPr lang="pt-BR" sz="1100" dirty="0">
                <a:solidFill>
                  <a:schemeClr val="tx1"/>
                </a:solidFill>
              </a:rPr>
              <a:t>Solicitação de Compras</a:t>
            </a:r>
          </a:p>
        </p:txBody>
      </p:sp>
      <p:sp>
        <p:nvSpPr>
          <p:cNvPr id="6" name="Retângulo 5">
            <a:extLst>
              <a:ext uri="{FF2B5EF4-FFF2-40B4-BE49-F238E27FC236}">
                <a16:creationId xmlns:a16="http://schemas.microsoft.com/office/drawing/2014/main" id="{D1617FB1-2571-C7BC-2A88-8C6342A86E06}"/>
              </a:ext>
            </a:extLst>
          </p:cNvPr>
          <p:cNvSpPr/>
          <p:nvPr/>
        </p:nvSpPr>
        <p:spPr>
          <a:xfrm>
            <a:off x="6895297" y="3278006"/>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FLUIG SI</a:t>
            </a:r>
          </a:p>
          <a:p>
            <a:pPr algn="ctr"/>
            <a:r>
              <a:rPr lang="pt-BR" sz="1100" dirty="0">
                <a:solidFill>
                  <a:schemeClr val="tx1"/>
                </a:solidFill>
              </a:rPr>
              <a:t>Simulação da Importação</a:t>
            </a:r>
          </a:p>
        </p:txBody>
      </p:sp>
      <p:sp>
        <p:nvSpPr>
          <p:cNvPr id="7" name="Retângulo 6">
            <a:extLst>
              <a:ext uri="{FF2B5EF4-FFF2-40B4-BE49-F238E27FC236}">
                <a16:creationId xmlns:a16="http://schemas.microsoft.com/office/drawing/2014/main" id="{89D7DFD8-2E29-88E0-8EA2-3652A28B6C32}"/>
              </a:ext>
            </a:extLst>
          </p:cNvPr>
          <p:cNvSpPr/>
          <p:nvPr/>
        </p:nvSpPr>
        <p:spPr>
          <a:xfrm>
            <a:off x="8272279" y="3278006"/>
            <a:ext cx="1228692" cy="576065"/>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pt-BR" sz="1100" b="1" dirty="0">
                <a:solidFill>
                  <a:schemeClr val="tx1"/>
                </a:solidFill>
              </a:rPr>
              <a:t>PC</a:t>
            </a:r>
          </a:p>
          <a:p>
            <a:pPr algn="ctr"/>
            <a:r>
              <a:rPr lang="pt-BR" sz="1100" dirty="0">
                <a:solidFill>
                  <a:schemeClr val="tx1"/>
                </a:solidFill>
              </a:rPr>
              <a:t>Pedido de Compras</a:t>
            </a:r>
          </a:p>
          <a:p>
            <a:pPr algn="ctr"/>
            <a:r>
              <a:rPr lang="pt-BR" sz="1000" dirty="0">
                <a:solidFill>
                  <a:schemeClr val="tx1"/>
                </a:solidFill>
              </a:rPr>
              <a:t>(Materiais + Impostos)</a:t>
            </a:r>
            <a:endParaRPr lang="pt-BR" sz="1100" dirty="0">
              <a:solidFill>
                <a:schemeClr val="tx1"/>
              </a:solidFill>
            </a:endParaRPr>
          </a:p>
        </p:txBody>
      </p:sp>
      <p:cxnSp>
        <p:nvCxnSpPr>
          <p:cNvPr id="10" name="Conector de Seta Reta 9">
            <a:extLst>
              <a:ext uri="{FF2B5EF4-FFF2-40B4-BE49-F238E27FC236}">
                <a16:creationId xmlns:a16="http://schemas.microsoft.com/office/drawing/2014/main" id="{1152D6CE-8111-44F4-889A-8D60B046AF4A}"/>
              </a:ext>
            </a:extLst>
          </p:cNvPr>
          <p:cNvCxnSpPr>
            <a:cxnSpLocks/>
          </p:cNvCxnSpPr>
          <p:nvPr/>
        </p:nvCxnSpPr>
        <p:spPr>
          <a:xfrm>
            <a:off x="2495600" y="3444326"/>
            <a:ext cx="3737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tângulo 10">
            <a:extLst>
              <a:ext uri="{FF2B5EF4-FFF2-40B4-BE49-F238E27FC236}">
                <a16:creationId xmlns:a16="http://schemas.microsoft.com/office/drawing/2014/main" id="{5CF05CF9-12D9-BF37-7613-2E8FF270BE27}"/>
              </a:ext>
            </a:extLst>
          </p:cNvPr>
          <p:cNvSpPr/>
          <p:nvPr/>
        </p:nvSpPr>
        <p:spPr>
          <a:xfrm>
            <a:off x="4099402" y="2255696"/>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WMS</a:t>
            </a:r>
          </a:p>
          <a:p>
            <a:pPr algn="ctr"/>
            <a:r>
              <a:rPr lang="pt-BR" sz="1100" dirty="0">
                <a:solidFill>
                  <a:schemeClr val="tx1"/>
                </a:solidFill>
              </a:rPr>
              <a:t>Gestão de Estoque</a:t>
            </a:r>
          </a:p>
        </p:txBody>
      </p:sp>
      <p:cxnSp>
        <p:nvCxnSpPr>
          <p:cNvPr id="12" name="Conector de Seta Reta 11">
            <a:extLst>
              <a:ext uri="{FF2B5EF4-FFF2-40B4-BE49-F238E27FC236}">
                <a16:creationId xmlns:a16="http://schemas.microsoft.com/office/drawing/2014/main" id="{58DBB46E-D4F4-0195-6EBD-9D1425EDCE77}"/>
              </a:ext>
            </a:extLst>
          </p:cNvPr>
          <p:cNvCxnSpPr>
            <a:cxnSpLocks/>
            <a:stCxn id="3" idx="3"/>
            <a:endCxn id="4" idx="1"/>
          </p:cNvCxnSpPr>
          <p:nvPr/>
        </p:nvCxnSpPr>
        <p:spPr>
          <a:xfrm>
            <a:off x="5051574" y="3566038"/>
            <a:ext cx="56863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AE420032-2A37-879A-6277-6591B49D6365}"/>
              </a:ext>
            </a:extLst>
          </p:cNvPr>
          <p:cNvCxnSpPr>
            <a:cxnSpLocks/>
            <a:stCxn id="4" idx="3"/>
            <a:endCxn id="6" idx="1"/>
          </p:cNvCxnSpPr>
          <p:nvPr/>
        </p:nvCxnSpPr>
        <p:spPr>
          <a:xfrm>
            <a:off x="6572385" y="3566038"/>
            <a:ext cx="32291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BF57369-5689-CFB5-1322-D1571DF80B71}"/>
              </a:ext>
            </a:extLst>
          </p:cNvPr>
          <p:cNvCxnSpPr>
            <a:cxnSpLocks/>
          </p:cNvCxnSpPr>
          <p:nvPr/>
        </p:nvCxnSpPr>
        <p:spPr>
          <a:xfrm>
            <a:off x="7847469" y="3409595"/>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E104543-740D-EEE0-8459-2A04917F829C}"/>
              </a:ext>
            </a:extLst>
          </p:cNvPr>
          <p:cNvCxnSpPr>
            <a:cxnSpLocks/>
          </p:cNvCxnSpPr>
          <p:nvPr/>
        </p:nvCxnSpPr>
        <p:spPr>
          <a:xfrm flipV="1">
            <a:off x="4387544" y="2831760"/>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2440733C-249A-0F44-2000-4752B87E46E6}"/>
              </a:ext>
            </a:extLst>
          </p:cNvPr>
          <p:cNvCxnSpPr>
            <a:cxnSpLocks/>
          </p:cNvCxnSpPr>
          <p:nvPr/>
        </p:nvCxnSpPr>
        <p:spPr>
          <a:xfrm flipH="1">
            <a:off x="4747584" y="2831759"/>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5D990A5A-177E-D47A-730B-20482F80F2BE}"/>
              </a:ext>
            </a:extLst>
          </p:cNvPr>
          <p:cNvCxnSpPr>
            <a:cxnSpLocks/>
          </p:cNvCxnSpPr>
          <p:nvPr/>
        </p:nvCxnSpPr>
        <p:spPr>
          <a:xfrm flipH="1">
            <a:off x="2495600" y="3732358"/>
            <a:ext cx="37370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448F5837-E153-3203-480A-64807F03837D}"/>
              </a:ext>
            </a:extLst>
          </p:cNvPr>
          <p:cNvCxnSpPr>
            <a:cxnSpLocks/>
          </p:cNvCxnSpPr>
          <p:nvPr/>
        </p:nvCxnSpPr>
        <p:spPr>
          <a:xfrm flipH="1">
            <a:off x="7847469" y="3700059"/>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6A760256-F2EA-4E9A-C133-CECE67C17ADE}"/>
              </a:ext>
            </a:extLst>
          </p:cNvPr>
          <p:cNvCxnSpPr>
            <a:cxnSpLocks/>
          </p:cNvCxnSpPr>
          <p:nvPr/>
        </p:nvCxnSpPr>
        <p:spPr>
          <a:xfrm>
            <a:off x="3821477" y="3444326"/>
            <a:ext cx="2734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EC72A41A-C2DC-CEB6-9A46-17D2499914B2}"/>
              </a:ext>
            </a:extLst>
          </p:cNvPr>
          <p:cNvCxnSpPr>
            <a:cxnSpLocks/>
          </p:cNvCxnSpPr>
          <p:nvPr/>
        </p:nvCxnSpPr>
        <p:spPr>
          <a:xfrm flipH="1">
            <a:off x="3821477" y="3732358"/>
            <a:ext cx="2734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Conector: Angulado 22">
            <a:extLst>
              <a:ext uri="{FF2B5EF4-FFF2-40B4-BE49-F238E27FC236}">
                <a16:creationId xmlns:a16="http://schemas.microsoft.com/office/drawing/2014/main" id="{E646D952-572B-F690-D540-5A29B68D51DB}"/>
              </a:ext>
            </a:extLst>
          </p:cNvPr>
          <p:cNvCxnSpPr>
            <a:stCxn id="4" idx="2"/>
            <a:endCxn id="2" idx="2"/>
          </p:cNvCxnSpPr>
          <p:nvPr/>
        </p:nvCxnSpPr>
        <p:spPr>
          <a:xfrm rot="5400000">
            <a:off x="4720845" y="2478616"/>
            <a:ext cx="12700" cy="2750908"/>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ector: Angulado 23">
            <a:extLst>
              <a:ext uri="{FF2B5EF4-FFF2-40B4-BE49-F238E27FC236}">
                <a16:creationId xmlns:a16="http://schemas.microsoft.com/office/drawing/2014/main" id="{52CD2CD4-7E8D-9559-6E76-2C496C28187E}"/>
              </a:ext>
            </a:extLst>
          </p:cNvPr>
          <p:cNvCxnSpPr>
            <a:cxnSpLocks/>
            <a:stCxn id="6" idx="2"/>
            <a:endCxn id="2" idx="2"/>
          </p:cNvCxnSpPr>
          <p:nvPr/>
        </p:nvCxnSpPr>
        <p:spPr>
          <a:xfrm rot="5400000">
            <a:off x="5358387" y="1841074"/>
            <a:ext cx="12700" cy="4025992"/>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a:extLst>
              <a:ext uri="{FF2B5EF4-FFF2-40B4-BE49-F238E27FC236}">
                <a16:creationId xmlns:a16="http://schemas.microsoft.com/office/drawing/2014/main" id="{2A5C389D-FAE9-52ED-05DC-E7C370CE30A7}"/>
              </a:ext>
            </a:extLst>
          </p:cNvPr>
          <p:cNvCxnSpPr>
            <a:cxnSpLocks/>
            <a:stCxn id="7" idx="2"/>
            <a:endCxn id="2" idx="2"/>
          </p:cNvCxnSpPr>
          <p:nvPr/>
        </p:nvCxnSpPr>
        <p:spPr>
          <a:xfrm rot="5400000" flipH="1">
            <a:off x="6116007" y="1083454"/>
            <a:ext cx="1" cy="5541234"/>
          </a:xfrm>
          <a:prstGeom prst="bentConnector3">
            <a:avLst>
              <a:gd name="adj1" fmla="val -228600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tângulo 25">
            <a:extLst>
              <a:ext uri="{FF2B5EF4-FFF2-40B4-BE49-F238E27FC236}">
                <a16:creationId xmlns:a16="http://schemas.microsoft.com/office/drawing/2014/main" id="{8C2B5FA9-B230-3F43-EAAC-CDF069B231C0}"/>
              </a:ext>
            </a:extLst>
          </p:cNvPr>
          <p:cNvSpPr/>
          <p:nvPr/>
        </p:nvSpPr>
        <p:spPr>
          <a:xfrm>
            <a:off x="6895297" y="2255696"/>
            <a:ext cx="952172"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NARWAL²</a:t>
            </a:r>
          </a:p>
          <a:p>
            <a:pPr algn="ctr"/>
            <a:r>
              <a:rPr lang="pt-BR" sz="1100" dirty="0">
                <a:solidFill>
                  <a:schemeClr val="tx1"/>
                </a:solidFill>
              </a:rPr>
              <a:t>Sistema de Importação</a:t>
            </a:r>
          </a:p>
        </p:txBody>
      </p:sp>
      <p:cxnSp>
        <p:nvCxnSpPr>
          <p:cNvPr id="27" name="Conector de Seta Reta 26">
            <a:extLst>
              <a:ext uri="{FF2B5EF4-FFF2-40B4-BE49-F238E27FC236}">
                <a16:creationId xmlns:a16="http://schemas.microsoft.com/office/drawing/2014/main" id="{AC4292D7-E85B-2001-631C-AE8B0FCE88AA}"/>
              </a:ext>
            </a:extLst>
          </p:cNvPr>
          <p:cNvCxnSpPr>
            <a:cxnSpLocks/>
          </p:cNvCxnSpPr>
          <p:nvPr/>
        </p:nvCxnSpPr>
        <p:spPr>
          <a:xfrm flipV="1">
            <a:off x="7195252" y="2831760"/>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F47E2834-E8EB-AA02-4192-1337029C82EF}"/>
              </a:ext>
            </a:extLst>
          </p:cNvPr>
          <p:cNvCxnSpPr>
            <a:cxnSpLocks/>
          </p:cNvCxnSpPr>
          <p:nvPr/>
        </p:nvCxnSpPr>
        <p:spPr>
          <a:xfrm flipH="1">
            <a:off x="7555292" y="2831759"/>
            <a:ext cx="0" cy="4462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CaixaDeTexto 28">
            <a:extLst>
              <a:ext uri="{FF2B5EF4-FFF2-40B4-BE49-F238E27FC236}">
                <a16:creationId xmlns:a16="http://schemas.microsoft.com/office/drawing/2014/main" id="{B4A6AAF2-7505-1F99-386D-0A723B260616}"/>
              </a:ext>
            </a:extLst>
          </p:cNvPr>
          <p:cNvSpPr txBox="1"/>
          <p:nvPr/>
        </p:nvSpPr>
        <p:spPr>
          <a:xfrm>
            <a:off x="3961555" y="4365104"/>
            <a:ext cx="1228693" cy="769441"/>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dirty="0"/>
              <a:t>Quantidade de </a:t>
            </a:r>
            <a:r>
              <a:rPr lang="pt-BR" sz="1100" b="1" dirty="0"/>
              <a:t>material atendido pelo estoque </a:t>
            </a:r>
            <a:r>
              <a:rPr lang="pt-BR" sz="1100" dirty="0"/>
              <a:t>do almoxarifado</a:t>
            </a:r>
          </a:p>
        </p:txBody>
      </p:sp>
      <p:sp>
        <p:nvSpPr>
          <p:cNvPr id="30" name="CaixaDeTexto 29">
            <a:extLst>
              <a:ext uri="{FF2B5EF4-FFF2-40B4-BE49-F238E27FC236}">
                <a16:creationId xmlns:a16="http://schemas.microsoft.com/office/drawing/2014/main" id="{EE438D9A-E34E-FF61-FC7B-152D6D7837A0}"/>
              </a:ext>
            </a:extLst>
          </p:cNvPr>
          <p:cNvSpPr txBox="1"/>
          <p:nvPr/>
        </p:nvSpPr>
        <p:spPr>
          <a:xfrm>
            <a:off x="6695602" y="4365104"/>
            <a:ext cx="1351562" cy="1107996"/>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cotado </a:t>
            </a:r>
            <a:r>
              <a:rPr lang="pt-BR" sz="1100" dirty="0"/>
              <a:t>total da importação incluindo custo do material, frete, impostos e </a:t>
            </a:r>
          </a:p>
          <a:p>
            <a:pPr algn="ctr"/>
            <a:r>
              <a:rPr lang="pt-BR" sz="1100" dirty="0"/>
              <a:t>outros custos</a:t>
            </a:r>
          </a:p>
        </p:txBody>
      </p:sp>
      <p:sp>
        <p:nvSpPr>
          <p:cNvPr id="31" name="Retângulo 30">
            <a:extLst>
              <a:ext uri="{FF2B5EF4-FFF2-40B4-BE49-F238E27FC236}">
                <a16:creationId xmlns:a16="http://schemas.microsoft.com/office/drawing/2014/main" id="{CF58B549-8E87-80D0-E45F-7488B184B478}"/>
              </a:ext>
            </a:extLst>
          </p:cNvPr>
          <p:cNvSpPr/>
          <p:nvPr/>
        </p:nvSpPr>
        <p:spPr>
          <a:xfrm>
            <a:off x="4001410" y="2125879"/>
            <a:ext cx="1148156"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2" name="Conector reto 31">
            <a:extLst>
              <a:ext uri="{FF2B5EF4-FFF2-40B4-BE49-F238E27FC236}">
                <a16:creationId xmlns:a16="http://schemas.microsoft.com/office/drawing/2014/main" id="{F0F7B822-5CF7-0BCB-835C-1189965FAD0C}"/>
              </a:ext>
            </a:extLst>
          </p:cNvPr>
          <p:cNvCxnSpPr>
            <a:stCxn id="31" idx="2"/>
            <a:endCxn id="29" idx="0"/>
          </p:cNvCxnSpPr>
          <p:nvPr/>
        </p:nvCxnSpPr>
        <p:spPr>
          <a:xfrm>
            <a:off x="4575488" y="3963080"/>
            <a:ext cx="414" cy="402024"/>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33" name="Retângulo 32">
            <a:extLst>
              <a:ext uri="{FF2B5EF4-FFF2-40B4-BE49-F238E27FC236}">
                <a16:creationId xmlns:a16="http://schemas.microsoft.com/office/drawing/2014/main" id="{B6A120EB-CC61-CA3E-8DEA-F017BC4B1188}"/>
              </a:ext>
            </a:extLst>
          </p:cNvPr>
          <p:cNvSpPr/>
          <p:nvPr/>
        </p:nvSpPr>
        <p:spPr>
          <a:xfrm>
            <a:off x="6797305" y="2125879"/>
            <a:ext cx="1148156"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4" name="Conector reto 33">
            <a:extLst>
              <a:ext uri="{FF2B5EF4-FFF2-40B4-BE49-F238E27FC236}">
                <a16:creationId xmlns:a16="http://schemas.microsoft.com/office/drawing/2014/main" id="{79BA53A3-8953-5449-6AE5-1B5694CA606D}"/>
              </a:ext>
            </a:extLst>
          </p:cNvPr>
          <p:cNvCxnSpPr>
            <a:cxnSpLocks/>
            <a:stCxn id="33" idx="2"/>
            <a:endCxn id="30" idx="0"/>
          </p:cNvCxnSpPr>
          <p:nvPr/>
        </p:nvCxnSpPr>
        <p:spPr>
          <a:xfrm>
            <a:off x="7371383" y="3963080"/>
            <a:ext cx="0" cy="402024"/>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35" name="CaixaDeTexto 34">
            <a:extLst>
              <a:ext uri="{FF2B5EF4-FFF2-40B4-BE49-F238E27FC236}">
                <a16:creationId xmlns:a16="http://schemas.microsoft.com/office/drawing/2014/main" id="{C943AEF3-B9FB-580D-5F67-F8DDF92FAED5}"/>
              </a:ext>
            </a:extLst>
          </p:cNvPr>
          <p:cNvSpPr txBox="1"/>
          <p:nvPr/>
        </p:nvSpPr>
        <p:spPr>
          <a:xfrm>
            <a:off x="8210844" y="4370297"/>
            <a:ext cx="1351562" cy="1107996"/>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empenhado </a:t>
            </a:r>
            <a:r>
              <a:rPr lang="pt-BR" sz="1100" dirty="0"/>
              <a:t>total da importação incluindo custo de material, frete, impostos e </a:t>
            </a:r>
          </a:p>
          <a:p>
            <a:pPr algn="ctr"/>
            <a:r>
              <a:rPr lang="pt-BR" sz="1100" dirty="0"/>
              <a:t>outros custos</a:t>
            </a:r>
          </a:p>
        </p:txBody>
      </p:sp>
      <p:sp>
        <p:nvSpPr>
          <p:cNvPr id="36" name="Retângulo 35">
            <a:extLst>
              <a:ext uri="{FF2B5EF4-FFF2-40B4-BE49-F238E27FC236}">
                <a16:creationId xmlns:a16="http://schemas.microsoft.com/office/drawing/2014/main" id="{8FD15D0F-8F17-5C3E-F07C-6E001E955532}"/>
              </a:ext>
            </a:extLst>
          </p:cNvPr>
          <p:cNvSpPr/>
          <p:nvPr/>
        </p:nvSpPr>
        <p:spPr>
          <a:xfrm>
            <a:off x="8213175" y="2125879"/>
            <a:ext cx="1346901" cy="1837201"/>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7" name="Conector reto 36">
            <a:extLst>
              <a:ext uri="{FF2B5EF4-FFF2-40B4-BE49-F238E27FC236}">
                <a16:creationId xmlns:a16="http://schemas.microsoft.com/office/drawing/2014/main" id="{D1622F06-8E59-EE5E-EB9F-4783A6DC598C}"/>
              </a:ext>
            </a:extLst>
          </p:cNvPr>
          <p:cNvCxnSpPr>
            <a:cxnSpLocks/>
            <a:stCxn id="36" idx="2"/>
            <a:endCxn id="35" idx="0"/>
          </p:cNvCxnSpPr>
          <p:nvPr/>
        </p:nvCxnSpPr>
        <p:spPr>
          <a:xfrm flipH="1">
            <a:off x="8886625" y="3963080"/>
            <a:ext cx="1" cy="407217"/>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38" name="CaixaDeTexto 37">
            <a:extLst>
              <a:ext uri="{FF2B5EF4-FFF2-40B4-BE49-F238E27FC236}">
                <a16:creationId xmlns:a16="http://schemas.microsoft.com/office/drawing/2014/main" id="{068B96E3-810B-A3AD-BC8C-481DA8A64F8C}"/>
              </a:ext>
            </a:extLst>
          </p:cNvPr>
          <p:cNvSpPr txBox="1"/>
          <p:nvPr/>
        </p:nvSpPr>
        <p:spPr>
          <a:xfrm>
            <a:off x="9734590" y="4889024"/>
            <a:ext cx="1351562" cy="769441"/>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contabilizado real </a:t>
            </a:r>
            <a:r>
              <a:rPr lang="pt-BR" sz="1100" dirty="0"/>
              <a:t>das notas fiscais e pagamentos de impostos</a:t>
            </a:r>
          </a:p>
        </p:txBody>
      </p:sp>
      <p:cxnSp>
        <p:nvCxnSpPr>
          <p:cNvPr id="39" name="Conector reto 38">
            <a:extLst>
              <a:ext uri="{FF2B5EF4-FFF2-40B4-BE49-F238E27FC236}">
                <a16:creationId xmlns:a16="http://schemas.microsoft.com/office/drawing/2014/main" id="{E80D6F32-1FC3-A2BE-0E7B-4FE412585485}"/>
              </a:ext>
            </a:extLst>
          </p:cNvPr>
          <p:cNvCxnSpPr>
            <a:cxnSpLocks/>
            <a:stCxn id="40" idx="2"/>
            <a:endCxn id="38" idx="0"/>
          </p:cNvCxnSpPr>
          <p:nvPr/>
        </p:nvCxnSpPr>
        <p:spPr>
          <a:xfrm>
            <a:off x="10410371" y="4673581"/>
            <a:ext cx="0" cy="215443"/>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40" name="Retângulo 39">
            <a:extLst>
              <a:ext uri="{FF2B5EF4-FFF2-40B4-BE49-F238E27FC236}">
                <a16:creationId xmlns:a16="http://schemas.microsoft.com/office/drawing/2014/main" id="{1FA54284-DDF8-1C45-DF85-102749B580BE}"/>
              </a:ext>
            </a:extLst>
          </p:cNvPr>
          <p:cNvSpPr/>
          <p:nvPr/>
        </p:nvSpPr>
        <p:spPr>
          <a:xfrm>
            <a:off x="9836293" y="2125878"/>
            <a:ext cx="1148156" cy="2547703"/>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3" name="Conector: Angulado 42">
            <a:extLst>
              <a:ext uri="{FF2B5EF4-FFF2-40B4-BE49-F238E27FC236}">
                <a16:creationId xmlns:a16="http://schemas.microsoft.com/office/drawing/2014/main" id="{AE29F9E4-E8F5-1987-94EA-0840D664A062}"/>
              </a:ext>
            </a:extLst>
          </p:cNvPr>
          <p:cNvCxnSpPr>
            <a:cxnSpLocks/>
            <a:stCxn id="36" idx="0"/>
            <a:endCxn id="49" idx="0"/>
          </p:cNvCxnSpPr>
          <p:nvPr/>
        </p:nvCxnSpPr>
        <p:spPr>
          <a:xfrm rot="16200000" flipH="1" flipV="1">
            <a:off x="4835331" y="-898659"/>
            <a:ext cx="1026757" cy="7075832"/>
          </a:xfrm>
          <a:prstGeom prst="bentConnector3">
            <a:avLst>
              <a:gd name="adj1" fmla="val -22264"/>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CaixaDeTexto 43">
            <a:extLst>
              <a:ext uri="{FF2B5EF4-FFF2-40B4-BE49-F238E27FC236}">
                <a16:creationId xmlns:a16="http://schemas.microsoft.com/office/drawing/2014/main" id="{5F6A3103-3549-CA67-1F43-461E99E27333}"/>
              </a:ext>
            </a:extLst>
          </p:cNvPr>
          <p:cNvSpPr txBox="1"/>
          <p:nvPr/>
        </p:nvSpPr>
        <p:spPr>
          <a:xfrm>
            <a:off x="3050032" y="1415228"/>
            <a:ext cx="4491026" cy="461665"/>
          </a:xfrm>
          <a:prstGeom prst="rect">
            <a:avLst/>
          </a:prstGeom>
          <a:noFill/>
        </p:spPr>
        <p:txBody>
          <a:bodyPr wrap="square" rtlCol="0">
            <a:spAutoFit/>
          </a:bodyPr>
          <a:lstStyle/>
          <a:p>
            <a:pPr algn="ctr"/>
            <a:r>
              <a:rPr lang="pt-BR" sz="1200" dirty="0"/>
              <a:t>Fluxo de redundância para pedidos de compra abertos fora do </a:t>
            </a:r>
            <a:r>
              <a:rPr lang="pt-BR" sz="1200" dirty="0" err="1"/>
              <a:t>Fluig</a:t>
            </a:r>
            <a:r>
              <a:rPr lang="pt-BR" sz="1200" dirty="0"/>
              <a:t>, integrados ao HUB por meio da chave “ID da Parada”</a:t>
            </a:r>
          </a:p>
        </p:txBody>
      </p:sp>
      <p:sp>
        <p:nvSpPr>
          <p:cNvPr id="46" name="Retângulo 45">
            <a:extLst>
              <a:ext uri="{FF2B5EF4-FFF2-40B4-BE49-F238E27FC236}">
                <a16:creationId xmlns:a16="http://schemas.microsoft.com/office/drawing/2014/main" id="{739DF51A-92BB-7DD7-1650-9E4DF28B5C61}"/>
              </a:ext>
            </a:extLst>
          </p:cNvPr>
          <p:cNvSpPr/>
          <p:nvPr/>
        </p:nvSpPr>
        <p:spPr>
          <a:xfrm>
            <a:off x="731351" y="5790595"/>
            <a:ext cx="10354801" cy="899509"/>
          </a:xfrm>
          <a:prstGeom prst="rect">
            <a:avLst/>
          </a:prstGeom>
          <a:solidFill>
            <a:srgbClr val="FFFF99"/>
          </a:solid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0" lang="pt-BR" sz="1100" b="1" i="0" u="none" strike="noStrike" kern="1200" cap="none" spc="0" normalizeH="0" baseline="0" noProof="0" dirty="0">
                <a:ln>
                  <a:noFill/>
                </a:ln>
                <a:solidFill>
                  <a:srgbClr val="FF0000"/>
                </a:solidFill>
                <a:effectLst/>
                <a:uLnTx/>
                <a:uFillTx/>
                <a:latin typeface="Calibri"/>
                <a:ea typeface="+mn-ea"/>
                <a:cs typeface="+mn-cs"/>
              </a:rPr>
              <a:t>Pontos Importantes:</a:t>
            </a:r>
          </a:p>
          <a:p>
            <a:pPr marL="228600" marR="0" lvl="0" indent="-228600" algn="l" defTabSz="1055035" rtl="0" eaLnBrk="1" fontAlgn="auto" latinLnBrk="0" hangingPunct="1">
              <a:lnSpc>
                <a:spcPct val="100000"/>
              </a:lnSpc>
              <a:spcBef>
                <a:spcPts val="0"/>
              </a:spcBef>
              <a:spcAft>
                <a:spcPts val="0"/>
              </a:spcAft>
              <a:buClrTx/>
              <a:buSzTx/>
              <a:buFont typeface="+mj-lt"/>
              <a:buAutoNum type="arabicPeriod"/>
              <a:tabLst/>
              <a:defRPr/>
            </a:pPr>
            <a:r>
              <a:rPr kumimoji="0" lang="pt-BR" sz="1100" b="0" i="0" u="none" strike="noStrike" kern="1200" cap="none" spc="0" normalizeH="0" baseline="0" noProof="0" dirty="0">
                <a:ln>
                  <a:noFill/>
                </a:ln>
                <a:solidFill>
                  <a:prstClr val="black"/>
                </a:solidFill>
                <a:effectLst/>
                <a:uLnTx/>
                <a:uFillTx/>
                <a:latin typeface="Calibri"/>
                <a:ea typeface="+mn-ea"/>
                <a:cs typeface="+mn-cs"/>
              </a:rPr>
              <a:t>Uma solução para abertura de pedidos de compra de materiais de manutenção via TM Master está em discussão. No momento, não há previsão de entrada em produção para solicitações de materiais de Obras</a:t>
            </a:r>
          </a:p>
          <a:p>
            <a:pPr marL="228600" marR="0" lvl="0" indent="-228600" algn="l" defTabSz="1055035" rtl="0" eaLnBrk="1" fontAlgn="auto" latinLnBrk="0" hangingPunct="1">
              <a:lnSpc>
                <a:spcPct val="100000"/>
              </a:lnSpc>
              <a:spcBef>
                <a:spcPts val="0"/>
              </a:spcBef>
              <a:spcAft>
                <a:spcPts val="0"/>
              </a:spcAft>
              <a:buClrTx/>
              <a:buSzTx/>
              <a:buFont typeface="+mj-lt"/>
              <a:buAutoNum type="arabicPeriod"/>
              <a:tabLst/>
              <a:defRPr/>
            </a:pPr>
            <a:r>
              <a:rPr lang="pt-BR" sz="1100" dirty="0">
                <a:solidFill>
                  <a:prstClr val="black"/>
                </a:solidFill>
                <a:latin typeface="Calibri"/>
              </a:rPr>
              <a:t>O acompanhamento operacional e a consolidação de custos das importações ainda ocorrem via planilha de importação. Sob a ótica financeira, o sistema </a:t>
            </a:r>
            <a:r>
              <a:rPr lang="pt-BR" sz="1100" dirty="0" err="1">
                <a:solidFill>
                  <a:prstClr val="black"/>
                </a:solidFill>
                <a:latin typeface="Calibri"/>
              </a:rPr>
              <a:t>Narwal</a:t>
            </a:r>
            <a:r>
              <a:rPr lang="pt-BR" sz="1100" dirty="0">
                <a:solidFill>
                  <a:prstClr val="black"/>
                </a:solidFill>
                <a:latin typeface="Calibri"/>
              </a:rPr>
              <a:t> ainda não está plenamente funcional</a:t>
            </a:r>
            <a:endParaRPr kumimoji="0" lang="pt-BR"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48" name="Retângulo 47">
            <a:extLst>
              <a:ext uri="{FF2B5EF4-FFF2-40B4-BE49-F238E27FC236}">
                <a16:creationId xmlns:a16="http://schemas.microsoft.com/office/drawing/2014/main" id="{B581CF02-C03F-E549-A2C2-79CCD5B39634}"/>
              </a:ext>
            </a:extLst>
          </p:cNvPr>
          <p:cNvSpPr/>
          <p:nvPr/>
        </p:nvSpPr>
        <p:spPr>
          <a:xfrm>
            <a:off x="1109515" y="3278006"/>
            <a:ext cx="1394075" cy="576064"/>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ID Material</a:t>
            </a:r>
          </a:p>
          <a:p>
            <a:pPr algn="ctr"/>
            <a:r>
              <a:rPr lang="pt-BR" sz="1100" dirty="0">
                <a:solidFill>
                  <a:schemeClr val="tx1"/>
                </a:solidFill>
              </a:rPr>
              <a:t>Registro do material no HUB</a:t>
            </a:r>
          </a:p>
        </p:txBody>
      </p:sp>
      <p:sp>
        <p:nvSpPr>
          <p:cNvPr id="49" name="Retângulo 48">
            <a:extLst>
              <a:ext uri="{FF2B5EF4-FFF2-40B4-BE49-F238E27FC236}">
                <a16:creationId xmlns:a16="http://schemas.microsoft.com/office/drawing/2014/main" id="{76DC5533-0BBA-F133-89FC-7D280EBF3D84}"/>
              </a:ext>
            </a:extLst>
          </p:cNvPr>
          <p:cNvSpPr/>
          <p:nvPr/>
        </p:nvSpPr>
        <p:spPr>
          <a:xfrm>
            <a:off x="970286" y="3152636"/>
            <a:ext cx="1681016" cy="1333605"/>
          </a:xfrm>
          <a:prstGeom prst="rect">
            <a:avLst/>
          </a:prstGeom>
          <a:noFill/>
          <a:ln w="9525">
            <a:solidFill>
              <a:srgbClr val="014A6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0" name="CaixaDeTexto 49">
            <a:extLst>
              <a:ext uri="{FF2B5EF4-FFF2-40B4-BE49-F238E27FC236}">
                <a16:creationId xmlns:a16="http://schemas.microsoft.com/office/drawing/2014/main" id="{2DFD06FB-90D7-8893-EFF3-AE06DB8A404F}"/>
              </a:ext>
            </a:extLst>
          </p:cNvPr>
          <p:cNvSpPr txBox="1"/>
          <p:nvPr/>
        </p:nvSpPr>
        <p:spPr>
          <a:xfrm>
            <a:off x="970286" y="3951354"/>
            <a:ext cx="1681016" cy="363736"/>
          </a:xfrm>
          <a:prstGeom prst="rect">
            <a:avLst/>
          </a:prstGeom>
          <a:noFill/>
        </p:spPr>
        <p:txBody>
          <a:bodyPr wrap="square">
            <a:spAutoFit/>
          </a:bodyPr>
          <a:lstStyle/>
          <a:p>
            <a:pPr algn="ctr"/>
            <a:r>
              <a:rPr lang="pt-BR" sz="1000" i="1" dirty="0"/>
              <a:t>ID do </a:t>
            </a:r>
            <a:r>
              <a:rPr lang="pt-BR" sz="1000" i="1" dirty="0" err="1"/>
              <a:t>Fluig</a:t>
            </a:r>
            <a:r>
              <a:rPr lang="pt-BR" sz="1000" i="1" dirty="0"/>
              <a:t> SA registrado no grupo de material do HUB</a:t>
            </a:r>
          </a:p>
        </p:txBody>
      </p:sp>
      <p:sp>
        <p:nvSpPr>
          <p:cNvPr id="55" name="CaixaDeTexto 54">
            <a:extLst>
              <a:ext uri="{FF2B5EF4-FFF2-40B4-BE49-F238E27FC236}">
                <a16:creationId xmlns:a16="http://schemas.microsoft.com/office/drawing/2014/main" id="{84D194F2-BEE3-53BD-E6B3-45025B46EDFC}"/>
              </a:ext>
            </a:extLst>
          </p:cNvPr>
          <p:cNvSpPr txBox="1"/>
          <p:nvPr/>
        </p:nvSpPr>
        <p:spPr>
          <a:xfrm>
            <a:off x="1196448" y="4673581"/>
            <a:ext cx="1228693" cy="600164"/>
          </a:xfrm>
          <a:prstGeom prst="rect">
            <a:avLst/>
          </a:prstGeom>
          <a:solidFill>
            <a:schemeClr val="bg1">
              <a:lumMod val="95000"/>
            </a:schemeClr>
          </a:solidFill>
          <a:ln>
            <a:solidFill>
              <a:srgbClr val="014A65"/>
            </a:solidFill>
            <a:prstDash val="dash"/>
          </a:ln>
        </p:spPr>
        <p:txBody>
          <a:bodyPr wrap="square" rtlCol="0">
            <a:spAutoFit/>
          </a:bodyPr>
          <a:lstStyle/>
          <a:p>
            <a:pPr algn="ctr"/>
            <a:r>
              <a:rPr lang="pt-BR" sz="1100" b="1" dirty="0"/>
              <a:t>Valor estimado </a:t>
            </a:r>
            <a:r>
              <a:rPr lang="pt-BR" sz="1100" dirty="0"/>
              <a:t>registrado manualmente</a:t>
            </a:r>
          </a:p>
        </p:txBody>
      </p:sp>
      <p:cxnSp>
        <p:nvCxnSpPr>
          <p:cNvPr id="56" name="Conector reto 55">
            <a:extLst>
              <a:ext uri="{FF2B5EF4-FFF2-40B4-BE49-F238E27FC236}">
                <a16:creationId xmlns:a16="http://schemas.microsoft.com/office/drawing/2014/main" id="{9A18CDEC-E1AD-7E89-DA50-0F839A852D7F}"/>
              </a:ext>
            </a:extLst>
          </p:cNvPr>
          <p:cNvCxnSpPr>
            <a:cxnSpLocks/>
            <a:stCxn id="49" idx="2"/>
            <a:endCxn id="55" idx="0"/>
          </p:cNvCxnSpPr>
          <p:nvPr/>
        </p:nvCxnSpPr>
        <p:spPr>
          <a:xfrm>
            <a:off x="1810794" y="4486241"/>
            <a:ext cx="1" cy="187340"/>
          </a:xfrm>
          <a:prstGeom prst="line">
            <a:avLst/>
          </a:prstGeom>
          <a:ln>
            <a:solidFill>
              <a:srgbClr val="014A65"/>
            </a:solidFill>
            <a:prstDash val="dash"/>
          </a:ln>
        </p:spPr>
        <p:style>
          <a:lnRef idx="1">
            <a:schemeClr val="accent1"/>
          </a:lnRef>
          <a:fillRef idx="0">
            <a:schemeClr val="accent1"/>
          </a:fillRef>
          <a:effectRef idx="0">
            <a:schemeClr val="accent1"/>
          </a:effectRef>
          <a:fontRef idx="minor">
            <a:schemeClr val="tx1"/>
          </a:fontRef>
        </p:style>
      </p:cxnSp>
      <p:sp>
        <p:nvSpPr>
          <p:cNvPr id="75" name="Retângulo 74">
            <a:extLst>
              <a:ext uri="{FF2B5EF4-FFF2-40B4-BE49-F238E27FC236}">
                <a16:creationId xmlns:a16="http://schemas.microsoft.com/office/drawing/2014/main" id="{A7EFF34A-8230-E25B-3513-8B2DB6A2591D}"/>
              </a:ext>
            </a:extLst>
          </p:cNvPr>
          <p:cNvSpPr/>
          <p:nvPr/>
        </p:nvSpPr>
        <p:spPr>
          <a:xfrm>
            <a:off x="8272279" y="2251716"/>
            <a:ext cx="1228692" cy="585988"/>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pt-BR" sz="1100" b="1" dirty="0">
                <a:solidFill>
                  <a:schemeClr val="tx1"/>
                </a:solidFill>
              </a:rPr>
              <a:t>PC</a:t>
            </a:r>
          </a:p>
          <a:p>
            <a:pPr algn="ctr"/>
            <a:r>
              <a:rPr lang="pt-BR" sz="1100" dirty="0">
                <a:solidFill>
                  <a:schemeClr val="tx1"/>
                </a:solidFill>
              </a:rPr>
              <a:t>Pedido de Compras</a:t>
            </a:r>
          </a:p>
          <a:p>
            <a:pPr algn="ctr"/>
            <a:r>
              <a:rPr lang="pt-BR" sz="1000" dirty="0">
                <a:solidFill>
                  <a:schemeClr val="tx1"/>
                </a:solidFill>
              </a:rPr>
              <a:t>(Transporte)</a:t>
            </a:r>
            <a:endParaRPr lang="pt-BR" sz="1100" dirty="0">
              <a:solidFill>
                <a:schemeClr val="tx1"/>
              </a:solidFill>
            </a:endParaRPr>
          </a:p>
        </p:txBody>
      </p:sp>
      <p:sp>
        <p:nvSpPr>
          <p:cNvPr id="77" name="Retângulo 76">
            <a:extLst>
              <a:ext uri="{FF2B5EF4-FFF2-40B4-BE49-F238E27FC236}">
                <a16:creationId xmlns:a16="http://schemas.microsoft.com/office/drawing/2014/main" id="{6DA65087-4088-6DC1-0D7D-60D3C0351730}"/>
              </a:ext>
            </a:extLst>
          </p:cNvPr>
          <p:cNvSpPr/>
          <p:nvPr/>
        </p:nvSpPr>
        <p:spPr>
          <a:xfrm>
            <a:off x="9934285" y="3304191"/>
            <a:ext cx="952172" cy="523695"/>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NF</a:t>
            </a:r>
          </a:p>
          <a:p>
            <a:pPr algn="ctr"/>
            <a:r>
              <a:rPr lang="pt-BR" sz="1100" dirty="0">
                <a:solidFill>
                  <a:schemeClr val="tx1"/>
                </a:solidFill>
              </a:rPr>
              <a:t>Nota Fiscal</a:t>
            </a:r>
          </a:p>
          <a:p>
            <a:pPr algn="ctr"/>
            <a:r>
              <a:rPr lang="pt-BR" sz="1000" dirty="0">
                <a:solidFill>
                  <a:schemeClr val="tx1"/>
                </a:solidFill>
              </a:rPr>
              <a:t>(Materiais)</a:t>
            </a:r>
          </a:p>
        </p:txBody>
      </p:sp>
      <p:sp>
        <p:nvSpPr>
          <p:cNvPr id="78" name="Retângulo 77">
            <a:extLst>
              <a:ext uri="{FF2B5EF4-FFF2-40B4-BE49-F238E27FC236}">
                <a16:creationId xmlns:a16="http://schemas.microsoft.com/office/drawing/2014/main" id="{579BE152-4FE9-216A-730C-11594933E7B2}"/>
              </a:ext>
            </a:extLst>
          </p:cNvPr>
          <p:cNvSpPr/>
          <p:nvPr/>
        </p:nvSpPr>
        <p:spPr>
          <a:xfrm>
            <a:off x="9934285" y="4062745"/>
            <a:ext cx="952172" cy="523695"/>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PG</a:t>
            </a:r>
          </a:p>
          <a:p>
            <a:pPr algn="ctr"/>
            <a:r>
              <a:rPr lang="pt-BR" sz="1100" dirty="0">
                <a:solidFill>
                  <a:schemeClr val="tx1"/>
                </a:solidFill>
              </a:rPr>
              <a:t>Pagamentos de Impostos</a:t>
            </a:r>
          </a:p>
        </p:txBody>
      </p:sp>
      <p:sp>
        <p:nvSpPr>
          <p:cNvPr id="80" name="Retângulo 79">
            <a:extLst>
              <a:ext uri="{FF2B5EF4-FFF2-40B4-BE49-F238E27FC236}">
                <a16:creationId xmlns:a16="http://schemas.microsoft.com/office/drawing/2014/main" id="{831F8515-C996-CF5E-D218-2BE4A41DAA52}"/>
              </a:ext>
            </a:extLst>
          </p:cNvPr>
          <p:cNvSpPr/>
          <p:nvPr/>
        </p:nvSpPr>
        <p:spPr>
          <a:xfrm>
            <a:off x="9934285" y="2282863"/>
            <a:ext cx="952172" cy="523695"/>
          </a:xfrm>
          <a:prstGeom prst="rect">
            <a:avLst/>
          </a:prstGeom>
          <a:solidFill>
            <a:schemeClr val="bg1"/>
          </a:solidFill>
          <a:ln w="3175">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b="1" dirty="0">
                <a:solidFill>
                  <a:schemeClr val="tx1"/>
                </a:solidFill>
              </a:rPr>
              <a:t>NF</a:t>
            </a:r>
          </a:p>
          <a:p>
            <a:pPr algn="ctr"/>
            <a:r>
              <a:rPr lang="pt-BR" sz="1100" dirty="0">
                <a:solidFill>
                  <a:schemeClr val="tx1"/>
                </a:solidFill>
              </a:rPr>
              <a:t>Nota Fiscal</a:t>
            </a:r>
          </a:p>
          <a:p>
            <a:pPr algn="ctr"/>
            <a:r>
              <a:rPr lang="pt-BR" sz="1000" dirty="0">
                <a:solidFill>
                  <a:schemeClr val="tx1"/>
                </a:solidFill>
              </a:rPr>
              <a:t>(Transporte)</a:t>
            </a:r>
          </a:p>
        </p:txBody>
      </p:sp>
      <p:cxnSp>
        <p:nvCxnSpPr>
          <p:cNvPr id="101" name="Conector de Seta Reta 100">
            <a:extLst>
              <a:ext uri="{FF2B5EF4-FFF2-40B4-BE49-F238E27FC236}">
                <a16:creationId xmlns:a16="http://schemas.microsoft.com/office/drawing/2014/main" id="{5472F366-A631-2D51-3AE1-8A48E9DDC087}"/>
              </a:ext>
            </a:extLst>
          </p:cNvPr>
          <p:cNvCxnSpPr>
            <a:cxnSpLocks/>
          </p:cNvCxnSpPr>
          <p:nvPr/>
        </p:nvCxnSpPr>
        <p:spPr>
          <a:xfrm>
            <a:off x="9500971" y="3418365"/>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ector de Seta Reta 101">
            <a:extLst>
              <a:ext uri="{FF2B5EF4-FFF2-40B4-BE49-F238E27FC236}">
                <a16:creationId xmlns:a16="http://schemas.microsoft.com/office/drawing/2014/main" id="{EB99C0AD-5C5C-DA56-9CC9-6DEAED86D171}"/>
              </a:ext>
            </a:extLst>
          </p:cNvPr>
          <p:cNvCxnSpPr>
            <a:cxnSpLocks/>
          </p:cNvCxnSpPr>
          <p:nvPr/>
        </p:nvCxnSpPr>
        <p:spPr>
          <a:xfrm flipH="1">
            <a:off x="9500971" y="3708829"/>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Conector de Seta Reta 102">
            <a:extLst>
              <a:ext uri="{FF2B5EF4-FFF2-40B4-BE49-F238E27FC236}">
                <a16:creationId xmlns:a16="http://schemas.microsoft.com/office/drawing/2014/main" id="{A1519392-FF25-919C-5F56-B86981721B19}"/>
              </a:ext>
            </a:extLst>
          </p:cNvPr>
          <p:cNvCxnSpPr>
            <a:cxnSpLocks/>
            <a:stCxn id="26" idx="3"/>
            <a:endCxn id="75" idx="1"/>
          </p:cNvCxnSpPr>
          <p:nvPr/>
        </p:nvCxnSpPr>
        <p:spPr>
          <a:xfrm>
            <a:off x="7847469" y="2543728"/>
            <a:ext cx="424810" cy="98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05">
            <a:extLst>
              <a:ext uri="{FF2B5EF4-FFF2-40B4-BE49-F238E27FC236}">
                <a16:creationId xmlns:a16="http://schemas.microsoft.com/office/drawing/2014/main" id="{40B436C1-784C-3027-2CF7-6901B52B8AA5}"/>
              </a:ext>
            </a:extLst>
          </p:cNvPr>
          <p:cNvCxnSpPr>
            <a:cxnSpLocks/>
          </p:cNvCxnSpPr>
          <p:nvPr/>
        </p:nvCxnSpPr>
        <p:spPr>
          <a:xfrm>
            <a:off x="9500971" y="2418456"/>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Conector de Seta Reta 106">
            <a:extLst>
              <a:ext uri="{FF2B5EF4-FFF2-40B4-BE49-F238E27FC236}">
                <a16:creationId xmlns:a16="http://schemas.microsoft.com/office/drawing/2014/main" id="{9BF6737D-B1C8-C58F-F3E5-3773E3A477FD}"/>
              </a:ext>
            </a:extLst>
          </p:cNvPr>
          <p:cNvCxnSpPr>
            <a:cxnSpLocks/>
          </p:cNvCxnSpPr>
          <p:nvPr/>
        </p:nvCxnSpPr>
        <p:spPr>
          <a:xfrm flipH="1">
            <a:off x="9500971" y="2708920"/>
            <a:ext cx="42481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Elipse 121">
            <a:extLst>
              <a:ext uri="{FF2B5EF4-FFF2-40B4-BE49-F238E27FC236}">
                <a16:creationId xmlns:a16="http://schemas.microsoft.com/office/drawing/2014/main" id="{97E5F6D5-8A6D-13E9-6CD6-EB250210722D}"/>
              </a:ext>
            </a:extLst>
          </p:cNvPr>
          <p:cNvSpPr/>
          <p:nvPr/>
        </p:nvSpPr>
        <p:spPr>
          <a:xfrm>
            <a:off x="336570" y="3380836"/>
            <a:ext cx="370404" cy="370404"/>
          </a:xfrm>
          <a:prstGeom prst="ellipse">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3" name="CaixaDeTexto 122">
            <a:extLst>
              <a:ext uri="{FF2B5EF4-FFF2-40B4-BE49-F238E27FC236}">
                <a16:creationId xmlns:a16="http://schemas.microsoft.com/office/drawing/2014/main" id="{2C6CCB6E-4C5A-1CD4-5A7D-92366E0AB804}"/>
              </a:ext>
            </a:extLst>
          </p:cNvPr>
          <p:cNvSpPr txBox="1"/>
          <p:nvPr/>
        </p:nvSpPr>
        <p:spPr>
          <a:xfrm>
            <a:off x="47328" y="3855222"/>
            <a:ext cx="948889" cy="553998"/>
          </a:xfrm>
          <a:prstGeom prst="rect">
            <a:avLst/>
          </a:prstGeom>
          <a:noFill/>
        </p:spPr>
        <p:txBody>
          <a:bodyPr wrap="square">
            <a:spAutoFit/>
          </a:bodyPr>
          <a:lstStyle/>
          <a:p>
            <a:pPr algn="ctr"/>
            <a:r>
              <a:rPr lang="pt-BR" sz="1000" i="1" dirty="0"/>
              <a:t>Necessidade de material identificada</a:t>
            </a:r>
          </a:p>
        </p:txBody>
      </p:sp>
      <p:cxnSp>
        <p:nvCxnSpPr>
          <p:cNvPr id="124" name="Conector de Seta Reta 123">
            <a:extLst>
              <a:ext uri="{FF2B5EF4-FFF2-40B4-BE49-F238E27FC236}">
                <a16:creationId xmlns:a16="http://schemas.microsoft.com/office/drawing/2014/main" id="{24011B4C-18E9-E684-AD9C-656BB94E9253}"/>
              </a:ext>
            </a:extLst>
          </p:cNvPr>
          <p:cNvCxnSpPr>
            <a:cxnSpLocks/>
            <a:stCxn id="122" idx="6"/>
            <a:endCxn id="48" idx="1"/>
          </p:cNvCxnSpPr>
          <p:nvPr/>
        </p:nvCxnSpPr>
        <p:spPr>
          <a:xfrm>
            <a:off x="706974" y="3566038"/>
            <a:ext cx="40254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6" name="Elipse 125">
            <a:extLst>
              <a:ext uri="{FF2B5EF4-FFF2-40B4-BE49-F238E27FC236}">
                <a16:creationId xmlns:a16="http://schemas.microsoft.com/office/drawing/2014/main" id="{59BF8B9C-8069-1A2E-4A58-85EC70DE1C57}"/>
              </a:ext>
            </a:extLst>
          </p:cNvPr>
          <p:cNvSpPr/>
          <p:nvPr/>
        </p:nvSpPr>
        <p:spPr>
          <a:xfrm>
            <a:off x="11404623" y="3380836"/>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7" name="CaixaDeTexto 126">
            <a:extLst>
              <a:ext uri="{FF2B5EF4-FFF2-40B4-BE49-F238E27FC236}">
                <a16:creationId xmlns:a16="http://schemas.microsoft.com/office/drawing/2014/main" id="{6017FD29-8A6B-B96A-AE07-C7B9FC0410A9}"/>
              </a:ext>
            </a:extLst>
          </p:cNvPr>
          <p:cNvSpPr txBox="1"/>
          <p:nvPr/>
        </p:nvSpPr>
        <p:spPr>
          <a:xfrm>
            <a:off x="11115381" y="3718192"/>
            <a:ext cx="948889" cy="400110"/>
          </a:xfrm>
          <a:prstGeom prst="rect">
            <a:avLst/>
          </a:prstGeom>
          <a:noFill/>
        </p:spPr>
        <p:txBody>
          <a:bodyPr wrap="square">
            <a:spAutoFit/>
          </a:bodyPr>
          <a:lstStyle/>
          <a:p>
            <a:pPr algn="ctr"/>
            <a:r>
              <a:rPr lang="pt-BR" sz="1000" i="1" dirty="0"/>
              <a:t>Material contabilizado</a:t>
            </a:r>
          </a:p>
        </p:txBody>
      </p:sp>
      <p:cxnSp>
        <p:nvCxnSpPr>
          <p:cNvPr id="128" name="Conector de Seta Reta 127">
            <a:extLst>
              <a:ext uri="{FF2B5EF4-FFF2-40B4-BE49-F238E27FC236}">
                <a16:creationId xmlns:a16="http://schemas.microsoft.com/office/drawing/2014/main" id="{AB497EF6-DC65-F132-C181-34B89D14B5C6}"/>
              </a:ext>
            </a:extLst>
          </p:cNvPr>
          <p:cNvCxnSpPr>
            <a:cxnSpLocks/>
            <a:stCxn id="77" idx="3"/>
            <a:endCxn id="126" idx="2"/>
          </p:cNvCxnSpPr>
          <p:nvPr/>
        </p:nvCxnSpPr>
        <p:spPr>
          <a:xfrm flipV="1">
            <a:off x="10886457" y="3566038"/>
            <a:ext cx="51816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Elipse 133">
            <a:extLst>
              <a:ext uri="{FF2B5EF4-FFF2-40B4-BE49-F238E27FC236}">
                <a16:creationId xmlns:a16="http://schemas.microsoft.com/office/drawing/2014/main" id="{458BA1B2-18A1-D18B-C09D-FF732C63EFB9}"/>
              </a:ext>
            </a:extLst>
          </p:cNvPr>
          <p:cNvSpPr/>
          <p:nvPr/>
        </p:nvSpPr>
        <p:spPr>
          <a:xfrm>
            <a:off x="11404623" y="2359508"/>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5" name="CaixaDeTexto 134">
            <a:extLst>
              <a:ext uri="{FF2B5EF4-FFF2-40B4-BE49-F238E27FC236}">
                <a16:creationId xmlns:a16="http://schemas.microsoft.com/office/drawing/2014/main" id="{06ADD0B1-CC9A-6D86-CB56-2BEC3A299A90}"/>
              </a:ext>
            </a:extLst>
          </p:cNvPr>
          <p:cNvSpPr txBox="1"/>
          <p:nvPr/>
        </p:nvSpPr>
        <p:spPr>
          <a:xfrm>
            <a:off x="11115381" y="2723434"/>
            <a:ext cx="948889" cy="400110"/>
          </a:xfrm>
          <a:prstGeom prst="rect">
            <a:avLst/>
          </a:prstGeom>
          <a:noFill/>
        </p:spPr>
        <p:txBody>
          <a:bodyPr wrap="square">
            <a:spAutoFit/>
          </a:bodyPr>
          <a:lstStyle/>
          <a:p>
            <a:pPr algn="ctr"/>
            <a:r>
              <a:rPr lang="pt-BR" sz="1000" i="1" dirty="0"/>
              <a:t>Transporte contabilizado</a:t>
            </a:r>
          </a:p>
        </p:txBody>
      </p:sp>
      <p:cxnSp>
        <p:nvCxnSpPr>
          <p:cNvPr id="136" name="Conector de Seta Reta 135">
            <a:extLst>
              <a:ext uri="{FF2B5EF4-FFF2-40B4-BE49-F238E27FC236}">
                <a16:creationId xmlns:a16="http://schemas.microsoft.com/office/drawing/2014/main" id="{37D16C54-0314-BB18-F9E7-EE959F4C882E}"/>
              </a:ext>
            </a:extLst>
          </p:cNvPr>
          <p:cNvCxnSpPr>
            <a:cxnSpLocks/>
            <a:stCxn id="80" idx="3"/>
            <a:endCxn id="134" idx="2"/>
          </p:cNvCxnSpPr>
          <p:nvPr/>
        </p:nvCxnSpPr>
        <p:spPr>
          <a:xfrm flipV="1">
            <a:off x="10886457" y="2544710"/>
            <a:ext cx="51816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Elipse 137">
            <a:extLst>
              <a:ext uri="{FF2B5EF4-FFF2-40B4-BE49-F238E27FC236}">
                <a16:creationId xmlns:a16="http://schemas.microsoft.com/office/drawing/2014/main" id="{55000191-4788-7265-3D95-8944DADAAE08}"/>
              </a:ext>
            </a:extLst>
          </p:cNvPr>
          <p:cNvSpPr/>
          <p:nvPr/>
        </p:nvSpPr>
        <p:spPr>
          <a:xfrm>
            <a:off x="11404623" y="4139390"/>
            <a:ext cx="370404" cy="370404"/>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9" name="CaixaDeTexto 138">
            <a:extLst>
              <a:ext uri="{FF2B5EF4-FFF2-40B4-BE49-F238E27FC236}">
                <a16:creationId xmlns:a16="http://schemas.microsoft.com/office/drawing/2014/main" id="{540504CD-08D7-37C7-5B55-FC7CFEEB3343}"/>
              </a:ext>
            </a:extLst>
          </p:cNvPr>
          <p:cNvSpPr txBox="1"/>
          <p:nvPr/>
        </p:nvSpPr>
        <p:spPr>
          <a:xfrm>
            <a:off x="11115381" y="4456885"/>
            <a:ext cx="948889" cy="400110"/>
          </a:xfrm>
          <a:prstGeom prst="rect">
            <a:avLst/>
          </a:prstGeom>
          <a:noFill/>
        </p:spPr>
        <p:txBody>
          <a:bodyPr wrap="square">
            <a:spAutoFit/>
          </a:bodyPr>
          <a:lstStyle/>
          <a:p>
            <a:pPr algn="ctr"/>
            <a:r>
              <a:rPr lang="pt-BR" sz="1000" i="1" dirty="0"/>
              <a:t>Impostos contabilizados</a:t>
            </a:r>
          </a:p>
        </p:txBody>
      </p:sp>
      <p:cxnSp>
        <p:nvCxnSpPr>
          <p:cNvPr id="140" name="Conector de Seta Reta 139">
            <a:extLst>
              <a:ext uri="{FF2B5EF4-FFF2-40B4-BE49-F238E27FC236}">
                <a16:creationId xmlns:a16="http://schemas.microsoft.com/office/drawing/2014/main" id="{395FD46A-C745-FBBC-F945-6EB691E3B042}"/>
              </a:ext>
            </a:extLst>
          </p:cNvPr>
          <p:cNvCxnSpPr>
            <a:cxnSpLocks/>
            <a:stCxn id="78" idx="3"/>
            <a:endCxn id="138" idx="2"/>
          </p:cNvCxnSpPr>
          <p:nvPr/>
        </p:nvCxnSpPr>
        <p:spPr>
          <a:xfrm flipV="1">
            <a:off x="10886457" y="4324592"/>
            <a:ext cx="51816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Conector de Seta Reta 141">
            <a:extLst>
              <a:ext uri="{FF2B5EF4-FFF2-40B4-BE49-F238E27FC236}">
                <a16:creationId xmlns:a16="http://schemas.microsoft.com/office/drawing/2014/main" id="{7338AAD7-EEA5-E60A-3B69-0047AA2F308E}"/>
              </a:ext>
            </a:extLst>
          </p:cNvPr>
          <p:cNvCxnSpPr>
            <a:cxnSpLocks/>
            <a:stCxn id="77" idx="2"/>
            <a:endCxn id="78" idx="0"/>
          </p:cNvCxnSpPr>
          <p:nvPr/>
        </p:nvCxnSpPr>
        <p:spPr>
          <a:xfrm>
            <a:off x="10410371" y="3827886"/>
            <a:ext cx="0" cy="2348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41568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3D5A6-52F0-C75E-B5FC-94DB6AFE4CCA}"/>
            </a:ext>
          </a:extLst>
        </p:cNvPr>
        <p:cNvGrpSpPr/>
        <p:nvPr/>
      </p:nvGrpSpPr>
      <p:grpSpPr>
        <a:xfrm>
          <a:off x="0" y="0"/>
          <a:ext cx="0" cy="0"/>
          <a:chOff x="0" y="0"/>
          <a:chExt cx="0" cy="0"/>
        </a:xfrm>
      </p:grpSpPr>
      <p:sp>
        <p:nvSpPr>
          <p:cNvPr id="5" name="Título 4">
            <a:extLst>
              <a:ext uri="{FF2B5EF4-FFF2-40B4-BE49-F238E27FC236}">
                <a16:creationId xmlns:a16="http://schemas.microsoft.com/office/drawing/2014/main" id="{B5366BF6-5A11-EC04-F333-8F53FE2A8727}"/>
              </a:ext>
            </a:extLst>
          </p:cNvPr>
          <p:cNvSpPr>
            <a:spLocks noGrp="1"/>
          </p:cNvSpPr>
          <p:nvPr>
            <p:ph type="title"/>
          </p:nvPr>
        </p:nvSpPr>
        <p:spPr/>
        <p:txBody>
          <a:bodyPr/>
          <a:lstStyle/>
          <a:p>
            <a:r>
              <a:rPr lang="pt-BR" dirty="0"/>
              <a:t>Esteira Financeira</a:t>
            </a:r>
            <a:br>
              <a:rPr lang="pt-BR" dirty="0"/>
            </a:br>
            <a:r>
              <a:rPr lang="pt-BR" sz="1600" b="0" dirty="0"/>
              <a:t>Processo| Pedidos de Compras de Materiais Importados</a:t>
            </a:r>
          </a:p>
        </p:txBody>
      </p:sp>
      <p:sp>
        <p:nvSpPr>
          <p:cNvPr id="20" name="Retângulo 26">
            <a:extLst>
              <a:ext uri="{FF2B5EF4-FFF2-40B4-BE49-F238E27FC236}">
                <a16:creationId xmlns:a16="http://schemas.microsoft.com/office/drawing/2014/main" id="{8D57BE0C-9535-6956-DDF0-A5A711CF87F1}"/>
              </a:ext>
            </a:extLst>
          </p:cNvPr>
          <p:cNvSpPr/>
          <p:nvPr/>
        </p:nvSpPr>
        <p:spPr>
          <a:xfrm rot="305734">
            <a:off x="4856572" y="2925387"/>
            <a:ext cx="2478857" cy="1007225"/>
          </a:xfrm>
          <a:prstGeom prst="rect">
            <a:avLst/>
          </a:prstGeom>
          <a:solidFill>
            <a:srgbClr val="FFFF99"/>
          </a:solidFill>
          <a:ln w="127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0000"/>
                </a:solidFill>
              </a:rPr>
              <a:t>Em Desenvolvimento</a:t>
            </a:r>
          </a:p>
        </p:txBody>
      </p:sp>
    </p:spTree>
    <p:extLst>
      <p:ext uri="{BB962C8B-B14F-4D97-AF65-F5344CB8AC3E}">
        <p14:creationId xmlns:p14="http://schemas.microsoft.com/office/powerpoint/2010/main" val="6954526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0F05-8432-10C6-5D56-7138B0274862}"/>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B87C5F9B-F205-B5AA-8E71-F8F164FBCA84}"/>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A78FC952-4F17-6ED1-ECA0-3DD57578D08C}"/>
              </a:ext>
            </a:extLst>
          </p:cNvPr>
          <p:cNvSpPr/>
          <p:nvPr/>
        </p:nvSpPr>
        <p:spPr>
          <a:xfrm>
            <a:off x="2711624" y="3826212"/>
            <a:ext cx="6552728" cy="291515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907F5D2E-6068-BD28-1AA8-7FC2F0CD1FA9}"/>
              </a:ext>
            </a:extLst>
          </p:cNvPr>
          <p:cNvSpPr/>
          <p:nvPr/>
        </p:nvSpPr>
        <p:spPr>
          <a:xfrm>
            <a:off x="2711624" y="369828"/>
            <a:ext cx="6552728" cy="2915156"/>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08266095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34961-1725-136C-8C6E-35AE07840921}"/>
            </a:ext>
          </a:extLst>
        </p:cNvPr>
        <p:cNvGrpSpPr/>
        <p:nvPr/>
      </p:nvGrpSpPr>
      <p:grpSpPr>
        <a:xfrm>
          <a:off x="0" y="0"/>
          <a:ext cx="0" cy="0"/>
          <a:chOff x="0" y="0"/>
          <a:chExt cx="0" cy="0"/>
        </a:xfrm>
      </p:grpSpPr>
      <p:sp>
        <p:nvSpPr>
          <p:cNvPr id="62" name="Title 61">
            <a:extLst>
              <a:ext uri="{FF2B5EF4-FFF2-40B4-BE49-F238E27FC236}">
                <a16:creationId xmlns:a16="http://schemas.microsoft.com/office/drawing/2014/main" id="{722ECA58-89E3-C312-7AEE-9B2EB08D94E8}"/>
              </a:ext>
            </a:extLst>
          </p:cNvPr>
          <p:cNvSpPr>
            <a:spLocks noGrp="1"/>
          </p:cNvSpPr>
          <p:nvPr>
            <p:ph type="title"/>
          </p:nvPr>
        </p:nvSpPr>
        <p:spPr/>
        <p:txBody>
          <a:bodyPr/>
          <a:lstStyle/>
          <a:p>
            <a:r>
              <a:rPr lang="pt-BR" dirty="0"/>
              <a:t>HUB de Obras</a:t>
            </a:r>
            <a:br>
              <a:rPr lang="pt-BR" dirty="0"/>
            </a:br>
            <a:r>
              <a:rPr lang="pt-BR" sz="1800" b="0" dirty="0"/>
              <a:t>visão geral de escopo e funções</a:t>
            </a:r>
            <a:endParaRPr lang="en-BR" b="0" dirty="0"/>
          </a:p>
        </p:txBody>
      </p:sp>
      <p:sp>
        <p:nvSpPr>
          <p:cNvPr id="116" name="CaixaDeTexto 557">
            <a:extLst>
              <a:ext uri="{FF2B5EF4-FFF2-40B4-BE49-F238E27FC236}">
                <a16:creationId xmlns:a16="http://schemas.microsoft.com/office/drawing/2014/main" id="{53D4787B-58B4-CA55-B129-C26B3EEC0C61}"/>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1FDD6A75-E44A-CC8E-DBF8-C0AA399D8F74}"/>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0417AB2D-77B4-F1C8-E144-36E2DDC9B1AD}"/>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3D67220A-9FF8-76E3-F88E-3051DD62F4A7}"/>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1" name="CaixaDeTexto 21">
            <a:extLst>
              <a:ext uri="{FF2B5EF4-FFF2-40B4-BE49-F238E27FC236}">
                <a16:creationId xmlns:a16="http://schemas.microsoft.com/office/drawing/2014/main" id="{25F7760C-ACBD-E130-E20C-811AA45A046F}"/>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BAF9E710-3E93-733F-5999-F667E2BFC189}"/>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B53E294B-AD1F-6D05-137A-F828EB6837F6}"/>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E01B2AFF-E176-D241-320F-D597FFB097E4}"/>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0672A81B-E9A1-FA16-7A4D-AC757C8727F0}"/>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B5A20B7A-A20D-4B0F-F7DA-BDF5DC606509}"/>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5302A5C5-5A06-5AD2-4E3C-48E11D7EFEF1}"/>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9" name="CaixaDeTexto 21">
            <a:extLst>
              <a:ext uri="{FF2B5EF4-FFF2-40B4-BE49-F238E27FC236}">
                <a16:creationId xmlns:a16="http://schemas.microsoft.com/office/drawing/2014/main" id="{AED078E7-5B8A-DDDF-BF99-92D5294E46ED}"/>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D9B0BF7B-2663-F7CD-B8CB-6E5442DD914E}"/>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410B5311-B455-7436-C12F-73AAA0F4D2EA}"/>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1D438621-9C70-6CC6-8526-F0F50C86AD6E}"/>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8F429E8A-8524-6E29-704F-8263C37F2D62}"/>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D209B9BC-B4B3-36D5-BA48-843541CB12E5}"/>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657ECED1-9524-2203-5965-09C0C6AAD53F}"/>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37" name="CaixaDeTexto 21">
            <a:extLst>
              <a:ext uri="{FF2B5EF4-FFF2-40B4-BE49-F238E27FC236}">
                <a16:creationId xmlns:a16="http://schemas.microsoft.com/office/drawing/2014/main" id="{F514F67C-4DD2-C915-D992-63762B592281}"/>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78035E31-4436-26FF-0383-510DAD267D3E}"/>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0F3A92E6-91EE-4A04-3D7E-B758B060E55A}"/>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73C7F505-3A14-5787-8D3D-162B4F3E97E7}"/>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7EACC8C1-B26A-DBF7-DB6C-B629BE92A4F1}"/>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67" name="CaixaDeTexto 21">
            <a:extLst>
              <a:ext uri="{FF2B5EF4-FFF2-40B4-BE49-F238E27FC236}">
                <a16:creationId xmlns:a16="http://schemas.microsoft.com/office/drawing/2014/main" id="{F897F092-4DBE-FFD4-4AA2-9BC29752E623}"/>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9B8A5260-4A19-CB5D-CDF0-2F2E84188361}"/>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BB7F0D21-957A-6EC1-B31E-1F676203D03A}"/>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17EA5894-870B-DC77-80C6-7C4DC9FF35FB}"/>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DFB00B2E-FBFE-2EE2-469D-973F2868FC88}"/>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57EF8543-7A7C-83E7-B2C5-FDE2240E23BE}"/>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97B567B7-F0D7-3089-66F1-8D0D6623AE83}"/>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5A3CC6B6-01A4-1B73-5AC2-AF6B0569094E}"/>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E73A8273-1C91-87E0-8956-5E25C7FBA406}"/>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0762466D-7EF4-5E9F-5BFD-537F6245E6A9}"/>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89F2DEB6-D8DA-C4B2-0DBA-68193E7E91CC}"/>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4CCFB3F7-BF14-7C31-D38D-ECCDC8DAB802}"/>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131" name="CaixaDeTexto 21">
            <a:extLst>
              <a:ext uri="{FF2B5EF4-FFF2-40B4-BE49-F238E27FC236}">
                <a16:creationId xmlns:a16="http://schemas.microsoft.com/office/drawing/2014/main" id="{A75F3DB7-DD84-9626-DF39-CF6C8B77965C}"/>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a:t>
            </a:r>
            <a:r>
              <a:rPr lang="pt-BR"/>
              <a:t>. GMUDs</a:t>
            </a:r>
            <a:endParaRPr lang="pt-BR" dirty="0"/>
          </a:p>
        </p:txBody>
      </p:sp>
      <p:sp>
        <p:nvSpPr>
          <p:cNvPr id="3" name="Retângulo 2">
            <a:extLst>
              <a:ext uri="{FF2B5EF4-FFF2-40B4-BE49-F238E27FC236}">
                <a16:creationId xmlns:a16="http://schemas.microsoft.com/office/drawing/2014/main" id="{0F47FEFE-9B03-315D-527D-75F5ACC7B899}"/>
              </a:ext>
            </a:extLst>
          </p:cNvPr>
          <p:cNvSpPr/>
          <p:nvPr/>
        </p:nvSpPr>
        <p:spPr>
          <a:xfrm>
            <a:off x="1328313" y="948773"/>
            <a:ext cx="10672343" cy="5605649"/>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8" name="CaixaDeTexto 21">
            <a:extLst>
              <a:ext uri="{FF2B5EF4-FFF2-40B4-BE49-F238E27FC236}">
                <a16:creationId xmlns:a16="http://schemas.microsoft.com/office/drawing/2014/main" id="{57FF269B-1BF8-91E3-30B7-AEDF83A10287}"/>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42" name="CaixaDeTexto 21">
            <a:extLst>
              <a:ext uri="{FF2B5EF4-FFF2-40B4-BE49-F238E27FC236}">
                <a16:creationId xmlns:a16="http://schemas.microsoft.com/office/drawing/2014/main" id="{80553E81-D7AA-1FD4-E343-751B08650FB6}"/>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DC85F3F5-7323-16CC-0718-A8BA5D20CFEB}"/>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79BCEFF2-6646-3072-AC77-01507A83044C}"/>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2D3E8FEE-E3C5-EF5B-4B7F-795FFAE451B8}"/>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19" name="CaixaDeTexto 21">
            <a:extLst>
              <a:ext uri="{FF2B5EF4-FFF2-40B4-BE49-F238E27FC236}">
                <a16:creationId xmlns:a16="http://schemas.microsoft.com/office/drawing/2014/main" id="{22CF543F-1DFE-E579-16E8-DE3119EBB507}"/>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46" name="CaixaDeTexto 21">
            <a:extLst>
              <a:ext uri="{FF2B5EF4-FFF2-40B4-BE49-F238E27FC236}">
                <a16:creationId xmlns:a16="http://schemas.microsoft.com/office/drawing/2014/main" id="{83030B6F-2F88-0DCF-BF69-2D26EF28725B}"/>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56CEFDBC-3710-7B8E-A781-29FFB6AABBD7}"/>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2174B341-4F6F-AC5E-D8ED-13B4C2BA2BD3}"/>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B4E3FB97-9F6D-2BFA-BA18-D7AEB4FD97CB}"/>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a:t>
            </a:r>
            <a:br>
              <a:rPr lang="pt-BR" sz="1000" b="1" i="1" dirty="0"/>
            </a:br>
            <a:r>
              <a:rPr lang="pt-BR" sz="1000" b="1" i="1" dirty="0"/>
              <a:t>meses</a:t>
            </a:r>
          </a:p>
        </p:txBody>
      </p:sp>
      <p:sp>
        <p:nvSpPr>
          <p:cNvPr id="150" name="CaixaDeTexto 21">
            <a:extLst>
              <a:ext uri="{FF2B5EF4-FFF2-40B4-BE49-F238E27FC236}">
                <a16:creationId xmlns:a16="http://schemas.microsoft.com/office/drawing/2014/main" id="{EB4977F7-860B-1D8B-5C33-02F252055B3C}"/>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C6CD1450-C671-7902-2BD2-87A9DB040D10}"/>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10CF4FB1-24BB-0D82-AB00-E24120FE7BEE}"/>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95899BAC-E31F-A582-046E-1C71ACF4A258}"/>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54" name="CaixaDeTexto 21">
            <a:extLst>
              <a:ext uri="{FF2B5EF4-FFF2-40B4-BE49-F238E27FC236}">
                <a16:creationId xmlns:a16="http://schemas.microsoft.com/office/drawing/2014/main" id="{48C9D807-4E36-3C4F-B37A-AE7506EC6C6F}"/>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4F36652C-32BD-9D11-CCC0-5FF69DC4FF5F}"/>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025D23E1-ABD8-9E6A-9AE7-F7ED1C0FFCC3}"/>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AD28C43A-3653-CBAD-75C4-AA0DB1198707}"/>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58" name="CaixaDeTexto 21">
            <a:extLst>
              <a:ext uri="{FF2B5EF4-FFF2-40B4-BE49-F238E27FC236}">
                <a16:creationId xmlns:a16="http://schemas.microsoft.com/office/drawing/2014/main" id="{43B9E19D-A270-8375-87D2-A9C7A964A309}"/>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9BBE7A6C-3BDA-2146-714D-B187BCB1407A}"/>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EB3081E4-C728-1226-198F-784A01D41205}"/>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28ADC62A-0068-FE2C-1117-6B603FA4EE97}"/>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3B5195DC-7F55-7530-93E8-97B67A39496B}"/>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28D70CA0-2B06-6171-6D62-311E60D4C0D0}"/>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469E1F8B-2D19-3882-193B-FFDED0FBC224}"/>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35A73642-10C5-D6BE-08E9-3DB626C93262}"/>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BDF66C00-D93D-F0AA-6965-93B36C112A15}"/>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pic>
        <p:nvPicPr>
          <p:cNvPr id="5" name="Picture 2">
            <a:extLst>
              <a:ext uri="{FF2B5EF4-FFF2-40B4-BE49-F238E27FC236}">
                <a16:creationId xmlns:a16="http://schemas.microsoft.com/office/drawing/2014/main" id="{BD2C407E-D9A4-80AB-0B88-6211CD40FD1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59268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760EF-141D-5132-1A16-DF75CCBFAF1F}"/>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C7451E96-BEAC-7EA6-3891-A19B46B33ECE}"/>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BC763838-8126-1B9F-BBED-A5D2669E5189}"/>
              </a:ext>
            </a:extLst>
          </p:cNvPr>
          <p:cNvSpPr/>
          <p:nvPr/>
        </p:nvSpPr>
        <p:spPr>
          <a:xfrm>
            <a:off x="2711624" y="4221088"/>
            <a:ext cx="6552728" cy="252028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516CECB5-92E8-A298-811D-A270AF07DC3D}"/>
              </a:ext>
            </a:extLst>
          </p:cNvPr>
          <p:cNvSpPr/>
          <p:nvPr/>
        </p:nvSpPr>
        <p:spPr>
          <a:xfrm>
            <a:off x="2711624" y="369828"/>
            <a:ext cx="6552728" cy="3419212"/>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5714858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76955-6775-C836-479F-1B9C8854BC09}"/>
            </a:ext>
          </a:extLst>
        </p:cNvPr>
        <p:cNvGrpSpPr/>
        <p:nvPr/>
      </p:nvGrpSpPr>
      <p:grpSpPr>
        <a:xfrm>
          <a:off x="0" y="0"/>
          <a:ext cx="0" cy="0"/>
          <a:chOff x="0" y="0"/>
          <a:chExt cx="0" cy="0"/>
        </a:xfrm>
      </p:grpSpPr>
      <p:sp>
        <p:nvSpPr>
          <p:cNvPr id="128" name="CaixaDeTexto 21">
            <a:extLst>
              <a:ext uri="{FF2B5EF4-FFF2-40B4-BE49-F238E27FC236}">
                <a16:creationId xmlns:a16="http://schemas.microsoft.com/office/drawing/2014/main" id="{27103AB5-C5E4-5D07-EF8E-4692EA9F03D4}"/>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62" name="Title 61">
            <a:extLst>
              <a:ext uri="{FF2B5EF4-FFF2-40B4-BE49-F238E27FC236}">
                <a16:creationId xmlns:a16="http://schemas.microsoft.com/office/drawing/2014/main" id="{4ED5D8EF-B7CD-4057-21DD-610CBF576074}"/>
              </a:ext>
            </a:extLst>
          </p:cNvPr>
          <p:cNvSpPr>
            <a:spLocks noGrp="1"/>
          </p:cNvSpPr>
          <p:nvPr>
            <p:ph type="title"/>
          </p:nvPr>
        </p:nvSpPr>
        <p:spPr/>
        <p:txBody>
          <a:bodyPr/>
          <a:lstStyle/>
          <a:p>
            <a:r>
              <a:rPr lang="pt-BR" dirty="0"/>
              <a:t>HUB de Obras</a:t>
            </a:r>
            <a:br>
              <a:rPr lang="pt-BR" dirty="0"/>
            </a:br>
            <a:r>
              <a:rPr lang="pt-BR" sz="1800" b="0" dirty="0"/>
              <a:t>visão geral de escopo e funções</a:t>
            </a:r>
            <a:endParaRPr lang="en-BR" b="0" dirty="0"/>
          </a:p>
        </p:txBody>
      </p:sp>
      <p:sp>
        <p:nvSpPr>
          <p:cNvPr id="116" name="CaixaDeTexto 557">
            <a:extLst>
              <a:ext uri="{FF2B5EF4-FFF2-40B4-BE49-F238E27FC236}">
                <a16:creationId xmlns:a16="http://schemas.microsoft.com/office/drawing/2014/main" id="{1C17B8AF-4C3D-EFDC-B9E5-EDCB618E728D}"/>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37EB0C3D-A283-938F-0017-50367D060478}"/>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1C7BB555-2768-2FCC-206C-F60BF9CA32F2}"/>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86467412-B7AA-831D-B8D2-7EF6049E184D}"/>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1" name="CaixaDeTexto 21">
            <a:extLst>
              <a:ext uri="{FF2B5EF4-FFF2-40B4-BE49-F238E27FC236}">
                <a16:creationId xmlns:a16="http://schemas.microsoft.com/office/drawing/2014/main" id="{8CE06FD9-907E-00BB-D94C-0BF3DFD440D7}"/>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C2AD6CC2-5354-834E-AB1D-4AE9DAC5F175}"/>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9BF74702-7279-A406-7E52-E5CC5B9B6401}"/>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010195D1-7F6B-6521-259A-B73F2690C112}"/>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DBDC8A93-EAB3-BE7E-68E5-C81B615DEFE2}"/>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6D22734A-7FF2-93EA-8A30-7232A4E7F504}"/>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08C857E1-6C98-1222-C915-88CB6F189471}"/>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30" name="CaixaDeTexto 21">
            <a:extLst>
              <a:ext uri="{FF2B5EF4-FFF2-40B4-BE49-F238E27FC236}">
                <a16:creationId xmlns:a16="http://schemas.microsoft.com/office/drawing/2014/main" id="{69023CBF-843D-DA2E-1ED9-CD609FCCC5CB}"/>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DF00429B-D96C-C1D8-BA7F-CCF0B388659E}"/>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E258CFB3-CDD0-F49D-DAAE-723DAC97EB6B}"/>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6CA8E86B-55DE-59C9-5B0C-167C72594073}"/>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D201F7CC-88DF-CB85-7B13-D9922F030477}"/>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68F0073E-0071-21B9-16AE-BB3547707B65}"/>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37" name="CaixaDeTexto 21">
            <a:extLst>
              <a:ext uri="{FF2B5EF4-FFF2-40B4-BE49-F238E27FC236}">
                <a16:creationId xmlns:a16="http://schemas.microsoft.com/office/drawing/2014/main" id="{BF90BD31-2FFA-57E7-5388-073EC377386F}"/>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C69C2F13-8927-86C3-A602-4D6BB9C7F210}"/>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1C4EEB86-8A04-9582-7886-AFDA3D580498}"/>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88119A79-654D-04FE-6F50-32E86BA9BDD1}"/>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5EC55EA4-DB6A-7A9E-5C92-84D145384973}"/>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67" name="CaixaDeTexto 21">
            <a:extLst>
              <a:ext uri="{FF2B5EF4-FFF2-40B4-BE49-F238E27FC236}">
                <a16:creationId xmlns:a16="http://schemas.microsoft.com/office/drawing/2014/main" id="{E490AF87-05C2-0E5E-2A57-C4EA3D177569}"/>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D895F481-0238-6ED7-27E9-280B2A531EA3}"/>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F45D5DA6-C581-6FD9-35BA-C74D872B78C3}"/>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C8FB1703-69C7-6014-1754-0BEB8DF6FE11}"/>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57827BEB-AEBE-5381-6CD5-BB7771510E98}"/>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BC8F9087-F29B-30B4-B316-8B5550574CB8}"/>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F29151CA-98ED-982C-CD42-2583D25AE178}"/>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E8FF4484-770D-F7BB-51A4-3CBD697A04AD}"/>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6E9EF46A-6CB1-B66F-53BC-7CD4AAC2FFCC}"/>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38658BBB-2D72-1582-A5A3-5D574C817D2B}"/>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E249A2A2-9DAA-3149-AE42-D8DF1E94C466}"/>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1D4059D7-FE5D-6D8A-175A-117E23970F92}"/>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sp>
        <p:nvSpPr>
          <p:cNvPr id="131" name="CaixaDeTexto 21">
            <a:extLst>
              <a:ext uri="{FF2B5EF4-FFF2-40B4-BE49-F238E27FC236}">
                <a16:creationId xmlns:a16="http://schemas.microsoft.com/office/drawing/2014/main" id="{6E71BF68-203C-B202-7A80-201C3E551B77}"/>
              </a:ext>
            </a:extLst>
          </p:cNvPr>
          <p:cNvSpPr txBox="1"/>
          <p:nvPr/>
        </p:nvSpPr>
        <p:spPr>
          <a:xfrm>
            <a:off x="5656728" y="5662007"/>
            <a:ext cx="3070364"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900" b="1">
                <a:latin typeface="Calibri"/>
                <a:ea typeface="Calibri" panose="020F0502020204030204" pitchFamily="34" charset="0"/>
                <a:cs typeface="Calibri"/>
              </a:defRPr>
            </a:lvl1pPr>
          </a:lstStyle>
          <a:p>
            <a:r>
              <a:rPr lang="pt-BR" dirty="0"/>
              <a:t>11</a:t>
            </a:r>
            <a:r>
              <a:rPr lang="pt-BR"/>
              <a:t>. GMUDs</a:t>
            </a:r>
            <a:endParaRPr lang="pt-BR" dirty="0"/>
          </a:p>
        </p:txBody>
      </p:sp>
      <p:sp>
        <p:nvSpPr>
          <p:cNvPr id="3" name="Retângulo 2">
            <a:extLst>
              <a:ext uri="{FF2B5EF4-FFF2-40B4-BE49-F238E27FC236}">
                <a16:creationId xmlns:a16="http://schemas.microsoft.com/office/drawing/2014/main" id="{893291D4-7237-F187-83A8-C146EDF71CFE}"/>
              </a:ext>
            </a:extLst>
          </p:cNvPr>
          <p:cNvSpPr/>
          <p:nvPr/>
        </p:nvSpPr>
        <p:spPr>
          <a:xfrm>
            <a:off x="1328313" y="948773"/>
            <a:ext cx="10672343" cy="5605649"/>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2" name="CaixaDeTexto 21">
            <a:extLst>
              <a:ext uri="{FF2B5EF4-FFF2-40B4-BE49-F238E27FC236}">
                <a16:creationId xmlns:a16="http://schemas.microsoft.com/office/drawing/2014/main" id="{E12FBBAC-9D03-AC30-F112-1D512EE39B22}"/>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C1902015-5D28-321E-7446-17AF4386EBFF}"/>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C72241C7-A19A-BDDF-C939-670CCAD6948A}"/>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6C59E468-58A2-4DA7-D41D-ECD36F51B04A}"/>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19" name="CaixaDeTexto 21">
            <a:extLst>
              <a:ext uri="{FF2B5EF4-FFF2-40B4-BE49-F238E27FC236}">
                <a16:creationId xmlns:a16="http://schemas.microsoft.com/office/drawing/2014/main" id="{6CE7D437-BE4B-C62B-7571-AEC8C980F012}"/>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
        <p:nvSpPr>
          <p:cNvPr id="146" name="CaixaDeTexto 21">
            <a:extLst>
              <a:ext uri="{FF2B5EF4-FFF2-40B4-BE49-F238E27FC236}">
                <a16:creationId xmlns:a16="http://schemas.microsoft.com/office/drawing/2014/main" id="{CE20D92E-B694-4797-715F-046FBEE06A38}"/>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5C857E86-6EF9-F1B3-5079-77C3D6F1A260}"/>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9A5161EC-9264-3781-8AE7-028DE98CAA8A}"/>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CA41B129-F2D2-6A91-EE8C-38E7A1497F5A}"/>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a:t>
            </a:r>
            <a:br>
              <a:rPr lang="pt-BR" sz="1000" b="1" i="1" dirty="0"/>
            </a:br>
            <a:r>
              <a:rPr lang="pt-BR" sz="1000" b="1" i="1" dirty="0"/>
              <a:t>meses</a:t>
            </a:r>
          </a:p>
        </p:txBody>
      </p:sp>
      <p:sp>
        <p:nvSpPr>
          <p:cNvPr id="150" name="CaixaDeTexto 21">
            <a:extLst>
              <a:ext uri="{FF2B5EF4-FFF2-40B4-BE49-F238E27FC236}">
                <a16:creationId xmlns:a16="http://schemas.microsoft.com/office/drawing/2014/main" id="{CA37E087-25DE-E7E8-614E-E9906AB8D09C}"/>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DB7E8EFA-0F26-8240-7500-CFEC11AD93A4}"/>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A2BA9D5F-4EB1-7670-ADEE-741FB14C3375}"/>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941BF01E-5A31-488E-52EA-92A69F6F0744}"/>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54" name="CaixaDeTexto 21">
            <a:extLst>
              <a:ext uri="{FF2B5EF4-FFF2-40B4-BE49-F238E27FC236}">
                <a16:creationId xmlns:a16="http://schemas.microsoft.com/office/drawing/2014/main" id="{D0800693-0B3D-40D9-335D-DF869791E172}"/>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ACF6E9FB-A40D-89D5-6751-4A73FBB4EEC1}"/>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9A3A7197-A4BB-C859-827E-AC25EFE476C0}"/>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5BBE6460-C002-28F0-D5F3-630B8CC68C8B}"/>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a:t>
            </a:r>
            <a:br>
              <a:rPr lang="pt-BR" sz="1000" b="1" i="1" dirty="0"/>
            </a:br>
            <a:r>
              <a:rPr lang="pt-BR" sz="1000" b="1" i="1" dirty="0"/>
              <a:t>meses</a:t>
            </a:r>
          </a:p>
        </p:txBody>
      </p:sp>
      <p:sp>
        <p:nvSpPr>
          <p:cNvPr id="158" name="CaixaDeTexto 21">
            <a:extLst>
              <a:ext uri="{FF2B5EF4-FFF2-40B4-BE49-F238E27FC236}">
                <a16:creationId xmlns:a16="http://schemas.microsoft.com/office/drawing/2014/main" id="{BEA64D0E-31F2-DC72-3676-F1430DDF2B2A}"/>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7FB314C1-9C5A-49DF-8145-626F1D046BAF}"/>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A1ED08B9-A099-0C70-5CFF-DFA5E8BE7D1A}"/>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32717E68-07E7-106D-3039-A6BDBADA7E5D}"/>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30C988EF-9925-D0D4-804B-F6F5D179DCBE}"/>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7A28D310-5F01-6667-1916-7900F7CBAD11}"/>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115151DE-1DAA-603F-D804-A2C050DF48F7}"/>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EC41844D-C215-C42F-C100-4654D46CFE0D}"/>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CD4C9978-FEB1-AF80-056A-0AC61FF4FF6F}"/>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29" name="CaixaDeTexto 21">
            <a:extLst>
              <a:ext uri="{FF2B5EF4-FFF2-40B4-BE49-F238E27FC236}">
                <a16:creationId xmlns:a16="http://schemas.microsoft.com/office/drawing/2014/main" id="{F0994A95-7377-9B28-1E30-1179FD4A3471}"/>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pic>
        <p:nvPicPr>
          <p:cNvPr id="2" name="Picture 2">
            <a:extLst>
              <a:ext uri="{FF2B5EF4-FFF2-40B4-BE49-F238E27FC236}">
                <a16:creationId xmlns:a16="http://schemas.microsoft.com/office/drawing/2014/main" id="{EA9BB469-31F4-A8F7-1156-EBFD8E8982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26164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F768EC9B-A88B-2FFA-A383-BE1C218A3B5F}"/>
              </a:ext>
            </a:extLst>
          </p:cNvPr>
          <p:cNvSpPr>
            <a:spLocks noGrp="1"/>
          </p:cNvSpPr>
          <p:nvPr>
            <p:ph type="title"/>
          </p:nvPr>
        </p:nvSpPr>
        <p:spPr/>
        <p:txBody>
          <a:bodyPr/>
          <a:lstStyle/>
          <a:p>
            <a:r>
              <a:rPr lang="pt-BR" dirty="0"/>
              <a:t>Podemos categorizar os serviços em 3 tipos que possuem dinâmicas distintas</a:t>
            </a:r>
          </a:p>
        </p:txBody>
      </p:sp>
      <p:sp>
        <p:nvSpPr>
          <p:cNvPr id="12" name="Retângulo 11">
            <a:extLst>
              <a:ext uri="{FF2B5EF4-FFF2-40B4-BE49-F238E27FC236}">
                <a16:creationId xmlns:a16="http://schemas.microsoft.com/office/drawing/2014/main" id="{F730D028-FC24-6939-5CC1-F06DEF0EC595}"/>
              </a:ext>
            </a:extLst>
          </p:cNvPr>
          <p:cNvSpPr/>
          <p:nvPr/>
        </p:nvSpPr>
        <p:spPr>
          <a:xfrm>
            <a:off x="1103842" y="1484784"/>
            <a:ext cx="9984316" cy="645196"/>
          </a:xfrm>
          <a:prstGeom prst="rect">
            <a:avLst/>
          </a:prstGeom>
          <a:solidFill>
            <a:srgbClr val="014A65"/>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sz="2000" b="1" dirty="0">
                <a:solidFill>
                  <a:schemeClr val="bg1"/>
                </a:solidFill>
              </a:rPr>
              <a:t>Tipos de Serviços</a:t>
            </a:r>
          </a:p>
        </p:txBody>
      </p:sp>
      <p:grpSp>
        <p:nvGrpSpPr>
          <p:cNvPr id="13" name="Agrupar 12">
            <a:extLst>
              <a:ext uri="{FF2B5EF4-FFF2-40B4-BE49-F238E27FC236}">
                <a16:creationId xmlns:a16="http://schemas.microsoft.com/office/drawing/2014/main" id="{889EAD99-644D-E5AA-A605-A86E10E58ECE}"/>
              </a:ext>
            </a:extLst>
          </p:cNvPr>
          <p:cNvGrpSpPr/>
          <p:nvPr/>
        </p:nvGrpSpPr>
        <p:grpSpPr>
          <a:xfrm>
            <a:off x="1275657" y="1887592"/>
            <a:ext cx="9640687" cy="645195"/>
            <a:chOff x="1064102" y="1887593"/>
            <a:chExt cx="9640687" cy="645195"/>
          </a:xfrm>
        </p:grpSpPr>
        <p:sp>
          <p:nvSpPr>
            <p:cNvPr id="9" name="Retângulo 8">
              <a:extLst>
                <a:ext uri="{FF2B5EF4-FFF2-40B4-BE49-F238E27FC236}">
                  <a16:creationId xmlns:a16="http://schemas.microsoft.com/office/drawing/2014/main" id="{96535A3F-6FC8-3F3B-3503-07C43A5FFBD9}"/>
                </a:ext>
              </a:extLst>
            </p:cNvPr>
            <p:cNvSpPr/>
            <p:nvPr/>
          </p:nvSpPr>
          <p:spPr>
            <a:xfrm>
              <a:off x="1064102" y="1887593"/>
              <a:ext cx="2682886" cy="645195"/>
            </a:xfrm>
            <a:prstGeom prst="rect">
              <a:avLst/>
            </a:prstGeom>
            <a:solidFill>
              <a:schemeClr val="bg1"/>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solidFill>
                    <a:schemeClr val="tx1"/>
                  </a:solidFill>
                </a:rPr>
                <a:t>Estaleiro</a:t>
              </a:r>
            </a:p>
          </p:txBody>
        </p:sp>
        <p:sp>
          <p:nvSpPr>
            <p:cNvPr id="10" name="Retângulo 9">
              <a:extLst>
                <a:ext uri="{FF2B5EF4-FFF2-40B4-BE49-F238E27FC236}">
                  <a16:creationId xmlns:a16="http://schemas.microsoft.com/office/drawing/2014/main" id="{B45444F8-C907-0132-B598-AE5EDC59CC7A}"/>
                </a:ext>
              </a:extLst>
            </p:cNvPr>
            <p:cNvSpPr/>
            <p:nvPr/>
          </p:nvSpPr>
          <p:spPr>
            <a:xfrm>
              <a:off x="4543002" y="1887593"/>
              <a:ext cx="2682886" cy="645195"/>
            </a:xfrm>
            <a:prstGeom prst="rect">
              <a:avLst/>
            </a:prstGeom>
            <a:solidFill>
              <a:schemeClr val="bg1"/>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solidFill>
                    <a:schemeClr val="tx1"/>
                  </a:solidFill>
                </a:rPr>
                <a:t>Oficinas</a:t>
              </a:r>
            </a:p>
          </p:txBody>
        </p:sp>
        <p:sp>
          <p:nvSpPr>
            <p:cNvPr id="11" name="Retângulo 10">
              <a:extLst>
                <a:ext uri="{FF2B5EF4-FFF2-40B4-BE49-F238E27FC236}">
                  <a16:creationId xmlns:a16="http://schemas.microsoft.com/office/drawing/2014/main" id="{440854C4-F97B-6842-ABD5-6C22FD0BDCBF}"/>
                </a:ext>
              </a:extLst>
            </p:cNvPr>
            <p:cNvSpPr/>
            <p:nvPr/>
          </p:nvSpPr>
          <p:spPr>
            <a:xfrm>
              <a:off x="8021903" y="1887593"/>
              <a:ext cx="2682886" cy="645195"/>
            </a:xfrm>
            <a:prstGeom prst="rect">
              <a:avLst/>
            </a:prstGeom>
            <a:solidFill>
              <a:schemeClr val="bg1"/>
            </a:solidFill>
            <a:ln w="3175">
              <a:solidFill>
                <a:srgbClr val="014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b="1" dirty="0">
                  <a:solidFill>
                    <a:schemeClr val="tx1"/>
                  </a:solidFill>
                </a:rPr>
                <a:t>Serviços sem custo contabilizado</a:t>
              </a:r>
            </a:p>
          </p:txBody>
        </p:sp>
      </p:grpSp>
      <p:sp>
        <p:nvSpPr>
          <p:cNvPr id="15" name="CaixaDeTexto 14">
            <a:extLst>
              <a:ext uri="{FF2B5EF4-FFF2-40B4-BE49-F238E27FC236}">
                <a16:creationId xmlns:a16="http://schemas.microsoft.com/office/drawing/2014/main" id="{6B31AE50-73C7-0C4E-CBF4-BE92EBE38CBC}"/>
              </a:ext>
            </a:extLst>
          </p:cNvPr>
          <p:cNvSpPr txBox="1"/>
          <p:nvPr/>
        </p:nvSpPr>
        <p:spPr>
          <a:xfrm>
            <a:off x="1275657" y="2636912"/>
            <a:ext cx="2682886" cy="2554545"/>
          </a:xfrm>
          <a:prstGeom prst="rect">
            <a:avLst/>
          </a:prstGeom>
          <a:noFill/>
        </p:spPr>
        <p:txBody>
          <a:bodyPr wrap="square" rtlCol="0">
            <a:spAutoFit/>
          </a:bodyPr>
          <a:lstStyle/>
          <a:p>
            <a:pPr marL="285750" indent="-285750">
              <a:buFont typeface="Wingdings" panose="05000000000000000000" pitchFamily="2" charset="2"/>
              <a:buChar char="§"/>
            </a:pPr>
            <a:r>
              <a:rPr lang="pt-BR" sz="1600" dirty="0"/>
              <a:t>Fornecedor contratado para prover o dique para Parada da embarcação e executar um pacote de serviços através de um aditivo de contrato, tendo como base uma planilha de preço unitário, negociada anualmente junto aos fornecedores</a:t>
            </a:r>
          </a:p>
        </p:txBody>
      </p:sp>
      <p:sp>
        <p:nvSpPr>
          <p:cNvPr id="16" name="CaixaDeTexto 15">
            <a:extLst>
              <a:ext uri="{FF2B5EF4-FFF2-40B4-BE49-F238E27FC236}">
                <a16:creationId xmlns:a16="http://schemas.microsoft.com/office/drawing/2014/main" id="{121EB80E-521D-355C-2917-AAF639F9114C}"/>
              </a:ext>
            </a:extLst>
          </p:cNvPr>
          <p:cNvSpPr txBox="1"/>
          <p:nvPr/>
        </p:nvSpPr>
        <p:spPr>
          <a:xfrm>
            <a:off x="4754557" y="2636912"/>
            <a:ext cx="2682886" cy="2062103"/>
          </a:xfrm>
          <a:prstGeom prst="rect">
            <a:avLst/>
          </a:prstGeom>
          <a:noFill/>
        </p:spPr>
        <p:txBody>
          <a:bodyPr wrap="square" rtlCol="0">
            <a:spAutoFit/>
          </a:bodyPr>
          <a:lstStyle/>
          <a:p>
            <a:pPr marL="285750" indent="-285750">
              <a:buFont typeface="Wingdings" panose="05000000000000000000" pitchFamily="2" charset="2"/>
              <a:buChar char="§"/>
            </a:pPr>
            <a:r>
              <a:rPr lang="pt-BR" sz="1600" dirty="0"/>
              <a:t>Prestadores de serviços especializados contratados e pagos por ordem de serviço (OS) concluída através da submissão e aprovação dos boletins de medição anexados ao formulário </a:t>
            </a:r>
            <a:r>
              <a:rPr lang="pt-BR" sz="1600" dirty="0" err="1"/>
              <a:t>Fluig</a:t>
            </a:r>
            <a:endParaRPr lang="pt-BR" sz="1600" dirty="0"/>
          </a:p>
        </p:txBody>
      </p:sp>
      <p:sp>
        <p:nvSpPr>
          <p:cNvPr id="17" name="CaixaDeTexto 16">
            <a:extLst>
              <a:ext uri="{FF2B5EF4-FFF2-40B4-BE49-F238E27FC236}">
                <a16:creationId xmlns:a16="http://schemas.microsoft.com/office/drawing/2014/main" id="{34E2945B-9BCC-74BE-910B-618C81989BCC}"/>
              </a:ext>
            </a:extLst>
          </p:cNvPr>
          <p:cNvSpPr txBox="1"/>
          <p:nvPr/>
        </p:nvSpPr>
        <p:spPr>
          <a:xfrm>
            <a:off x="8237311" y="2636912"/>
            <a:ext cx="2682886" cy="2800767"/>
          </a:xfrm>
          <a:prstGeom prst="rect">
            <a:avLst/>
          </a:prstGeom>
          <a:noFill/>
        </p:spPr>
        <p:txBody>
          <a:bodyPr wrap="square" rtlCol="0">
            <a:spAutoFit/>
          </a:bodyPr>
          <a:lstStyle/>
          <a:p>
            <a:pPr marL="285750" indent="-285750">
              <a:buFont typeface="Wingdings" panose="05000000000000000000" pitchFamily="2" charset="2"/>
              <a:buChar char="§"/>
            </a:pPr>
            <a:r>
              <a:rPr lang="pt-BR" sz="1600" dirty="0"/>
              <a:t>Atividades realizadas pelo time OCP, como atividades de inspeção de item de Classe, ou por fornecedores que possuem contrato para manutenção recorrente da embarcação e pagos regularmente de acordo com periodicidade negociada</a:t>
            </a:r>
          </a:p>
        </p:txBody>
      </p:sp>
    </p:spTree>
    <p:extLst>
      <p:ext uri="{BB962C8B-B14F-4D97-AF65-F5344CB8AC3E}">
        <p14:creationId xmlns:p14="http://schemas.microsoft.com/office/powerpoint/2010/main" val="4692678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3FDBD-7BE5-01CB-BF71-F74D0687CB6C}"/>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67D8B49C-B882-D63F-26E7-F388E135B969}"/>
              </a:ext>
            </a:extLst>
          </p:cNvPr>
          <p:cNvSpPr>
            <a:spLocks noGrp="1"/>
          </p:cNvSpPr>
          <p:nvPr>
            <p:ph type="title"/>
          </p:nvPr>
        </p:nvSpPr>
        <p:spPr/>
        <p:txBody>
          <a:bodyPr/>
          <a:lstStyle/>
          <a:p>
            <a:r>
              <a:rPr lang="pt-BR" dirty="0"/>
              <a:t>O fluxo de pagamento ao Estaleiro é feito através de 2 instrumentos principais: PPU e </a:t>
            </a:r>
            <a:r>
              <a:rPr lang="pt-BR" dirty="0" err="1"/>
              <a:t>VOR’s</a:t>
            </a:r>
            <a:endParaRPr lang="pt-BR" dirty="0"/>
          </a:p>
        </p:txBody>
      </p:sp>
      <p:pic>
        <p:nvPicPr>
          <p:cNvPr id="3" name="Imagem 2">
            <a:extLst>
              <a:ext uri="{FF2B5EF4-FFF2-40B4-BE49-F238E27FC236}">
                <a16:creationId xmlns:a16="http://schemas.microsoft.com/office/drawing/2014/main" id="{6637B8CE-E104-4A5A-65C3-7F76DA50C6C2}"/>
              </a:ext>
            </a:extLst>
          </p:cNvPr>
          <p:cNvPicPr>
            <a:picLocks noChangeAspect="1"/>
          </p:cNvPicPr>
          <p:nvPr/>
        </p:nvPicPr>
        <p:blipFill>
          <a:blip r:embed="rId2"/>
          <a:stretch>
            <a:fillRect/>
          </a:stretch>
        </p:blipFill>
        <p:spPr>
          <a:xfrm>
            <a:off x="551384" y="1772816"/>
            <a:ext cx="4896544" cy="2502279"/>
          </a:xfrm>
          <a:prstGeom prst="rect">
            <a:avLst/>
          </a:prstGeom>
          <a:effectLst>
            <a:outerShdw blurRad="50800" dist="38100" dir="8100000" algn="tr" rotWithShape="0">
              <a:prstClr val="black">
                <a:alpha val="40000"/>
              </a:prstClr>
            </a:outerShdw>
          </a:effectLst>
        </p:spPr>
      </p:pic>
      <p:pic>
        <p:nvPicPr>
          <p:cNvPr id="5" name="Imagem 4">
            <a:extLst>
              <a:ext uri="{FF2B5EF4-FFF2-40B4-BE49-F238E27FC236}">
                <a16:creationId xmlns:a16="http://schemas.microsoft.com/office/drawing/2014/main" id="{C6A9BF33-06D4-9326-0B7C-0DC3BCCA5676}"/>
              </a:ext>
            </a:extLst>
          </p:cNvPr>
          <p:cNvPicPr>
            <a:picLocks noChangeAspect="1"/>
          </p:cNvPicPr>
          <p:nvPr/>
        </p:nvPicPr>
        <p:blipFill>
          <a:blip r:embed="rId3"/>
          <a:stretch>
            <a:fillRect/>
          </a:stretch>
        </p:blipFill>
        <p:spPr>
          <a:xfrm>
            <a:off x="6097669" y="920155"/>
            <a:ext cx="3934374" cy="5344271"/>
          </a:xfrm>
          <a:prstGeom prst="rect">
            <a:avLst/>
          </a:prstGeom>
        </p:spPr>
      </p:pic>
    </p:spTree>
    <p:extLst>
      <p:ext uri="{BB962C8B-B14F-4D97-AF65-F5344CB8AC3E}">
        <p14:creationId xmlns:p14="http://schemas.microsoft.com/office/powerpoint/2010/main" val="9965963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760A0-727E-CCDA-232F-FA9FCA7C212F}"/>
            </a:ext>
          </a:extLst>
        </p:cNvPr>
        <p:cNvGrpSpPr/>
        <p:nvPr/>
      </p:nvGrpSpPr>
      <p:grpSpPr>
        <a:xfrm>
          <a:off x="0" y="0"/>
          <a:ext cx="0" cy="0"/>
          <a:chOff x="0" y="0"/>
          <a:chExt cx="0" cy="0"/>
        </a:xfrm>
      </p:grpSpPr>
      <p:sp>
        <p:nvSpPr>
          <p:cNvPr id="6" name="Título 5">
            <a:extLst>
              <a:ext uri="{FF2B5EF4-FFF2-40B4-BE49-F238E27FC236}">
                <a16:creationId xmlns:a16="http://schemas.microsoft.com/office/drawing/2014/main" id="{FC3C48D3-308F-6F11-D2E0-C6361D50A606}"/>
              </a:ext>
            </a:extLst>
          </p:cNvPr>
          <p:cNvSpPr>
            <a:spLocks noGrp="1"/>
          </p:cNvSpPr>
          <p:nvPr>
            <p:ph type="title"/>
          </p:nvPr>
        </p:nvSpPr>
        <p:spPr/>
        <p:txBody>
          <a:bodyPr/>
          <a:lstStyle/>
          <a:p>
            <a:r>
              <a:rPr lang="pt-BR" dirty="0"/>
              <a:t>O fluxo financeiro do Estaleiro é feito através de 2 instrumentos: PPU e </a:t>
            </a:r>
            <a:r>
              <a:rPr lang="pt-BR" dirty="0" err="1"/>
              <a:t>VOR’s</a:t>
            </a:r>
            <a:endParaRPr lang="pt-BR" dirty="0"/>
          </a:p>
        </p:txBody>
      </p:sp>
      <p:sp>
        <p:nvSpPr>
          <p:cNvPr id="2" name="Seta: para a Direita 1">
            <a:extLst>
              <a:ext uri="{FF2B5EF4-FFF2-40B4-BE49-F238E27FC236}">
                <a16:creationId xmlns:a16="http://schemas.microsoft.com/office/drawing/2014/main" id="{7F1A9D43-FF28-DC60-569B-BF10DCF73791}"/>
              </a:ext>
            </a:extLst>
          </p:cNvPr>
          <p:cNvSpPr/>
          <p:nvPr/>
        </p:nvSpPr>
        <p:spPr>
          <a:xfrm>
            <a:off x="405353" y="2601799"/>
            <a:ext cx="11472420" cy="2733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Elipse 3">
            <a:extLst>
              <a:ext uri="{FF2B5EF4-FFF2-40B4-BE49-F238E27FC236}">
                <a16:creationId xmlns:a16="http://schemas.microsoft.com/office/drawing/2014/main" id="{F35F3EAC-CC02-72AA-7EE9-93622115775A}"/>
              </a:ext>
            </a:extLst>
          </p:cNvPr>
          <p:cNvSpPr/>
          <p:nvPr/>
        </p:nvSpPr>
        <p:spPr>
          <a:xfrm>
            <a:off x="1166654"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585E8D91-13F6-9A0B-3316-BE9051BF6BA4}"/>
              </a:ext>
            </a:extLst>
          </p:cNvPr>
          <p:cNvSpPr txBox="1"/>
          <p:nvPr/>
        </p:nvSpPr>
        <p:spPr>
          <a:xfrm>
            <a:off x="516118" y="3128400"/>
            <a:ext cx="1482364" cy="553998"/>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Assinatura do contrato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10% para reserva do dique</a:t>
            </a:r>
          </a:p>
        </p:txBody>
      </p:sp>
      <p:sp>
        <p:nvSpPr>
          <p:cNvPr id="7" name="Elipse 6">
            <a:extLst>
              <a:ext uri="{FF2B5EF4-FFF2-40B4-BE49-F238E27FC236}">
                <a16:creationId xmlns:a16="http://schemas.microsoft.com/office/drawing/2014/main" id="{3152FC75-8F50-4A71-FB10-E4D866BAE115}"/>
              </a:ext>
            </a:extLst>
          </p:cNvPr>
          <p:cNvSpPr/>
          <p:nvPr/>
        </p:nvSpPr>
        <p:spPr>
          <a:xfrm>
            <a:off x="2855863"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CaixaDeTexto 7">
            <a:extLst>
              <a:ext uri="{FF2B5EF4-FFF2-40B4-BE49-F238E27FC236}">
                <a16:creationId xmlns:a16="http://schemas.microsoft.com/office/drawing/2014/main" id="{AC409291-52A4-D1CE-B736-0DA55370D8C8}"/>
              </a:ext>
            </a:extLst>
          </p:cNvPr>
          <p:cNvSpPr txBox="1"/>
          <p:nvPr/>
        </p:nvSpPr>
        <p:spPr>
          <a:xfrm>
            <a:off x="2205327" y="3128400"/>
            <a:ext cx="1482364" cy="400110"/>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10% no envio do cronograma</a:t>
            </a:r>
          </a:p>
        </p:txBody>
      </p:sp>
      <p:sp>
        <p:nvSpPr>
          <p:cNvPr id="9" name="Elipse 8">
            <a:extLst>
              <a:ext uri="{FF2B5EF4-FFF2-40B4-BE49-F238E27FC236}">
                <a16:creationId xmlns:a16="http://schemas.microsoft.com/office/drawing/2014/main" id="{9F6AF5AD-70F2-217C-3A4B-7F8D55CD0F81}"/>
              </a:ext>
            </a:extLst>
          </p:cNvPr>
          <p:cNvSpPr/>
          <p:nvPr/>
        </p:nvSpPr>
        <p:spPr>
          <a:xfrm>
            <a:off x="4545072"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CaixaDeTexto 9">
            <a:extLst>
              <a:ext uri="{FF2B5EF4-FFF2-40B4-BE49-F238E27FC236}">
                <a16:creationId xmlns:a16="http://schemas.microsoft.com/office/drawing/2014/main" id="{2E4376BF-40DB-E71C-0D1C-C960C4B9C7E7}"/>
              </a:ext>
            </a:extLst>
          </p:cNvPr>
          <p:cNvSpPr txBox="1"/>
          <p:nvPr/>
        </p:nvSpPr>
        <p:spPr>
          <a:xfrm>
            <a:off x="4039560" y="3128400"/>
            <a:ext cx="1192316" cy="553998"/>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10% na entrada do navio no dique</a:t>
            </a:r>
          </a:p>
        </p:txBody>
      </p:sp>
      <p:sp>
        <p:nvSpPr>
          <p:cNvPr id="11" name="Chave Direita 10">
            <a:extLst>
              <a:ext uri="{FF2B5EF4-FFF2-40B4-BE49-F238E27FC236}">
                <a16:creationId xmlns:a16="http://schemas.microsoft.com/office/drawing/2014/main" id="{C47C3107-C6FB-95C9-9802-296C33E985EE}"/>
              </a:ext>
            </a:extLst>
          </p:cNvPr>
          <p:cNvSpPr/>
          <p:nvPr/>
        </p:nvSpPr>
        <p:spPr>
          <a:xfrm rot="5400000">
            <a:off x="2738533" y="1531208"/>
            <a:ext cx="270926" cy="4791173"/>
          </a:xfrm>
          <a:prstGeom prst="rightBrace">
            <a:avLst>
              <a:gd name="adj1" fmla="val 48591"/>
              <a:gd name="adj2" fmla="val 50000"/>
            </a:avLst>
          </a:prstGeom>
          <a:ln w="635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12" name="CaixaDeTexto 11">
            <a:extLst>
              <a:ext uri="{FF2B5EF4-FFF2-40B4-BE49-F238E27FC236}">
                <a16:creationId xmlns:a16="http://schemas.microsoft.com/office/drawing/2014/main" id="{5C87487F-AC0F-7E6F-4BED-C42CD94FFC9F}"/>
              </a:ext>
            </a:extLst>
          </p:cNvPr>
          <p:cNvSpPr txBox="1"/>
          <p:nvPr/>
        </p:nvSpPr>
        <p:spPr>
          <a:xfrm>
            <a:off x="1708432" y="4133483"/>
            <a:ext cx="2331128" cy="50013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dirty="0" err="1">
                <a:ln>
                  <a:noFill/>
                </a:ln>
                <a:solidFill>
                  <a:srgbClr val="000000"/>
                </a:solidFill>
                <a:effectLst/>
                <a:uLnTx/>
                <a:uFillTx/>
                <a:latin typeface="Aptos" panose="02110004020202020204"/>
                <a:ea typeface="+mn-ea"/>
                <a:cs typeface="+mn-cs"/>
              </a:rPr>
              <a:t>Pré</a:t>
            </a:r>
            <a:r>
              <a:rPr kumimoji="0" lang="pt-BR" sz="1600" b="1" i="0" u="none" strike="noStrike" kern="1200" cap="none" spc="0" normalizeH="0" baseline="0" noProof="0" dirty="0">
                <a:ln>
                  <a:noFill/>
                </a:ln>
                <a:solidFill>
                  <a:srgbClr val="000000"/>
                </a:solidFill>
                <a:effectLst/>
                <a:uLnTx/>
                <a:uFillTx/>
                <a:latin typeface="Aptos" panose="02110004020202020204"/>
                <a:ea typeface="+mn-ea"/>
                <a:cs typeface="+mn-cs"/>
              </a:rPr>
              <a:t>-obra</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050" dirty="0">
                <a:solidFill>
                  <a:srgbClr val="000000"/>
                </a:solidFill>
                <a:latin typeface="Aptos" panose="02110004020202020204"/>
              </a:rPr>
              <a:t>Total: 30% do custo orçado</a:t>
            </a:r>
            <a:endParaRPr kumimoji="0" lang="pt-BR" sz="105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13" name="Elipse 12">
            <a:extLst>
              <a:ext uri="{FF2B5EF4-FFF2-40B4-BE49-F238E27FC236}">
                <a16:creationId xmlns:a16="http://schemas.microsoft.com/office/drawing/2014/main" id="{E87F4DA2-72D1-FE9E-E899-8F5270892F67}"/>
              </a:ext>
            </a:extLst>
          </p:cNvPr>
          <p:cNvSpPr/>
          <p:nvPr/>
        </p:nvSpPr>
        <p:spPr>
          <a:xfrm>
            <a:off x="6493213"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CaixaDeTexto 13">
            <a:extLst>
              <a:ext uri="{FF2B5EF4-FFF2-40B4-BE49-F238E27FC236}">
                <a16:creationId xmlns:a16="http://schemas.microsoft.com/office/drawing/2014/main" id="{CB04E6F7-A5C0-0BD9-B441-BF0C69B0358D}"/>
              </a:ext>
            </a:extLst>
          </p:cNvPr>
          <p:cNvSpPr txBox="1"/>
          <p:nvPr/>
        </p:nvSpPr>
        <p:spPr>
          <a:xfrm>
            <a:off x="5946000" y="3128400"/>
            <a:ext cx="1275718" cy="553998"/>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30% na conclusão de 50% dos serviços</a:t>
            </a:r>
          </a:p>
        </p:txBody>
      </p:sp>
      <p:sp>
        <p:nvSpPr>
          <p:cNvPr id="15" name="Elipse 14">
            <a:extLst>
              <a:ext uri="{FF2B5EF4-FFF2-40B4-BE49-F238E27FC236}">
                <a16:creationId xmlns:a16="http://schemas.microsoft.com/office/drawing/2014/main" id="{0CF43CF1-6674-E6A1-8978-0791E2BBDDE2}"/>
              </a:ext>
            </a:extLst>
          </p:cNvPr>
          <p:cNvSpPr/>
          <p:nvPr/>
        </p:nvSpPr>
        <p:spPr>
          <a:xfrm>
            <a:off x="8084564"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CaixaDeTexto 15">
            <a:extLst>
              <a:ext uri="{FF2B5EF4-FFF2-40B4-BE49-F238E27FC236}">
                <a16:creationId xmlns:a16="http://schemas.microsoft.com/office/drawing/2014/main" id="{63A2613D-C8BD-006D-3E3E-2B11FE71D404}"/>
              </a:ext>
            </a:extLst>
          </p:cNvPr>
          <p:cNvSpPr txBox="1"/>
          <p:nvPr/>
        </p:nvSpPr>
        <p:spPr>
          <a:xfrm>
            <a:off x="7537351" y="3128400"/>
            <a:ext cx="1275718" cy="553998"/>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30% na conclusão de 100% dos serviços</a:t>
            </a:r>
          </a:p>
        </p:txBody>
      </p:sp>
      <p:sp>
        <p:nvSpPr>
          <p:cNvPr id="17" name="Elipse 16">
            <a:extLst>
              <a:ext uri="{FF2B5EF4-FFF2-40B4-BE49-F238E27FC236}">
                <a16:creationId xmlns:a16="http://schemas.microsoft.com/office/drawing/2014/main" id="{BE93CFFD-1934-6266-F0D5-307DE1B9BAAC}"/>
              </a:ext>
            </a:extLst>
          </p:cNvPr>
          <p:cNvSpPr/>
          <p:nvPr/>
        </p:nvSpPr>
        <p:spPr>
          <a:xfrm>
            <a:off x="10282440" y="2647839"/>
            <a:ext cx="181293" cy="181293"/>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CaixaDeTexto 17">
            <a:extLst>
              <a:ext uri="{FF2B5EF4-FFF2-40B4-BE49-F238E27FC236}">
                <a16:creationId xmlns:a16="http://schemas.microsoft.com/office/drawing/2014/main" id="{474D2994-0161-BD4E-86EE-85035F27918F}"/>
              </a:ext>
            </a:extLst>
          </p:cNvPr>
          <p:cNvSpPr txBox="1"/>
          <p:nvPr/>
        </p:nvSpPr>
        <p:spPr>
          <a:xfrm>
            <a:off x="9735227" y="3128400"/>
            <a:ext cx="1275718" cy="553998"/>
          </a:xfrm>
          <a:prstGeom prst="rect">
            <a:avLst/>
          </a:prstGeom>
          <a:solidFill>
            <a:schemeClr val="bg1">
              <a:lumMod val="95000"/>
            </a:schemeClr>
          </a:solid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000" b="0" i="0" u="none" strike="noStrike" kern="1200" cap="none" spc="0" normalizeH="0" baseline="0" noProof="0" dirty="0">
                <a:ln>
                  <a:noFill/>
                </a:ln>
                <a:solidFill>
                  <a:srgbClr val="000000"/>
                </a:solidFill>
                <a:effectLst/>
                <a:uLnTx/>
                <a:uFillTx/>
                <a:latin typeface="Aptos" panose="02110004020202020204"/>
                <a:ea typeface="+mn-ea"/>
                <a:cs typeface="+mn-cs"/>
              </a:rPr>
              <a:t>Pagamento de 10% após conclusão dos serviços</a:t>
            </a:r>
          </a:p>
        </p:txBody>
      </p:sp>
      <p:sp>
        <p:nvSpPr>
          <p:cNvPr id="19" name="Chave Direita 18">
            <a:extLst>
              <a:ext uri="{FF2B5EF4-FFF2-40B4-BE49-F238E27FC236}">
                <a16:creationId xmlns:a16="http://schemas.microsoft.com/office/drawing/2014/main" id="{C32BAD37-2FDF-9ACF-CB35-EF0B3E6B633A}"/>
              </a:ext>
            </a:extLst>
          </p:cNvPr>
          <p:cNvSpPr/>
          <p:nvPr/>
        </p:nvSpPr>
        <p:spPr>
          <a:xfrm rot="5400000">
            <a:off x="7241905" y="2290577"/>
            <a:ext cx="270926" cy="3272435"/>
          </a:xfrm>
          <a:prstGeom prst="rightBrace">
            <a:avLst>
              <a:gd name="adj1" fmla="val 48591"/>
              <a:gd name="adj2" fmla="val 50000"/>
            </a:avLst>
          </a:prstGeom>
          <a:ln w="635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20" name="CaixaDeTexto 19">
            <a:extLst>
              <a:ext uri="{FF2B5EF4-FFF2-40B4-BE49-F238E27FC236}">
                <a16:creationId xmlns:a16="http://schemas.microsoft.com/office/drawing/2014/main" id="{9C7B489C-B445-FB86-79F5-0E9C83A617E7}"/>
              </a:ext>
            </a:extLst>
          </p:cNvPr>
          <p:cNvSpPr txBox="1"/>
          <p:nvPr/>
        </p:nvSpPr>
        <p:spPr>
          <a:xfrm>
            <a:off x="6211804" y="4133483"/>
            <a:ext cx="2331128" cy="50013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dirty="0">
                <a:ln>
                  <a:noFill/>
                </a:ln>
                <a:solidFill>
                  <a:srgbClr val="000000"/>
                </a:solidFill>
                <a:effectLst/>
                <a:uLnTx/>
                <a:uFillTx/>
                <a:latin typeface="Aptos" panose="02110004020202020204"/>
                <a:ea typeface="+mn-ea"/>
                <a:cs typeface="+mn-cs"/>
              </a:rPr>
              <a:t>Obra</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050" dirty="0">
                <a:solidFill>
                  <a:srgbClr val="000000"/>
                </a:solidFill>
                <a:latin typeface="Aptos" panose="02110004020202020204"/>
              </a:rPr>
              <a:t>Total: 60% do custo orçado</a:t>
            </a:r>
            <a:endParaRPr kumimoji="0" lang="pt-BR" sz="105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
        <p:nvSpPr>
          <p:cNvPr id="21" name="Chave Direita 20">
            <a:extLst>
              <a:ext uri="{FF2B5EF4-FFF2-40B4-BE49-F238E27FC236}">
                <a16:creationId xmlns:a16="http://schemas.microsoft.com/office/drawing/2014/main" id="{104C62AF-8B82-6EBB-37CE-385D27C8D0CE}"/>
              </a:ext>
            </a:extLst>
          </p:cNvPr>
          <p:cNvSpPr/>
          <p:nvPr/>
        </p:nvSpPr>
        <p:spPr>
          <a:xfrm rot="5400000">
            <a:off x="10237623" y="3163487"/>
            <a:ext cx="270926" cy="1526615"/>
          </a:xfrm>
          <a:prstGeom prst="rightBrace">
            <a:avLst>
              <a:gd name="adj1" fmla="val 48591"/>
              <a:gd name="adj2" fmla="val 50000"/>
            </a:avLst>
          </a:prstGeom>
          <a:ln w="6350"/>
        </p:spPr>
        <p:style>
          <a:lnRef idx="2">
            <a:schemeClr val="accent1"/>
          </a:lnRef>
          <a:fillRef idx="0">
            <a:schemeClr val="accent1"/>
          </a:fillRef>
          <a:effectRef idx="1">
            <a:schemeClr val="accent1"/>
          </a:effectRef>
          <a:fontRef idx="minor">
            <a:schemeClr val="tx1"/>
          </a:fontRef>
        </p:style>
        <p:txBody>
          <a:bodyPr rtlCol="0" anchor="ctr"/>
          <a:lstStyle/>
          <a:p>
            <a:pPr algn="ctr"/>
            <a:endParaRPr lang="pt-BR"/>
          </a:p>
        </p:txBody>
      </p:sp>
      <p:sp>
        <p:nvSpPr>
          <p:cNvPr id="22" name="CaixaDeTexto 21">
            <a:extLst>
              <a:ext uri="{FF2B5EF4-FFF2-40B4-BE49-F238E27FC236}">
                <a16:creationId xmlns:a16="http://schemas.microsoft.com/office/drawing/2014/main" id="{7FF0FE4E-05DE-E5A3-5E67-DF785A2E2A02}"/>
              </a:ext>
            </a:extLst>
          </p:cNvPr>
          <p:cNvSpPr txBox="1"/>
          <p:nvPr/>
        </p:nvSpPr>
        <p:spPr>
          <a:xfrm>
            <a:off x="9207522" y="4133483"/>
            <a:ext cx="2331128" cy="50013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t-BR" sz="1600" b="1" i="0" u="none" strike="noStrike" kern="1200" cap="none" spc="0" normalizeH="0" baseline="0" noProof="0" dirty="0">
                <a:ln>
                  <a:noFill/>
                </a:ln>
                <a:solidFill>
                  <a:srgbClr val="000000"/>
                </a:solidFill>
                <a:effectLst/>
                <a:uLnTx/>
                <a:uFillTx/>
                <a:latin typeface="Aptos" panose="02110004020202020204"/>
                <a:ea typeface="+mn-ea"/>
                <a:cs typeface="+mn-cs"/>
              </a:rPr>
              <a:t>Pós-Obra</a:t>
            </a:r>
          </a:p>
          <a:p>
            <a:pPr marL="0" marR="0" lvl="0" indent="0" algn="ctr" defTabSz="914400" rtl="0" eaLnBrk="1" fontAlgn="auto" latinLnBrk="0" hangingPunct="1">
              <a:lnSpc>
                <a:spcPct val="100000"/>
              </a:lnSpc>
              <a:spcBef>
                <a:spcPts val="0"/>
              </a:spcBef>
              <a:spcAft>
                <a:spcPts val="0"/>
              </a:spcAft>
              <a:buClrTx/>
              <a:buSzTx/>
              <a:buFontTx/>
              <a:buNone/>
              <a:tabLst/>
              <a:defRPr/>
            </a:pPr>
            <a:r>
              <a:rPr lang="pt-BR" sz="1050" dirty="0">
                <a:solidFill>
                  <a:srgbClr val="000000"/>
                </a:solidFill>
                <a:latin typeface="Aptos" panose="02110004020202020204"/>
              </a:rPr>
              <a:t>Total: 10% do custo orçado</a:t>
            </a:r>
            <a:endParaRPr kumimoji="0" lang="pt-BR" sz="1050" b="0" i="0" u="none" strike="noStrike" kern="1200" cap="none" spc="0" normalizeH="0" baseline="0" noProof="0" dirty="0">
              <a:ln>
                <a:noFill/>
              </a:ln>
              <a:solidFill>
                <a:srgbClr val="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373675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627D8-8FD0-F69F-A492-51595C8AF38D}"/>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520D38A5-89CB-1624-5D59-D824D35924B2}"/>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324262EC-E546-BD18-66CD-42AF34D1619A}"/>
              </a:ext>
            </a:extLst>
          </p:cNvPr>
          <p:cNvSpPr/>
          <p:nvPr/>
        </p:nvSpPr>
        <p:spPr>
          <a:xfrm>
            <a:off x="2711624" y="5085184"/>
            <a:ext cx="6552728" cy="1656184"/>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2" name="Rectangle 1">
            <a:extLst>
              <a:ext uri="{FF2B5EF4-FFF2-40B4-BE49-F238E27FC236}">
                <a16:creationId xmlns:a16="http://schemas.microsoft.com/office/drawing/2014/main" id="{C2CF7D90-2400-6635-EF2A-DFFC076FEE7B}"/>
              </a:ext>
            </a:extLst>
          </p:cNvPr>
          <p:cNvSpPr/>
          <p:nvPr/>
        </p:nvSpPr>
        <p:spPr>
          <a:xfrm>
            <a:off x="2711624" y="369828"/>
            <a:ext cx="6552728" cy="421130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21457708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FF216-0828-7B10-F539-9BDC5E14307B}"/>
            </a:ext>
          </a:extLst>
        </p:cNvPr>
        <p:cNvGrpSpPr/>
        <p:nvPr/>
      </p:nvGrpSpPr>
      <p:grpSpPr>
        <a:xfrm>
          <a:off x="0" y="0"/>
          <a:ext cx="0" cy="0"/>
          <a:chOff x="0" y="0"/>
          <a:chExt cx="0" cy="0"/>
        </a:xfrm>
      </p:grpSpPr>
      <p:sp>
        <p:nvSpPr>
          <p:cNvPr id="62" name="Title 61">
            <a:extLst>
              <a:ext uri="{FF2B5EF4-FFF2-40B4-BE49-F238E27FC236}">
                <a16:creationId xmlns:a16="http://schemas.microsoft.com/office/drawing/2014/main" id="{1700BB57-FC8E-547D-FBF7-4F058EDDD683}"/>
              </a:ext>
            </a:extLst>
          </p:cNvPr>
          <p:cNvSpPr>
            <a:spLocks noGrp="1"/>
          </p:cNvSpPr>
          <p:nvPr>
            <p:ph type="title"/>
          </p:nvPr>
        </p:nvSpPr>
        <p:spPr/>
        <p:txBody>
          <a:bodyPr/>
          <a:lstStyle/>
          <a:p>
            <a:r>
              <a:rPr lang="pt-BR" dirty="0"/>
              <a:t>HUB de Obras</a:t>
            </a:r>
            <a:br>
              <a:rPr lang="pt-BR" dirty="0"/>
            </a:br>
            <a:r>
              <a:rPr lang="pt-BR" sz="1800" b="0" dirty="0"/>
              <a:t>tema 11: GMUD</a:t>
            </a:r>
            <a:endParaRPr lang="en-BR" sz="1800" b="0" dirty="0"/>
          </a:p>
        </p:txBody>
      </p:sp>
      <p:sp>
        <p:nvSpPr>
          <p:cNvPr id="116" name="CaixaDeTexto 557">
            <a:extLst>
              <a:ext uri="{FF2B5EF4-FFF2-40B4-BE49-F238E27FC236}">
                <a16:creationId xmlns:a16="http://schemas.microsoft.com/office/drawing/2014/main" id="{DBE73F53-8145-1419-B56A-FEC0BAE8A766}"/>
              </a:ext>
            </a:extLst>
          </p:cNvPr>
          <p:cNvSpPr txBox="1"/>
          <p:nvPr/>
        </p:nvSpPr>
        <p:spPr>
          <a:xfrm>
            <a:off x="314839" y="1735886"/>
            <a:ext cx="969746" cy="468000"/>
          </a:xfrm>
          <a:prstGeom prst="rect">
            <a:avLst/>
          </a:prstGeom>
          <a:noFill/>
          <a:ln>
            <a:solidFill>
              <a:srgbClr val="014A65"/>
            </a:solidFill>
          </a:ln>
        </p:spPr>
        <p:txBody>
          <a:bodyPr wrap="square" lIns="90000" rtlCol="0" anchor="ctr">
            <a:noAutofit/>
          </a:bodyPr>
          <a:lstStyle/>
          <a:p>
            <a:pPr algn="r"/>
            <a:r>
              <a:rPr lang="pt-BR" sz="1200" b="1" i="1" dirty="0"/>
              <a:t>Fases</a:t>
            </a:r>
          </a:p>
        </p:txBody>
      </p:sp>
      <p:sp>
        <p:nvSpPr>
          <p:cNvPr id="117" name="CaixaDeTexto 557">
            <a:extLst>
              <a:ext uri="{FF2B5EF4-FFF2-40B4-BE49-F238E27FC236}">
                <a16:creationId xmlns:a16="http://schemas.microsoft.com/office/drawing/2014/main" id="{FDD997A3-5F4A-1E4E-8418-447E1AAAA68E}"/>
              </a:ext>
            </a:extLst>
          </p:cNvPr>
          <p:cNvSpPr txBox="1"/>
          <p:nvPr/>
        </p:nvSpPr>
        <p:spPr>
          <a:xfrm>
            <a:off x="314839" y="2833300"/>
            <a:ext cx="969745" cy="468000"/>
          </a:xfrm>
          <a:prstGeom prst="rect">
            <a:avLst/>
          </a:prstGeom>
          <a:noFill/>
          <a:ln>
            <a:solidFill>
              <a:srgbClr val="014A65"/>
            </a:solidFill>
          </a:ln>
        </p:spPr>
        <p:txBody>
          <a:bodyPr wrap="square" lIns="90000" rtlCol="0" anchor="ctr">
            <a:noAutofit/>
          </a:bodyPr>
          <a:lstStyle/>
          <a:p>
            <a:pPr algn="r"/>
            <a:r>
              <a:rPr lang="pt-BR" sz="1200" b="1" i="1" dirty="0"/>
              <a:t>Marcos de início</a:t>
            </a:r>
            <a:endParaRPr lang="pt-BR" sz="1200" i="1" dirty="0"/>
          </a:p>
        </p:txBody>
      </p:sp>
      <p:sp>
        <p:nvSpPr>
          <p:cNvPr id="118" name="CaixaDeTexto 557">
            <a:extLst>
              <a:ext uri="{FF2B5EF4-FFF2-40B4-BE49-F238E27FC236}">
                <a16:creationId xmlns:a16="http://schemas.microsoft.com/office/drawing/2014/main" id="{9C4811AF-8A96-EAF2-1451-A2A61F243C77}"/>
              </a:ext>
            </a:extLst>
          </p:cNvPr>
          <p:cNvSpPr txBox="1"/>
          <p:nvPr/>
        </p:nvSpPr>
        <p:spPr>
          <a:xfrm>
            <a:off x="314839" y="2284593"/>
            <a:ext cx="969745" cy="468000"/>
          </a:xfrm>
          <a:prstGeom prst="rect">
            <a:avLst/>
          </a:prstGeom>
          <a:noFill/>
          <a:ln>
            <a:solidFill>
              <a:srgbClr val="014A65"/>
            </a:solidFill>
          </a:ln>
        </p:spPr>
        <p:txBody>
          <a:bodyPr wrap="square" lIns="90000" rtlCol="0" anchor="ctr">
            <a:noAutofit/>
          </a:bodyPr>
          <a:lstStyle/>
          <a:p>
            <a:pPr algn="r"/>
            <a:r>
              <a:rPr lang="pt-BR" sz="1200" b="1" i="1" dirty="0"/>
              <a:t>Status</a:t>
            </a:r>
            <a:endParaRPr lang="pt-BR" sz="1200" i="1" dirty="0"/>
          </a:p>
        </p:txBody>
      </p:sp>
      <p:sp>
        <p:nvSpPr>
          <p:cNvPr id="120" name="CaixaDeTexto 21">
            <a:extLst>
              <a:ext uri="{FF2B5EF4-FFF2-40B4-BE49-F238E27FC236}">
                <a16:creationId xmlns:a16="http://schemas.microsoft.com/office/drawing/2014/main" id="{E09F96C2-7DD6-9336-526D-F2018DCB7060}"/>
              </a:ext>
            </a:extLst>
          </p:cNvPr>
          <p:cNvSpPr txBox="1"/>
          <p:nvPr/>
        </p:nvSpPr>
        <p:spPr>
          <a:xfrm>
            <a:off x="8819656" y="1735886"/>
            <a:ext cx="3036984"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Pós-Obra</a:t>
            </a:r>
            <a:endParaRPr lang="pt-BR" sz="1000" dirty="0">
              <a:latin typeface="Calibri"/>
              <a:ea typeface="Calibri" panose="020F0502020204030204" pitchFamily="34" charset="0"/>
              <a:cs typeface="Calibri"/>
            </a:endParaRPr>
          </a:p>
        </p:txBody>
      </p:sp>
      <p:sp>
        <p:nvSpPr>
          <p:cNvPr id="121" name="CaixaDeTexto 21">
            <a:extLst>
              <a:ext uri="{FF2B5EF4-FFF2-40B4-BE49-F238E27FC236}">
                <a16:creationId xmlns:a16="http://schemas.microsoft.com/office/drawing/2014/main" id="{C6FDAF6A-51E5-14AD-5BE6-5DAAA0AFE8C8}"/>
              </a:ext>
            </a:extLst>
          </p:cNvPr>
          <p:cNvSpPr txBox="1"/>
          <p:nvPr/>
        </p:nvSpPr>
        <p:spPr>
          <a:xfrm>
            <a:off x="1495996" y="3382007"/>
            <a:ext cx="108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1. Cadastro da Parada</a:t>
            </a:r>
            <a:endParaRPr lang="pt-BR" sz="900" dirty="0">
              <a:latin typeface="Calibri"/>
              <a:ea typeface="Calibri" panose="020F0502020204030204" pitchFamily="34" charset="0"/>
              <a:cs typeface="Calibri"/>
            </a:endParaRPr>
          </a:p>
        </p:txBody>
      </p:sp>
      <p:sp>
        <p:nvSpPr>
          <p:cNvPr id="122" name="CaixaDeTexto 21">
            <a:extLst>
              <a:ext uri="{FF2B5EF4-FFF2-40B4-BE49-F238E27FC236}">
                <a16:creationId xmlns:a16="http://schemas.microsoft.com/office/drawing/2014/main" id="{C64AC435-F800-A2E5-32A9-03D0C3CE5B71}"/>
              </a:ext>
            </a:extLst>
          </p:cNvPr>
          <p:cNvSpPr txBox="1"/>
          <p:nvPr/>
        </p:nvSpPr>
        <p:spPr>
          <a:xfrm>
            <a:off x="2671179" y="3610007"/>
            <a:ext cx="90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2. </a:t>
            </a:r>
            <a:r>
              <a:rPr lang="pt-BR" sz="900" b="1" dirty="0" err="1">
                <a:latin typeface="Calibri"/>
                <a:ea typeface="Calibri" panose="020F0502020204030204" pitchFamily="34" charset="0"/>
                <a:cs typeface="Calibri"/>
              </a:rPr>
              <a:t>Templates</a:t>
            </a:r>
            <a:endParaRPr lang="pt-BR" sz="900" dirty="0">
              <a:latin typeface="Calibri"/>
              <a:ea typeface="Calibri" panose="020F0502020204030204" pitchFamily="34" charset="0"/>
              <a:cs typeface="Calibri"/>
            </a:endParaRPr>
          </a:p>
        </p:txBody>
      </p:sp>
      <p:sp>
        <p:nvSpPr>
          <p:cNvPr id="123" name="CaixaDeTexto 21">
            <a:extLst>
              <a:ext uri="{FF2B5EF4-FFF2-40B4-BE49-F238E27FC236}">
                <a16:creationId xmlns:a16="http://schemas.microsoft.com/office/drawing/2014/main" id="{C208B01D-2A1D-31BE-961D-DE03A03BC128}"/>
              </a:ext>
            </a:extLst>
          </p:cNvPr>
          <p:cNvSpPr txBox="1"/>
          <p:nvPr/>
        </p:nvSpPr>
        <p:spPr>
          <a:xfrm>
            <a:off x="1495995" y="3838007"/>
            <a:ext cx="1036064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p>
            <a:pPr algn="ctr">
              <a:lnSpc>
                <a:spcPct val="85000"/>
              </a:lnSpc>
              <a:spcBef>
                <a:spcPts val="400"/>
              </a:spcBef>
            </a:pPr>
            <a:r>
              <a:rPr lang="pt-BR" sz="900" b="1" dirty="0">
                <a:latin typeface="Calibri"/>
                <a:ea typeface="Calibri" panose="020F0502020204030204" pitchFamily="34" charset="0"/>
                <a:cs typeface="Calibri"/>
              </a:rPr>
              <a:t>3. Status e Dinâmica de </a:t>
            </a:r>
            <a:r>
              <a:rPr lang="pt-BR" sz="900" b="1" dirty="0" err="1">
                <a:latin typeface="Calibri"/>
                <a:ea typeface="Calibri" panose="020F0502020204030204" pitchFamily="34" charset="0"/>
                <a:cs typeface="Calibri"/>
              </a:rPr>
              <a:t>FEL’s</a:t>
            </a:r>
            <a:endParaRPr lang="pt-BR" sz="900" dirty="0">
              <a:latin typeface="Calibri"/>
              <a:ea typeface="Calibri" panose="020F0502020204030204" pitchFamily="34" charset="0"/>
              <a:cs typeface="Calibri"/>
            </a:endParaRPr>
          </a:p>
        </p:txBody>
      </p:sp>
      <p:sp>
        <p:nvSpPr>
          <p:cNvPr id="124" name="CaixaDeTexto 21">
            <a:extLst>
              <a:ext uri="{FF2B5EF4-FFF2-40B4-BE49-F238E27FC236}">
                <a16:creationId xmlns:a16="http://schemas.microsoft.com/office/drawing/2014/main" id="{A28F8444-E382-1D0A-FE30-53C96AA23BCA}"/>
              </a:ext>
            </a:extLst>
          </p:cNvPr>
          <p:cNvSpPr txBox="1"/>
          <p:nvPr/>
        </p:nvSpPr>
        <p:spPr>
          <a:xfrm>
            <a:off x="2671180" y="4066007"/>
            <a:ext cx="2890366"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4. </a:t>
            </a:r>
            <a:r>
              <a:rPr lang="pt-BR" sz="900" dirty="0" err="1"/>
              <a:t>Plan</a:t>
            </a:r>
            <a:r>
              <a:rPr lang="pt-BR" sz="900" dirty="0"/>
              <a:t> Escopo / Demanda</a:t>
            </a:r>
          </a:p>
        </p:txBody>
      </p:sp>
      <p:sp>
        <p:nvSpPr>
          <p:cNvPr id="125" name="CaixaDeTexto 21">
            <a:extLst>
              <a:ext uri="{FF2B5EF4-FFF2-40B4-BE49-F238E27FC236}">
                <a16:creationId xmlns:a16="http://schemas.microsoft.com/office/drawing/2014/main" id="{BA8B322B-88A8-885D-84D1-9ED4D1BAC24A}"/>
              </a:ext>
            </a:extLst>
          </p:cNvPr>
          <p:cNvSpPr txBox="1"/>
          <p:nvPr/>
        </p:nvSpPr>
        <p:spPr>
          <a:xfrm>
            <a:off x="2671179" y="4294007"/>
            <a:ext cx="288354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5. Sim. Cenários</a:t>
            </a:r>
          </a:p>
        </p:txBody>
      </p:sp>
      <p:sp>
        <p:nvSpPr>
          <p:cNvPr id="126" name="CaixaDeTexto 21">
            <a:extLst>
              <a:ext uri="{FF2B5EF4-FFF2-40B4-BE49-F238E27FC236}">
                <a16:creationId xmlns:a16="http://schemas.microsoft.com/office/drawing/2014/main" id="{A4AC9104-A9E4-19E4-0DA2-0C8C1B10160F}"/>
              </a:ext>
            </a:extLst>
          </p:cNvPr>
          <p:cNvSpPr txBox="1"/>
          <p:nvPr/>
        </p:nvSpPr>
        <p:spPr>
          <a:xfrm>
            <a:off x="2671179" y="4522007"/>
            <a:ext cx="8298281"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6. Esteira Financeira</a:t>
            </a:r>
          </a:p>
        </p:txBody>
      </p:sp>
      <p:sp>
        <p:nvSpPr>
          <p:cNvPr id="127" name="CaixaDeTexto 21">
            <a:extLst>
              <a:ext uri="{FF2B5EF4-FFF2-40B4-BE49-F238E27FC236}">
                <a16:creationId xmlns:a16="http://schemas.microsoft.com/office/drawing/2014/main" id="{655F62DE-92D9-18B1-1E4F-CAF7F7DAFD20}"/>
              </a:ext>
            </a:extLst>
          </p:cNvPr>
          <p:cNvSpPr txBox="1"/>
          <p:nvPr/>
        </p:nvSpPr>
        <p:spPr>
          <a:xfrm>
            <a:off x="2671179" y="4750007"/>
            <a:ext cx="8304049"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7. Outlook</a:t>
            </a:r>
          </a:p>
        </p:txBody>
      </p:sp>
      <p:sp>
        <p:nvSpPr>
          <p:cNvPr id="128" name="CaixaDeTexto 21">
            <a:extLst>
              <a:ext uri="{FF2B5EF4-FFF2-40B4-BE49-F238E27FC236}">
                <a16:creationId xmlns:a16="http://schemas.microsoft.com/office/drawing/2014/main" id="{E7EE59CF-CB32-E15F-C893-0514A6216D92}"/>
              </a:ext>
            </a:extLst>
          </p:cNvPr>
          <p:cNvSpPr txBox="1"/>
          <p:nvPr/>
        </p:nvSpPr>
        <p:spPr>
          <a:xfrm>
            <a:off x="3594886" y="4978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8. Lançamento Materiais</a:t>
            </a:r>
          </a:p>
        </p:txBody>
      </p:sp>
      <p:sp>
        <p:nvSpPr>
          <p:cNvPr id="129" name="CaixaDeTexto 21">
            <a:extLst>
              <a:ext uri="{FF2B5EF4-FFF2-40B4-BE49-F238E27FC236}">
                <a16:creationId xmlns:a16="http://schemas.microsoft.com/office/drawing/2014/main" id="{2B92E44B-897F-0E10-9E54-318EB70B3371}"/>
              </a:ext>
            </a:extLst>
          </p:cNvPr>
          <p:cNvSpPr txBox="1"/>
          <p:nvPr/>
        </p:nvSpPr>
        <p:spPr>
          <a:xfrm>
            <a:off x="3594885" y="5206007"/>
            <a:ext cx="5132208"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9. Lançamento Serviços</a:t>
            </a:r>
          </a:p>
        </p:txBody>
      </p:sp>
      <p:sp>
        <p:nvSpPr>
          <p:cNvPr id="130" name="CaixaDeTexto 21">
            <a:extLst>
              <a:ext uri="{FF2B5EF4-FFF2-40B4-BE49-F238E27FC236}">
                <a16:creationId xmlns:a16="http://schemas.microsoft.com/office/drawing/2014/main" id="{C028CC82-3A7F-62DA-FA09-FA1C7B6B6E87}"/>
              </a:ext>
            </a:extLst>
          </p:cNvPr>
          <p:cNvSpPr txBox="1"/>
          <p:nvPr/>
        </p:nvSpPr>
        <p:spPr>
          <a:xfrm>
            <a:off x="3594884" y="5434007"/>
            <a:ext cx="7374575"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10. Não conformidades</a:t>
            </a:r>
          </a:p>
        </p:txBody>
      </p:sp>
      <p:sp>
        <p:nvSpPr>
          <p:cNvPr id="132" name="CaixaDeTexto 21">
            <a:extLst>
              <a:ext uri="{FF2B5EF4-FFF2-40B4-BE49-F238E27FC236}">
                <a16:creationId xmlns:a16="http://schemas.microsoft.com/office/drawing/2014/main" id="{805A5652-AFC3-D83B-B206-F2C10DE49A2B}"/>
              </a:ext>
            </a:extLst>
          </p:cNvPr>
          <p:cNvSpPr txBox="1"/>
          <p:nvPr/>
        </p:nvSpPr>
        <p:spPr>
          <a:xfrm>
            <a:off x="2670748" y="5890007"/>
            <a:ext cx="6056343"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12. Movimentação de Obras e Escopos</a:t>
            </a:r>
          </a:p>
        </p:txBody>
      </p:sp>
      <p:sp>
        <p:nvSpPr>
          <p:cNvPr id="133" name="CaixaDeTexto 21">
            <a:extLst>
              <a:ext uri="{FF2B5EF4-FFF2-40B4-BE49-F238E27FC236}">
                <a16:creationId xmlns:a16="http://schemas.microsoft.com/office/drawing/2014/main" id="{8B9B6C0D-4D2B-6796-9659-D24D9EA395BF}"/>
              </a:ext>
            </a:extLst>
          </p:cNvPr>
          <p:cNvSpPr txBox="1"/>
          <p:nvPr/>
        </p:nvSpPr>
        <p:spPr>
          <a:xfrm>
            <a:off x="8822277" y="6118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13. Fechamento</a:t>
            </a:r>
          </a:p>
        </p:txBody>
      </p:sp>
      <p:sp>
        <p:nvSpPr>
          <p:cNvPr id="134" name="CaixaDeTexto 21">
            <a:extLst>
              <a:ext uri="{FF2B5EF4-FFF2-40B4-BE49-F238E27FC236}">
                <a16:creationId xmlns:a16="http://schemas.microsoft.com/office/drawing/2014/main" id="{48E986B5-A36E-99B8-DD69-885F3141EB39}"/>
              </a:ext>
            </a:extLst>
          </p:cNvPr>
          <p:cNvSpPr txBox="1"/>
          <p:nvPr/>
        </p:nvSpPr>
        <p:spPr>
          <a:xfrm>
            <a:off x="8822277" y="6346007"/>
            <a:ext cx="1260000" cy="180000"/>
          </a:xfrm>
          <a:prstGeom prst="rect">
            <a:avLst/>
          </a:prstGeom>
          <a:solidFill>
            <a:schemeClr val="bg1">
              <a:lumMod val="95000"/>
            </a:schemeClr>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t>14. Post Mortem</a:t>
            </a:r>
          </a:p>
        </p:txBody>
      </p:sp>
      <p:sp>
        <p:nvSpPr>
          <p:cNvPr id="135" name="CaixaDeTexto 557">
            <a:extLst>
              <a:ext uri="{FF2B5EF4-FFF2-40B4-BE49-F238E27FC236}">
                <a16:creationId xmlns:a16="http://schemas.microsoft.com/office/drawing/2014/main" id="{3D5775B0-CA45-341D-1D1A-76C7CC17D3C1}"/>
              </a:ext>
            </a:extLst>
          </p:cNvPr>
          <p:cNvSpPr txBox="1"/>
          <p:nvPr/>
        </p:nvSpPr>
        <p:spPr>
          <a:xfrm>
            <a:off x="314839" y="3382007"/>
            <a:ext cx="969745" cy="3144000"/>
          </a:xfrm>
          <a:prstGeom prst="rect">
            <a:avLst/>
          </a:prstGeom>
          <a:noFill/>
          <a:ln>
            <a:solidFill>
              <a:srgbClr val="014A65"/>
            </a:solidFill>
          </a:ln>
        </p:spPr>
        <p:txBody>
          <a:bodyPr wrap="square" lIns="90000" rtlCol="0" anchor="ctr">
            <a:noAutofit/>
          </a:bodyPr>
          <a:lstStyle/>
          <a:p>
            <a:pPr algn="r"/>
            <a:r>
              <a:rPr lang="pt-BR" sz="1200" b="1" i="1" dirty="0"/>
              <a:t>Funções HUB</a:t>
            </a:r>
            <a:endParaRPr lang="pt-BR" sz="1200" i="1" dirty="0"/>
          </a:p>
        </p:txBody>
      </p:sp>
      <p:sp>
        <p:nvSpPr>
          <p:cNvPr id="136" name="CaixaDeTexto 557">
            <a:extLst>
              <a:ext uri="{FF2B5EF4-FFF2-40B4-BE49-F238E27FC236}">
                <a16:creationId xmlns:a16="http://schemas.microsoft.com/office/drawing/2014/main" id="{67A383C8-6412-11DE-C578-672550F2EF90}"/>
              </a:ext>
            </a:extLst>
          </p:cNvPr>
          <p:cNvSpPr txBox="1"/>
          <p:nvPr/>
        </p:nvSpPr>
        <p:spPr>
          <a:xfrm>
            <a:off x="314839" y="1180710"/>
            <a:ext cx="969747" cy="468000"/>
          </a:xfrm>
          <a:prstGeom prst="rect">
            <a:avLst/>
          </a:prstGeom>
          <a:noFill/>
          <a:ln>
            <a:noFill/>
          </a:ln>
        </p:spPr>
        <p:txBody>
          <a:bodyPr wrap="square" lIns="90000" rtlCol="0" anchor="ctr">
            <a:noAutofit/>
          </a:bodyPr>
          <a:lstStyle/>
          <a:p>
            <a:pPr algn="r"/>
            <a:r>
              <a:rPr lang="pt-BR" sz="1200" b="1" i="1" dirty="0"/>
              <a:t>Tempos Típicos</a:t>
            </a:r>
          </a:p>
        </p:txBody>
      </p:sp>
      <p:sp>
        <p:nvSpPr>
          <p:cNvPr id="137" name="CaixaDeTexto 21">
            <a:extLst>
              <a:ext uri="{FF2B5EF4-FFF2-40B4-BE49-F238E27FC236}">
                <a16:creationId xmlns:a16="http://schemas.microsoft.com/office/drawing/2014/main" id="{CD7DCA72-97F3-5E84-8F0D-B40E314BA309}"/>
              </a:ext>
            </a:extLst>
          </p:cNvPr>
          <p:cNvSpPr txBox="1"/>
          <p:nvPr/>
        </p:nvSpPr>
        <p:spPr>
          <a:xfrm>
            <a:off x="1495996"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Planejamento de Longo Prazo</a:t>
            </a:r>
            <a:endParaRPr lang="pt-BR" sz="1000" dirty="0">
              <a:latin typeface="Calibri"/>
              <a:ea typeface="Calibri" panose="020F0502020204030204" pitchFamily="34" charset="0"/>
              <a:cs typeface="Calibri"/>
            </a:endParaRPr>
          </a:p>
        </p:txBody>
      </p:sp>
      <p:sp>
        <p:nvSpPr>
          <p:cNvPr id="138" name="CaixaDeTexto 21">
            <a:extLst>
              <a:ext uri="{FF2B5EF4-FFF2-40B4-BE49-F238E27FC236}">
                <a16:creationId xmlns:a16="http://schemas.microsoft.com/office/drawing/2014/main" id="{C9F337C2-AE96-BCFA-68F8-F3B653F9B74E}"/>
              </a:ext>
            </a:extLst>
          </p:cNvPr>
          <p:cNvSpPr txBox="1"/>
          <p:nvPr/>
        </p:nvSpPr>
        <p:spPr>
          <a:xfrm>
            <a:off x="1495996"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Backlog</a:t>
            </a:r>
            <a:endParaRPr lang="pt-BR" sz="1000" dirty="0">
              <a:latin typeface="Calibri"/>
              <a:ea typeface="Calibri" panose="020F0502020204030204" pitchFamily="34" charset="0"/>
              <a:cs typeface="Calibri"/>
            </a:endParaRPr>
          </a:p>
        </p:txBody>
      </p:sp>
      <p:sp>
        <p:nvSpPr>
          <p:cNvPr id="139" name="CaixaDeTexto 21">
            <a:extLst>
              <a:ext uri="{FF2B5EF4-FFF2-40B4-BE49-F238E27FC236}">
                <a16:creationId xmlns:a16="http://schemas.microsoft.com/office/drawing/2014/main" id="{DAF6858B-8DE6-2089-4D40-AA4D7E4AD9D6}"/>
              </a:ext>
            </a:extLst>
          </p:cNvPr>
          <p:cNvSpPr txBox="1"/>
          <p:nvPr/>
        </p:nvSpPr>
        <p:spPr>
          <a:xfrm>
            <a:off x="1495996" y="2833300"/>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ID e Escopos Iniciais</a:t>
            </a:r>
            <a:endParaRPr lang="pt-BR" sz="1000" dirty="0">
              <a:latin typeface="Calibri"/>
              <a:ea typeface="Calibri" panose="020F0502020204030204" pitchFamily="34" charset="0"/>
              <a:cs typeface="Calibri"/>
            </a:endParaRPr>
          </a:p>
        </p:txBody>
      </p:sp>
      <p:cxnSp>
        <p:nvCxnSpPr>
          <p:cNvPr id="140" name="Straight Arrow Connector 23">
            <a:extLst>
              <a:ext uri="{FF2B5EF4-FFF2-40B4-BE49-F238E27FC236}">
                <a16:creationId xmlns:a16="http://schemas.microsoft.com/office/drawing/2014/main" id="{1138C6D0-5428-CB2F-9071-61FDEEB87208}"/>
              </a:ext>
            </a:extLst>
          </p:cNvPr>
          <p:cNvCxnSpPr>
            <a:cxnSpLocks/>
          </p:cNvCxnSpPr>
          <p:nvPr/>
        </p:nvCxnSpPr>
        <p:spPr>
          <a:xfrm>
            <a:off x="1495996"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CaixaDeTexto 557">
            <a:extLst>
              <a:ext uri="{FF2B5EF4-FFF2-40B4-BE49-F238E27FC236}">
                <a16:creationId xmlns:a16="http://schemas.microsoft.com/office/drawing/2014/main" id="{98028D24-A20D-59D2-1599-FD37C71AFC96}"/>
              </a:ext>
            </a:extLst>
          </p:cNvPr>
          <p:cNvSpPr txBox="1"/>
          <p:nvPr/>
        </p:nvSpPr>
        <p:spPr>
          <a:xfrm>
            <a:off x="1495996" y="1180710"/>
            <a:ext cx="1080000" cy="468000"/>
          </a:xfrm>
          <a:prstGeom prst="rect">
            <a:avLst/>
          </a:prstGeom>
          <a:noFill/>
          <a:ln>
            <a:noFill/>
          </a:ln>
        </p:spPr>
        <p:txBody>
          <a:bodyPr wrap="square" lIns="90000" rtlCol="0" anchor="ctr">
            <a:noAutofit/>
          </a:bodyPr>
          <a:lstStyle/>
          <a:p>
            <a:pPr algn="ctr"/>
            <a:r>
              <a:rPr lang="pt-BR" sz="1000" b="1" i="1" dirty="0"/>
              <a:t>Até 5 </a:t>
            </a:r>
          </a:p>
          <a:p>
            <a:pPr algn="ctr"/>
            <a:r>
              <a:rPr lang="pt-BR" sz="1000" b="1" i="1" dirty="0"/>
              <a:t>anos antes</a:t>
            </a:r>
          </a:p>
        </p:txBody>
      </p:sp>
      <p:sp>
        <p:nvSpPr>
          <p:cNvPr id="142" name="CaixaDeTexto 21">
            <a:extLst>
              <a:ext uri="{FF2B5EF4-FFF2-40B4-BE49-F238E27FC236}">
                <a16:creationId xmlns:a16="http://schemas.microsoft.com/office/drawing/2014/main" id="{DA03E265-7082-1825-E657-7E238E93AC5D}"/>
              </a:ext>
            </a:extLst>
          </p:cNvPr>
          <p:cNvSpPr txBox="1"/>
          <p:nvPr/>
        </p:nvSpPr>
        <p:spPr>
          <a:xfrm>
            <a:off x="2671179"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0</a:t>
            </a:r>
            <a:endParaRPr lang="pt-BR" sz="1000" dirty="0">
              <a:latin typeface="Calibri"/>
              <a:ea typeface="Calibri" panose="020F0502020204030204" pitchFamily="34" charset="0"/>
              <a:cs typeface="Calibri"/>
            </a:endParaRPr>
          </a:p>
        </p:txBody>
      </p:sp>
      <p:sp>
        <p:nvSpPr>
          <p:cNvPr id="143" name="CaixaDeTexto 21">
            <a:extLst>
              <a:ext uri="{FF2B5EF4-FFF2-40B4-BE49-F238E27FC236}">
                <a16:creationId xmlns:a16="http://schemas.microsoft.com/office/drawing/2014/main" id="{AB600D62-4495-374C-9B81-E892DF8C902E}"/>
              </a:ext>
            </a:extLst>
          </p:cNvPr>
          <p:cNvSpPr txBox="1"/>
          <p:nvPr/>
        </p:nvSpPr>
        <p:spPr>
          <a:xfrm>
            <a:off x="2671179"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Estimativas Financeiras</a:t>
            </a:r>
            <a:endParaRPr lang="pt-BR" sz="1000" dirty="0">
              <a:latin typeface="Calibri"/>
              <a:ea typeface="Calibri" panose="020F0502020204030204" pitchFamily="34" charset="0"/>
              <a:cs typeface="Calibri"/>
            </a:endParaRPr>
          </a:p>
        </p:txBody>
      </p:sp>
      <p:cxnSp>
        <p:nvCxnSpPr>
          <p:cNvPr id="144" name="Straight Arrow Connector 27">
            <a:extLst>
              <a:ext uri="{FF2B5EF4-FFF2-40B4-BE49-F238E27FC236}">
                <a16:creationId xmlns:a16="http://schemas.microsoft.com/office/drawing/2014/main" id="{91CFE89C-4F0B-F3C0-D586-B55CDF5B80D0}"/>
              </a:ext>
            </a:extLst>
          </p:cNvPr>
          <p:cNvCxnSpPr>
            <a:cxnSpLocks/>
          </p:cNvCxnSpPr>
          <p:nvPr/>
        </p:nvCxnSpPr>
        <p:spPr>
          <a:xfrm>
            <a:off x="2671179"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CaixaDeTexto 557">
            <a:extLst>
              <a:ext uri="{FF2B5EF4-FFF2-40B4-BE49-F238E27FC236}">
                <a16:creationId xmlns:a16="http://schemas.microsoft.com/office/drawing/2014/main" id="{6E34C448-8F97-56F2-E04F-72C212C85136}"/>
              </a:ext>
            </a:extLst>
          </p:cNvPr>
          <p:cNvSpPr txBox="1"/>
          <p:nvPr/>
        </p:nvSpPr>
        <p:spPr>
          <a:xfrm>
            <a:off x="2671179" y="1180710"/>
            <a:ext cx="900000" cy="468000"/>
          </a:xfrm>
          <a:prstGeom prst="rect">
            <a:avLst/>
          </a:prstGeom>
          <a:noFill/>
          <a:ln>
            <a:noFill/>
          </a:ln>
        </p:spPr>
        <p:txBody>
          <a:bodyPr wrap="square" lIns="90000" rtlCol="0" anchor="ctr">
            <a:noAutofit/>
          </a:bodyPr>
          <a:lstStyle/>
          <a:p>
            <a:pPr algn="ctr"/>
            <a:r>
              <a:rPr lang="pt-BR" sz="1000" b="1" i="1" dirty="0"/>
              <a:t>~ 2</a:t>
            </a:r>
          </a:p>
          <a:p>
            <a:pPr algn="ctr"/>
            <a:r>
              <a:rPr lang="pt-BR" sz="1000" b="1" i="1" dirty="0"/>
              <a:t>anos antes</a:t>
            </a:r>
          </a:p>
        </p:txBody>
      </p:sp>
      <p:sp>
        <p:nvSpPr>
          <p:cNvPr id="146" name="CaixaDeTexto 21">
            <a:extLst>
              <a:ext uri="{FF2B5EF4-FFF2-40B4-BE49-F238E27FC236}">
                <a16:creationId xmlns:a16="http://schemas.microsoft.com/office/drawing/2014/main" id="{E2273634-5EF3-432F-46EC-AE1C0E217A85}"/>
              </a:ext>
            </a:extLst>
          </p:cNvPr>
          <p:cNvSpPr txBox="1"/>
          <p:nvPr/>
        </p:nvSpPr>
        <p:spPr>
          <a:xfrm>
            <a:off x="3666362"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1</a:t>
            </a:r>
            <a:endParaRPr lang="pt-BR" sz="1000" dirty="0">
              <a:latin typeface="Calibri"/>
              <a:ea typeface="Calibri" panose="020F0502020204030204" pitchFamily="34" charset="0"/>
              <a:cs typeface="Calibri"/>
            </a:endParaRPr>
          </a:p>
        </p:txBody>
      </p:sp>
      <p:sp>
        <p:nvSpPr>
          <p:cNvPr id="147" name="CaixaDeTexto 21">
            <a:extLst>
              <a:ext uri="{FF2B5EF4-FFF2-40B4-BE49-F238E27FC236}">
                <a16:creationId xmlns:a16="http://schemas.microsoft.com/office/drawing/2014/main" id="{06329DF4-5C23-2901-38B4-A26DB1A8AB52}"/>
              </a:ext>
            </a:extLst>
          </p:cNvPr>
          <p:cNvSpPr txBox="1"/>
          <p:nvPr/>
        </p:nvSpPr>
        <p:spPr>
          <a:xfrm>
            <a:off x="3666362"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Abertura Orçamentos</a:t>
            </a:r>
            <a:endParaRPr lang="pt-BR" sz="1000" dirty="0">
              <a:latin typeface="Calibri"/>
              <a:ea typeface="Calibri" panose="020F0502020204030204" pitchFamily="34" charset="0"/>
              <a:cs typeface="Calibri"/>
            </a:endParaRPr>
          </a:p>
        </p:txBody>
      </p:sp>
      <p:cxnSp>
        <p:nvCxnSpPr>
          <p:cNvPr id="148" name="Straight Arrow Connector 30">
            <a:extLst>
              <a:ext uri="{FF2B5EF4-FFF2-40B4-BE49-F238E27FC236}">
                <a16:creationId xmlns:a16="http://schemas.microsoft.com/office/drawing/2014/main" id="{5FF1AC89-A02F-C64C-11AF-FE1CD5F53B58}"/>
              </a:ext>
            </a:extLst>
          </p:cNvPr>
          <p:cNvCxnSpPr>
            <a:cxnSpLocks/>
          </p:cNvCxnSpPr>
          <p:nvPr/>
        </p:nvCxnSpPr>
        <p:spPr>
          <a:xfrm>
            <a:off x="3666362"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9" name="CaixaDeTexto 557">
            <a:extLst>
              <a:ext uri="{FF2B5EF4-FFF2-40B4-BE49-F238E27FC236}">
                <a16:creationId xmlns:a16="http://schemas.microsoft.com/office/drawing/2014/main" id="{61D387EA-F569-69B3-8A0F-564868535BDA}"/>
              </a:ext>
            </a:extLst>
          </p:cNvPr>
          <p:cNvSpPr txBox="1"/>
          <p:nvPr/>
        </p:nvSpPr>
        <p:spPr>
          <a:xfrm>
            <a:off x="3666362" y="1180710"/>
            <a:ext cx="900000" cy="468000"/>
          </a:xfrm>
          <a:prstGeom prst="rect">
            <a:avLst/>
          </a:prstGeom>
          <a:noFill/>
          <a:ln>
            <a:noFill/>
          </a:ln>
        </p:spPr>
        <p:txBody>
          <a:bodyPr wrap="square" lIns="90000" rtlCol="0" anchor="ctr">
            <a:noAutofit/>
          </a:bodyPr>
          <a:lstStyle/>
          <a:p>
            <a:pPr algn="ctr"/>
            <a:r>
              <a:rPr lang="pt-BR" sz="1000" b="1" i="1" dirty="0"/>
              <a:t>~ 6 a 7 meses</a:t>
            </a:r>
          </a:p>
        </p:txBody>
      </p:sp>
      <p:sp>
        <p:nvSpPr>
          <p:cNvPr id="150" name="CaixaDeTexto 21">
            <a:extLst>
              <a:ext uri="{FF2B5EF4-FFF2-40B4-BE49-F238E27FC236}">
                <a16:creationId xmlns:a16="http://schemas.microsoft.com/office/drawing/2014/main" id="{350E836E-84F7-2B1B-33D7-6AB6ACA5B042}"/>
              </a:ext>
            </a:extLst>
          </p:cNvPr>
          <p:cNvSpPr txBox="1"/>
          <p:nvPr/>
        </p:nvSpPr>
        <p:spPr>
          <a:xfrm>
            <a:off x="4661545"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2</a:t>
            </a:r>
            <a:endParaRPr lang="pt-BR" sz="1000" dirty="0">
              <a:latin typeface="Calibri"/>
              <a:ea typeface="Calibri" panose="020F0502020204030204" pitchFamily="34" charset="0"/>
              <a:cs typeface="Calibri"/>
            </a:endParaRPr>
          </a:p>
        </p:txBody>
      </p:sp>
      <p:sp>
        <p:nvSpPr>
          <p:cNvPr id="151" name="CaixaDeTexto 21">
            <a:extLst>
              <a:ext uri="{FF2B5EF4-FFF2-40B4-BE49-F238E27FC236}">
                <a16:creationId xmlns:a16="http://schemas.microsoft.com/office/drawing/2014/main" id="{0127AA8C-54B0-3C18-22AB-85279FF03887}"/>
              </a:ext>
            </a:extLst>
          </p:cNvPr>
          <p:cNvSpPr txBox="1"/>
          <p:nvPr/>
        </p:nvSpPr>
        <p:spPr>
          <a:xfrm>
            <a:off x="4661545"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Importação Lista TMM</a:t>
            </a:r>
            <a:endParaRPr lang="pt-BR" sz="1000" dirty="0">
              <a:latin typeface="Calibri"/>
              <a:ea typeface="Calibri" panose="020F0502020204030204" pitchFamily="34" charset="0"/>
              <a:cs typeface="Calibri"/>
            </a:endParaRPr>
          </a:p>
        </p:txBody>
      </p:sp>
      <p:cxnSp>
        <p:nvCxnSpPr>
          <p:cNvPr id="152" name="Straight Arrow Connector 34">
            <a:extLst>
              <a:ext uri="{FF2B5EF4-FFF2-40B4-BE49-F238E27FC236}">
                <a16:creationId xmlns:a16="http://schemas.microsoft.com/office/drawing/2014/main" id="{1C013FA2-F7AC-B035-702E-020C1F99B2CA}"/>
              </a:ext>
            </a:extLst>
          </p:cNvPr>
          <p:cNvCxnSpPr>
            <a:cxnSpLocks/>
          </p:cNvCxnSpPr>
          <p:nvPr/>
        </p:nvCxnSpPr>
        <p:spPr>
          <a:xfrm>
            <a:off x="4661545"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3" name="CaixaDeTexto 557">
            <a:extLst>
              <a:ext uri="{FF2B5EF4-FFF2-40B4-BE49-F238E27FC236}">
                <a16:creationId xmlns:a16="http://schemas.microsoft.com/office/drawing/2014/main" id="{A1BA95AA-F806-C39A-E265-2AEA8823E38E}"/>
              </a:ext>
            </a:extLst>
          </p:cNvPr>
          <p:cNvSpPr txBox="1"/>
          <p:nvPr/>
        </p:nvSpPr>
        <p:spPr>
          <a:xfrm>
            <a:off x="4661545"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67" name="CaixaDeTexto 21">
            <a:extLst>
              <a:ext uri="{FF2B5EF4-FFF2-40B4-BE49-F238E27FC236}">
                <a16:creationId xmlns:a16="http://schemas.microsoft.com/office/drawing/2014/main" id="{01D2B8FC-5A5B-FBDF-04BE-E4FCDE20BF85}"/>
              </a:ext>
            </a:extLst>
          </p:cNvPr>
          <p:cNvSpPr txBox="1"/>
          <p:nvPr/>
        </p:nvSpPr>
        <p:spPr>
          <a:xfrm>
            <a:off x="8822277" y="2284593"/>
            <a:ext cx="126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a:t>
            </a:r>
            <a:endParaRPr lang="pt-BR" sz="1000" dirty="0">
              <a:latin typeface="Calibri"/>
              <a:ea typeface="Calibri" panose="020F0502020204030204" pitchFamily="34" charset="0"/>
              <a:cs typeface="Calibri"/>
            </a:endParaRPr>
          </a:p>
        </p:txBody>
      </p:sp>
      <p:sp>
        <p:nvSpPr>
          <p:cNvPr id="168" name="CaixaDeTexto 21">
            <a:extLst>
              <a:ext uri="{FF2B5EF4-FFF2-40B4-BE49-F238E27FC236}">
                <a16:creationId xmlns:a16="http://schemas.microsoft.com/office/drawing/2014/main" id="{4D3B84C5-231B-E9F9-3CC2-1FDC9067274E}"/>
              </a:ext>
            </a:extLst>
          </p:cNvPr>
          <p:cNvSpPr txBox="1"/>
          <p:nvPr/>
        </p:nvSpPr>
        <p:spPr>
          <a:xfrm>
            <a:off x="8822277" y="2833300"/>
            <a:ext cx="126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Conclusão do Comissionamento</a:t>
            </a:r>
            <a:endParaRPr lang="pt-BR" sz="1000" dirty="0">
              <a:latin typeface="Calibri"/>
              <a:ea typeface="Calibri" panose="020F0502020204030204" pitchFamily="34" charset="0"/>
              <a:cs typeface="Calibri"/>
            </a:endParaRPr>
          </a:p>
        </p:txBody>
      </p:sp>
      <p:cxnSp>
        <p:nvCxnSpPr>
          <p:cNvPr id="169" name="Straight Arrow Connector 62">
            <a:extLst>
              <a:ext uri="{FF2B5EF4-FFF2-40B4-BE49-F238E27FC236}">
                <a16:creationId xmlns:a16="http://schemas.microsoft.com/office/drawing/2014/main" id="{619417A6-6CF5-F8B0-664B-B6628703B622}"/>
              </a:ext>
            </a:extLst>
          </p:cNvPr>
          <p:cNvCxnSpPr>
            <a:cxnSpLocks/>
          </p:cNvCxnSpPr>
          <p:nvPr/>
        </p:nvCxnSpPr>
        <p:spPr>
          <a:xfrm>
            <a:off x="8822277" y="1629970"/>
            <a:ext cx="126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0" name="CaixaDeTexto 557">
            <a:extLst>
              <a:ext uri="{FF2B5EF4-FFF2-40B4-BE49-F238E27FC236}">
                <a16:creationId xmlns:a16="http://schemas.microsoft.com/office/drawing/2014/main" id="{DE2E26ED-A5E5-FBF6-FC5E-1989D0DDB9AB}"/>
              </a:ext>
            </a:extLst>
          </p:cNvPr>
          <p:cNvSpPr txBox="1"/>
          <p:nvPr/>
        </p:nvSpPr>
        <p:spPr>
          <a:xfrm>
            <a:off x="8822277" y="1180710"/>
            <a:ext cx="1260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1" name="CaixaDeTexto 21">
            <a:extLst>
              <a:ext uri="{FF2B5EF4-FFF2-40B4-BE49-F238E27FC236}">
                <a16:creationId xmlns:a16="http://schemas.microsoft.com/office/drawing/2014/main" id="{438C7B16-685D-5229-1390-C507C28B2B0D}"/>
              </a:ext>
            </a:extLst>
          </p:cNvPr>
          <p:cNvSpPr txBox="1"/>
          <p:nvPr/>
        </p:nvSpPr>
        <p:spPr>
          <a:xfrm>
            <a:off x="1017746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endParaRPr lang="pt-BR" sz="1000" dirty="0">
              <a:latin typeface="Calibri"/>
              <a:ea typeface="Calibri" panose="020F0502020204030204" pitchFamily="34" charset="0"/>
              <a:cs typeface="Calibri"/>
            </a:endParaRPr>
          </a:p>
        </p:txBody>
      </p:sp>
      <p:sp>
        <p:nvSpPr>
          <p:cNvPr id="172" name="CaixaDeTexto 21">
            <a:extLst>
              <a:ext uri="{FF2B5EF4-FFF2-40B4-BE49-F238E27FC236}">
                <a16:creationId xmlns:a16="http://schemas.microsoft.com/office/drawing/2014/main" id="{D24C026F-8CB4-7F1C-4452-3E942DF33268}"/>
              </a:ext>
            </a:extLst>
          </p:cNvPr>
          <p:cNvSpPr txBox="1"/>
          <p:nvPr/>
        </p:nvSpPr>
        <p:spPr>
          <a:xfrm>
            <a:off x="1017746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Fechamento Orçamento</a:t>
            </a:r>
            <a:endParaRPr lang="pt-BR" sz="1000" dirty="0">
              <a:latin typeface="Calibri"/>
              <a:ea typeface="Calibri" panose="020F0502020204030204" pitchFamily="34" charset="0"/>
              <a:cs typeface="Calibri"/>
            </a:endParaRPr>
          </a:p>
        </p:txBody>
      </p:sp>
      <p:cxnSp>
        <p:nvCxnSpPr>
          <p:cNvPr id="173" name="Straight Arrow Connector 62">
            <a:extLst>
              <a:ext uri="{FF2B5EF4-FFF2-40B4-BE49-F238E27FC236}">
                <a16:creationId xmlns:a16="http://schemas.microsoft.com/office/drawing/2014/main" id="{0DAD462B-2865-5A4E-7B82-20468F5B74B1}"/>
              </a:ext>
            </a:extLst>
          </p:cNvPr>
          <p:cNvCxnSpPr>
            <a:cxnSpLocks/>
          </p:cNvCxnSpPr>
          <p:nvPr/>
        </p:nvCxnSpPr>
        <p:spPr>
          <a:xfrm>
            <a:off x="1017746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4" name="CaixaDeTexto 557">
            <a:extLst>
              <a:ext uri="{FF2B5EF4-FFF2-40B4-BE49-F238E27FC236}">
                <a16:creationId xmlns:a16="http://schemas.microsoft.com/office/drawing/2014/main" id="{CA0B6A92-BE6A-862C-1A65-C537B310A016}"/>
              </a:ext>
            </a:extLst>
          </p:cNvPr>
          <p:cNvSpPr txBox="1"/>
          <p:nvPr/>
        </p:nvSpPr>
        <p:spPr>
          <a:xfrm>
            <a:off x="10177460" y="1180710"/>
            <a:ext cx="792000" cy="468000"/>
          </a:xfrm>
          <a:prstGeom prst="rect">
            <a:avLst/>
          </a:prstGeom>
          <a:noFill/>
          <a:ln>
            <a:noFill/>
          </a:ln>
        </p:spPr>
        <p:txBody>
          <a:bodyPr wrap="square" lIns="90000" rtlCol="0" anchor="ctr">
            <a:noAutofit/>
          </a:bodyPr>
          <a:lstStyle/>
          <a:p>
            <a:pPr algn="ctr"/>
            <a:r>
              <a:rPr lang="pt-BR" sz="1000" b="1" i="1" dirty="0"/>
              <a:t>~ 3</a:t>
            </a:r>
          </a:p>
          <a:p>
            <a:pPr algn="ctr"/>
            <a:r>
              <a:rPr lang="pt-BR" sz="1000" b="1" i="1" dirty="0"/>
              <a:t>meses</a:t>
            </a:r>
          </a:p>
        </p:txBody>
      </p:sp>
      <p:sp>
        <p:nvSpPr>
          <p:cNvPr id="175" name="CaixaDeTexto 21">
            <a:extLst>
              <a:ext uri="{FF2B5EF4-FFF2-40B4-BE49-F238E27FC236}">
                <a16:creationId xmlns:a16="http://schemas.microsoft.com/office/drawing/2014/main" id="{E5D7D0DF-F59B-DC93-1EF3-4A8DF5127FB3}"/>
              </a:ext>
            </a:extLst>
          </p:cNvPr>
          <p:cNvSpPr txBox="1"/>
          <p:nvPr/>
        </p:nvSpPr>
        <p:spPr>
          <a:xfrm>
            <a:off x="11064640" y="2284593"/>
            <a:ext cx="792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Concluída</a:t>
            </a:r>
            <a:endParaRPr lang="pt-BR" sz="1000" dirty="0">
              <a:latin typeface="Calibri"/>
              <a:ea typeface="Calibri" panose="020F0502020204030204" pitchFamily="34" charset="0"/>
              <a:cs typeface="Calibri"/>
            </a:endParaRPr>
          </a:p>
        </p:txBody>
      </p:sp>
      <p:sp>
        <p:nvSpPr>
          <p:cNvPr id="176" name="CaixaDeTexto 21">
            <a:extLst>
              <a:ext uri="{FF2B5EF4-FFF2-40B4-BE49-F238E27FC236}">
                <a16:creationId xmlns:a16="http://schemas.microsoft.com/office/drawing/2014/main" id="{EB73A3B6-A1EB-0783-C033-D546894D8C38}"/>
              </a:ext>
            </a:extLst>
          </p:cNvPr>
          <p:cNvSpPr txBox="1"/>
          <p:nvPr/>
        </p:nvSpPr>
        <p:spPr>
          <a:xfrm>
            <a:off x="11064640" y="2833300"/>
            <a:ext cx="792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Pós-</a:t>
            </a:r>
            <a:r>
              <a:rPr lang="pt-BR" sz="1000" b="1" dirty="0" err="1">
                <a:latin typeface="Calibri"/>
                <a:ea typeface="Calibri" panose="020F0502020204030204" pitchFamily="34" charset="0"/>
                <a:cs typeface="Calibri"/>
              </a:rPr>
              <a:t>Audit</a:t>
            </a:r>
            <a:r>
              <a:rPr lang="pt-BR" sz="1000" b="1" dirty="0">
                <a:latin typeface="Calibri"/>
                <a:ea typeface="Calibri" panose="020F0502020204030204" pitchFamily="34" charset="0"/>
                <a:cs typeface="Calibri"/>
              </a:rPr>
              <a:t> apresentado</a:t>
            </a:r>
            <a:endParaRPr lang="pt-BR" sz="1000" dirty="0">
              <a:latin typeface="Calibri"/>
              <a:ea typeface="Calibri" panose="020F0502020204030204" pitchFamily="34" charset="0"/>
              <a:cs typeface="Calibri"/>
            </a:endParaRPr>
          </a:p>
        </p:txBody>
      </p:sp>
      <p:cxnSp>
        <p:nvCxnSpPr>
          <p:cNvPr id="177" name="Straight Arrow Connector 62">
            <a:extLst>
              <a:ext uri="{FF2B5EF4-FFF2-40B4-BE49-F238E27FC236}">
                <a16:creationId xmlns:a16="http://schemas.microsoft.com/office/drawing/2014/main" id="{46A4220E-E4EE-940F-3AB0-3F6CD51F5158}"/>
              </a:ext>
            </a:extLst>
          </p:cNvPr>
          <p:cNvCxnSpPr>
            <a:cxnSpLocks/>
          </p:cNvCxnSpPr>
          <p:nvPr/>
        </p:nvCxnSpPr>
        <p:spPr>
          <a:xfrm>
            <a:off x="11064640" y="1629970"/>
            <a:ext cx="792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8" name="CaixaDeTexto 557">
            <a:extLst>
              <a:ext uri="{FF2B5EF4-FFF2-40B4-BE49-F238E27FC236}">
                <a16:creationId xmlns:a16="http://schemas.microsoft.com/office/drawing/2014/main" id="{B66407F4-08F4-5BEB-DD80-277A3361C13E}"/>
              </a:ext>
            </a:extLst>
          </p:cNvPr>
          <p:cNvSpPr txBox="1"/>
          <p:nvPr/>
        </p:nvSpPr>
        <p:spPr>
          <a:xfrm>
            <a:off x="11064640" y="1180710"/>
            <a:ext cx="792000" cy="468000"/>
          </a:xfrm>
          <a:prstGeom prst="rect">
            <a:avLst/>
          </a:prstGeom>
          <a:noFill/>
          <a:ln>
            <a:noFill/>
          </a:ln>
        </p:spPr>
        <p:txBody>
          <a:bodyPr wrap="square" lIns="90000" rtlCol="0" anchor="ctr">
            <a:noAutofit/>
          </a:bodyPr>
          <a:lstStyle/>
          <a:p>
            <a:pPr algn="ctr"/>
            <a:r>
              <a:rPr lang="pt-BR" sz="1000" b="1" i="1" dirty="0"/>
              <a:t>~ 1</a:t>
            </a:r>
          </a:p>
          <a:p>
            <a:pPr algn="ctr"/>
            <a:r>
              <a:rPr lang="pt-BR" sz="1000" b="1" i="1" dirty="0"/>
              <a:t>mês</a:t>
            </a:r>
          </a:p>
        </p:txBody>
      </p:sp>
      <p:grpSp>
        <p:nvGrpSpPr>
          <p:cNvPr id="179" name="Agrupar 178">
            <a:extLst>
              <a:ext uri="{FF2B5EF4-FFF2-40B4-BE49-F238E27FC236}">
                <a16:creationId xmlns:a16="http://schemas.microsoft.com/office/drawing/2014/main" id="{90809B8C-BF7C-1369-F808-EEEA54166690}"/>
              </a:ext>
            </a:extLst>
          </p:cNvPr>
          <p:cNvGrpSpPr/>
          <p:nvPr/>
        </p:nvGrpSpPr>
        <p:grpSpPr>
          <a:xfrm>
            <a:off x="1495995" y="3371835"/>
            <a:ext cx="10696006" cy="3312367"/>
            <a:chOff x="0" y="3356992"/>
            <a:chExt cx="12192001" cy="3312367"/>
          </a:xfrm>
        </p:grpSpPr>
        <p:sp>
          <p:nvSpPr>
            <p:cNvPr id="180" name="Retângulo 179">
              <a:extLst>
                <a:ext uri="{FF2B5EF4-FFF2-40B4-BE49-F238E27FC236}">
                  <a16:creationId xmlns:a16="http://schemas.microsoft.com/office/drawing/2014/main" id="{F21B3D68-9918-746E-E295-D3AA7D377527}"/>
                </a:ext>
              </a:extLst>
            </p:cNvPr>
            <p:cNvSpPr/>
            <p:nvPr/>
          </p:nvSpPr>
          <p:spPr>
            <a:xfrm>
              <a:off x="0" y="3356992"/>
              <a:ext cx="11064640" cy="3312367"/>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1" name="Retângulo 180">
              <a:extLst>
                <a:ext uri="{FF2B5EF4-FFF2-40B4-BE49-F238E27FC236}">
                  <a16:creationId xmlns:a16="http://schemas.microsoft.com/office/drawing/2014/main" id="{F4501FE8-5722-E9CE-3DE2-DF17E89CF854}"/>
                </a:ext>
              </a:extLst>
            </p:cNvPr>
            <p:cNvSpPr/>
            <p:nvPr/>
          </p:nvSpPr>
          <p:spPr>
            <a:xfrm>
              <a:off x="11064641" y="3356992"/>
              <a:ext cx="1127360" cy="889015"/>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31" name="CaixaDeTexto 21">
            <a:extLst>
              <a:ext uri="{FF2B5EF4-FFF2-40B4-BE49-F238E27FC236}">
                <a16:creationId xmlns:a16="http://schemas.microsoft.com/office/drawing/2014/main" id="{2C673C77-66A7-4E33-E575-A2739A9CAC26}"/>
              </a:ext>
            </a:extLst>
          </p:cNvPr>
          <p:cNvSpPr txBox="1"/>
          <p:nvPr/>
        </p:nvSpPr>
        <p:spPr>
          <a:xfrm>
            <a:off x="5656728" y="5662007"/>
            <a:ext cx="3070364" cy="180000"/>
          </a:xfrm>
          <a:prstGeom prst="rect">
            <a:avLst/>
          </a:prstGeom>
          <a:solidFill>
            <a:srgbClr val="03738E"/>
          </a:solidFill>
          <a:ln>
            <a:solidFill>
              <a:schemeClr val="bg1">
                <a:lumMod val="95000"/>
              </a:schemeClr>
            </a:solidFill>
          </a:ln>
        </p:spPr>
        <p:txBody>
          <a:bodyPr wrap="square" lIns="0" tIns="0" rIns="0" bIns="0" rtlCol="0" anchor="ctr" anchorCtr="0">
            <a:noAutofit/>
          </a:bodyPr>
          <a:lstStyle>
            <a:defPPr>
              <a:defRPr lang="pt-BR"/>
            </a:defPPr>
            <a:lvl1pPr algn="ctr">
              <a:lnSpc>
                <a:spcPct val="85000"/>
              </a:lnSpc>
              <a:spcBef>
                <a:spcPts val="400"/>
              </a:spcBef>
              <a:defRPr sz="1100" b="1">
                <a:latin typeface="Calibri"/>
                <a:ea typeface="Calibri" panose="020F0502020204030204" pitchFamily="34" charset="0"/>
                <a:cs typeface="Calibri"/>
              </a:defRPr>
            </a:lvl1pPr>
          </a:lstStyle>
          <a:p>
            <a:r>
              <a:rPr lang="pt-BR" sz="900" dirty="0">
                <a:solidFill>
                  <a:schemeClr val="bg1"/>
                </a:solidFill>
              </a:rPr>
              <a:t>11. </a:t>
            </a:r>
            <a:r>
              <a:rPr lang="pt-BR" sz="900" dirty="0" err="1">
                <a:solidFill>
                  <a:schemeClr val="bg1"/>
                </a:solidFill>
              </a:rPr>
              <a:t>GMUDs</a:t>
            </a:r>
            <a:endParaRPr lang="pt-BR" sz="900" dirty="0">
              <a:solidFill>
                <a:schemeClr val="bg1"/>
              </a:solidFill>
            </a:endParaRPr>
          </a:p>
        </p:txBody>
      </p:sp>
      <p:sp>
        <p:nvSpPr>
          <p:cNvPr id="183" name="Retângulo 182">
            <a:extLst>
              <a:ext uri="{FF2B5EF4-FFF2-40B4-BE49-F238E27FC236}">
                <a16:creationId xmlns:a16="http://schemas.microsoft.com/office/drawing/2014/main" id="{63D4E5A3-EBEC-C932-1479-A580550BB775}"/>
              </a:ext>
            </a:extLst>
          </p:cNvPr>
          <p:cNvSpPr/>
          <p:nvPr/>
        </p:nvSpPr>
        <p:spPr>
          <a:xfrm>
            <a:off x="1463997" y="1015993"/>
            <a:ext cx="10728003" cy="2307842"/>
          </a:xfrm>
          <a:prstGeom prst="rect">
            <a:avLst/>
          </a:prstGeom>
          <a:solidFill>
            <a:srgbClr val="FFFFFF">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4" name="CaixaDeTexto 21">
            <a:extLst>
              <a:ext uri="{FF2B5EF4-FFF2-40B4-BE49-F238E27FC236}">
                <a16:creationId xmlns:a16="http://schemas.microsoft.com/office/drawing/2014/main" id="{B031534D-CB26-FE4B-6D69-12ACFE626683}"/>
              </a:ext>
            </a:extLst>
          </p:cNvPr>
          <p:cNvSpPr txBox="1"/>
          <p:nvPr/>
        </p:nvSpPr>
        <p:spPr>
          <a:xfrm>
            <a:off x="5656728"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3</a:t>
            </a:r>
            <a:endParaRPr lang="pt-BR" sz="1000" dirty="0">
              <a:latin typeface="Calibri"/>
              <a:ea typeface="Calibri" panose="020F0502020204030204" pitchFamily="34" charset="0"/>
              <a:cs typeface="Calibri"/>
            </a:endParaRPr>
          </a:p>
        </p:txBody>
      </p:sp>
      <p:sp>
        <p:nvSpPr>
          <p:cNvPr id="155" name="CaixaDeTexto 21">
            <a:extLst>
              <a:ext uri="{FF2B5EF4-FFF2-40B4-BE49-F238E27FC236}">
                <a16:creationId xmlns:a16="http://schemas.microsoft.com/office/drawing/2014/main" id="{32576951-4F98-576B-D233-01FDD933D8DE}"/>
              </a:ext>
            </a:extLst>
          </p:cNvPr>
          <p:cNvSpPr txBox="1"/>
          <p:nvPr/>
        </p:nvSpPr>
        <p:spPr>
          <a:xfrm>
            <a:off x="5656728"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Congela-mento</a:t>
            </a:r>
            <a:endParaRPr lang="pt-BR" sz="1000" dirty="0">
              <a:latin typeface="Calibri"/>
              <a:ea typeface="Calibri" panose="020F0502020204030204" pitchFamily="34" charset="0"/>
              <a:cs typeface="Calibri"/>
            </a:endParaRPr>
          </a:p>
        </p:txBody>
      </p:sp>
      <p:cxnSp>
        <p:nvCxnSpPr>
          <p:cNvPr id="156" name="Straight Arrow Connector 38">
            <a:extLst>
              <a:ext uri="{FF2B5EF4-FFF2-40B4-BE49-F238E27FC236}">
                <a16:creationId xmlns:a16="http://schemas.microsoft.com/office/drawing/2014/main" id="{C54FC424-22E0-F94C-9EF0-DA7333456225}"/>
              </a:ext>
            </a:extLst>
          </p:cNvPr>
          <p:cNvCxnSpPr>
            <a:cxnSpLocks/>
          </p:cNvCxnSpPr>
          <p:nvPr/>
        </p:nvCxnSpPr>
        <p:spPr>
          <a:xfrm>
            <a:off x="5656728"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7" name="CaixaDeTexto 557">
            <a:extLst>
              <a:ext uri="{FF2B5EF4-FFF2-40B4-BE49-F238E27FC236}">
                <a16:creationId xmlns:a16="http://schemas.microsoft.com/office/drawing/2014/main" id="{E77672D2-6E5D-8B82-A8E5-D9FC718DFD4A}"/>
              </a:ext>
            </a:extLst>
          </p:cNvPr>
          <p:cNvSpPr txBox="1"/>
          <p:nvPr/>
        </p:nvSpPr>
        <p:spPr>
          <a:xfrm>
            <a:off x="5656728" y="1180710"/>
            <a:ext cx="900000" cy="468000"/>
          </a:xfrm>
          <a:prstGeom prst="rect">
            <a:avLst/>
          </a:prstGeom>
          <a:noFill/>
          <a:ln>
            <a:noFill/>
          </a:ln>
        </p:spPr>
        <p:txBody>
          <a:bodyPr wrap="square" lIns="90000" rtlCol="0" anchor="ctr">
            <a:noAutofit/>
          </a:bodyPr>
          <a:lstStyle/>
          <a:p>
            <a:pPr algn="ctr"/>
            <a:r>
              <a:rPr lang="pt-BR" sz="1000" b="1" i="1" dirty="0"/>
              <a:t>~ 2 a 3 meses</a:t>
            </a:r>
          </a:p>
        </p:txBody>
      </p:sp>
      <p:sp>
        <p:nvSpPr>
          <p:cNvPr id="158" name="CaixaDeTexto 21">
            <a:extLst>
              <a:ext uri="{FF2B5EF4-FFF2-40B4-BE49-F238E27FC236}">
                <a16:creationId xmlns:a16="http://schemas.microsoft.com/office/drawing/2014/main" id="{82C6DE87-FFD4-19C6-12BE-447367986C5F}"/>
              </a:ext>
            </a:extLst>
          </p:cNvPr>
          <p:cNvSpPr txBox="1"/>
          <p:nvPr/>
        </p:nvSpPr>
        <p:spPr>
          <a:xfrm>
            <a:off x="7647094" y="1735886"/>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Obra</a:t>
            </a:r>
            <a:endParaRPr lang="pt-BR" sz="1000" dirty="0">
              <a:latin typeface="Calibri"/>
              <a:ea typeface="Calibri" panose="020F0502020204030204" pitchFamily="34" charset="0"/>
              <a:cs typeface="Calibri"/>
            </a:endParaRPr>
          </a:p>
        </p:txBody>
      </p:sp>
      <p:sp>
        <p:nvSpPr>
          <p:cNvPr id="159" name="CaixaDeTexto 21">
            <a:extLst>
              <a:ext uri="{FF2B5EF4-FFF2-40B4-BE49-F238E27FC236}">
                <a16:creationId xmlns:a16="http://schemas.microsoft.com/office/drawing/2014/main" id="{8A259759-4281-F133-0BAC-E52BCB3592DB}"/>
              </a:ext>
            </a:extLst>
          </p:cNvPr>
          <p:cNvSpPr txBox="1"/>
          <p:nvPr/>
        </p:nvSpPr>
        <p:spPr>
          <a:xfrm>
            <a:off x="7647094" y="2284593"/>
            <a:ext cx="108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Em Execução</a:t>
            </a:r>
            <a:endParaRPr lang="pt-BR" sz="1000" dirty="0">
              <a:latin typeface="Calibri"/>
              <a:ea typeface="Calibri" panose="020F0502020204030204" pitchFamily="34" charset="0"/>
              <a:cs typeface="Calibri"/>
            </a:endParaRPr>
          </a:p>
        </p:txBody>
      </p:sp>
      <p:sp>
        <p:nvSpPr>
          <p:cNvPr id="160" name="CaixaDeTexto 21">
            <a:extLst>
              <a:ext uri="{FF2B5EF4-FFF2-40B4-BE49-F238E27FC236}">
                <a16:creationId xmlns:a16="http://schemas.microsoft.com/office/drawing/2014/main" id="{145308F4-1CB0-09EF-3289-60640AC01D9C}"/>
              </a:ext>
            </a:extLst>
          </p:cNvPr>
          <p:cNvSpPr txBox="1"/>
          <p:nvPr/>
        </p:nvSpPr>
        <p:spPr>
          <a:xfrm>
            <a:off x="7647094" y="2833300"/>
            <a:ext cx="1080000" cy="468000"/>
          </a:xfrm>
          <a:prstGeom prst="rect">
            <a:avLst/>
          </a:prstGeom>
          <a:solidFill>
            <a:schemeClr val="bg1">
              <a:lumMod val="95000"/>
            </a:schemeClr>
          </a:solidFill>
          <a:ln>
            <a:solidFill>
              <a:schemeClr val="bg1">
                <a:lumMod val="95000"/>
              </a:schemeClr>
            </a:solidFill>
          </a:ln>
        </p:spPr>
        <p:txBody>
          <a:bodyPr wrap="square" lIns="36000" tIns="108000" rIns="3600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Execução</a:t>
            </a:r>
            <a:endParaRPr lang="pt-BR" sz="1000" dirty="0">
              <a:latin typeface="Calibri"/>
              <a:ea typeface="Calibri" panose="020F0502020204030204" pitchFamily="34" charset="0"/>
              <a:cs typeface="Calibri"/>
            </a:endParaRPr>
          </a:p>
        </p:txBody>
      </p:sp>
      <p:cxnSp>
        <p:nvCxnSpPr>
          <p:cNvPr id="161" name="Straight Arrow Connector 62">
            <a:extLst>
              <a:ext uri="{FF2B5EF4-FFF2-40B4-BE49-F238E27FC236}">
                <a16:creationId xmlns:a16="http://schemas.microsoft.com/office/drawing/2014/main" id="{12AB4B6C-367F-D564-94E7-2D8ECE837CF8}"/>
              </a:ext>
            </a:extLst>
          </p:cNvPr>
          <p:cNvCxnSpPr>
            <a:cxnSpLocks/>
          </p:cNvCxnSpPr>
          <p:nvPr/>
        </p:nvCxnSpPr>
        <p:spPr>
          <a:xfrm>
            <a:off x="7647094" y="1629970"/>
            <a:ext cx="108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2" name="CaixaDeTexto 557">
            <a:extLst>
              <a:ext uri="{FF2B5EF4-FFF2-40B4-BE49-F238E27FC236}">
                <a16:creationId xmlns:a16="http://schemas.microsoft.com/office/drawing/2014/main" id="{5ABC7F2D-475F-F666-4795-9A342F5EB378}"/>
              </a:ext>
            </a:extLst>
          </p:cNvPr>
          <p:cNvSpPr txBox="1"/>
          <p:nvPr/>
        </p:nvSpPr>
        <p:spPr>
          <a:xfrm>
            <a:off x="7647094" y="1180710"/>
            <a:ext cx="1080000" cy="468000"/>
          </a:xfrm>
          <a:prstGeom prst="rect">
            <a:avLst/>
          </a:prstGeom>
          <a:noFill/>
          <a:ln>
            <a:noFill/>
          </a:ln>
        </p:spPr>
        <p:txBody>
          <a:bodyPr wrap="square" lIns="90000" rtlCol="0" anchor="ctr">
            <a:noAutofit/>
          </a:bodyPr>
          <a:lstStyle/>
          <a:p>
            <a:pPr algn="ctr"/>
            <a:r>
              <a:rPr lang="pt-BR" sz="1000" b="1" i="1" dirty="0"/>
              <a:t>~ 10 a 120 </a:t>
            </a:r>
          </a:p>
          <a:p>
            <a:pPr algn="ctr"/>
            <a:r>
              <a:rPr lang="pt-BR" sz="1000" b="1" i="1" dirty="0"/>
              <a:t>dias</a:t>
            </a:r>
          </a:p>
        </p:txBody>
      </p:sp>
      <p:sp>
        <p:nvSpPr>
          <p:cNvPr id="163" name="CaixaDeTexto 21">
            <a:extLst>
              <a:ext uri="{FF2B5EF4-FFF2-40B4-BE49-F238E27FC236}">
                <a16:creationId xmlns:a16="http://schemas.microsoft.com/office/drawing/2014/main" id="{74117DD2-8924-AB03-BEE0-F5DBA37902B5}"/>
              </a:ext>
            </a:extLst>
          </p:cNvPr>
          <p:cNvSpPr txBox="1"/>
          <p:nvPr/>
        </p:nvSpPr>
        <p:spPr>
          <a:xfrm>
            <a:off x="6651911" y="2284593"/>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FEL 4</a:t>
            </a:r>
            <a:endParaRPr lang="pt-BR" sz="1000" dirty="0">
              <a:latin typeface="Calibri"/>
              <a:ea typeface="Calibri" panose="020F0502020204030204" pitchFamily="34" charset="0"/>
              <a:cs typeface="Calibri"/>
            </a:endParaRPr>
          </a:p>
        </p:txBody>
      </p:sp>
      <p:sp>
        <p:nvSpPr>
          <p:cNvPr id="164" name="CaixaDeTexto 21">
            <a:extLst>
              <a:ext uri="{FF2B5EF4-FFF2-40B4-BE49-F238E27FC236}">
                <a16:creationId xmlns:a16="http://schemas.microsoft.com/office/drawing/2014/main" id="{ADB7F467-3C94-5D6A-83C0-B85E3FC8A3E3}"/>
              </a:ext>
            </a:extLst>
          </p:cNvPr>
          <p:cNvSpPr txBox="1"/>
          <p:nvPr/>
        </p:nvSpPr>
        <p:spPr>
          <a:xfrm>
            <a:off x="6651911" y="2833300"/>
            <a:ext cx="900000"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a:latin typeface="Calibri"/>
                <a:ea typeface="Calibri" panose="020F0502020204030204" pitchFamily="34" charset="0"/>
                <a:cs typeface="Calibri"/>
              </a:rPr>
              <a:t>D-1</a:t>
            </a:r>
            <a:br>
              <a:rPr lang="pt-BR" sz="1000" b="1" dirty="0">
                <a:latin typeface="Calibri"/>
                <a:ea typeface="Calibri" panose="020F0502020204030204" pitchFamily="34" charset="0"/>
                <a:cs typeface="Calibri"/>
              </a:rPr>
            </a:br>
            <a:r>
              <a:rPr lang="pt-BR" sz="1000" b="1" dirty="0">
                <a:latin typeface="Calibri"/>
                <a:ea typeface="Calibri" panose="020F0502020204030204" pitchFamily="34" charset="0"/>
                <a:cs typeface="Calibri"/>
              </a:rPr>
              <a:t>Obra(</a:t>
            </a:r>
            <a:r>
              <a:rPr lang="pt-BR" sz="1000" b="1" dirty="0" err="1">
                <a:latin typeface="Calibri"/>
                <a:ea typeface="Calibri" panose="020F0502020204030204" pitchFamily="34" charset="0"/>
                <a:cs typeface="Calibri"/>
              </a:rPr>
              <a:t>s</a:t>
            </a:r>
            <a:r>
              <a:rPr lang="pt-BR" sz="1000" b="1" dirty="0">
                <a:latin typeface="Calibri"/>
                <a:ea typeface="Calibri" panose="020F0502020204030204" pitchFamily="34" charset="0"/>
                <a:cs typeface="Calibri"/>
              </a:rPr>
              <a:t>)</a:t>
            </a:r>
            <a:endParaRPr lang="pt-BR" sz="1000" dirty="0">
              <a:latin typeface="Calibri"/>
              <a:ea typeface="Calibri" panose="020F0502020204030204" pitchFamily="34" charset="0"/>
              <a:cs typeface="Calibri"/>
            </a:endParaRPr>
          </a:p>
        </p:txBody>
      </p:sp>
      <p:cxnSp>
        <p:nvCxnSpPr>
          <p:cNvPr id="165" name="Straight Arrow Connector 38">
            <a:extLst>
              <a:ext uri="{FF2B5EF4-FFF2-40B4-BE49-F238E27FC236}">
                <a16:creationId xmlns:a16="http://schemas.microsoft.com/office/drawing/2014/main" id="{C7E660ED-BE7D-20E5-2DB1-602DDB678353}"/>
              </a:ext>
            </a:extLst>
          </p:cNvPr>
          <p:cNvCxnSpPr>
            <a:cxnSpLocks/>
          </p:cNvCxnSpPr>
          <p:nvPr/>
        </p:nvCxnSpPr>
        <p:spPr>
          <a:xfrm>
            <a:off x="6651911" y="1629970"/>
            <a:ext cx="900000"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6" name="CaixaDeTexto 557">
            <a:extLst>
              <a:ext uri="{FF2B5EF4-FFF2-40B4-BE49-F238E27FC236}">
                <a16:creationId xmlns:a16="http://schemas.microsoft.com/office/drawing/2014/main" id="{5C246F59-1BF0-A35F-E7EE-2F3D83CB586B}"/>
              </a:ext>
            </a:extLst>
          </p:cNvPr>
          <p:cNvSpPr txBox="1"/>
          <p:nvPr/>
        </p:nvSpPr>
        <p:spPr>
          <a:xfrm>
            <a:off x="6651911" y="1180710"/>
            <a:ext cx="900000" cy="468000"/>
          </a:xfrm>
          <a:prstGeom prst="rect">
            <a:avLst/>
          </a:prstGeom>
          <a:noFill/>
          <a:ln>
            <a:noFill/>
          </a:ln>
        </p:spPr>
        <p:txBody>
          <a:bodyPr wrap="square" lIns="90000" rtlCol="0" anchor="ctr">
            <a:noAutofit/>
          </a:bodyPr>
          <a:lstStyle/>
          <a:p>
            <a:pPr algn="ctr"/>
            <a:r>
              <a:rPr lang="pt-BR" sz="1000" b="1" i="1" dirty="0"/>
              <a:t>1 </a:t>
            </a:r>
          </a:p>
          <a:p>
            <a:pPr algn="ctr"/>
            <a:r>
              <a:rPr lang="pt-BR" sz="1000" b="1" i="1" dirty="0"/>
              <a:t>dia</a:t>
            </a:r>
          </a:p>
        </p:txBody>
      </p:sp>
      <p:sp>
        <p:nvSpPr>
          <p:cNvPr id="119" name="CaixaDeTexto 21">
            <a:extLst>
              <a:ext uri="{FF2B5EF4-FFF2-40B4-BE49-F238E27FC236}">
                <a16:creationId xmlns:a16="http://schemas.microsoft.com/office/drawing/2014/main" id="{D266768B-D18D-C513-A6FE-E2467258DBC8}"/>
              </a:ext>
            </a:extLst>
          </p:cNvPr>
          <p:cNvSpPr txBox="1"/>
          <p:nvPr/>
        </p:nvSpPr>
        <p:spPr>
          <a:xfrm>
            <a:off x="2656023" y="1735886"/>
            <a:ext cx="4897605" cy="468000"/>
          </a:xfrm>
          <a:prstGeom prst="rect">
            <a:avLst/>
          </a:prstGeom>
          <a:solidFill>
            <a:schemeClr val="bg1">
              <a:lumMod val="95000"/>
            </a:schemeClr>
          </a:solidFill>
          <a:ln>
            <a:solidFill>
              <a:schemeClr val="bg1">
                <a:lumMod val="95000"/>
              </a:schemeClr>
            </a:solidFill>
          </a:ln>
        </p:spPr>
        <p:txBody>
          <a:bodyPr wrap="square" lIns="90000" tIns="108000" rIns="91440" bIns="45720" rtlCol="0" anchor="t">
            <a:noAutofit/>
          </a:bodyPr>
          <a:lstStyle/>
          <a:p>
            <a:pPr algn="ctr">
              <a:lnSpc>
                <a:spcPct val="85000"/>
              </a:lnSpc>
              <a:spcBef>
                <a:spcPts val="400"/>
              </a:spcBef>
            </a:pPr>
            <a:r>
              <a:rPr lang="pt-BR" sz="1000" b="1" dirty="0" err="1">
                <a:latin typeface="Calibri"/>
                <a:ea typeface="Calibri" panose="020F0502020204030204" pitchFamily="34" charset="0"/>
                <a:cs typeface="Calibri"/>
              </a:rPr>
              <a:t>Pré</a:t>
            </a:r>
            <a:r>
              <a:rPr lang="pt-BR" sz="1000" b="1" dirty="0">
                <a:latin typeface="Calibri"/>
                <a:ea typeface="Calibri" panose="020F0502020204030204" pitchFamily="34" charset="0"/>
                <a:cs typeface="Calibri"/>
              </a:rPr>
              <a:t>-Obra</a:t>
            </a:r>
          </a:p>
          <a:p>
            <a:pPr algn="ctr">
              <a:lnSpc>
                <a:spcPct val="85000"/>
              </a:lnSpc>
              <a:spcBef>
                <a:spcPts val="400"/>
              </a:spcBef>
            </a:pPr>
            <a:r>
              <a:rPr lang="pt-BR" sz="1000" dirty="0">
                <a:latin typeface="Calibri"/>
                <a:ea typeface="Calibri" panose="020F0502020204030204" pitchFamily="34" charset="0"/>
                <a:cs typeface="Calibri"/>
              </a:rPr>
              <a:t>(Planejamento Técnico e Financeiro)</a:t>
            </a:r>
          </a:p>
        </p:txBody>
      </p:sp>
    </p:spTree>
    <p:extLst>
      <p:ext uri="{BB962C8B-B14F-4D97-AF65-F5344CB8AC3E}">
        <p14:creationId xmlns:p14="http://schemas.microsoft.com/office/powerpoint/2010/main" val="27173235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B9D8D-0272-7173-A42D-2BC4246300E5}"/>
            </a:ext>
          </a:extLst>
        </p:cNvPr>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E0C91D29-653F-846D-A25D-A176DF5E40EA}"/>
              </a:ext>
            </a:extLst>
          </p:cNvPr>
          <p:cNvSpPr>
            <a:spLocks noGrp="1"/>
          </p:cNvSpPr>
          <p:nvPr>
            <p:ph idx="1"/>
          </p:nvPr>
        </p:nvSpPr>
        <p:spPr>
          <a:xfrm>
            <a:off x="1552599" y="1988840"/>
            <a:ext cx="9223921" cy="2607775"/>
          </a:xfrm>
        </p:spPr>
        <p:txBody>
          <a:bodyPr>
            <a:noAutofit/>
          </a:bodyPr>
          <a:lstStyle/>
          <a:p>
            <a:pPr marL="0" indent="0">
              <a:buNone/>
            </a:pPr>
            <a:r>
              <a:rPr lang="pt-BR" sz="1400" dirty="0"/>
              <a:t>A  proposta é que a </a:t>
            </a:r>
            <a:r>
              <a:rPr lang="pt-BR" sz="1400" b="1" dirty="0"/>
              <a:t>GMUD seja uma </a:t>
            </a:r>
            <a:r>
              <a:rPr lang="pt-BR" sz="1400" b="1" u="sng" dirty="0"/>
              <a:t>funcionalidade</a:t>
            </a:r>
            <a:r>
              <a:rPr lang="pt-BR" sz="1400" b="1" dirty="0"/>
              <a:t> do HUB que </a:t>
            </a:r>
            <a:r>
              <a:rPr lang="pt-BR" sz="1400" b="1" u="sng" dirty="0"/>
              <a:t>poderá ser via mobile</a:t>
            </a:r>
            <a:r>
              <a:rPr lang="pt-BR" sz="1400" b="1" dirty="0"/>
              <a:t> para facilitar a abertura pelo time de especialistas de Obra</a:t>
            </a:r>
            <a:endParaRPr lang="pt-BR" sz="1400" dirty="0"/>
          </a:p>
          <a:p>
            <a:pPr marL="0" indent="0">
              <a:buNone/>
            </a:pPr>
            <a:endParaRPr lang="pt-BR" sz="1400" dirty="0"/>
          </a:p>
          <a:p>
            <a:pPr marL="0" indent="0">
              <a:buNone/>
            </a:pPr>
            <a:r>
              <a:rPr lang="pt-BR" sz="1400" dirty="0"/>
              <a:t>A versão mobile terá:</a:t>
            </a:r>
          </a:p>
          <a:p>
            <a:pPr marL="355600" indent="-173038">
              <a:buFont typeface="Wingdings" panose="05000000000000000000" pitchFamily="2" charset="2"/>
              <a:buChar char="§"/>
            </a:pPr>
            <a:r>
              <a:rPr lang="pt-BR" sz="1400" dirty="0"/>
              <a:t>Página com formulário para cadastro da GMUD</a:t>
            </a:r>
          </a:p>
          <a:p>
            <a:pPr marL="355600" indent="-173038">
              <a:buFont typeface="Wingdings" panose="05000000000000000000" pitchFamily="2" charset="2"/>
              <a:buChar char="§"/>
            </a:pPr>
            <a:r>
              <a:rPr lang="pt-BR" sz="1400" dirty="0"/>
              <a:t>Página para visualização de pendências e </a:t>
            </a:r>
            <a:r>
              <a:rPr lang="pt-BR" sz="1400" dirty="0" err="1"/>
              <a:t>GMUD’s</a:t>
            </a:r>
            <a:r>
              <a:rPr lang="pt-BR" sz="1400" dirty="0"/>
              <a:t> salvas em rascunho</a:t>
            </a:r>
          </a:p>
          <a:p>
            <a:pPr marL="355600" indent="-173038">
              <a:buFont typeface="Wingdings" panose="05000000000000000000" pitchFamily="2" charset="2"/>
              <a:buChar char="§"/>
            </a:pPr>
            <a:r>
              <a:rPr lang="pt-BR" sz="1400" dirty="0"/>
              <a:t>Página para visualização e aprovação de </a:t>
            </a:r>
            <a:r>
              <a:rPr lang="pt-BR" sz="1400" dirty="0" err="1"/>
              <a:t>GMUD’s</a:t>
            </a:r>
            <a:r>
              <a:rPr lang="pt-BR" sz="1400" dirty="0"/>
              <a:t> (somente para perfis habilitados)</a:t>
            </a:r>
          </a:p>
          <a:p>
            <a:pPr marL="355600" indent="-173038">
              <a:buFont typeface="Wingdings" panose="05000000000000000000" pitchFamily="2" charset="2"/>
              <a:buChar char="§"/>
            </a:pPr>
            <a:r>
              <a:rPr lang="pt-BR" sz="1400" dirty="0"/>
              <a:t>Alertas via </a:t>
            </a:r>
            <a:r>
              <a:rPr lang="pt-BR" sz="1400" dirty="0" err="1"/>
              <a:t>push</a:t>
            </a:r>
            <a:r>
              <a:rPr lang="pt-BR" sz="1400" dirty="0"/>
              <a:t>, por perfil de acesso</a:t>
            </a:r>
          </a:p>
          <a:p>
            <a:pPr marL="355600" indent="-173038">
              <a:buFont typeface="Wingdings" panose="05000000000000000000" pitchFamily="2" charset="2"/>
              <a:buChar char="§"/>
            </a:pPr>
            <a:r>
              <a:rPr lang="pt-BR" sz="1400" dirty="0"/>
              <a:t>Página para visualização de alertas</a:t>
            </a:r>
          </a:p>
        </p:txBody>
      </p:sp>
      <p:sp>
        <p:nvSpPr>
          <p:cNvPr id="4" name="Título 3">
            <a:extLst>
              <a:ext uri="{FF2B5EF4-FFF2-40B4-BE49-F238E27FC236}">
                <a16:creationId xmlns:a16="http://schemas.microsoft.com/office/drawing/2014/main" id="{3370066B-7D46-9B93-E0EF-9007056C4FF1}"/>
              </a:ext>
            </a:extLst>
          </p:cNvPr>
          <p:cNvSpPr>
            <a:spLocks noGrp="1"/>
          </p:cNvSpPr>
          <p:nvPr>
            <p:ph type="title"/>
          </p:nvPr>
        </p:nvSpPr>
        <p:spPr/>
        <p:txBody>
          <a:bodyPr/>
          <a:lstStyle/>
          <a:p>
            <a:r>
              <a:rPr lang="pt-BR" dirty="0"/>
              <a:t>GMUD</a:t>
            </a:r>
            <a:endParaRPr lang="pt-BR" b="0" dirty="0"/>
          </a:p>
        </p:txBody>
      </p:sp>
      <p:pic>
        <p:nvPicPr>
          <p:cNvPr id="20" name="Imagem 19" descr="Tela de celular&#10;&#10;O conteúdo gerado por IA pode estar incorreto.">
            <a:extLst>
              <a:ext uri="{FF2B5EF4-FFF2-40B4-BE49-F238E27FC236}">
                <a16:creationId xmlns:a16="http://schemas.microsoft.com/office/drawing/2014/main" id="{48E5864B-4365-5600-411F-4530822F6923}"/>
              </a:ext>
            </a:extLst>
          </p:cNvPr>
          <p:cNvPicPr>
            <a:picLocks noChangeAspect="1"/>
          </p:cNvPicPr>
          <p:nvPr/>
        </p:nvPicPr>
        <p:blipFill>
          <a:blip r:embed="rId2" cstate="print">
            <a:extLst>
              <a:ext uri="{28A0092B-C50C-407E-A947-70E740481C1C}">
                <a14:useLocalDpi xmlns:a14="http://schemas.microsoft.com/office/drawing/2010/main" val="0"/>
              </a:ext>
            </a:extLst>
          </a:blip>
          <a:srcRect l="50000" t="21077"/>
          <a:stretch>
            <a:fillRect/>
          </a:stretch>
        </p:blipFill>
        <p:spPr>
          <a:xfrm>
            <a:off x="7146336" y="4687914"/>
            <a:ext cx="2459497" cy="2183755"/>
          </a:xfrm>
          <a:prstGeom prst="rect">
            <a:avLst/>
          </a:prstGeom>
        </p:spPr>
      </p:pic>
      <p:sp>
        <p:nvSpPr>
          <p:cNvPr id="28" name="CaixaDeTexto 27">
            <a:extLst>
              <a:ext uri="{FF2B5EF4-FFF2-40B4-BE49-F238E27FC236}">
                <a16:creationId xmlns:a16="http://schemas.microsoft.com/office/drawing/2014/main" id="{1A5A9AA9-86FE-61DD-9C11-4090C2168B85}"/>
              </a:ext>
            </a:extLst>
          </p:cNvPr>
          <p:cNvSpPr txBox="1"/>
          <p:nvPr/>
        </p:nvSpPr>
        <p:spPr>
          <a:xfrm>
            <a:off x="3913630" y="4635604"/>
            <a:ext cx="3060000" cy="461665"/>
          </a:xfrm>
          <a:prstGeom prst="rect">
            <a:avLst/>
          </a:prstGeom>
          <a:noFill/>
        </p:spPr>
        <p:txBody>
          <a:bodyPr wrap="square" lIns="90000" rtlCol="0">
            <a:noAutofit/>
          </a:bodyPr>
          <a:lstStyle/>
          <a:p>
            <a:pPr marL="171450" indent="-171450">
              <a:buFont typeface="Wingdings" panose="05000000000000000000" pitchFamily="2" charset="2"/>
              <a:buChar char="§"/>
            </a:pPr>
            <a:r>
              <a:rPr lang="pt-BR" sz="1200" dirty="0"/>
              <a:t>Entrada de dados para abertura de </a:t>
            </a:r>
            <a:r>
              <a:rPr lang="pt-BR" sz="1200" dirty="0" err="1"/>
              <a:t>GMUD’s</a:t>
            </a:r>
            <a:endParaRPr lang="pt-BR" sz="1200" dirty="0"/>
          </a:p>
          <a:p>
            <a:pPr marL="171450" indent="-171450">
              <a:buFont typeface="Wingdings" panose="05000000000000000000" pitchFamily="2" charset="2"/>
              <a:buChar char="§"/>
            </a:pPr>
            <a:r>
              <a:rPr lang="pt-BR" sz="1200" dirty="0"/>
              <a:t>Aprovações</a:t>
            </a:r>
          </a:p>
        </p:txBody>
      </p:sp>
      <p:sp>
        <p:nvSpPr>
          <p:cNvPr id="29" name="CaixaDeTexto 28">
            <a:extLst>
              <a:ext uri="{FF2B5EF4-FFF2-40B4-BE49-F238E27FC236}">
                <a16:creationId xmlns:a16="http://schemas.microsoft.com/office/drawing/2014/main" id="{4950E353-C0EF-F699-32BD-DDB957DE316F}"/>
              </a:ext>
            </a:extLst>
          </p:cNvPr>
          <p:cNvSpPr txBox="1"/>
          <p:nvPr/>
        </p:nvSpPr>
        <p:spPr>
          <a:xfrm>
            <a:off x="3913630" y="5846829"/>
            <a:ext cx="3060000" cy="461665"/>
          </a:xfrm>
          <a:prstGeom prst="rect">
            <a:avLst/>
          </a:prstGeom>
          <a:noFill/>
        </p:spPr>
        <p:txBody>
          <a:bodyPr wrap="square" lIns="90000" rtlCol="0">
            <a:noAutofit/>
          </a:bodyPr>
          <a:lstStyle/>
          <a:p>
            <a:pPr marL="171450" indent="-171450">
              <a:buFont typeface="Wingdings" panose="05000000000000000000" pitchFamily="2" charset="2"/>
              <a:buChar char="§"/>
            </a:pPr>
            <a:r>
              <a:rPr lang="pt-BR" sz="1200" dirty="0"/>
              <a:t>Dados dos serviços da parada</a:t>
            </a:r>
          </a:p>
          <a:p>
            <a:pPr marL="171450" indent="-171450">
              <a:buFont typeface="Wingdings" panose="05000000000000000000" pitchFamily="2" charset="2"/>
              <a:buChar char="§"/>
            </a:pPr>
            <a:r>
              <a:rPr lang="pt-BR" sz="1200" dirty="0"/>
              <a:t>Alertas de ações via </a:t>
            </a:r>
            <a:r>
              <a:rPr lang="pt-BR" sz="1200" dirty="0" err="1"/>
              <a:t>push</a:t>
            </a:r>
            <a:endParaRPr lang="pt-BR" sz="1200" dirty="0"/>
          </a:p>
        </p:txBody>
      </p:sp>
      <p:sp>
        <p:nvSpPr>
          <p:cNvPr id="3" name="CaixaDeTexto 557">
            <a:extLst>
              <a:ext uri="{FF2B5EF4-FFF2-40B4-BE49-F238E27FC236}">
                <a16:creationId xmlns:a16="http://schemas.microsoft.com/office/drawing/2014/main" id="{E0877BD3-8C85-228C-0731-5C92F3DAF1BA}"/>
              </a:ext>
            </a:extLst>
          </p:cNvPr>
          <p:cNvSpPr txBox="1"/>
          <p:nvPr/>
        </p:nvSpPr>
        <p:spPr>
          <a:xfrm>
            <a:off x="400471" y="1196752"/>
            <a:ext cx="969746" cy="645194"/>
          </a:xfrm>
          <a:prstGeom prst="roundRect">
            <a:avLst>
              <a:gd name="adj" fmla="val 0"/>
            </a:avLst>
          </a:prstGeom>
          <a:noFill/>
          <a:ln>
            <a:solidFill>
              <a:srgbClr val="014A65"/>
            </a:solidFill>
          </a:ln>
        </p:spPr>
        <p:txBody>
          <a:bodyPr wrap="square" lIns="90000" rtlCol="0" anchor="ctr">
            <a:noAutofit/>
          </a:bodyPr>
          <a:lstStyle/>
          <a:p>
            <a:pPr algn="r"/>
            <a:r>
              <a:rPr lang="pt-BR" sz="1400" b="1" i="1" dirty="0"/>
              <a:t>Definição</a:t>
            </a:r>
          </a:p>
        </p:txBody>
      </p:sp>
      <p:sp>
        <p:nvSpPr>
          <p:cNvPr id="5" name="Espaço Reservado para Conteúdo 1">
            <a:extLst>
              <a:ext uri="{FF2B5EF4-FFF2-40B4-BE49-F238E27FC236}">
                <a16:creationId xmlns:a16="http://schemas.microsoft.com/office/drawing/2014/main" id="{3D06C4B3-7708-4485-0BF6-087143F8FB41}"/>
              </a:ext>
            </a:extLst>
          </p:cNvPr>
          <p:cNvSpPr txBox="1">
            <a:spLocks/>
          </p:cNvSpPr>
          <p:nvPr/>
        </p:nvSpPr>
        <p:spPr>
          <a:xfrm>
            <a:off x="1552599" y="1196752"/>
            <a:ext cx="10160025" cy="645195"/>
          </a:xfrm>
          <a:prstGeom prst="rect">
            <a:avLst/>
          </a:prstGeom>
        </p:spPr>
        <p:txBody>
          <a:bodyPr lIns="53998" tIns="41537" rIns="53998" bIns="41537">
            <a:noAutofit/>
          </a:bodyPr>
          <a:lstStyle>
            <a:lvl1pPr marL="311390" indent="-311390"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1pPr>
            <a:lvl2pPr marL="716197" indent="-188666" algn="l" defTabSz="1055061" rtl="0" eaLnBrk="1" latinLnBrk="0" hangingPunct="1">
              <a:spcBef>
                <a:spcPct val="20000"/>
              </a:spcBef>
              <a:buClr>
                <a:srgbClr val="143244"/>
              </a:buClr>
              <a:buSzPct val="90000"/>
              <a:buFont typeface="Arial" panose="020B0604020202020204" pitchFamily="34" charset="0"/>
              <a:buChar char="–"/>
              <a:tabLst/>
              <a:defRPr sz="1800" kern="1200">
                <a:solidFill>
                  <a:schemeClr val="tx1"/>
                </a:solidFill>
                <a:latin typeface="+mn-lt"/>
                <a:ea typeface="+mn-ea"/>
                <a:cs typeface="+mn-cs"/>
              </a:defRPr>
            </a:lvl2pPr>
            <a:lvl3pPr marL="1135656" indent="-80595"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3pPr>
            <a:lvl4pPr marL="1846358" indent="-263766" algn="l" defTabSz="1055061"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1650365" indent="-163022" algn="l" defTabSz="1055061" rtl="0" eaLnBrk="1" latinLnBrk="0" hangingPunct="1">
              <a:spcBef>
                <a:spcPct val="20000"/>
              </a:spcBef>
              <a:buClr>
                <a:srgbClr val="143244"/>
              </a:buClr>
              <a:buSzPct val="90000"/>
              <a:buFont typeface="Arial" panose="020B0604020202020204" pitchFamily="34" charset="0"/>
              <a:buChar char="»"/>
              <a:defRPr sz="1800" kern="1200">
                <a:solidFill>
                  <a:schemeClr val="tx1"/>
                </a:solidFill>
                <a:latin typeface="+mn-lt"/>
                <a:ea typeface="+mn-ea"/>
                <a:cs typeface="+mn-cs"/>
              </a:defRPr>
            </a:lvl5pPr>
            <a:lvl6pPr marL="2901417"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6pPr>
            <a:lvl7pPr marL="342894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7pPr>
            <a:lvl8pPr marL="3956479"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8pPr>
            <a:lvl9pPr marL="4484010" indent="-263766" algn="l" defTabSz="1055061"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9pPr>
          </a:lstStyle>
          <a:p>
            <a:pPr marL="0" indent="0">
              <a:buFont typeface="Arial" panose="020B0604020202020204" pitchFamily="34" charset="0"/>
              <a:buNone/>
            </a:pPr>
            <a:r>
              <a:rPr lang="pt-BR" sz="1400" dirty="0"/>
              <a:t>A GMUD é o instrumento que registra mudanças necessárias após a reunião de congelamento até a finalização da obra ...</a:t>
            </a:r>
          </a:p>
          <a:p>
            <a:pPr marL="0" indent="0">
              <a:buFont typeface="Arial" panose="020B0604020202020204" pitchFamily="34" charset="0"/>
              <a:buNone/>
            </a:pPr>
            <a:r>
              <a:rPr lang="pt-BR" sz="1400" dirty="0"/>
              <a:t>... e que impactam diretamente cronograma e/ou custos da Parada </a:t>
            </a:r>
          </a:p>
        </p:txBody>
      </p:sp>
      <p:sp>
        <p:nvSpPr>
          <p:cNvPr id="6" name="CaixaDeTexto 557">
            <a:extLst>
              <a:ext uri="{FF2B5EF4-FFF2-40B4-BE49-F238E27FC236}">
                <a16:creationId xmlns:a16="http://schemas.microsoft.com/office/drawing/2014/main" id="{22C18AD3-4248-7BAC-8AFA-510137DF2554}"/>
              </a:ext>
            </a:extLst>
          </p:cNvPr>
          <p:cNvSpPr txBox="1"/>
          <p:nvPr/>
        </p:nvSpPr>
        <p:spPr>
          <a:xfrm>
            <a:off x="400471" y="1988840"/>
            <a:ext cx="969746" cy="4680520"/>
          </a:xfrm>
          <a:prstGeom prst="roundRect">
            <a:avLst>
              <a:gd name="adj" fmla="val 0"/>
            </a:avLst>
          </a:prstGeom>
          <a:noFill/>
          <a:ln>
            <a:solidFill>
              <a:srgbClr val="014A65"/>
            </a:solidFill>
          </a:ln>
        </p:spPr>
        <p:txBody>
          <a:bodyPr wrap="square" lIns="90000" rtlCol="0" anchor="ctr">
            <a:noAutofit/>
          </a:bodyPr>
          <a:lstStyle/>
          <a:p>
            <a:pPr algn="r"/>
            <a:r>
              <a:rPr lang="pt-BR" sz="1400" b="1" i="1" dirty="0"/>
              <a:t>Visão Geral GMUD &amp; HUB</a:t>
            </a:r>
          </a:p>
        </p:txBody>
      </p:sp>
      <p:cxnSp>
        <p:nvCxnSpPr>
          <p:cNvPr id="7" name="Straight Arrow Connector 6">
            <a:extLst>
              <a:ext uri="{FF2B5EF4-FFF2-40B4-BE49-F238E27FC236}">
                <a16:creationId xmlns:a16="http://schemas.microsoft.com/office/drawing/2014/main" id="{B3A4F9CE-B29A-C973-5FCE-5801CEF74CF9}"/>
              </a:ext>
            </a:extLst>
          </p:cNvPr>
          <p:cNvCxnSpPr>
            <a:cxnSpLocks/>
          </p:cNvCxnSpPr>
          <p:nvPr/>
        </p:nvCxnSpPr>
        <p:spPr>
          <a:xfrm>
            <a:off x="3980528" y="5157192"/>
            <a:ext cx="3024336"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208A1C39-B67B-B083-F27C-FF75A3C2AA06}"/>
              </a:ext>
            </a:extLst>
          </p:cNvPr>
          <p:cNvCxnSpPr>
            <a:cxnSpLocks/>
          </p:cNvCxnSpPr>
          <p:nvPr/>
        </p:nvCxnSpPr>
        <p:spPr>
          <a:xfrm flipH="1">
            <a:off x="3980528" y="5775716"/>
            <a:ext cx="3024336" cy="0"/>
          </a:xfrm>
          <a:prstGeom prst="straightConnector1">
            <a:avLst/>
          </a:prstGeom>
          <a:ln w="19050">
            <a:solidFill>
              <a:srgbClr val="03738E"/>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71097DD7-AB14-D0B9-7F64-D9F213597B46}"/>
              </a:ext>
            </a:extLst>
          </p:cNvPr>
          <p:cNvGrpSpPr/>
          <p:nvPr/>
        </p:nvGrpSpPr>
        <p:grpSpPr>
          <a:xfrm>
            <a:off x="2232265" y="4389992"/>
            <a:ext cx="1606790" cy="2779598"/>
            <a:chOff x="2232265" y="4389992"/>
            <a:chExt cx="1606790" cy="2779598"/>
          </a:xfrm>
        </p:grpSpPr>
        <p:pic>
          <p:nvPicPr>
            <p:cNvPr id="21" name="Imagem 20" descr="Tela de celular&#10;&#10;O conteúdo gerado por IA pode estar incorreto.">
              <a:extLst>
                <a:ext uri="{FF2B5EF4-FFF2-40B4-BE49-F238E27FC236}">
                  <a16:creationId xmlns:a16="http://schemas.microsoft.com/office/drawing/2014/main" id="{99E91B58-B6BB-F94B-B1E6-6401AEFD85C5}"/>
                </a:ext>
              </a:extLst>
            </p:cNvPr>
            <p:cNvPicPr>
              <a:picLocks noChangeAspect="1"/>
            </p:cNvPicPr>
            <p:nvPr/>
          </p:nvPicPr>
          <p:blipFill>
            <a:blip r:embed="rId3" cstate="print">
              <a:extLst>
                <a:ext uri="{28A0092B-C50C-407E-A947-70E740481C1C}">
                  <a14:useLocalDpi xmlns:a14="http://schemas.microsoft.com/office/drawing/2010/main" val="0"/>
                </a:ext>
              </a:extLst>
            </a:blip>
            <a:srcRect t="21077" r="74337"/>
            <a:stretch>
              <a:fillRect/>
            </a:stretch>
          </p:blipFill>
          <p:spPr>
            <a:xfrm>
              <a:off x="2232265" y="4389992"/>
              <a:ext cx="1606790" cy="2779598"/>
            </a:xfrm>
            <a:prstGeom prst="rect">
              <a:avLst/>
            </a:prstGeom>
          </p:spPr>
        </p:pic>
        <p:sp>
          <p:nvSpPr>
            <p:cNvPr id="10" name="TextBox 9">
              <a:extLst>
                <a:ext uri="{FF2B5EF4-FFF2-40B4-BE49-F238E27FC236}">
                  <a16:creationId xmlns:a16="http://schemas.microsoft.com/office/drawing/2014/main" id="{2C6CABCD-73F7-1CE2-DF8E-E03E0BD7991D}"/>
                </a:ext>
              </a:extLst>
            </p:cNvPr>
            <p:cNvSpPr txBox="1"/>
            <p:nvPr/>
          </p:nvSpPr>
          <p:spPr>
            <a:xfrm>
              <a:off x="2902708" y="5254386"/>
              <a:ext cx="562636" cy="426434"/>
            </a:xfrm>
            <a:prstGeom prst="rect">
              <a:avLst/>
            </a:prstGeom>
            <a:solidFill>
              <a:srgbClr val="D9D9D9"/>
            </a:solidFill>
          </p:spPr>
          <p:txBody>
            <a:bodyPr wrap="square" lIns="36000" tIns="36000" rIns="36000" bIns="36000">
              <a:noAutofit/>
            </a:bodyPr>
            <a:lstStyle/>
            <a:p>
              <a:pPr algn="ctr"/>
              <a:r>
                <a:rPr lang="pt-BR" sz="1200" b="1" dirty="0"/>
                <a:t>HUB Mobile</a:t>
              </a:r>
              <a:endParaRPr lang="en-BR" sz="1200" b="1" dirty="0"/>
            </a:p>
          </p:txBody>
        </p:sp>
      </p:grpSp>
    </p:spTree>
    <p:extLst>
      <p:ext uri="{BB962C8B-B14F-4D97-AF65-F5344CB8AC3E}">
        <p14:creationId xmlns:p14="http://schemas.microsoft.com/office/powerpoint/2010/main" val="215532452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tângulo 24">
            <a:extLst>
              <a:ext uri="{FF2B5EF4-FFF2-40B4-BE49-F238E27FC236}">
                <a16:creationId xmlns:a16="http://schemas.microsoft.com/office/drawing/2014/main" id="{065E351F-73C0-F6C0-55CB-F35BC54BEC49}"/>
              </a:ext>
            </a:extLst>
          </p:cNvPr>
          <p:cNvSpPr/>
          <p:nvPr/>
        </p:nvSpPr>
        <p:spPr>
          <a:xfrm>
            <a:off x="191344" y="2895178"/>
            <a:ext cx="3701488" cy="262353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a:extLst>
              <a:ext uri="{FF2B5EF4-FFF2-40B4-BE49-F238E27FC236}">
                <a16:creationId xmlns:a16="http://schemas.microsoft.com/office/drawing/2014/main" id="{2442B08F-8B47-DE49-51A2-3C8D5AC5DB05}"/>
              </a:ext>
            </a:extLst>
          </p:cNvPr>
          <p:cNvSpPr/>
          <p:nvPr/>
        </p:nvSpPr>
        <p:spPr>
          <a:xfrm>
            <a:off x="4163051" y="2867526"/>
            <a:ext cx="3701488" cy="2651188"/>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Retângulo 26">
            <a:extLst>
              <a:ext uri="{FF2B5EF4-FFF2-40B4-BE49-F238E27FC236}">
                <a16:creationId xmlns:a16="http://schemas.microsoft.com/office/drawing/2014/main" id="{6FD67ABD-E5D8-1B66-C146-491E34FE47F9}"/>
              </a:ext>
            </a:extLst>
          </p:cNvPr>
          <p:cNvSpPr/>
          <p:nvPr/>
        </p:nvSpPr>
        <p:spPr>
          <a:xfrm>
            <a:off x="8200404" y="2867526"/>
            <a:ext cx="3701488" cy="2651188"/>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Título 3">
            <a:extLst>
              <a:ext uri="{FF2B5EF4-FFF2-40B4-BE49-F238E27FC236}">
                <a16:creationId xmlns:a16="http://schemas.microsoft.com/office/drawing/2014/main" id="{19DFB780-B168-55DA-C605-AEC2553A1211}"/>
              </a:ext>
            </a:extLst>
          </p:cNvPr>
          <p:cNvSpPr>
            <a:spLocks noGrp="1"/>
          </p:cNvSpPr>
          <p:nvPr>
            <p:ph type="title"/>
          </p:nvPr>
        </p:nvSpPr>
        <p:spPr/>
        <p:txBody>
          <a:bodyPr/>
          <a:lstStyle/>
          <a:p>
            <a:r>
              <a:rPr lang="pt-BR" dirty="0"/>
              <a:t>GMUD</a:t>
            </a:r>
            <a:br>
              <a:rPr lang="pt-BR" dirty="0"/>
            </a:br>
            <a:r>
              <a:rPr lang="pt-BR" sz="1600" b="0" dirty="0"/>
              <a:t>Solução e processo “as </a:t>
            </a:r>
            <a:r>
              <a:rPr lang="pt-BR" sz="1600" b="0" dirty="0" err="1"/>
              <a:t>is</a:t>
            </a:r>
            <a:r>
              <a:rPr lang="pt-BR" sz="1600" b="0" dirty="0"/>
              <a:t>”</a:t>
            </a:r>
          </a:p>
        </p:txBody>
      </p:sp>
      <p:pic>
        <p:nvPicPr>
          <p:cNvPr id="13" name="Imagem 12">
            <a:extLst>
              <a:ext uri="{FF2B5EF4-FFF2-40B4-BE49-F238E27FC236}">
                <a16:creationId xmlns:a16="http://schemas.microsoft.com/office/drawing/2014/main" id="{21CF04B6-BBC8-6282-B504-8EF3D3DB347E}"/>
              </a:ext>
            </a:extLst>
          </p:cNvPr>
          <p:cNvPicPr>
            <a:picLocks noChangeAspect="1"/>
          </p:cNvPicPr>
          <p:nvPr/>
        </p:nvPicPr>
        <p:blipFill>
          <a:blip r:embed="rId2"/>
          <a:srcRect b="22224"/>
          <a:stretch>
            <a:fillRect/>
          </a:stretch>
        </p:blipFill>
        <p:spPr>
          <a:xfrm>
            <a:off x="370379" y="3432879"/>
            <a:ext cx="3343418" cy="1991424"/>
          </a:xfrm>
          <a:prstGeom prst="rect">
            <a:avLst/>
          </a:prstGeom>
          <a:effectLst>
            <a:outerShdw blurRad="50800" dist="38100" dir="10800000" algn="r" rotWithShape="0">
              <a:prstClr val="black">
                <a:alpha val="40000"/>
              </a:prstClr>
            </a:outerShdw>
          </a:effectLst>
        </p:spPr>
      </p:pic>
      <p:sp>
        <p:nvSpPr>
          <p:cNvPr id="15" name="CaixaDeTexto 14">
            <a:extLst>
              <a:ext uri="{FF2B5EF4-FFF2-40B4-BE49-F238E27FC236}">
                <a16:creationId xmlns:a16="http://schemas.microsoft.com/office/drawing/2014/main" id="{E567968E-02BE-B3D9-D8BA-8D0F5711CFEA}"/>
              </a:ext>
            </a:extLst>
          </p:cNvPr>
          <p:cNvSpPr txBox="1"/>
          <p:nvPr/>
        </p:nvSpPr>
        <p:spPr>
          <a:xfrm>
            <a:off x="696000" y="1052736"/>
            <a:ext cx="10800000" cy="1384995"/>
          </a:xfrm>
          <a:prstGeom prst="rect">
            <a:avLst/>
          </a:prstGeom>
          <a:noFill/>
        </p:spPr>
        <p:txBody>
          <a:bodyPr wrap="square" rtlCol="0">
            <a:spAutoFit/>
          </a:bodyPr>
          <a:lstStyle/>
          <a:p>
            <a:r>
              <a:rPr lang="pt-BR" sz="1400" dirty="0"/>
              <a:t>Atualmente, a GMUD é registrada em um formulário do Microsoft </a:t>
            </a:r>
            <a:r>
              <a:rPr lang="pt-BR" sz="1400" dirty="0" err="1"/>
              <a:t>Forms</a:t>
            </a:r>
            <a:r>
              <a:rPr lang="pt-BR" sz="1400" dirty="0"/>
              <a:t>, desenvolvido pelo time de PMO.</a:t>
            </a:r>
          </a:p>
          <a:p>
            <a:endParaRPr lang="pt-BR" sz="1400" dirty="0"/>
          </a:p>
          <a:p>
            <a:r>
              <a:rPr lang="pt-BR" sz="1400" dirty="0"/>
              <a:t>As respostas são enviadas para uma planilha no SharePoint, onde o time de Planejamento da Gerência de Obras adiciona informações de processo para controlar fluxos de aprovação e a atualização da PCS, Cronograma/Project, TM Master e PGC.</a:t>
            </a:r>
          </a:p>
          <a:p>
            <a:endParaRPr lang="pt-BR" sz="1400" dirty="0"/>
          </a:p>
          <a:p>
            <a:r>
              <a:rPr lang="pt-BR" sz="1400" dirty="0"/>
              <a:t>Essa planilha, por sua vez, abastece </a:t>
            </a:r>
            <a:r>
              <a:rPr lang="pt-BR" sz="1400" dirty="0" err="1"/>
              <a:t>BI’s</a:t>
            </a:r>
            <a:r>
              <a:rPr lang="pt-BR" sz="1400" dirty="0"/>
              <a:t> de controle e análise das </a:t>
            </a:r>
            <a:r>
              <a:rPr lang="pt-BR" sz="1400" dirty="0" err="1"/>
              <a:t>GMUD’s</a:t>
            </a:r>
            <a:endParaRPr lang="pt-BR" sz="1400" dirty="0"/>
          </a:p>
        </p:txBody>
      </p:sp>
      <p:pic>
        <p:nvPicPr>
          <p:cNvPr id="19" name="Imagem 18">
            <a:extLst>
              <a:ext uri="{FF2B5EF4-FFF2-40B4-BE49-F238E27FC236}">
                <a16:creationId xmlns:a16="http://schemas.microsoft.com/office/drawing/2014/main" id="{D42FA0DA-9720-8086-4A24-27968D1563F1}"/>
              </a:ext>
            </a:extLst>
          </p:cNvPr>
          <p:cNvPicPr>
            <a:picLocks noChangeAspect="1"/>
          </p:cNvPicPr>
          <p:nvPr/>
        </p:nvPicPr>
        <p:blipFill>
          <a:blip r:embed="rId3"/>
          <a:stretch>
            <a:fillRect/>
          </a:stretch>
        </p:blipFill>
        <p:spPr>
          <a:xfrm>
            <a:off x="4333962" y="3437786"/>
            <a:ext cx="3388530" cy="1986517"/>
          </a:xfrm>
          <a:prstGeom prst="rect">
            <a:avLst/>
          </a:prstGeom>
          <a:effectLst>
            <a:outerShdw blurRad="50800" dist="38100" dir="10800000" algn="r" rotWithShape="0">
              <a:prstClr val="black">
                <a:alpha val="40000"/>
              </a:prstClr>
            </a:outerShdw>
          </a:effectLst>
        </p:spPr>
      </p:pic>
      <p:pic>
        <p:nvPicPr>
          <p:cNvPr id="21" name="Imagem 20">
            <a:extLst>
              <a:ext uri="{FF2B5EF4-FFF2-40B4-BE49-F238E27FC236}">
                <a16:creationId xmlns:a16="http://schemas.microsoft.com/office/drawing/2014/main" id="{9F260533-A00E-27CA-2DCB-19C9D96D79ED}"/>
              </a:ext>
            </a:extLst>
          </p:cNvPr>
          <p:cNvPicPr>
            <a:picLocks noChangeAspect="1"/>
          </p:cNvPicPr>
          <p:nvPr/>
        </p:nvPicPr>
        <p:blipFill>
          <a:blip r:embed="rId4"/>
          <a:stretch>
            <a:fillRect/>
          </a:stretch>
        </p:blipFill>
        <p:spPr>
          <a:xfrm>
            <a:off x="8380789" y="3534834"/>
            <a:ext cx="3364989" cy="1870232"/>
          </a:xfrm>
          <a:prstGeom prst="rect">
            <a:avLst/>
          </a:prstGeom>
          <a:effectLst>
            <a:outerShdw blurRad="50800" dist="38100" dir="10800000" algn="r" rotWithShape="0">
              <a:prstClr val="black">
                <a:alpha val="40000"/>
              </a:prstClr>
            </a:outerShdw>
          </a:effectLst>
        </p:spPr>
      </p:pic>
      <p:sp>
        <p:nvSpPr>
          <p:cNvPr id="28" name="Retângulo 27">
            <a:extLst>
              <a:ext uri="{FF2B5EF4-FFF2-40B4-BE49-F238E27FC236}">
                <a16:creationId xmlns:a16="http://schemas.microsoft.com/office/drawing/2014/main" id="{88B2A6F6-5F39-60D9-D81D-B599C542BC55}"/>
              </a:ext>
            </a:extLst>
          </p:cNvPr>
          <p:cNvSpPr/>
          <p:nvPr/>
        </p:nvSpPr>
        <p:spPr>
          <a:xfrm>
            <a:off x="191344" y="5590242"/>
            <a:ext cx="3701488" cy="680562"/>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26761BA4-BDD0-96C5-093F-EEE9E735D0F7}"/>
              </a:ext>
            </a:extLst>
          </p:cNvPr>
          <p:cNvSpPr txBox="1"/>
          <p:nvPr/>
        </p:nvSpPr>
        <p:spPr>
          <a:xfrm>
            <a:off x="417201" y="5761246"/>
            <a:ext cx="3249775" cy="307777"/>
          </a:xfrm>
          <a:prstGeom prst="rect">
            <a:avLst/>
          </a:prstGeom>
          <a:noFill/>
        </p:spPr>
        <p:txBody>
          <a:bodyPr wrap="square" rtlCol="0">
            <a:spAutoFit/>
          </a:bodyPr>
          <a:lstStyle/>
          <a:p>
            <a:pPr algn="ctr"/>
            <a:r>
              <a:rPr lang="pt-BR" sz="1400" dirty="0">
                <a:solidFill>
                  <a:schemeClr val="accent1"/>
                </a:solidFill>
                <a:hlinkClick r:id="rId5">
                  <a:extLst>
                    <a:ext uri="{A12FA001-AC4F-418D-AE19-62706E023703}">
                      <ahyp:hlinkClr xmlns:ahyp="http://schemas.microsoft.com/office/drawing/2018/hyperlinkcolor" val="tx"/>
                    </a:ext>
                  </a:extLst>
                </a:hlinkClick>
              </a:rPr>
              <a:t>Acesse o Formulário da GMUD Aqui</a:t>
            </a:r>
            <a:endParaRPr lang="pt-BR" sz="1400" dirty="0">
              <a:solidFill>
                <a:schemeClr val="accent1"/>
              </a:solidFill>
            </a:endParaRPr>
          </a:p>
        </p:txBody>
      </p:sp>
      <p:sp>
        <p:nvSpPr>
          <p:cNvPr id="29" name="Retângulo 28">
            <a:extLst>
              <a:ext uri="{FF2B5EF4-FFF2-40B4-BE49-F238E27FC236}">
                <a16:creationId xmlns:a16="http://schemas.microsoft.com/office/drawing/2014/main" id="{437300BA-E123-20A4-8E43-A4E58AE52450}"/>
              </a:ext>
            </a:extLst>
          </p:cNvPr>
          <p:cNvSpPr/>
          <p:nvPr/>
        </p:nvSpPr>
        <p:spPr>
          <a:xfrm>
            <a:off x="4163051" y="5590242"/>
            <a:ext cx="3701488" cy="680562"/>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dirty="0">
                <a:solidFill>
                  <a:schemeClr val="tx1"/>
                </a:solidFill>
              </a:rPr>
              <a:t>Planilha para download</a:t>
            </a:r>
          </a:p>
        </p:txBody>
      </p:sp>
      <p:sp>
        <p:nvSpPr>
          <p:cNvPr id="30" name="Retângulo 29">
            <a:extLst>
              <a:ext uri="{FF2B5EF4-FFF2-40B4-BE49-F238E27FC236}">
                <a16:creationId xmlns:a16="http://schemas.microsoft.com/office/drawing/2014/main" id="{F0894159-90A9-5BCE-F29F-832D0D5A9FC7}"/>
              </a:ext>
            </a:extLst>
          </p:cNvPr>
          <p:cNvSpPr/>
          <p:nvPr/>
        </p:nvSpPr>
        <p:spPr>
          <a:xfrm>
            <a:off x="8200404" y="5590242"/>
            <a:ext cx="3701488" cy="680562"/>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CaixaDeTexto 23">
            <a:extLst>
              <a:ext uri="{FF2B5EF4-FFF2-40B4-BE49-F238E27FC236}">
                <a16:creationId xmlns:a16="http://schemas.microsoft.com/office/drawing/2014/main" id="{E434DAF1-CF19-D1E3-99A2-4BDC9E43C6C1}"/>
              </a:ext>
            </a:extLst>
          </p:cNvPr>
          <p:cNvSpPr txBox="1"/>
          <p:nvPr/>
        </p:nvSpPr>
        <p:spPr>
          <a:xfrm>
            <a:off x="8426261" y="5761246"/>
            <a:ext cx="3249775" cy="307777"/>
          </a:xfrm>
          <a:prstGeom prst="rect">
            <a:avLst/>
          </a:prstGeom>
          <a:noFill/>
        </p:spPr>
        <p:txBody>
          <a:bodyPr wrap="square" rtlCol="0">
            <a:spAutoFit/>
          </a:bodyPr>
          <a:lstStyle/>
          <a:p>
            <a:pPr algn="ctr"/>
            <a:r>
              <a:rPr lang="pt-BR" sz="1400" dirty="0">
                <a:solidFill>
                  <a:schemeClr val="accent1"/>
                </a:solidFill>
                <a:hlinkClick r:id="rId6">
                  <a:extLst>
                    <a:ext uri="{A12FA001-AC4F-418D-AE19-62706E023703}">
                      <ahyp:hlinkClr xmlns:ahyp="http://schemas.microsoft.com/office/drawing/2018/hyperlinkcolor" val="tx"/>
                    </a:ext>
                  </a:extLst>
                </a:hlinkClick>
              </a:rPr>
              <a:t>Acesse o BI da GMUD Aqui</a:t>
            </a:r>
            <a:endParaRPr lang="pt-BR" sz="1400" dirty="0">
              <a:solidFill>
                <a:schemeClr val="accent1"/>
              </a:solidFill>
            </a:endParaRPr>
          </a:p>
        </p:txBody>
      </p:sp>
      <p:sp>
        <p:nvSpPr>
          <p:cNvPr id="31" name="Retângulo 30">
            <a:extLst>
              <a:ext uri="{FF2B5EF4-FFF2-40B4-BE49-F238E27FC236}">
                <a16:creationId xmlns:a16="http://schemas.microsoft.com/office/drawing/2014/main" id="{74FD8BFE-D4E5-677E-AB56-43633C5061EF}"/>
              </a:ext>
            </a:extLst>
          </p:cNvPr>
          <p:cNvSpPr/>
          <p:nvPr/>
        </p:nvSpPr>
        <p:spPr>
          <a:xfrm>
            <a:off x="487486" y="2660432"/>
            <a:ext cx="3109205"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Formulário GMUD</a:t>
            </a:r>
          </a:p>
        </p:txBody>
      </p:sp>
      <p:sp>
        <p:nvSpPr>
          <p:cNvPr id="32" name="Retângulo 31">
            <a:extLst>
              <a:ext uri="{FF2B5EF4-FFF2-40B4-BE49-F238E27FC236}">
                <a16:creationId xmlns:a16="http://schemas.microsoft.com/office/drawing/2014/main" id="{EA2099F2-A8D5-33AB-7C30-5C2175BCB1C9}"/>
              </a:ext>
            </a:extLst>
          </p:cNvPr>
          <p:cNvSpPr/>
          <p:nvPr/>
        </p:nvSpPr>
        <p:spPr>
          <a:xfrm>
            <a:off x="4459193" y="2660432"/>
            <a:ext cx="3109205"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Planilha de Controle</a:t>
            </a:r>
          </a:p>
        </p:txBody>
      </p:sp>
      <p:sp>
        <p:nvSpPr>
          <p:cNvPr id="33" name="Retângulo 32">
            <a:extLst>
              <a:ext uri="{FF2B5EF4-FFF2-40B4-BE49-F238E27FC236}">
                <a16:creationId xmlns:a16="http://schemas.microsoft.com/office/drawing/2014/main" id="{72612072-D33E-6C12-7ECF-05BCF6F3AB01}"/>
              </a:ext>
            </a:extLst>
          </p:cNvPr>
          <p:cNvSpPr/>
          <p:nvPr/>
        </p:nvSpPr>
        <p:spPr>
          <a:xfrm>
            <a:off x="8496546" y="2660432"/>
            <a:ext cx="3109205" cy="487325"/>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400" b="1" dirty="0">
                <a:solidFill>
                  <a:schemeClr val="tx1"/>
                </a:solidFill>
              </a:rPr>
              <a:t>BI de Controle e Análise</a:t>
            </a:r>
          </a:p>
        </p:txBody>
      </p:sp>
      <p:sp>
        <p:nvSpPr>
          <p:cNvPr id="34" name="Triangle 12">
            <a:extLst>
              <a:ext uri="{FF2B5EF4-FFF2-40B4-BE49-F238E27FC236}">
                <a16:creationId xmlns:a16="http://schemas.microsoft.com/office/drawing/2014/main" id="{EFE66E7E-92A1-BB7E-61BE-36108C66D51B}"/>
              </a:ext>
            </a:extLst>
          </p:cNvPr>
          <p:cNvSpPr/>
          <p:nvPr/>
        </p:nvSpPr>
        <p:spPr>
          <a:xfrm rot="5400000">
            <a:off x="3503403" y="4293380"/>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5" name="Triangle 12">
            <a:extLst>
              <a:ext uri="{FF2B5EF4-FFF2-40B4-BE49-F238E27FC236}">
                <a16:creationId xmlns:a16="http://schemas.microsoft.com/office/drawing/2014/main" id="{0BBDA4A1-BE5F-DD27-D03C-E33F3613FEE3}"/>
              </a:ext>
            </a:extLst>
          </p:cNvPr>
          <p:cNvSpPr/>
          <p:nvPr/>
        </p:nvSpPr>
        <p:spPr>
          <a:xfrm rot="5400000">
            <a:off x="7465147" y="4293381"/>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graphicFrame>
        <p:nvGraphicFramePr>
          <p:cNvPr id="36" name="Objeto 35">
            <a:extLst>
              <a:ext uri="{FF2B5EF4-FFF2-40B4-BE49-F238E27FC236}">
                <a16:creationId xmlns:a16="http://schemas.microsoft.com/office/drawing/2014/main" id="{E4FED82B-10A4-DB17-A83D-748640B0A58C}"/>
              </a:ext>
            </a:extLst>
          </p:cNvPr>
          <p:cNvGraphicFramePr>
            <a:graphicFrameLocks noChangeAspect="1"/>
          </p:cNvGraphicFramePr>
          <p:nvPr/>
        </p:nvGraphicFramePr>
        <p:xfrm>
          <a:off x="7054847" y="5658082"/>
          <a:ext cx="688419" cy="580854"/>
        </p:xfrm>
        <a:graphic>
          <a:graphicData uri="http://schemas.openxmlformats.org/presentationml/2006/ole">
            <mc:AlternateContent xmlns:mc="http://schemas.openxmlformats.org/markup-compatibility/2006">
              <mc:Choice xmlns:v="urn:schemas-microsoft-com:vml" Requires="v">
                <p:oleObj name="Worksheet" showAsIcon="1" r:id="rId7" imgW="914570" imgH="771690" progId="Excel.Sheet.12">
                  <p:embed/>
                </p:oleObj>
              </mc:Choice>
              <mc:Fallback>
                <p:oleObj name="Worksheet" showAsIcon="1" r:id="rId7" imgW="914570" imgH="771690" progId="Excel.Sheet.12">
                  <p:embed/>
                  <p:pic>
                    <p:nvPicPr>
                      <p:cNvPr id="36" name="Objeto 35">
                        <a:extLst>
                          <a:ext uri="{FF2B5EF4-FFF2-40B4-BE49-F238E27FC236}">
                            <a16:creationId xmlns:a16="http://schemas.microsoft.com/office/drawing/2014/main" id="{E4FED82B-10A4-DB17-A83D-748640B0A58C}"/>
                          </a:ext>
                        </a:extLst>
                      </p:cNvPr>
                      <p:cNvPicPr/>
                      <p:nvPr/>
                    </p:nvPicPr>
                    <p:blipFill>
                      <a:blip r:embed="rId8"/>
                      <a:stretch>
                        <a:fillRect/>
                      </a:stretch>
                    </p:blipFill>
                    <p:spPr>
                      <a:xfrm>
                        <a:off x="7054847" y="5658082"/>
                        <a:ext cx="688419" cy="580854"/>
                      </a:xfrm>
                      <a:prstGeom prst="rect">
                        <a:avLst/>
                      </a:prstGeom>
                    </p:spPr>
                  </p:pic>
                </p:oleObj>
              </mc:Fallback>
            </mc:AlternateContent>
          </a:graphicData>
        </a:graphic>
      </p:graphicFrame>
    </p:spTree>
    <p:extLst>
      <p:ext uri="{BB962C8B-B14F-4D97-AF65-F5344CB8AC3E}">
        <p14:creationId xmlns:p14="http://schemas.microsoft.com/office/powerpoint/2010/main" val="19425272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CDC96-D1A2-7FBA-8A15-C083D5ED57B3}"/>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D6905A1A-6C8A-083E-1FEF-3CC844343DDA}"/>
              </a:ext>
            </a:extLst>
          </p:cNvPr>
          <p:cNvSpPr>
            <a:spLocks noGrp="1"/>
          </p:cNvSpPr>
          <p:nvPr>
            <p:ph type="title"/>
          </p:nvPr>
        </p:nvSpPr>
        <p:spPr/>
        <p:txBody>
          <a:bodyPr/>
          <a:lstStyle/>
          <a:p>
            <a:r>
              <a:rPr lang="pt-BR" dirty="0"/>
              <a:t>GMUD</a:t>
            </a:r>
            <a:br>
              <a:rPr lang="pt-BR" dirty="0"/>
            </a:br>
            <a:r>
              <a:rPr lang="pt-BR" sz="1600" b="0" dirty="0"/>
              <a:t>Processo “</a:t>
            </a:r>
            <a:r>
              <a:rPr lang="pt-BR" sz="1600" b="0" dirty="0" err="1"/>
              <a:t>to</a:t>
            </a:r>
            <a:r>
              <a:rPr lang="pt-BR" sz="1600" b="0" dirty="0"/>
              <a:t> </a:t>
            </a:r>
            <a:r>
              <a:rPr lang="pt-BR" sz="1600" b="0" dirty="0" err="1"/>
              <a:t>be</a:t>
            </a:r>
            <a:r>
              <a:rPr lang="pt-BR" sz="1600" b="0" dirty="0"/>
              <a:t>”</a:t>
            </a:r>
            <a:endParaRPr lang="pt-BR" b="0" dirty="0"/>
          </a:p>
        </p:txBody>
      </p:sp>
      <p:sp>
        <p:nvSpPr>
          <p:cNvPr id="56" name="Retângulo: Cantos Arredondados 55">
            <a:extLst>
              <a:ext uri="{FF2B5EF4-FFF2-40B4-BE49-F238E27FC236}">
                <a16:creationId xmlns:a16="http://schemas.microsoft.com/office/drawing/2014/main" id="{7928D8CA-E800-33AB-D75F-121AC787802D}"/>
              </a:ext>
            </a:extLst>
          </p:cNvPr>
          <p:cNvSpPr/>
          <p:nvPr/>
        </p:nvSpPr>
        <p:spPr>
          <a:xfrm>
            <a:off x="9804438" y="1355338"/>
            <a:ext cx="2196000" cy="4968000"/>
          </a:xfrm>
          <a:prstGeom prst="roundRect">
            <a:avLst>
              <a:gd name="adj" fmla="val 86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CaixaDeTexto 57">
            <a:extLst>
              <a:ext uri="{FF2B5EF4-FFF2-40B4-BE49-F238E27FC236}">
                <a16:creationId xmlns:a16="http://schemas.microsoft.com/office/drawing/2014/main" id="{EAB88688-46AA-8BE3-0A1A-14831B0C0941}"/>
              </a:ext>
            </a:extLst>
          </p:cNvPr>
          <p:cNvSpPr txBox="1"/>
          <p:nvPr/>
        </p:nvSpPr>
        <p:spPr>
          <a:xfrm>
            <a:off x="9793240" y="2709320"/>
            <a:ext cx="2160000" cy="3600000"/>
          </a:xfrm>
          <a:prstGeom prst="rect">
            <a:avLst/>
          </a:prstGeom>
          <a:noFill/>
        </p:spPr>
        <p:txBody>
          <a:bodyPr wrap="square" lIns="90000" rtlCol="0">
            <a:noAutofit/>
          </a:bodyPr>
          <a:lstStyle/>
          <a:p>
            <a:pPr marL="171450" indent="-171450">
              <a:spcBef>
                <a:spcPts val="600"/>
              </a:spcBef>
              <a:buFont typeface="Wingdings" panose="05000000000000000000" pitchFamily="2" charset="2"/>
              <a:buChar char="§"/>
            </a:pPr>
            <a:r>
              <a:rPr lang="pt-BR" sz="1100" dirty="0"/>
              <a:t>Os dados ficam disponíveis para consulta no Power BI e em outras ferramentas de análise, mantendo os indicadores atualmente monitorados pelo PMO, Área Técnica e Operações</a:t>
            </a:r>
          </a:p>
        </p:txBody>
      </p:sp>
      <p:sp>
        <p:nvSpPr>
          <p:cNvPr id="59" name="CaixaDeTexto 58">
            <a:extLst>
              <a:ext uri="{FF2B5EF4-FFF2-40B4-BE49-F238E27FC236}">
                <a16:creationId xmlns:a16="http://schemas.microsoft.com/office/drawing/2014/main" id="{3338FBCD-43F0-EC99-D9F7-069A38A2B5AF}"/>
              </a:ext>
            </a:extLst>
          </p:cNvPr>
          <p:cNvSpPr txBox="1"/>
          <p:nvPr/>
        </p:nvSpPr>
        <p:spPr>
          <a:xfrm>
            <a:off x="9801619" y="1903235"/>
            <a:ext cx="2196000" cy="307777"/>
          </a:xfrm>
          <a:prstGeom prst="rect">
            <a:avLst/>
          </a:prstGeom>
          <a:noFill/>
        </p:spPr>
        <p:txBody>
          <a:bodyPr wrap="square" lIns="0" rIns="0" rtlCol="0">
            <a:spAutoFit/>
          </a:bodyPr>
          <a:lstStyle>
            <a:defPPr>
              <a:defRPr lang="pt-BR"/>
            </a:defPPr>
            <a:lvl1pPr algn="ctr">
              <a:defRPr sz="1400" b="1"/>
            </a:lvl1pPr>
          </a:lstStyle>
          <a:p>
            <a:r>
              <a:rPr lang="pt-BR" dirty="0"/>
              <a:t>Fluxos de Dados e Análises</a:t>
            </a:r>
          </a:p>
        </p:txBody>
      </p:sp>
      <p:grpSp>
        <p:nvGrpSpPr>
          <p:cNvPr id="11" name="Group 10">
            <a:extLst>
              <a:ext uri="{FF2B5EF4-FFF2-40B4-BE49-F238E27FC236}">
                <a16:creationId xmlns:a16="http://schemas.microsoft.com/office/drawing/2014/main" id="{4B49DBBD-215F-C40D-FB9A-7D78845C0325}"/>
              </a:ext>
            </a:extLst>
          </p:cNvPr>
          <p:cNvGrpSpPr>
            <a:grpSpLocks noChangeAspect="1"/>
          </p:cNvGrpSpPr>
          <p:nvPr/>
        </p:nvGrpSpPr>
        <p:grpSpPr>
          <a:xfrm>
            <a:off x="10491590" y="953070"/>
            <a:ext cx="833150" cy="833150"/>
            <a:chOff x="10449933" y="1021406"/>
            <a:chExt cx="916465" cy="916465"/>
          </a:xfrm>
        </p:grpSpPr>
        <p:sp>
          <p:nvSpPr>
            <p:cNvPr id="57" name="Elipse 56">
              <a:extLst>
                <a:ext uri="{FF2B5EF4-FFF2-40B4-BE49-F238E27FC236}">
                  <a16:creationId xmlns:a16="http://schemas.microsoft.com/office/drawing/2014/main" id="{E008BB66-BFAE-AAB3-26D8-6918FD2E7BD6}"/>
                </a:ext>
              </a:extLst>
            </p:cNvPr>
            <p:cNvSpPr/>
            <p:nvPr/>
          </p:nvSpPr>
          <p:spPr>
            <a:xfrm>
              <a:off x="10449933" y="1021406"/>
              <a:ext cx="916465" cy="916465"/>
            </a:xfrm>
            <a:prstGeom prst="ellipse">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7" name="Imagem 66" descr="Forma&#10;&#10;O conteúdo gerado por IA pode estar incorreto.">
              <a:extLst>
                <a:ext uri="{FF2B5EF4-FFF2-40B4-BE49-F238E27FC236}">
                  <a16:creationId xmlns:a16="http://schemas.microsoft.com/office/drawing/2014/main" id="{E0B4688B-6FF9-F37F-5986-C1773E048E49}"/>
                </a:ext>
              </a:extLst>
            </p:cNvPr>
            <p:cNvPicPr>
              <a:picLocks noChangeAspect="1"/>
            </p:cNvPicPr>
            <p:nvPr/>
          </p:nvPicPr>
          <p:blipFill>
            <a:blip r:embed="rId2" cstate="print">
              <a:extLst>
                <a:ext uri="{28A0092B-C50C-407E-A947-70E740481C1C}">
                  <a14:useLocalDpi xmlns:a14="http://schemas.microsoft.com/office/drawing/2010/main" val="0"/>
                </a:ext>
              </a:extLst>
            </a:blip>
            <a:srcRect l="8148" r="8000" b="16401"/>
            <a:stretch>
              <a:fillRect/>
            </a:stretch>
          </p:blipFill>
          <p:spPr>
            <a:xfrm>
              <a:off x="10642789" y="1215060"/>
              <a:ext cx="530753" cy="529156"/>
            </a:xfrm>
            <a:prstGeom prst="rect">
              <a:avLst/>
            </a:prstGeom>
          </p:spPr>
        </p:pic>
      </p:grpSp>
      <p:sp>
        <p:nvSpPr>
          <p:cNvPr id="46" name="Retângulo: Cantos Arredondados 45">
            <a:extLst>
              <a:ext uri="{FF2B5EF4-FFF2-40B4-BE49-F238E27FC236}">
                <a16:creationId xmlns:a16="http://schemas.microsoft.com/office/drawing/2014/main" id="{0AD99400-96C9-A6B5-3420-1377526A20B9}"/>
              </a:ext>
            </a:extLst>
          </p:cNvPr>
          <p:cNvSpPr/>
          <p:nvPr/>
        </p:nvSpPr>
        <p:spPr>
          <a:xfrm>
            <a:off x="7393686" y="1355338"/>
            <a:ext cx="2196000" cy="4968000"/>
          </a:xfrm>
          <a:prstGeom prst="roundRect">
            <a:avLst>
              <a:gd name="adj" fmla="val 86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CaixaDeTexto 47">
            <a:extLst>
              <a:ext uri="{FF2B5EF4-FFF2-40B4-BE49-F238E27FC236}">
                <a16:creationId xmlns:a16="http://schemas.microsoft.com/office/drawing/2014/main" id="{2AD87577-C969-F088-1504-6CCCCE859A55}"/>
              </a:ext>
            </a:extLst>
          </p:cNvPr>
          <p:cNvSpPr txBox="1"/>
          <p:nvPr/>
        </p:nvSpPr>
        <p:spPr>
          <a:xfrm>
            <a:off x="7382488" y="2709319"/>
            <a:ext cx="2160000" cy="3600000"/>
          </a:xfrm>
          <a:prstGeom prst="rect">
            <a:avLst/>
          </a:prstGeom>
          <a:noFill/>
        </p:spPr>
        <p:txBody>
          <a:bodyPr wrap="square" lIns="90000" rtlCol="0">
            <a:noAutofit/>
          </a:bodyPr>
          <a:lstStyle/>
          <a:p>
            <a:pPr marL="171450" indent="-171450">
              <a:spcBef>
                <a:spcPts val="600"/>
              </a:spcBef>
              <a:buFont typeface="Wingdings" panose="05000000000000000000" pitchFamily="2" charset="2"/>
              <a:buChar char="§"/>
            </a:pPr>
            <a:r>
              <a:rPr lang="pt-BR" sz="1100" dirty="0"/>
              <a:t>Após a aprovação da GMUD, o </a:t>
            </a:r>
            <a:r>
              <a:rPr lang="pt-BR" sz="1100" b="1" dirty="0"/>
              <a:t>analista de planejamento da gerência de obras </a:t>
            </a:r>
            <a:r>
              <a:rPr lang="pt-BR" sz="1100" dirty="0"/>
              <a:t>recebe uma notificação (por e-mail e HUB), analisa as alterações e aceita as mudanças e a linha de serviço do HUB é atualizada </a:t>
            </a:r>
            <a:r>
              <a:rPr lang="pt-BR" sz="1100" dirty="0" err="1"/>
              <a:t>automa-ticamente</a:t>
            </a:r>
            <a:r>
              <a:rPr lang="pt-BR" sz="1100" dirty="0"/>
              <a:t> de acordo com o tipo de GMUD</a:t>
            </a:r>
          </a:p>
          <a:p>
            <a:pPr marL="171450" indent="-171450">
              <a:spcBef>
                <a:spcPts val="600"/>
              </a:spcBef>
              <a:buFont typeface="Wingdings" panose="05000000000000000000" pitchFamily="2" charset="2"/>
              <a:buChar char="§"/>
            </a:pPr>
            <a:r>
              <a:rPr lang="pt-BR" sz="1100" dirty="0"/>
              <a:t>Após atualização do HUB, os times de comissionamento, Obras, Operações e Manutenção Preventiva recebem alerta para atualização manual do cronograma, </a:t>
            </a:r>
            <a:r>
              <a:rPr lang="pt-BR" sz="1100" dirty="0" err="1"/>
              <a:t>OneTimeJobs</a:t>
            </a:r>
            <a:r>
              <a:rPr lang="pt-BR" sz="1100" dirty="0"/>
              <a:t> /Jobs, </a:t>
            </a:r>
            <a:r>
              <a:rPr lang="pt-BR" sz="1100" dirty="0" err="1"/>
              <a:t>OS’s</a:t>
            </a:r>
            <a:r>
              <a:rPr lang="pt-BR" sz="1100" dirty="0"/>
              <a:t> e PGC</a:t>
            </a:r>
          </a:p>
          <a:p>
            <a:pPr marL="171450" indent="-171450">
              <a:spcBef>
                <a:spcPts val="600"/>
              </a:spcBef>
              <a:buFont typeface="Wingdings" panose="05000000000000000000" pitchFamily="2" charset="2"/>
              <a:buChar char="§"/>
            </a:pPr>
            <a:r>
              <a:rPr lang="pt-BR" sz="1100" b="1" dirty="0"/>
              <a:t>Cada responsável registra, no HUB, a conclusão da atualização</a:t>
            </a:r>
          </a:p>
        </p:txBody>
      </p:sp>
      <p:grpSp>
        <p:nvGrpSpPr>
          <p:cNvPr id="9" name="Group 8">
            <a:extLst>
              <a:ext uri="{FF2B5EF4-FFF2-40B4-BE49-F238E27FC236}">
                <a16:creationId xmlns:a16="http://schemas.microsoft.com/office/drawing/2014/main" id="{A13C0FD2-57FE-EA8B-06D4-87FD939EB19E}"/>
              </a:ext>
            </a:extLst>
          </p:cNvPr>
          <p:cNvGrpSpPr>
            <a:grpSpLocks noChangeAspect="1"/>
          </p:cNvGrpSpPr>
          <p:nvPr/>
        </p:nvGrpSpPr>
        <p:grpSpPr>
          <a:xfrm>
            <a:off x="8068104" y="953070"/>
            <a:ext cx="833150" cy="833150"/>
            <a:chOff x="8026447" y="1021406"/>
            <a:chExt cx="916465" cy="916465"/>
          </a:xfrm>
        </p:grpSpPr>
        <p:sp>
          <p:nvSpPr>
            <p:cNvPr id="47" name="Elipse 46">
              <a:extLst>
                <a:ext uri="{FF2B5EF4-FFF2-40B4-BE49-F238E27FC236}">
                  <a16:creationId xmlns:a16="http://schemas.microsoft.com/office/drawing/2014/main" id="{AD109603-9D2E-01F4-9D0D-FF7EB72AD9A4}"/>
                </a:ext>
              </a:extLst>
            </p:cNvPr>
            <p:cNvSpPr/>
            <p:nvPr/>
          </p:nvSpPr>
          <p:spPr>
            <a:xfrm>
              <a:off x="8026447" y="1021406"/>
              <a:ext cx="916465" cy="916465"/>
            </a:xfrm>
            <a:prstGeom prst="ellipse">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65" name="Imagem 64" descr="Forma&#10;&#10;O conteúdo gerado por IA pode estar incorreto.">
              <a:extLst>
                <a:ext uri="{FF2B5EF4-FFF2-40B4-BE49-F238E27FC236}">
                  <a16:creationId xmlns:a16="http://schemas.microsoft.com/office/drawing/2014/main" id="{A95F825D-7929-196C-AE8D-BAD50D326FA0}"/>
                </a:ext>
              </a:extLst>
            </p:cNvPr>
            <p:cNvPicPr>
              <a:picLocks noChangeAspect="1"/>
            </p:cNvPicPr>
            <p:nvPr/>
          </p:nvPicPr>
          <p:blipFill>
            <a:blip r:embed="rId3" cstate="print">
              <a:extLst>
                <a:ext uri="{28A0092B-C50C-407E-A947-70E740481C1C}">
                  <a14:useLocalDpi xmlns:a14="http://schemas.microsoft.com/office/drawing/2010/main" val="0"/>
                </a:ext>
              </a:extLst>
            </a:blip>
            <a:srcRect l="7707" t="6950" r="8001" b="21650"/>
            <a:stretch>
              <a:fillRect/>
            </a:stretch>
          </p:blipFill>
          <p:spPr>
            <a:xfrm>
              <a:off x="8191231" y="1231073"/>
              <a:ext cx="586897" cy="497131"/>
            </a:xfrm>
            <a:prstGeom prst="rect">
              <a:avLst/>
            </a:prstGeom>
          </p:spPr>
        </p:pic>
      </p:grpSp>
      <p:sp>
        <p:nvSpPr>
          <p:cNvPr id="49" name="CaixaDeTexto 48">
            <a:extLst>
              <a:ext uri="{FF2B5EF4-FFF2-40B4-BE49-F238E27FC236}">
                <a16:creationId xmlns:a16="http://schemas.microsoft.com/office/drawing/2014/main" id="{A7B5026E-C42B-2E24-E0B5-D3C7B8CF04BA}"/>
              </a:ext>
            </a:extLst>
          </p:cNvPr>
          <p:cNvSpPr txBox="1"/>
          <p:nvPr/>
        </p:nvSpPr>
        <p:spPr>
          <a:xfrm>
            <a:off x="7378845" y="1903235"/>
            <a:ext cx="2219222" cy="307777"/>
          </a:xfrm>
          <a:prstGeom prst="rect">
            <a:avLst/>
          </a:prstGeom>
          <a:noFill/>
        </p:spPr>
        <p:txBody>
          <a:bodyPr wrap="square" rtlCol="0">
            <a:spAutoFit/>
          </a:bodyPr>
          <a:lstStyle>
            <a:defPPr>
              <a:defRPr lang="pt-BR"/>
            </a:defPPr>
            <a:lvl1pPr algn="ctr">
              <a:defRPr sz="1400" b="1"/>
            </a:lvl1pPr>
          </a:lstStyle>
          <a:p>
            <a:r>
              <a:rPr lang="pt-BR" dirty="0"/>
              <a:t>Atualização de Sistemas</a:t>
            </a:r>
          </a:p>
        </p:txBody>
      </p:sp>
      <p:sp>
        <p:nvSpPr>
          <p:cNvPr id="38" name="Retângulo: Cantos Arredondados 37">
            <a:extLst>
              <a:ext uri="{FF2B5EF4-FFF2-40B4-BE49-F238E27FC236}">
                <a16:creationId xmlns:a16="http://schemas.microsoft.com/office/drawing/2014/main" id="{ED5F66FB-BAA4-72BD-C6E1-F90C44010464}"/>
              </a:ext>
            </a:extLst>
          </p:cNvPr>
          <p:cNvSpPr/>
          <p:nvPr/>
        </p:nvSpPr>
        <p:spPr>
          <a:xfrm>
            <a:off x="4979294" y="1355338"/>
            <a:ext cx="2196000" cy="4968000"/>
          </a:xfrm>
          <a:prstGeom prst="roundRect">
            <a:avLst>
              <a:gd name="adj" fmla="val 86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CaixaDeTexto 40">
            <a:extLst>
              <a:ext uri="{FF2B5EF4-FFF2-40B4-BE49-F238E27FC236}">
                <a16:creationId xmlns:a16="http://schemas.microsoft.com/office/drawing/2014/main" id="{434B4390-E013-25E3-B433-537F7CADE43A}"/>
              </a:ext>
            </a:extLst>
          </p:cNvPr>
          <p:cNvSpPr txBox="1"/>
          <p:nvPr/>
        </p:nvSpPr>
        <p:spPr>
          <a:xfrm>
            <a:off x="4980001" y="2709320"/>
            <a:ext cx="2160000" cy="3600000"/>
          </a:xfrm>
          <a:prstGeom prst="rect">
            <a:avLst/>
          </a:prstGeom>
          <a:noFill/>
        </p:spPr>
        <p:txBody>
          <a:bodyPr wrap="square" lIns="90000" rtlCol="0">
            <a:noAutofit/>
          </a:bodyPr>
          <a:lstStyle/>
          <a:p>
            <a:pPr marL="171450" indent="-171450">
              <a:spcBef>
                <a:spcPts val="600"/>
              </a:spcBef>
              <a:buFont typeface="Wingdings" panose="05000000000000000000" pitchFamily="2" charset="2"/>
              <a:buChar char="§"/>
            </a:pPr>
            <a:r>
              <a:rPr lang="pt-BR" sz="1100" b="1" dirty="0"/>
              <a:t>Especialista </a:t>
            </a:r>
            <a:r>
              <a:rPr lang="pt-BR" sz="1100" dirty="0"/>
              <a:t>revisa o detalhamento do administrativo, faz os ajustes, se necessário, e envia para aprovação</a:t>
            </a:r>
          </a:p>
          <a:p>
            <a:pPr marL="171450" indent="-171450">
              <a:spcBef>
                <a:spcPts val="600"/>
              </a:spcBef>
              <a:buFont typeface="Wingdings" panose="05000000000000000000" pitchFamily="2" charset="2"/>
              <a:buChar char="§"/>
            </a:pPr>
            <a:r>
              <a:rPr lang="pt-BR" sz="1100" dirty="0"/>
              <a:t>A GMUD segue para a seguinte alçada de aprovação</a:t>
            </a:r>
          </a:p>
          <a:p>
            <a:pPr algn="ctr">
              <a:spcBef>
                <a:spcPts val="600"/>
              </a:spcBef>
            </a:pPr>
            <a:r>
              <a:rPr lang="pt-BR" sz="1100" b="1" dirty="0" err="1"/>
              <a:t>Coord</a:t>
            </a:r>
            <a:r>
              <a:rPr lang="pt-BR" sz="1100" b="1" dirty="0"/>
              <a:t> de Obras</a:t>
            </a:r>
            <a:r>
              <a:rPr lang="pt-BR" sz="1100" dirty="0"/>
              <a:t> </a:t>
            </a:r>
            <a:r>
              <a:rPr lang="pt-BR" sz="1100" dirty="0">
                <a:sym typeface="Wingdings" panose="05000000000000000000" pitchFamily="2" charset="2"/>
              </a:rPr>
              <a:t></a:t>
            </a:r>
            <a:r>
              <a:rPr lang="pt-BR" sz="1100" dirty="0"/>
              <a:t> </a:t>
            </a:r>
            <a:r>
              <a:rPr lang="pt-BR" sz="1100" b="1" dirty="0"/>
              <a:t>Diretor AT</a:t>
            </a:r>
          </a:p>
          <a:p>
            <a:pPr marL="171450" indent="-171450">
              <a:spcBef>
                <a:spcPts val="600"/>
              </a:spcBef>
              <a:buFont typeface="Wingdings" panose="05000000000000000000" pitchFamily="2" charset="2"/>
              <a:buChar char="§"/>
              <a:defRPr/>
            </a:pPr>
            <a:r>
              <a:rPr lang="pt-BR" sz="1100" dirty="0"/>
              <a:t>Em alguns casos, após análise da GMUD, o Diretor da Área Técnica pode delegar a aprovação para o Diretor de Operações</a:t>
            </a:r>
          </a:p>
          <a:p>
            <a:pPr marL="171450" marR="0" lvl="0" indent="-171450" fontAlgn="auto">
              <a:lnSpc>
                <a:spcPct val="100000"/>
              </a:lnSpc>
              <a:spcBef>
                <a:spcPts val="600"/>
              </a:spcBef>
              <a:spcAft>
                <a:spcPts val="0"/>
              </a:spcAft>
              <a:buClrTx/>
              <a:buSzTx/>
              <a:buFont typeface="Wingdings" panose="05000000000000000000" pitchFamily="2" charset="2"/>
              <a:buChar char="§"/>
              <a:tabLst/>
              <a:defRPr/>
            </a:pPr>
            <a:r>
              <a:rPr lang="pt-BR" sz="1100" dirty="0"/>
              <a:t>No HUB, a alçada de aprovação será customizável através de um perfil admin</a:t>
            </a:r>
          </a:p>
        </p:txBody>
      </p:sp>
      <p:sp>
        <p:nvSpPr>
          <p:cNvPr id="42" name="CaixaDeTexto 41">
            <a:extLst>
              <a:ext uri="{FF2B5EF4-FFF2-40B4-BE49-F238E27FC236}">
                <a16:creationId xmlns:a16="http://schemas.microsoft.com/office/drawing/2014/main" id="{4049B91B-0BA1-439A-5B37-1E2F7DDF6D05}"/>
              </a:ext>
            </a:extLst>
          </p:cNvPr>
          <p:cNvSpPr txBox="1"/>
          <p:nvPr/>
        </p:nvSpPr>
        <p:spPr>
          <a:xfrm>
            <a:off x="5068295" y="1903235"/>
            <a:ext cx="2003982" cy="307777"/>
          </a:xfrm>
          <a:prstGeom prst="rect">
            <a:avLst/>
          </a:prstGeom>
          <a:noFill/>
        </p:spPr>
        <p:txBody>
          <a:bodyPr wrap="square" rtlCol="0">
            <a:spAutoFit/>
          </a:bodyPr>
          <a:lstStyle>
            <a:defPPr>
              <a:defRPr lang="pt-BR"/>
            </a:defPPr>
            <a:lvl1pPr algn="ctr">
              <a:defRPr sz="1400" b="1"/>
            </a:lvl1pPr>
          </a:lstStyle>
          <a:p>
            <a:r>
              <a:rPr lang="pt-BR" dirty="0"/>
              <a:t>Fluxo de Aprovação</a:t>
            </a:r>
          </a:p>
        </p:txBody>
      </p:sp>
      <p:grpSp>
        <p:nvGrpSpPr>
          <p:cNvPr id="6" name="Group 5">
            <a:extLst>
              <a:ext uri="{FF2B5EF4-FFF2-40B4-BE49-F238E27FC236}">
                <a16:creationId xmlns:a16="http://schemas.microsoft.com/office/drawing/2014/main" id="{6B2E1723-585B-779A-04D6-78EC514C61FC}"/>
              </a:ext>
            </a:extLst>
          </p:cNvPr>
          <p:cNvGrpSpPr>
            <a:grpSpLocks noChangeAspect="1"/>
          </p:cNvGrpSpPr>
          <p:nvPr/>
        </p:nvGrpSpPr>
        <p:grpSpPr>
          <a:xfrm>
            <a:off x="5653712" y="953070"/>
            <a:ext cx="833150" cy="833150"/>
            <a:chOff x="5612055" y="1021406"/>
            <a:chExt cx="916465" cy="916465"/>
          </a:xfrm>
        </p:grpSpPr>
        <p:sp>
          <p:nvSpPr>
            <p:cNvPr id="39" name="Elipse 38">
              <a:extLst>
                <a:ext uri="{FF2B5EF4-FFF2-40B4-BE49-F238E27FC236}">
                  <a16:creationId xmlns:a16="http://schemas.microsoft.com/office/drawing/2014/main" id="{B1227B0B-ED6A-BCD8-C06F-3EBB558CA647}"/>
                </a:ext>
              </a:extLst>
            </p:cNvPr>
            <p:cNvSpPr/>
            <p:nvPr/>
          </p:nvSpPr>
          <p:spPr>
            <a:xfrm>
              <a:off x="5612055" y="1021406"/>
              <a:ext cx="916465" cy="916465"/>
            </a:xfrm>
            <a:prstGeom prst="ellipse">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4" name="Imagem 13" descr="Forma&#10;&#10;O conteúdo gerado por IA pode estar incorreto.">
              <a:extLst>
                <a:ext uri="{FF2B5EF4-FFF2-40B4-BE49-F238E27FC236}">
                  <a16:creationId xmlns:a16="http://schemas.microsoft.com/office/drawing/2014/main" id="{DC7585C0-027C-DC20-0FA8-D395EBE0CD89}"/>
                </a:ext>
              </a:extLst>
            </p:cNvPr>
            <p:cNvPicPr>
              <a:picLocks noChangeAspect="1"/>
            </p:cNvPicPr>
            <p:nvPr/>
          </p:nvPicPr>
          <p:blipFill>
            <a:blip r:embed="rId4" cstate="print">
              <a:extLst>
                <a:ext uri="{28A0092B-C50C-407E-A947-70E740481C1C}">
                  <a14:useLocalDpi xmlns:a14="http://schemas.microsoft.com/office/drawing/2010/main" val="0"/>
                </a:ext>
              </a:extLst>
            </a:blip>
            <a:srcRect l="6460" r="6390" b="14073"/>
            <a:stretch>
              <a:fillRect/>
            </a:stretch>
          </p:blipFill>
          <p:spPr>
            <a:xfrm>
              <a:off x="5799630" y="1200223"/>
              <a:ext cx="566781" cy="558830"/>
            </a:xfrm>
            <a:prstGeom prst="rect">
              <a:avLst/>
            </a:prstGeom>
          </p:spPr>
        </p:pic>
      </p:grpSp>
      <p:sp>
        <p:nvSpPr>
          <p:cNvPr id="24" name="Retângulo: Cantos Arredondados 23">
            <a:extLst>
              <a:ext uri="{FF2B5EF4-FFF2-40B4-BE49-F238E27FC236}">
                <a16:creationId xmlns:a16="http://schemas.microsoft.com/office/drawing/2014/main" id="{11D41C2C-BA3A-BB70-923E-25BAF7A565B3}"/>
              </a:ext>
            </a:extLst>
          </p:cNvPr>
          <p:cNvSpPr/>
          <p:nvPr/>
        </p:nvSpPr>
        <p:spPr>
          <a:xfrm>
            <a:off x="2579743" y="1355338"/>
            <a:ext cx="2196000" cy="4968000"/>
          </a:xfrm>
          <a:prstGeom prst="roundRect">
            <a:avLst>
              <a:gd name="adj" fmla="val 86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 name="Group 4">
            <a:extLst>
              <a:ext uri="{FF2B5EF4-FFF2-40B4-BE49-F238E27FC236}">
                <a16:creationId xmlns:a16="http://schemas.microsoft.com/office/drawing/2014/main" id="{07EF9CA0-24F5-8AED-867E-7E25727C14AD}"/>
              </a:ext>
            </a:extLst>
          </p:cNvPr>
          <p:cNvGrpSpPr>
            <a:grpSpLocks noChangeAspect="1"/>
          </p:cNvGrpSpPr>
          <p:nvPr/>
        </p:nvGrpSpPr>
        <p:grpSpPr>
          <a:xfrm>
            <a:off x="3254161" y="953070"/>
            <a:ext cx="833150" cy="833150"/>
            <a:chOff x="3212504" y="1021406"/>
            <a:chExt cx="916465" cy="916465"/>
          </a:xfrm>
        </p:grpSpPr>
        <p:sp>
          <p:nvSpPr>
            <p:cNvPr id="26" name="Elipse 25">
              <a:extLst>
                <a:ext uri="{FF2B5EF4-FFF2-40B4-BE49-F238E27FC236}">
                  <a16:creationId xmlns:a16="http://schemas.microsoft.com/office/drawing/2014/main" id="{DA430C83-E26B-E86E-0CC8-42BFF63D7407}"/>
                </a:ext>
              </a:extLst>
            </p:cNvPr>
            <p:cNvSpPr/>
            <p:nvPr/>
          </p:nvSpPr>
          <p:spPr>
            <a:xfrm>
              <a:off x="3212504" y="1021406"/>
              <a:ext cx="916465" cy="916465"/>
            </a:xfrm>
            <a:prstGeom prst="ellipse">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descr="Forma&#10;&#10;O conteúdo gerado por IA pode estar incorreto.">
              <a:extLst>
                <a:ext uri="{FF2B5EF4-FFF2-40B4-BE49-F238E27FC236}">
                  <a16:creationId xmlns:a16="http://schemas.microsoft.com/office/drawing/2014/main" id="{897A51F2-F33C-CD8E-C6B9-885EC6B7C1DD}"/>
                </a:ext>
              </a:extLst>
            </p:cNvPr>
            <p:cNvPicPr>
              <a:picLocks noChangeAspect="1"/>
            </p:cNvPicPr>
            <p:nvPr/>
          </p:nvPicPr>
          <p:blipFill>
            <a:blip r:embed="rId5" cstate="print">
              <a:extLst>
                <a:ext uri="{28A0092B-C50C-407E-A947-70E740481C1C}">
                  <a14:useLocalDpi xmlns:a14="http://schemas.microsoft.com/office/drawing/2010/main" val="0"/>
                </a:ext>
              </a:extLst>
            </a:blip>
            <a:srcRect l="5721" t="4641" r="5721" b="16521"/>
            <a:stretch>
              <a:fillRect/>
            </a:stretch>
          </p:blipFill>
          <p:spPr>
            <a:xfrm>
              <a:off x="3369427" y="1211400"/>
              <a:ext cx="602617" cy="536476"/>
            </a:xfrm>
            <a:prstGeom prst="rect">
              <a:avLst/>
            </a:prstGeom>
          </p:spPr>
        </p:pic>
      </p:grpSp>
      <p:sp>
        <p:nvSpPr>
          <p:cNvPr id="33" name="CaixaDeTexto 32">
            <a:extLst>
              <a:ext uri="{FF2B5EF4-FFF2-40B4-BE49-F238E27FC236}">
                <a16:creationId xmlns:a16="http://schemas.microsoft.com/office/drawing/2014/main" id="{A11EFD28-060C-7AB8-D3F4-E7F66174B972}"/>
              </a:ext>
            </a:extLst>
          </p:cNvPr>
          <p:cNvSpPr txBox="1"/>
          <p:nvPr/>
        </p:nvSpPr>
        <p:spPr>
          <a:xfrm>
            <a:off x="2568545" y="2709319"/>
            <a:ext cx="2160000" cy="3600000"/>
          </a:xfrm>
          <a:prstGeom prst="rect">
            <a:avLst/>
          </a:prstGeom>
          <a:noFill/>
        </p:spPr>
        <p:txBody>
          <a:bodyPr wrap="square" lIns="90000" rtlCol="0">
            <a:noAutofit/>
          </a:bodyPr>
          <a:lstStyle/>
          <a:p>
            <a:pPr marL="171450" indent="-171450">
              <a:spcBef>
                <a:spcPts val="600"/>
              </a:spcBef>
              <a:buFont typeface="Wingdings" panose="05000000000000000000" pitchFamily="2" charset="2"/>
              <a:buChar char="§"/>
            </a:pPr>
            <a:r>
              <a:rPr lang="pt-BR" sz="1100" dirty="0"/>
              <a:t>O HUB exibe um alerta na página inicial da Parada com a mensagem “Existem </a:t>
            </a:r>
            <a:r>
              <a:rPr lang="pt-BR" sz="1100" dirty="0" err="1"/>
              <a:t>GMUD’s</a:t>
            </a:r>
            <a:r>
              <a:rPr lang="pt-BR" sz="1100" dirty="0"/>
              <a:t> pendentes de detalhamento”</a:t>
            </a:r>
          </a:p>
          <a:p>
            <a:pPr marL="171450" indent="-171450">
              <a:spcBef>
                <a:spcPts val="600"/>
              </a:spcBef>
              <a:buFont typeface="Wingdings" panose="05000000000000000000" pitchFamily="2" charset="2"/>
              <a:buChar char="§"/>
            </a:pPr>
            <a:r>
              <a:rPr lang="pt-BR" sz="1100" dirty="0"/>
              <a:t>O administrativo, em conjunto com o especialista, </a:t>
            </a:r>
            <a:r>
              <a:rPr lang="pt-BR" sz="1100" b="1" dirty="0"/>
              <a:t>detalha o conteúdo da GMUD dentro do HUB</a:t>
            </a:r>
            <a:r>
              <a:rPr lang="pt-BR" sz="1100" dirty="0"/>
              <a:t>, preenchendo os demais campos necessários por tipo</a:t>
            </a:r>
          </a:p>
          <a:p>
            <a:pPr marL="171450" indent="-171450">
              <a:spcBef>
                <a:spcPts val="600"/>
              </a:spcBef>
              <a:buFont typeface="Wingdings" panose="05000000000000000000" pitchFamily="2" charset="2"/>
              <a:buChar char="§"/>
            </a:pPr>
            <a:r>
              <a:rPr lang="pt-BR" sz="1100" dirty="0"/>
              <a:t>Após a conclusão, o administrativo submete as alterações para aprovação via HUB</a:t>
            </a:r>
          </a:p>
        </p:txBody>
      </p:sp>
      <p:sp>
        <p:nvSpPr>
          <p:cNvPr id="36" name="CaixaDeTexto 35">
            <a:extLst>
              <a:ext uri="{FF2B5EF4-FFF2-40B4-BE49-F238E27FC236}">
                <a16:creationId xmlns:a16="http://schemas.microsoft.com/office/drawing/2014/main" id="{9E5154EE-8C3C-B8D6-83D6-38537CDC4390}"/>
              </a:ext>
            </a:extLst>
          </p:cNvPr>
          <p:cNvSpPr txBox="1"/>
          <p:nvPr/>
        </p:nvSpPr>
        <p:spPr>
          <a:xfrm>
            <a:off x="2668744" y="1903235"/>
            <a:ext cx="2003982" cy="307777"/>
          </a:xfrm>
          <a:prstGeom prst="rect">
            <a:avLst/>
          </a:prstGeom>
          <a:noFill/>
        </p:spPr>
        <p:txBody>
          <a:bodyPr wrap="square" rtlCol="0">
            <a:spAutoFit/>
          </a:bodyPr>
          <a:lstStyle>
            <a:defPPr>
              <a:defRPr lang="pt-BR"/>
            </a:defPPr>
            <a:lvl1pPr algn="ctr">
              <a:defRPr sz="1400" b="1"/>
            </a:lvl1pPr>
          </a:lstStyle>
          <a:p>
            <a:r>
              <a:rPr lang="pt-BR" dirty="0"/>
              <a:t>Detalhamento</a:t>
            </a:r>
          </a:p>
        </p:txBody>
      </p:sp>
      <p:sp>
        <p:nvSpPr>
          <p:cNvPr id="21" name="Retângulo: Cantos Arredondados 20">
            <a:extLst>
              <a:ext uri="{FF2B5EF4-FFF2-40B4-BE49-F238E27FC236}">
                <a16:creationId xmlns:a16="http://schemas.microsoft.com/office/drawing/2014/main" id="{5A7D1D88-6B03-880F-C3E4-6FCA1C9DE491}"/>
              </a:ext>
            </a:extLst>
          </p:cNvPr>
          <p:cNvSpPr/>
          <p:nvPr/>
        </p:nvSpPr>
        <p:spPr>
          <a:xfrm>
            <a:off x="168994" y="1355338"/>
            <a:ext cx="2196000" cy="4968000"/>
          </a:xfrm>
          <a:prstGeom prst="roundRect">
            <a:avLst>
              <a:gd name="adj" fmla="val 8693"/>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19">
            <a:extLst>
              <a:ext uri="{FF2B5EF4-FFF2-40B4-BE49-F238E27FC236}">
                <a16:creationId xmlns:a16="http://schemas.microsoft.com/office/drawing/2014/main" id="{37B042B3-FAEA-1D36-2F05-AB612CF3E979}"/>
              </a:ext>
            </a:extLst>
          </p:cNvPr>
          <p:cNvSpPr txBox="1"/>
          <p:nvPr/>
        </p:nvSpPr>
        <p:spPr>
          <a:xfrm>
            <a:off x="270730" y="1857068"/>
            <a:ext cx="2003982" cy="307777"/>
          </a:xfrm>
          <a:prstGeom prst="rect">
            <a:avLst/>
          </a:prstGeom>
          <a:noFill/>
        </p:spPr>
        <p:txBody>
          <a:bodyPr wrap="square" rtlCol="0">
            <a:spAutoFit/>
          </a:bodyPr>
          <a:lstStyle/>
          <a:p>
            <a:pPr algn="ctr"/>
            <a:r>
              <a:rPr lang="pt-BR" sz="1400" b="1" dirty="0"/>
              <a:t>Abertura</a:t>
            </a:r>
          </a:p>
        </p:txBody>
      </p:sp>
      <p:grpSp>
        <p:nvGrpSpPr>
          <p:cNvPr id="3" name="Group 2">
            <a:extLst>
              <a:ext uri="{FF2B5EF4-FFF2-40B4-BE49-F238E27FC236}">
                <a16:creationId xmlns:a16="http://schemas.microsoft.com/office/drawing/2014/main" id="{81B09577-21A0-DBA5-A08A-8AD4DCB1B5D9}"/>
              </a:ext>
            </a:extLst>
          </p:cNvPr>
          <p:cNvGrpSpPr>
            <a:grpSpLocks noChangeAspect="1"/>
          </p:cNvGrpSpPr>
          <p:nvPr/>
        </p:nvGrpSpPr>
        <p:grpSpPr>
          <a:xfrm>
            <a:off x="843412" y="953070"/>
            <a:ext cx="833150" cy="833150"/>
            <a:chOff x="801755" y="1021406"/>
            <a:chExt cx="916465" cy="916465"/>
          </a:xfrm>
        </p:grpSpPr>
        <p:sp>
          <p:nvSpPr>
            <p:cNvPr id="22" name="Elipse 21">
              <a:extLst>
                <a:ext uri="{FF2B5EF4-FFF2-40B4-BE49-F238E27FC236}">
                  <a16:creationId xmlns:a16="http://schemas.microsoft.com/office/drawing/2014/main" id="{11B0260A-0367-365D-CBBA-2CE688437300}"/>
                </a:ext>
              </a:extLst>
            </p:cNvPr>
            <p:cNvSpPr/>
            <p:nvPr/>
          </p:nvSpPr>
          <p:spPr>
            <a:xfrm>
              <a:off x="801755" y="1021406"/>
              <a:ext cx="916465" cy="916465"/>
            </a:xfrm>
            <a:prstGeom prst="ellipse">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 name="Imagem 7" descr="Forma&#10;&#10;O conteúdo gerado por IA pode estar incorreto.">
              <a:extLst>
                <a:ext uri="{FF2B5EF4-FFF2-40B4-BE49-F238E27FC236}">
                  <a16:creationId xmlns:a16="http://schemas.microsoft.com/office/drawing/2014/main" id="{66B6268B-CA8E-41B5-D809-27A3B849C45A}"/>
                </a:ext>
              </a:extLst>
            </p:cNvPr>
            <p:cNvPicPr>
              <a:picLocks noChangeAspect="1"/>
            </p:cNvPicPr>
            <p:nvPr/>
          </p:nvPicPr>
          <p:blipFill>
            <a:blip r:embed="rId6" cstate="print">
              <a:extLst>
                <a:ext uri="{28A0092B-C50C-407E-A947-70E740481C1C}">
                  <a14:useLocalDpi xmlns:a14="http://schemas.microsoft.com/office/drawing/2010/main" val="0"/>
                </a:ext>
              </a:extLst>
            </a:blip>
            <a:srcRect l="12600" t="2751" r="11801" b="16401"/>
            <a:stretch>
              <a:fillRect/>
            </a:stretch>
          </p:blipFill>
          <p:spPr>
            <a:xfrm>
              <a:off x="1021901" y="1211400"/>
              <a:ext cx="501640" cy="536476"/>
            </a:xfrm>
            <a:prstGeom prst="rect">
              <a:avLst/>
            </a:prstGeom>
          </p:spPr>
        </p:pic>
      </p:grpSp>
      <p:sp>
        <p:nvSpPr>
          <p:cNvPr id="23" name="CaixaDeTexto 22">
            <a:extLst>
              <a:ext uri="{FF2B5EF4-FFF2-40B4-BE49-F238E27FC236}">
                <a16:creationId xmlns:a16="http://schemas.microsoft.com/office/drawing/2014/main" id="{06CDB73E-56AD-207B-A86B-037F8CFFC6E4}"/>
              </a:ext>
            </a:extLst>
          </p:cNvPr>
          <p:cNvSpPr txBox="1"/>
          <p:nvPr/>
        </p:nvSpPr>
        <p:spPr>
          <a:xfrm>
            <a:off x="170531" y="2709319"/>
            <a:ext cx="2160000" cy="3600000"/>
          </a:xfrm>
          <a:prstGeom prst="rect">
            <a:avLst/>
          </a:prstGeom>
          <a:noFill/>
        </p:spPr>
        <p:txBody>
          <a:bodyPr wrap="square" lIns="90000" rtlCol="0">
            <a:noAutofit/>
          </a:bodyPr>
          <a:lstStyle/>
          <a:p>
            <a:pPr marL="171450" indent="-171450">
              <a:spcBef>
                <a:spcPts val="600"/>
              </a:spcBef>
              <a:buFont typeface="Wingdings" panose="05000000000000000000" pitchFamily="2" charset="2"/>
              <a:buChar char="§"/>
            </a:pPr>
            <a:r>
              <a:rPr lang="pt-BR" sz="1100" dirty="0"/>
              <a:t>Ao receber a demanda ou identificar uma necessidade, o especialista </a:t>
            </a:r>
            <a:r>
              <a:rPr lang="pt-BR" sz="1100" b="1" dirty="0"/>
              <a:t>inicia a GMUD pelo app mobile</a:t>
            </a:r>
          </a:p>
          <a:p>
            <a:pPr marL="171450" indent="-171450">
              <a:spcBef>
                <a:spcPts val="600"/>
              </a:spcBef>
              <a:buFont typeface="Wingdings" panose="05000000000000000000" pitchFamily="2" charset="2"/>
              <a:buChar char="§"/>
            </a:pPr>
            <a:r>
              <a:rPr lang="pt-BR" sz="1100" dirty="0"/>
              <a:t>O especialista define o Tipo de GMUD ...</a:t>
            </a:r>
          </a:p>
          <a:p>
            <a:pPr marL="171450" indent="-171450">
              <a:spcBef>
                <a:spcPts val="600"/>
              </a:spcBef>
              <a:buFont typeface="Wingdings" panose="05000000000000000000" pitchFamily="2" charset="2"/>
              <a:buChar char="§"/>
            </a:pPr>
            <a:r>
              <a:rPr lang="pt-BR" sz="1100" dirty="0"/>
              <a:t>... e preenche, pelo menos, o conjunto de informações mínimas obrigatórias para abertura da GMUD:</a:t>
            </a:r>
          </a:p>
          <a:p>
            <a:pPr marL="355600" lvl="1" indent="-173038">
              <a:spcBef>
                <a:spcPts val="200"/>
              </a:spcBef>
              <a:buFont typeface="Wingdings" pitchFamily="2" charset="2"/>
              <a:buChar char="ü"/>
            </a:pPr>
            <a:r>
              <a:rPr lang="pt-BR" sz="1100" dirty="0"/>
              <a:t>ID Parada</a:t>
            </a:r>
          </a:p>
          <a:p>
            <a:pPr marL="355600" lvl="1" indent="-173038">
              <a:spcBef>
                <a:spcPts val="200"/>
              </a:spcBef>
              <a:buFont typeface="Wingdings" pitchFamily="2" charset="2"/>
              <a:buChar char="ü"/>
            </a:pPr>
            <a:r>
              <a:rPr lang="pt-BR" sz="1100" dirty="0"/>
              <a:t>Tipo de GMUD</a:t>
            </a:r>
          </a:p>
          <a:p>
            <a:pPr marL="355600" lvl="1" indent="-173038">
              <a:spcBef>
                <a:spcPts val="200"/>
              </a:spcBef>
              <a:buFont typeface="Wingdings" pitchFamily="2" charset="2"/>
              <a:buChar char="ü"/>
            </a:pPr>
            <a:r>
              <a:rPr lang="pt-BR" sz="1100" dirty="0"/>
              <a:t>Disciplina da Mudança</a:t>
            </a:r>
          </a:p>
          <a:p>
            <a:pPr marL="355600" lvl="1" indent="-173038">
              <a:spcBef>
                <a:spcPts val="200"/>
              </a:spcBef>
              <a:buFont typeface="Wingdings" pitchFamily="2" charset="2"/>
              <a:buChar char="ü"/>
            </a:pPr>
            <a:r>
              <a:rPr lang="pt-BR" sz="1100" dirty="0"/>
              <a:t>Resumo</a:t>
            </a:r>
          </a:p>
          <a:p>
            <a:pPr marL="171450" indent="-171450">
              <a:spcBef>
                <a:spcPts val="600"/>
              </a:spcBef>
              <a:buFont typeface="Wingdings" panose="05000000000000000000" pitchFamily="2" charset="2"/>
              <a:buChar char="§"/>
            </a:pPr>
            <a:r>
              <a:rPr lang="pt-BR" sz="1100" dirty="0"/>
              <a:t>Ao submeter o formulário do app para o HUB, o ID da GMUD é  registrado no HUB com o status de “pendente de detalhamento”</a:t>
            </a:r>
          </a:p>
        </p:txBody>
      </p:sp>
      <p:sp>
        <p:nvSpPr>
          <p:cNvPr id="7" name="CaixaDeTexto 6">
            <a:extLst>
              <a:ext uri="{FF2B5EF4-FFF2-40B4-BE49-F238E27FC236}">
                <a16:creationId xmlns:a16="http://schemas.microsoft.com/office/drawing/2014/main" id="{2B0A9682-C7AB-4476-D768-A8B89B170A96}"/>
              </a:ext>
            </a:extLst>
          </p:cNvPr>
          <p:cNvSpPr txBox="1"/>
          <p:nvPr/>
        </p:nvSpPr>
        <p:spPr>
          <a:xfrm>
            <a:off x="176549" y="2176252"/>
            <a:ext cx="2184802" cy="261610"/>
          </a:xfrm>
          <a:prstGeom prst="rect">
            <a:avLst/>
          </a:prstGeom>
          <a:noFill/>
        </p:spPr>
        <p:txBody>
          <a:bodyPr wrap="square">
            <a:spAutoFit/>
          </a:bodyPr>
          <a:lstStyle/>
          <a:p>
            <a:r>
              <a:rPr lang="pt-BR" sz="1100" b="1" i="1" dirty="0"/>
              <a:t>Resp.: </a:t>
            </a:r>
            <a:r>
              <a:rPr lang="pt-BR" sz="1100" i="1" dirty="0"/>
              <a:t>Especialista</a:t>
            </a:r>
            <a:endParaRPr lang="pt-BR" sz="1400" i="1" dirty="0"/>
          </a:p>
        </p:txBody>
      </p:sp>
      <p:cxnSp>
        <p:nvCxnSpPr>
          <p:cNvPr id="10" name="Conector reto 9">
            <a:extLst>
              <a:ext uri="{FF2B5EF4-FFF2-40B4-BE49-F238E27FC236}">
                <a16:creationId xmlns:a16="http://schemas.microsoft.com/office/drawing/2014/main" id="{13FA3890-D5EB-B434-0C03-EC6F84C4D4BF}"/>
              </a:ext>
            </a:extLst>
          </p:cNvPr>
          <p:cNvCxnSpPr>
            <a:cxnSpLocks/>
          </p:cNvCxnSpPr>
          <p:nvPr/>
        </p:nvCxnSpPr>
        <p:spPr>
          <a:xfrm>
            <a:off x="333179" y="2621000"/>
            <a:ext cx="18676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CaixaDeTexto 15">
            <a:extLst>
              <a:ext uri="{FF2B5EF4-FFF2-40B4-BE49-F238E27FC236}">
                <a16:creationId xmlns:a16="http://schemas.microsoft.com/office/drawing/2014/main" id="{C78D124E-4272-20DC-0BD4-BA15FCB90296}"/>
              </a:ext>
            </a:extLst>
          </p:cNvPr>
          <p:cNvSpPr txBox="1"/>
          <p:nvPr/>
        </p:nvSpPr>
        <p:spPr>
          <a:xfrm>
            <a:off x="2585342" y="2176252"/>
            <a:ext cx="2184802" cy="430887"/>
          </a:xfrm>
          <a:prstGeom prst="rect">
            <a:avLst/>
          </a:prstGeom>
          <a:noFill/>
        </p:spPr>
        <p:txBody>
          <a:bodyPr wrap="square">
            <a:spAutoFit/>
          </a:bodyPr>
          <a:lstStyle/>
          <a:p>
            <a:r>
              <a:rPr lang="pt-BR" sz="1100" b="1" i="1" dirty="0"/>
              <a:t>Resp.: </a:t>
            </a:r>
            <a:r>
              <a:rPr lang="pt-BR" sz="1100" i="1" dirty="0" err="1"/>
              <a:t>Adm</a:t>
            </a:r>
            <a:r>
              <a:rPr lang="pt-BR" sz="1100" i="1" dirty="0"/>
              <a:t> com apoio do Especialista</a:t>
            </a:r>
            <a:endParaRPr lang="pt-BR" sz="1400" i="1" dirty="0"/>
          </a:p>
        </p:txBody>
      </p:sp>
      <p:cxnSp>
        <p:nvCxnSpPr>
          <p:cNvPr id="17" name="Conector reto 16">
            <a:extLst>
              <a:ext uri="{FF2B5EF4-FFF2-40B4-BE49-F238E27FC236}">
                <a16:creationId xmlns:a16="http://schemas.microsoft.com/office/drawing/2014/main" id="{CE61F32E-F465-9818-326F-2244778DFB2C}"/>
              </a:ext>
            </a:extLst>
          </p:cNvPr>
          <p:cNvCxnSpPr>
            <a:cxnSpLocks/>
          </p:cNvCxnSpPr>
          <p:nvPr/>
        </p:nvCxnSpPr>
        <p:spPr>
          <a:xfrm>
            <a:off x="2743928" y="2621000"/>
            <a:ext cx="18676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CaixaDeTexto 17">
            <a:extLst>
              <a:ext uri="{FF2B5EF4-FFF2-40B4-BE49-F238E27FC236}">
                <a16:creationId xmlns:a16="http://schemas.microsoft.com/office/drawing/2014/main" id="{78451B60-9605-FEC6-8A39-F984B45BC29A}"/>
              </a:ext>
            </a:extLst>
          </p:cNvPr>
          <p:cNvSpPr txBox="1"/>
          <p:nvPr/>
        </p:nvSpPr>
        <p:spPr>
          <a:xfrm>
            <a:off x="4984893" y="2176252"/>
            <a:ext cx="2184802" cy="430887"/>
          </a:xfrm>
          <a:prstGeom prst="rect">
            <a:avLst/>
          </a:prstGeom>
          <a:noFill/>
        </p:spPr>
        <p:txBody>
          <a:bodyPr wrap="square">
            <a:spAutoFit/>
          </a:bodyPr>
          <a:lstStyle/>
          <a:p>
            <a:r>
              <a:rPr lang="pt-BR" sz="1100" b="1" i="1" dirty="0"/>
              <a:t>Resp.: </a:t>
            </a:r>
            <a:r>
              <a:rPr lang="pt-BR" sz="1100" i="1" dirty="0"/>
              <a:t>Especialista,</a:t>
            </a:r>
            <a:r>
              <a:rPr lang="pt-BR" sz="1100" b="1" i="1" dirty="0"/>
              <a:t> </a:t>
            </a:r>
            <a:r>
              <a:rPr lang="pt-BR" sz="1100" i="1" dirty="0" err="1"/>
              <a:t>Coord</a:t>
            </a:r>
            <a:r>
              <a:rPr lang="pt-BR" sz="1100" i="1" dirty="0"/>
              <a:t> Obras, Dir AT e Dir Operações</a:t>
            </a:r>
            <a:endParaRPr lang="pt-BR" sz="1400" i="1" dirty="0"/>
          </a:p>
        </p:txBody>
      </p:sp>
      <p:cxnSp>
        <p:nvCxnSpPr>
          <p:cNvPr id="19" name="Conector reto 18">
            <a:extLst>
              <a:ext uri="{FF2B5EF4-FFF2-40B4-BE49-F238E27FC236}">
                <a16:creationId xmlns:a16="http://schemas.microsoft.com/office/drawing/2014/main" id="{761D5575-84F0-29FD-CB69-761B99014459}"/>
              </a:ext>
            </a:extLst>
          </p:cNvPr>
          <p:cNvCxnSpPr>
            <a:cxnSpLocks/>
          </p:cNvCxnSpPr>
          <p:nvPr/>
        </p:nvCxnSpPr>
        <p:spPr>
          <a:xfrm>
            <a:off x="5143479" y="2621000"/>
            <a:ext cx="18676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CaixaDeTexto 24">
            <a:extLst>
              <a:ext uri="{FF2B5EF4-FFF2-40B4-BE49-F238E27FC236}">
                <a16:creationId xmlns:a16="http://schemas.microsoft.com/office/drawing/2014/main" id="{181CFE5A-B7CB-44E9-09B3-F6CD2BED04CC}"/>
              </a:ext>
            </a:extLst>
          </p:cNvPr>
          <p:cNvSpPr txBox="1"/>
          <p:nvPr/>
        </p:nvSpPr>
        <p:spPr>
          <a:xfrm>
            <a:off x="7399285" y="2176252"/>
            <a:ext cx="2184802" cy="430887"/>
          </a:xfrm>
          <a:prstGeom prst="rect">
            <a:avLst/>
          </a:prstGeom>
          <a:noFill/>
        </p:spPr>
        <p:txBody>
          <a:bodyPr wrap="square">
            <a:spAutoFit/>
          </a:bodyPr>
          <a:lstStyle/>
          <a:p>
            <a:r>
              <a:rPr lang="pt-BR" sz="1100" b="1" i="1" dirty="0"/>
              <a:t>Resp.: </a:t>
            </a:r>
            <a:r>
              <a:rPr lang="pt-BR" sz="1100" i="1" dirty="0" err="1"/>
              <a:t>An</a:t>
            </a:r>
            <a:r>
              <a:rPr lang="pt-BR" sz="1100" i="1" dirty="0"/>
              <a:t> Planejamento e</a:t>
            </a:r>
            <a:br>
              <a:rPr lang="pt-BR" sz="1100" i="1" dirty="0"/>
            </a:br>
            <a:r>
              <a:rPr lang="pt-BR" sz="1100" i="1" dirty="0"/>
              <a:t>Ger de Comissionamento</a:t>
            </a:r>
            <a:endParaRPr lang="pt-BR" sz="1400" i="1" dirty="0"/>
          </a:p>
        </p:txBody>
      </p:sp>
      <p:cxnSp>
        <p:nvCxnSpPr>
          <p:cNvPr id="27" name="Conector reto 26">
            <a:extLst>
              <a:ext uri="{FF2B5EF4-FFF2-40B4-BE49-F238E27FC236}">
                <a16:creationId xmlns:a16="http://schemas.microsoft.com/office/drawing/2014/main" id="{49FC10C8-B6A2-7A69-4EFF-89310F9E72CC}"/>
              </a:ext>
            </a:extLst>
          </p:cNvPr>
          <p:cNvCxnSpPr>
            <a:cxnSpLocks/>
          </p:cNvCxnSpPr>
          <p:nvPr/>
        </p:nvCxnSpPr>
        <p:spPr>
          <a:xfrm>
            <a:off x="7557871" y="2621000"/>
            <a:ext cx="18676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CaixaDeTexto 27">
            <a:extLst>
              <a:ext uri="{FF2B5EF4-FFF2-40B4-BE49-F238E27FC236}">
                <a16:creationId xmlns:a16="http://schemas.microsoft.com/office/drawing/2014/main" id="{90FE2CF2-F1AD-9F3C-D2F2-05C7BCBB0FEA}"/>
              </a:ext>
            </a:extLst>
          </p:cNvPr>
          <p:cNvSpPr txBox="1"/>
          <p:nvPr/>
        </p:nvSpPr>
        <p:spPr>
          <a:xfrm>
            <a:off x="9803170" y="2176252"/>
            <a:ext cx="2184802" cy="261610"/>
          </a:xfrm>
          <a:prstGeom prst="rect">
            <a:avLst/>
          </a:prstGeom>
          <a:noFill/>
        </p:spPr>
        <p:txBody>
          <a:bodyPr wrap="square">
            <a:spAutoFit/>
          </a:bodyPr>
          <a:lstStyle/>
          <a:p>
            <a:r>
              <a:rPr lang="pt-BR" sz="1100" b="1" i="1" dirty="0"/>
              <a:t>Resp.: </a:t>
            </a:r>
            <a:r>
              <a:rPr lang="pt-BR" sz="1100" i="1" dirty="0"/>
              <a:t>PMO</a:t>
            </a:r>
            <a:endParaRPr lang="pt-BR" sz="1400" i="1" dirty="0"/>
          </a:p>
        </p:txBody>
      </p:sp>
      <p:cxnSp>
        <p:nvCxnSpPr>
          <p:cNvPr id="29" name="Conector reto 28">
            <a:extLst>
              <a:ext uri="{FF2B5EF4-FFF2-40B4-BE49-F238E27FC236}">
                <a16:creationId xmlns:a16="http://schemas.microsoft.com/office/drawing/2014/main" id="{10D18723-AA0B-E25E-9C06-7CEE191CBECE}"/>
              </a:ext>
            </a:extLst>
          </p:cNvPr>
          <p:cNvCxnSpPr>
            <a:cxnSpLocks/>
          </p:cNvCxnSpPr>
          <p:nvPr/>
        </p:nvCxnSpPr>
        <p:spPr>
          <a:xfrm>
            <a:off x="9961756" y="2621000"/>
            <a:ext cx="186763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riangle 12">
            <a:extLst>
              <a:ext uri="{FF2B5EF4-FFF2-40B4-BE49-F238E27FC236}">
                <a16:creationId xmlns:a16="http://schemas.microsoft.com/office/drawing/2014/main" id="{0F46100D-C7CE-61DD-19B2-BEFFC8C64FE2}"/>
              </a:ext>
            </a:extLst>
          </p:cNvPr>
          <p:cNvSpPr/>
          <p:nvPr/>
        </p:nvSpPr>
        <p:spPr>
          <a:xfrm rot="5400000">
            <a:off x="1934080" y="424078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5" name="Triangle 14">
            <a:extLst>
              <a:ext uri="{FF2B5EF4-FFF2-40B4-BE49-F238E27FC236}">
                <a16:creationId xmlns:a16="http://schemas.microsoft.com/office/drawing/2014/main" id="{672BAE00-F393-214B-91CF-30375856462F}"/>
              </a:ext>
            </a:extLst>
          </p:cNvPr>
          <p:cNvSpPr/>
          <p:nvPr/>
        </p:nvSpPr>
        <p:spPr>
          <a:xfrm rot="5400000">
            <a:off x="4341119" y="424078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0" name="Triangle 29">
            <a:extLst>
              <a:ext uri="{FF2B5EF4-FFF2-40B4-BE49-F238E27FC236}">
                <a16:creationId xmlns:a16="http://schemas.microsoft.com/office/drawing/2014/main" id="{A8745631-0CCA-277A-4E4D-3B037F3F9F54}"/>
              </a:ext>
            </a:extLst>
          </p:cNvPr>
          <p:cNvSpPr/>
          <p:nvPr/>
        </p:nvSpPr>
        <p:spPr>
          <a:xfrm rot="5400000">
            <a:off x="6744313" y="424078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31" name="Triangle 30">
            <a:extLst>
              <a:ext uri="{FF2B5EF4-FFF2-40B4-BE49-F238E27FC236}">
                <a16:creationId xmlns:a16="http://schemas.microsoft.com/office/drawing/2014/main" id="{E3365BB6-8DB0-B1C9-538A-AFE6731BE839}"/>
              </a:ext>
            </a:extLst>
          </p:cNvPr>
          <p:cNvSpPr/>
          <p:nvPr/>
        </p:nvSpPr>
        <p:spPr>
          <a:xfrm rot="5400000">
            <a:off x="9165300" y="4240787"/>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30951274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5474-B023-04F6-E4FD-3E9B529615B6}"/>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07028746-B87F-9E8E-BB8D-091A15ED8D00}"/>
              </a:ext>
            </a:extLst>
          </p:cNvPr>
          <p:cNvSpPr/>
          <p:nvPr/>
        </p:nvSpPr>
        <p:spPr>
          <a:xfrm>
            <a:off x="1108551" y="1184052"/>
            <a:ext cx="9974899" cy="525264"/>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b="1" dirty="0">
                <a:solidFill>
                  <a:schemeClr val="bg1"/>
                </a:solidFill>
              </a:rPr>
              <a:t>GMUD</a:t>
            </a:r>
          </a:p>
        </p:txBody>
      </p:sp>
      <p:sp>
        <p:nvSpPr>
          <p:cNvPr id="4" name="Título 3">
            <a:extLst>
              <a:ext uri="{FF2B5EF4-FFF2-40B4-BE49-F238E27FC236}">
                <a16:creationId xmlns:a16="http://schemas.microsoft.com/office/drawing/2014/main" id="{5CF3A241-DB32-36D7-0B25-7094572F7534}"/>
              </a:ext>
            </a:extLst>
          </p:cNvPr>
          <p:cNvSpPr>
            <a:spLocks noGrp="1"/>
          </p:cNvSpPr>
          <p:nvPr>
            <p:ph type="title"/>
          </p:nvPr>
        </p:nvSpPr>
        <p:spPr/>
        <p:txBody>
          <a:bodyPr/>
          <a:lstStyle/>
          <a:p>
            <a:r>
              <a:rPr lang="pt-BR" dirty="0"/>
              <a:t>GMUD</a:t>
            </a:r>
            <a:br>
              <a:rPr lang="pt-BR" dirty="0"/>
            </a:br>
            <a:r>
              <a:rPr lang="pt-BR" sz="1600" b="0" dirty="0"/>
              <a:t>Lista de campos</a:t>
            </a:r>
          </a:p>
        </p:txBody>
      </p:sp>
      <p:graphicFrame>
        <p:nvGraphicFramePr>
          <p:cNvPr id="7" name="Tabela 6">
            <a:extLst>
              <a:ext uri="{FF2B5EF4-FFF2-40B4-BE49-F238E27FC236}">
                <a16:creationId xmlns:a16="http://schemas.microsoft.com/office/drawing/2014/main" id="{981B25BE-92CA-0A58-0A2E-2C7C7B372CA3}"/>
              </a:ext>
            </a:extLst>
          </p:cNvPr>
          <p:cNvGraphicFramePr>
            <a:graphicFrameLocks noGrp="1"/>
          </p:cNvGraphicFramePr>
          <p:nvPr/>
        </p:nvGraphicFramePr>
        <p:xfrm>
          <a:off x="1561200" y="1605420"/>
          <a:ext cx="2700000" cy="3384000"/>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“Início”</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algn="l" fontAlgn="b">
                        <a:buNone/>
                      </a:pPr>
                      <a:r>
                        <a:rPr lang="pt-BR" sz="1200" u="none" strike="noStrike" dirty="0" err="1">
                          <a:effectLst/>
                        </a:rPr>
                        <a:t>idGMUD</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algn="l" fontAlgn="b">
                        <a:buNone/>
                      </a:pPr>
                      <a:r>
                        <a:rPr lang="pt-BR" sz="1200" u="none" strike="noStrike" dirty="0">
                          <a:effectLst/>
                        </a:rPr>
                        <a:t>Embarcação</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algn="l" fontAlgn="b">
                        <a:buNone/>
                      </a:pPr>
                      <a:r>
                        <a:rPr lang="pt-BR" sz="1200" u="none" strike="noStrike" dirty="0">
                          <a:effectLst/>
                        </a:rPr>
                        <a:t>id Obra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algn="l" fontAlgn="b">
                        <a:buNone/>
                      </a:pPr>
                      <a:r>
                        <a:rPr lang="pt-BR" sz="1200" u="none" strike="noStrike" dirty="0">
                          <a:effectLst/>
                        </a:rPr>
                        <a:t>Solicitante</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algn="l" fontAlgn="b">
                        <a:buNone/>
                      </a:pPr>
                      <a:r>
                        <a:rPr lang="pt-BR" sz="1200" u="none" strike="noStrike" dirty="0">
                          <a:effectLst/>
                        </a:rPr>
                        <a:t>Disciplina Solicitante</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algn="l" fontAlgn="b">
                        <a:buNone/>
                      </a:pPr>
                      <a:r>
                        <a:rPr lang="pt-BR" sz="1200" u="none" strike="noStrike" dirty="0">
                          <a:effectLst/>
                        </a:rPr>
                        <a:t>Prioridade da Mudança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algn="l" fontAlgn="b">
                        <a:buNone/>
                      </a:pPr>
                      <a:r>
                        <a:rPr lang="pt-BR" sz="1200" u="none" strike="noStrike" dirty="0">
                          <a:effectLst/>
                        </a:rPr>
                        <a:t>Disciplina Associada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algn="l" fontAlgn="b">
                        <a:buNone/>
                      </a:pPr>
                      <a:r>
                        <a:rPr lang="pt-BR" sz="1200" u="none" strike="noStrike" dirty="0">
                          <a:effectLst/>
                        </a:rPr>
                        <a:t>Fornecedor</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algn="l" fontAlgn="b">
                        <a:buNone/>
                      </a:pPr>
                      <a:r>
                        <a:rPr lang="pt-BR" sz="1200" u="none" strike="noStrike" dirty="0">
                          <a:effectLst/>
                        </a:rPr>
                        <a:t>Local da Embarcação</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algn="l" fontAlgn="b">
                        <a:buNone/>
                      </a:pPr>
                      <a:r>
                        <a:rPr lang="pt-BR" sz="1200" u="none" strike="noStrike" dirty="0">
                          <a:effectLst/>
                        </a:rPr>
                        <a:t>Imagem Solicitação*</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algn="l" fontAlgn="b">
                        <a:buNone/>
                      </a:pPr>
                      <a:r>
                        <a:rPr lang="pt-BR" sz="1200" u="none" strike="noStrike" dirty="0">
                          <a:effectLst/>
                        </a:rPr>
                        <a:t>Descrição Detalhada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r h="216000">
                <a:tc>
                  <a:txBody>
                    <a:bodyPr/>
                    <a:lstStyle/>
                    <a:p>
                      <a:pPr algn="l" fontAlgn="b">
                        <a:buNone/>
                      </a:pPr>
                      <a:r>
                        <a:rPr lang="pt-BR" sz="1200" u="none" strike="noStrike" dirty="0">
                          <a:effectLst/>
                        </a:rPr>
                        <a:t>Descrição Resumida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algn="l" fontAlgn="b">
                        <a:buNone/>
                      </a:pPr>
                      <a:r>
                        <a:rPr lang="pt-BR" sz="1200" u="none" strike="noStrike" dirty="0">
                          <a:effectLst/>
                        </a:rPr>
                        <a:t>SFI </a:t>
                      </a:r>
                      <a:r>
                        <a:rPr lang="pt-BR" sz="1200" u="none" strike="noStrike" dirty="0" err="1">
                          <a:effectLst/>
                        </a:rPr>
                        <a:t>Code</a:t>
                      </a:r>
                      <a:r>
                        <a:rPr lang="pt-BR" sz="1200" u="none" strike="noStrike" dirty="0">
                          <a:effectLst/>
                        </a:rPr>
                        <a:t> - Equipamento</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r h="216000">
                <a:tc>
                  <a:txBody>
                    <a:bodyPr/>
                    <a:lstStyle/>
                    <a:p>
                      <a:pPr algn="l" fontAlgn="b">
                        <a:buNone/>
                      </a:pPr>
                      <a:r>
                        <a:rPr lang="pt-BR" sz="1200" u="none" strike="noStrike" dirty="0">
                          <a:effectLst/>
                        </a:rPr>
                        <a:t>Sistema</a:t>
                      </a:r>
                      <a:endParaRPr lang="pt-BR" sz="1200" b="0" i="0" u="none" strike="noStrike" dirty="0">
                        <a:solidFill>
                          <a:srgbClr val="000000"/>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651134032"/>
                  </a:ext>
                </a:extLst>
              </a:tr>
            </a:tbl>
          </a:graphicData>
        </a:graphic>
      </p:graphicFrame>
      <p:graphicFrame>
        <p:nvGraphicFramePr>
          <p:cNvPr id="8" name="Tabela 7">
            <a:extLst>
              <a:ext uri="{FF2B5EF4-FFF2-40B4-BE49-F238E27FC236}">
                <a16:creationId xmlns:a16="http://schemas.microsoft.com/office/drawing/2014/main" id="{0EADE54A-8358-279E-467F-8AFE4F07BACA}"/>
              </a:ext>
            </a:extLst>
          </p:cNvPr>
          <p:cNvGraphicFramePr>
            <a:graphicFrameLocks noGrp="1"/>
          </p:cNvGraphicFramePr>
          <p:nvPr/>
        </p:nvGraphicFramePr>
        <p:xfrm>
          <a:off x="4614777" y="1605420"/>
          <a:ext cx="2700000" cy="2952000"/>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“Impacto”</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Necessita VOR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Impacto no Dique</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Impacto no Cais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Aquisição Urgente</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Risco Associado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Impacto na Operação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Outros Impactos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Descreva o Outro Impacto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Impacto Prazo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Quantidade de Dias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Impacto Custo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Tipo de Valor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bl>
          </a:graphicData>
        </a:graphic>
      </p:graphicFrame>
      <p:graphicFrame>
        <p:nvGraphicFramePr>
          <p:cNvPr id="9" name="Tabela 8">
            <a:extLst>
              <a:ext uri="{FF2B5EF4-FFF2-40B4-BE49-F238E27FC236}">
                <a16:creationId xmlns:a16="http://schemas.microsoft.com/office/drawing/2014/main" id="{AAF68584-0CF0-23D9-A305-BD1493BE9F2E}"/>
              </a:ext>
            </a:extLst>
          </p:cNvPr>
          <p:cNvGraphicFramePr>
            <a:graphicFrameLocks noGrp="1"/>
          </p:cNvGraphicFramePr>
          <p:nvPr/>
        </p:nvGraphicFramePr>
        <p:xfrm>
          <a:off x="7668354" y="1605420"/>
          <a:ext cx="2964150" cy="4896000"/>
        </p:xfrm>
        <a:graphic>
          <a:graphicData uri="http://schemas.openxmlformats.org/drawingml/2006/table">
            <a:tbl>
              <a:tblPr>
                <a:tableStyleId>{2D5ABB26-0587-4C30-8999-92F81FD0307C}</a:tableStyleId>
              </a:tblPr>
              <a:tblGrid>
                <a:gridCol w="296415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“Mudança”</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Tipo de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Motivo da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Outro Motivo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Número da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Nome Nova Entrega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Descrição do escopo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algn="l" defTabSz="1055061" rtl="0" eaLnBrk="1" fontAlgn="b" latinLnBrk="0" hangingPunct="1">
                        <a:buNone/>
                      </a:pPr>
                      <a:r>
                        <a:rPr lang="pt-BR" sz="1200" u="none" strike="noStrike" kern="1200">
                          <a:solidFill>
                            <a:schemeClr val="tx1"/>
                          </a:solidFill>
                          <a:effectLst/>
                          <a:latin typeface="+mn-lt"/>
                          <a:ea typeface="+mn-ea"/>
                          <a:cs typeface="+mn-cs"/>
                        </a:rPr>
                        <a:t>Descrição da entrega associada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Linhas do Cronograma a serem quebradas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Novo Fornecedor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04559525"/>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Novo Responsável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563318421"/>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Tipo Alteração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7801691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Disciplina do Novo Responsável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492801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Ação na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6933758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Data limite para serviço estar pronto na Obra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85340682"/>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Ações sobre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61710856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Ações sobre o Cronograma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9480291"/>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Ações sobre o PGC</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Ações sobre o </a:t>
                      </a:r>
                      <a:r>
                        <a:rPr lang="pt-BR" sz="1200" u="none" strike="noStrike" kern="1200" dirty="0" err="1">
                          <a:solidFill>
                            <a:schemeClr val="tx1"/>
                          </a:solidFill>
                          <a:effectLst/>
                          <a:latin typeface="+mn-lt"/>
                          <a:ea typeface="+mn-ea"/>
                          <a:cs typeface="+mn-cs"/>
                        </a:rPr>
                        <a:t>One</a:t>
                      </a:r>
                      <a:r>
                        <a:rPr lang="pt-BR" sz="1200" u="none" strike="noStrike" kern="1200" dirty="0">
                          <a:solidFill>
                            <a:schemeClr val="tx1"/>
                          </a:solidFill>
                          <a:effectLst/>
                          <a:latin typeface="+mn-lt"/>
                          <a:ea typeface="+mn-ea"/>
                          <a:cs typeface="+mn-cs"/>
                        </a:rPr>
                        <a:t> Time </a:t>
                      </a:r>
                      <a:r>
                        <a:rPr lang="pt-BR" sz="1200" u="none" strike="noStrike" kern="1200" dirty="0" err="1">
                          <a:solidFill>
                            <a:schemeClr val="tx1"/>
                          </a:solidFill>
                          <a:effectLst/>
                          <a:latin typeface="+mn-lt"/>
                          <a:ea typeface="+mn-ea"/>
                          <a:cs typeface="+mn-cs"/>
                        </a:rPr>
                        <a:t>Job</a:t>
                      </a:r>
                      <a:endParaRPr lang="pt-BR" sz="1200" u="none" strike="noStrike" kern="1200" dirty="0">
                        <a:solidFill>
                          <a:schemeClr val="tx1"/>
                        </a:solidFill>
                        <a:effectLst/>
                        <a:latin typeface="+mn-lt"/>
                        <a:ea typeface="+mn-ea"/>
                        <a:cs typeface="+mn-cs"/>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Ações sobre a OS no TMM</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Motivo do item após congelamento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Fornecedor Associado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bl>
          </a:graphicData>
        </a:graphic>
      </p:graphicFrame>
      <p:sp>
        <p:nvSpPr>
          <p:cNvPr id="10" name="CaixaDeTexto 9">
            <a:extLst>
              <a:ext uri="{FF2B5EF4-FFF2-40B4-BE49-F238E27FC236}">
                <a16:creationId xmlns:a16="http://schemas.microsoft.com/office/drawing/2014/main" id="{D4F9E4E1-DABB-FEAA-BAF8-A180A547711B}"/>
              </a:ext>
            </a:extLst>
          </p:cNvPr>
          <p:cNvSpPr txBox="1"/>
          <p:nvPr/>
        </p:nvSpPr>
        <p:spPr>
          <a:xfrm>
            <a:off x="264193" y="5242267"/>
            <a:ext cx="1400066" cy="430887"/>
          </a:xfrm>
          <a:prstGeom prst="rect">
            <a:avLst/>
          </a:prstGeom>
          <a:noFill/>
        </p:spPr>
        <p:txBody>
          <a:bodyPr wrap="square" rtlCol="0">
            <a:spAutoFit/>
          </a:bodyPr>
          <a:lstStyle/>
          <a:p>
            <a:pPr algn="ctr"/>
            <a:r>
              <a:rPr lang="pt-BR" sz="1100" dirty="0"/>
              <a:t>Respostas Possíveis por Campo</a:t>
            </a:r>
          </a:p>
        </p:txBody>
      </p:sp>
      <p:sp>
        <p:nvSpPr>
          <p:cNvPr id="11" name="Retângulo 10">
            <a:extLst>
              <a:ext uri="{FF2B5EF4-FFF2-40B4-BE49-F238E27FC236}">
                <a16:creationId xmlns:a16="http://schemas.microsoft.com/office/drawing/2014/main" id="{74E3CF63-A42D-D721-1027-AEFED05D6252}"/>
              </a:ext>
            </a:extLst>
          </p:cNvPr>
          <p:cNvSpPr/>
          <p:nvPr/>
        </p:nvSpPr>
        <p:spPr>
          <a:xfrm>
            <a:off x="264193" y="5242267"/>
            <a:ext cx="1400066" cy="1080120"/>
          </a:xfrm>
          <a:prstGeom prst="rect">
            <a:avLst/>
          </a:prstGeom>
          <a:noFill/>
          <a:ln w="6350">
            <a:solidFill>
              <a:srgbClr val="03738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aphicFrame>
        <p:nvGraphicFramePr>
          <p:cNvPr id="12" name="Objeto 11">
            <a:extLst>
              <a:ext uri="{FF2B5EF4-FFF2-40B4-BE49-F238E27FC236}">
                <a16:creationId xmlns:a16="http://schemas.microsoft.com/office/drawing/2014/main" id="{BC8A7D73-92AC-2638-1E41-9FA5A869FC79}"/>
              </a:ext>
            </a:extLst>
          </p:cNvPr>
          <p:cNvGraphicFramePr>
            <a:graphicFrameLocks noChangeAspect="1"/>
          </p:cNvGraphicFramePr>
          <p:nvPr/>
        </p:nvGraphicFramePr>
        <p:xfrm>
          <a:off x="507026" y="5753819"/>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570" imgH="771690" progId="Excel.Sheet.12">
                  <p:embed/>
                </p:oleObj>
              </mc:Choice>
              <mc:Fallback>
                <p:oleObj name="Worksheet" showAsIcon="1" r:id="rId2" imgW="914570" imgH="771690" progId="Excel.Sheet.12">
                  <p:embed/>
                  <p:pic>
                    <p:nvPicPr>
                      <p:cNvPr id="12" name="Objeto 11">
                        <a:extLst>
                          <a:ext uri="{FF2B5EF4-FFF2-40B4-BE49-F238E27FC236}">
                            <a16:creationId xmlns:a16="http://schemas.microsoft.com/office/drawing/2014/main" id="{BC8A7D73-92AC-2638-1E41-9FA5A869FC79}"/>
                          </a:ext>
                        </a:extLst>
                      </p:cNvPr>
                      <p:cNvPicPr/>
                      <p:nvPr/>
                    </p:nvPicPr>
                    <p:blipFill>
                      <a:blip r:embed="rId3"/>
                      <a:stretch>
                        <a:fillRect/>
                      </a:stretch>
                    </p:blipFill>
                    <p:spPr>
                      <a:xfrm>
                        <a:off x="507026" y="5753819"/>
                        <a:ext cx="914400" cy="771525"/>
                      </a:xfrm>
                      <a:prstGeom prst="rect">
                        <a:avLst/>
                      </a:prstGeom>
                    </p:spPr>
                  </p:pic>
                </p:oleObj>
              </mc:Fallback>
            </mc:AlternateContent>
          </a:graphicData>
        </a:graphic>
      </p:graphicFrame>
      <p:sp>
        <p:nvSpPr>
          <p:cNvPr id="13" name="Espaço Reservado para Texto 3">
            <a:extLst>
              <a:ext uri="{FF2B5EF4-FFF2-40B4-BE49-F238E27FC236}">
                <a16:creationId xmlns:a16="http://schemas.microsoft.com/office/drawing/2014/main" id="{3D953F58-AF5F-AD72-00D1-D32EF0379A7B}"/>
              </a:ext>
            </a:extLst>
          </p:cNvPr>
          <p:cNvSpPr>
            <a:spLocks noGrp="1"/>
          </p:cNvSpPr>
          <p:nvPr>
            <p:ph type="body" sz="quarter" idx="14"/>
          </p:nvPr>
        </p:nvSpPr>
        <p:spPr>
          <a:xfrm>
            <a:off x="168994" y="6554422"/>
            <a:ext cx="9984316" cy="258956"/>
          </a:xfrm>
        </p:spPr>
        <p:txBody>
          <a:bodyPr/>
          <a:lstStyle/>
          <a:p>
            <a:r>
              <a:rPr lang="pt-BR" sz="1050" dirty="0"/>
              <a:t>* Avaliar se faz sentido manter pois não foi utilizado no </a:t>
            </a:r>
            <a:r>
              <a:rPr lang="pt-BR" sz="1050" dirty="0" err="1"/>
              <a:t>Forms</a:t>
            </a:r>
            <a:r>
              <a:rPr lang="pt-BR" sz="1050" dirty="0"/>
              <a:t> GMUD atual</a:t>
            </a:r>
          </a:p>
        </p:txBody>
      </p:sp>
    </p:spTree>
    <p:extLst>
      <p:ext uri="{BB962C8B-B14F-4D97-AF65-F5344CB8AC3E}">
        <p14:creationId xmlns:p14="http://schemas.microsoft.com/office/powerpoint/2010/main" val="22045745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36AD-F8E4-D8F2-7CCC-4EF6EE55FB68}"/>
            </a:ext>
          </a:extLst>
        </p:cNvPr>
        <p:cNvGrpSpPr/>
        <p:nvPr/>
      </p:nvGrpSpPr>
      <p:grpSpPr>
        <a:xfrm>
          <a:off x="0" y="0"/>
          <a:ext cx="0" cy="0"/>
          <a:chOff x="0" y="0"/>
          <a:chExt cx="0" cy="0"/>
        </a:xfrm>
      </p:grpSpPr>
      <p:sp>
        <p:nvSpPr>
          <p:cNvPr id="2" name="Retângulo 1">
            <a:extLst>
              <a:ext uri="{FF2B5EF4-FFF2-40B4-BE49-F238E27FC236}">
                <a16:creationId xmlns:a16="http://schemas.microsoft.com/office/drawing/2014/main" id="{6DA3A4B7-1188-C5BC-87D5-476293BCE31C}"/>
              </a:ext>
            </a:extLst>
          </p:cNvPr>
          <p:cNvSpPr/>
          <p:nvPr/>
        </p:nvSpPr>
        <p:spPr>
          <a:xfrm>
            <a:off x="228846" y="1184052"/>
            <a:ext cx="8640960" cy="525264"/>
          </a:xfrm>
          <a:prstGeom prst="rect">
            <a:avLst/>
          </a:prstGeom>
          <a:solidFill>
            <a:srgbClr val="0373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pt-BR" b="1" dirty="0">
                <a:solidFill>
                  <a:schemeClr val="bg1"/>
                </a:solidFill>
              </a:rPr>
              <a:t>GMUD</a:t>
            </a:r>
          </a:p>
        </p:txBody>
      </p:sp>
      <p:sp>
        <p:nvSpPr>
          <p:cNvPr id="4" name="Título 3">
            <a:extLst>
              <a:ext uri="{FF2B5EF4-FFF2-40B4-BE49-F238E27FC236}">
                <a16:creationId xmlns:a16="http://schemas.microsoft.com/office/drawing/2014/main" id="{FA818B1C-59ED-DDB1-A0C1-0A1D8C1B6E38}"/>
              </a:ext>
            </a:extLst>
          </p:cNvPr>
          <p:cNvSpPr>
            <a:spLocks noGrp="1"/>
          </p:cNvSpPr>
          <p:nvPr>
            <p:ph type="title"/>
          </p:nvPr>
        </p:nvSpPr>
        <p:spPr/>
        <p:txBody>
          <a:bodyPr/>
          <a:lstStyle/>
          <a:p>
            <a:r>
              <a:rPr lang="pt-BR" dirty="0"/>
              <a:t>GMUD</a:t>
            </a:r>
            <a:br>
              <a:rPr lang="pt-BR" dirty="0"/>
            </a:br>
            <a:r>
              <a:rPr lang="pt-BR" sz="1600" b="0" dirty="0"/>
              <a:t>Lista de campos para abertura de GMUD no App Mobile</a:t>
            </a:r>
          </a:p>
        </p:txBody>
      </p:sp>
      <p:graphicFrame>
        <p:nvGraphicFramePr>
          <p:cNvPr id="7" name="Tabela 6">
            <a:extLst>
              <a:ext uri="{FF2B5EF4-FFF2-40B4-BE49-F238E27FC236}">
                <a16:creationId xmlns:a16="http://schemas.microsoft.com/office/drawing/2014/main" id="{63417D24-393D-FFD1-1447-6C096078F1E1}"/>
              </a:ext>
            </a:extLst>
          </p:cNvPr>
          <p:cNvGraphicFramePr>
            <a:graphicFrameLocks noGrp="1"/>
          </p:cNvGraphicFramePr>
          <p:nvPr/>
        </p:nvGraphicFramePr>
        <p:xfrm>
          <a:off x="388103" y="1605420"/>
          <a:ext cx="2700000" cy="3384000"/>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“Início”</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algn="l" fontAlgn="b">
                        <a:buNone/>
                      </a:pPr>
                      <a:r>
                        <a:rPr lang="pt-BR" sz="1200" u="none" strike="noStrike" dirty="0" err="1">
                          <a:solidFill>
                            <a:schemeClr val="tx1"/>
                          </a:solidFill>
                          <a:effectLst/>
                        </a:rPr>
                        <a:t>idGMUD</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algn="l" fontAlgn="b">
                        <a:buNone/>
                      </a:pPr>
                      <a:r>
                        <a:rPr lang="pt-BR" sz="1200" u="none" strike="noStrike" dirty="0">
                          <a:solidFill>
                            <a:schemeClr val="tx1"/>
                          </a:solidFill>
                          <a:effectLst/>
                        </a:rPr>
                        <a:t>Embarcação</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algn="l" fontAlgn="b">
                        <a:buNone/>
                      </a:pPr>
                      <a:r>
                        <a:rPr lang="pt-BR" sz="1200" u="none" strike="noStrike" dirty="0">
                          <a:solidFill>
                            <a:schemeClr val="tx1"/>
                          </a:solidFill>
                          <a:effectLst/>
                        </a:rPr>
                        <a:t>id Obra</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algn="l" fontAlgn="b">
                        <a:buNone/>
                      </a:pPr>
                      <a:r>
                        <a:rPr lang="pt-BR" sz="1200" u="none" strike="noStrike" dirty="0">
                          <a:solidFill>
                            <a:schemeClr val="tx1"/>
                          </a:solidFill>
                          <a:effectLst/>
                        </a:rPr>
                        <a:t>Solicitante</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algn="l" fontAlgn="b">
                        <a:buNone/>
                      </a:pPr>
                      <a:r>
                        <a:rPr lang="pt-BR" sz="1200" u="none" strike="noStrike" dirty="0">
                          <a:solidFill>
                            <a:schemeClr val="bg1">
                              <a:lumMod val="75000"/>
                            </a:schemeClr>
                          </a:solidFill>
                          <a:effectLst/>
                        </a:rPr>
                        <a:t>Disciplina Solicitante</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algn="l" fontAlgn="b">
                        <a:buNone/>
                      </a:pPr>
                      <a:r>
                        <a:rPr lang="pt-BR" sz="1200" u="none" strike="noStrike" dirty="0">
                          <a:solidFill>
                            <a:schemeClr val="tx1"/>
                          </a:solidFill>
                          <a:effectLst/>
                        </a:rPr>
                        <a:t>Prioridade da Mudança</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algn="l" fontAlgn="b">
                        <a:buNone/>
                      </a:pPr>
                      <a:r>
                        <a:rPr lang="pt-BR" sz="1200" u="none" strike="noStrike" dirty="0">
                          <a:solidFill>
                            <a:schemeClr val="bg1">
                              <a:lumMod val="75000"/>
                            </a:schemeClr>
                          </a:solidFill>
                          <a:effectLst/>
                        </a:rPr>
                        <a:t>Disciplina Associada</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algn="l" fontAlgn="b">
                        <a:buNone/>
                      </a:pPr>
                      <a:r>
                        <a:rPr lang="pt-BR" sz="1200" u="none" strike="noStrike" dirty="0">
                          <a:solidFill>
                            <a:schemeClr val="bg1">
                              <a:lumMod val="75000"/>
                            </a:schemeClr>
                          </a:solidFill>
                          <a:effectLst/>
                        </a:rPr>
                        <a:t>Fornecedor</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algn="l" fontAlgn="b">
                        <a:buNone/>
                      </a:pPr>
                      <a:r>
                        <a:rPr lang="pt-BR" sz="1200" u="none" strike="noStrike" dirty="0">
                          <a:solidFill>
                            <a:schemeClr val="bg1">
                              <a:lumMod val="75000"/>
                            </a:schemeClr>
                          </a:solidFill>
                          <a:effectLst/>
                        </a:rPr>
                        <a:t>Local do Barco</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algn="l" fontAlgn="b">
                        <a:buNone/>
                      </a:pPr>
                      <a:r>
                        <a:rPr lang="pt-BR" sz="1200" u="none" strike="noStrike" dirty="0">
                          <a:solidFill>
                            <a:schemeClr val="bg1">
                              <a:lumMod val="75000"/>
                            </a:schemeClr>
                          </a:solidFill>
                          <a:effectLst/>
                        </a:rPr>
                        <a:t>Imagem Solicitação</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algn="l" fontAlgn="b">
                        <a:buNone/>
                      </a:pPr>
                      <a:r>
                        <a:rPr lang="pt-BR" sz="1200" u="none" strike="noStrike" dirty="0">
                          <a:solidFill>
                            <a:schemeClr val="bg1">
                              <a:lumMod val="75000"/>
                            </a:schemeClr>
                          </a:solidFill>
                          <a:effectLst/>
                        </a:rPr>
                        <a:t>Descrição Detalhada</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r h="216000">
                <a:tc>
                  <a:txBody>
                    <a:bodyPr/>
                    <a:lstStyle/>
                    <a:p>
                      <a:pPr algn="l" fontAlgn="b">
                        <a:buNone/>
                      </a:pPr>
                      <a:r>
                        <a:rPr lang="pt-BR" sz="1200" u="none" strike="noStrike" dirty="0">
                          <a:solidFill>
                            <a:schemeClr val="tx1"/>
                          </a:solidFill>
                          <a:effectLst/>
                        </a:rPr>
                        <a:t>Descrição Resumida</a:t>
                      </a:r>
                      <a:endParaRPr lang="pt-BR" sz="12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algn="l" fontAlgn="b">
                        <a:buNone/>
                      </a:pPr>
                      <a:r>
                        <a:rPr lang="pt-BR" sz="1200" u="none" strike="noStrike" dirty="0">
                          <a:solidFill>
                            <a:schemeClr val="bg1">
                              <a:lumMod val="75000"/>
                            </a:schemeClr>
                          </a:solidFill>
                          <a:effectLst/>
                        </a:rPr>
                        <a:t>SFI </a:t>
                      </a:r>
                      <a:r>
                        <a:rPr lang="pt-BR" sz="1200" u="none" strike="noStrike" dirty="0" err="1">
                          <a:solidFill>
                            <a:schemeClr val="bg1">
                              <a:lumMod val="75000"/>
                            </a:schemeClr>
                          </a:solidFill>
                          <a:effectLst/>
                        </a:rPr>
                        <a:t>Code</a:t>
                      </a:r>
                      <a:r>
                        <a:rPr lang="pt-BR" sz="1200" u="none" strike="noStrike" dirty="0">
                          <a:solidFill>
                            <a:schemeClr val="bg1">
                              <a:lumMod val="75000"/>
                            </a:schemeClr>
                          </a:solidFill>
                          <a:effectLst/>
                        </a:rPr>
                        <a:t> - Equipamento</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r h="216000">
                <a:tc>
                  <a:txBody>
                    <a:bodyPr/>
                    <a:lstStyle/>
                    <a:p>
                      <a:pPr algn="l" fontAlgn="b">
                        <a:buNone/>
                      </a:pPr>
                      <a:r>
                        <a:rPr lang="pt-BR" sz="1200" u="none" strike="noStrike" dirty="0">
                          <a:solidFill>
                            <a:schemeClr val="bg1">
                              <a:lumMod val="75000"/>
                            </a:schemeClr>
                          </a:solidFill>
                          <a:effectLst/>
                        </a:rPr>
                        <a:t>Sistema</a:t>
                      </a:r>
                      <a:endParaRPr lang="pt-BR" sz="1200" b="0" i="0" u="none" strike="noStrike" dirty="0">
                        <a:solidFill>
                          <a:schemeClr val="bg1">
                            <a:lumMod val="75000"/>
                          </a:schemeClr>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651134032"/>
                  </a:ext>
                </a:extLst>
              </a:tr>
            </a:tbl>
          </a:graphicData>
        </a:graphic>
      </p:graphicFrame>
      <p:graphicFrame>
        <p:nvGraphicFramePr>
          <p:cNvPr id="8" name="Tabela 7">
            <a:extLst>
              <a:ext uri="{FF2B5EF4-FFF2-40B4-BE49-F238E27FC236}">
                <a16:creationId xmlns:a16="http://schemas.microsoft.com/office/drawing/2014/main" id="{004779F3-8DA0-D1C1-3EBE-BCF55B9E41FB}"/>
              </a:ext>
            </a:extLst>
          </p:cNvPr>
          <p:cNvGraphicFramePr>
            <a:graphicFrameLocks noGrp="1"/>
          </p:cNvGraphicFramePr>
          <p:nvPr/>
        </p:nvGraphicFramePr>
        <p:xfrm>
          <a:off x="3209660" y="1605420"/>
          <a:ext cx="2700000" cy="2952000"/>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Formulário Impacto</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Necessita VOR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Impacto no Dique</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Impacto no Cais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Aquisição Urgente</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Risco Associado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Impacto na Operação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Outros Impactos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Descreva o Outro Impacto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Impacto Prazo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Quantidade de Dias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Impacto Custo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Tipo de Valor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bl>
          </a:graphicData>
        </a:graphic>
      </p:graphicFrame>
      <p:graphicFrame>
        <p:nvGraphicFramePr>
          <p:cNvPr id="9" name="Tabela 8">
            <a:extLst>
              <a:ext uri="{FF2B5EF4-FFF2-40B4-BE49-F238E27FC236}">
                <a16:creationId xmlns:a16="http://schemas.microsoft.com/office/drawing/2014/main" id="{6EC1A85A-659D-1B63-7D9A-269E6C148C7D}"/>
              </a:ext>
            </a:extLst>
          </p:cNvPr>
          <p:cNvGraphicFramePr>
            <a:graphicFrameLocks noGrp="1"/>
          </p:cNvGraphicFramePr>
          <p:nvPr/>
        </p:nvGraphicFramePr>
        <p:xfrm>
          <a:off x="6005925" y="1605420"/>
          <a:ext cx="2700000" cy="5055285"/>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400" b="1" i="0" u="none" strike="noStrike" kern="1200" dirty="0">
                          <a:solidFill>
                            <a:schemeClr val="tx1"/>
                          </a:solidFill>
                          <a:effectLst/>
                          <a:latin typeface="+mn-lt"/>
                          <a:ea typeface="+mn-ea"/>
                          <a:cs typeface="+mn-cs"/>
                        </a:rPr>
                        <a:t>Campos Formulário Mudança</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5818292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Tipo de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Motivo da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Outro Motivo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Número da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marL="0" algn="l" defTabSz="1055061" rtl="0" eaLnBrk="1" fontAlgn="b" latinLnBrk="0" hangingPunct="1">
                        <a:buNone/>
                      </a:pPr>
                      <a:r>
                        <a:rPr lang="pt-BR" sz="1200" u="none" strike="noStrike" kern="1200" dirty="0">
                          <a:solidFill>
                            <a:schemeClr val="tx1"/>
                          </a:solidFill>
                          <a:effectLst/>
                          <a:latin typeface="+mn-lt"/>
                          <a:ea typeface="+mn-ea"/>
                          <a:cs typeface="+mn-cs"/>
                        </a:rPr>
                        <a:t>Nome Nova Entrega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301862367"/>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Descrição do escopo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algn="l" defTabSz="1055061" rtl="0" eaLnBrk="1" fontAlgn="b" latinLnBrk="0" hangingPunct="1">
                        <a:buNone/>
                      </a:pPr>
                      <a:r>
                        <a:rPr lang="pt-BR" sz="1200" u="none" strike="noStrike" kern="1200">
                          <a:solidFill>
                            <a:schemeClr val="bg1">
                              <a:lumMod val="75000"/>
                            </a:schemeClr>
                          </a:solidFill>
                          <a:effectLst/>
                          <a:latin typeface="+mn-lt"/>
                          <a:ea typeface="+mn-ea"/>
                          <a:cs typeface="+mn-cs"/>
                        </a:rPr>
                        <a:t>Descrição da entrega associada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Linhas do Cronograma a serem quebradas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Novo Fornecedor</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904559525"/>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Novo Responsável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563318421"/>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Tipo Alteração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78016917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Disciplina do Novo Responsável</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4928016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Ação na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69337583"/>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Data limite para serviço estar pronto na Obra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85340682"/>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Ações sobre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617108569"/>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Ações sobre o Cronograma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9480291"/>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Ações sobre o PGC</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Ações sobre o </a:t>
                      </a:r>
                      <a:r>
                        <a:rPr lang="pt-BR" sz="1200" u="none" strike="noStrike" kern="1200" dirty="0" err="1">
                          <a:solidFill>
                            <a:schemeClr val="bg1">
                              <a:lumMod val="75000"/>
                            </a:schemeClr>
                          </a:solidFill>
                          <a:effectLst/>
                          <a:latin typeface="+mn-lt"/>
                          <a:ea typeface="+mn-ea"/>
                          <a:cs typeface="+mn-cs"/>
                        </a:rPr>
                        <a:t>One</a:t>
                      </a:r>
                      <a:r>
                        <a:rPr lang="pt-BR" sz="1200" u="none" strike="noStrike" kern="1200" dirty="0">
                          <a:solidFill>
                            <a:schemeClr val="bg1">
                              <a:lumMod val="75000"/>
                            </a:schemeClr>
                          </a:solidFill>
                          <a:effectLst/>
                          <a:latin typeface="+mn-lt"/>
                          <a:ea typeface="+mn-ea"/>
                          <a:cs typeface="+mn-cs"/>
                        </a:rPr>
                        <a:t> Time </a:t>
                      </a:r>
                      <a:r>
                        <a:rPr lang="pt-BR" sz="1200" u="none" strike="noStrike" kern="1200" dirty="0" err="1">
                          <a:solidFill>
                            <a:schemeClr val="bg1">
                              <a:lumMod val="75000"/>
                            </a:schemeClr>
                          </a:solidFill>
                          <a:effectLst/>
                          <a:latin typeface="+mn-lt"/>
                          <a:ea typeface="+mn-ea"/>
                          <a:cs typeface="+mn-cs"/>
                        </a:rPr>
                        <a:t>Job</a:t>
                      </a:r>
                      <a:endParaRPr lang="pt-BR" sz="1200" u="none" strike="noStrike" kern="1200" dirty="0">
                        <a:solidFill>
                          <a:schemeClr val="bg1">
                            <a:lumMod val="75000"/>
                          </a:schemeClr>
                        </a:solidFill>
                        <a:effectLst/>
                        <a:latin typeface="+mn-lt"/>
                        <a:ea typeface="+mn-ea"/>
                        <a:cs typeface="+mn-cs"/>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Ações sobre a OS no TMM</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Motivo do item após congelamento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r h="216000">
                <a:tc>
                  <a:txBody>
                    <a:bodyPr/>
                    <a:lstStyle/>
                    <a:p>
                      <a:pPr marL="0" algn="l" defTabSz="1055061" rtl="0" eaLnBrk="1" fontAlgn="b" latinLnBrk="0" hangingPunct="1">
                        <a:buNone/>
                      </a:pPr>
                      <a:r>
                        <a:rPr lang="pt-BR" sz="1200" u="none" strike="noStrike" kern="1200" dirty="0">
                          <a:solidFill>
                            <a:schemeClr val="bg1">
                              <a:lumMod val="75000"/>
                            </a:schemeClr>
                          </a:solidFill>
                          <a:effectLst/>
                          <a:latin typeface="+mn-lt"/>
                          <a:ea typeface="+mn-ea"/>
                          <a:cs typeface="+mn-cs"/>
                        </a:rPr>
                        <a:t>Fornecedor Associado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312041738"/>
                  </a:ext>
                </a:extLst>
              </a:tr>
            </a:tbl>
          </a:graphicData>
        </a:graphic>
      </p:graphicFrame>
      <p:sp>
        <p:nvSpPr>
          <p:cNvPr id="3" name="Retângulo 2">
            <a:extLst>
              <a:ext uri="{FF2B5EF4-FFF2-40B4-BE49-F238E27FC236}">
                <a16:creationId xmlns:a16="http://schemas.microsoft.com/office/drawing/2014/main" id="{C5ECA906-D4EF-4A3F-FECC-536AF65D55B8}"/>
              </a:ext>
            </a:extLst>
          </p:cNvPr>
          <p:cNvSpPr/>
          <p:nvPr/>
        </p:nvSpPr>
        <p:spPr>
          <a:xfrm>
            <a:off x="388103" y="1988840"/>
            <a:ext cx="2700000" cy="864096"/>
          </a:xfrm>
          <a:prstGeom prst="rect">
            <a:avLst/>
          </a:prstGeom>
          <a:noFill/>
          <a:ln>
            <a:solidFill>
              <a:srgbClr val="03738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13923359-63AD-41C9-4B4F-27FB399E7E60}"/>
              </a:ext>
            </a:extLst>
          </p:cNvPr>
          <p:cNvSpPr/>
          <p:nvPr/>
        </p:nvSpPr>
        <p:spPr>
          <a:xfrm>
            <a:off x="388103" y="3057082"/>
            <a:ext cx="2700000" cy="217222"/>
          </a:xfrm>
          <a:prstGeom prst="rect">
            <a:avLst/>
          </a:prstGeom>
          <a:noFill/>
          <a:ln>
            <a:solidFill>
              <a:srgbClr val="03738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B6EAF53D-46EE-B5FD-C0D9-E52D8CECA7D6}"/>
              </a:ext>
            </a:extLst>
          </p:cNvPr>
          <p:cNvSpPr/>
          <p:nvPr/>
        </p:nvSpPr>
        <p:spPr>
          <a:xfrm>
            <a:off x="388103" y="4350815"/>
            <a:ext cx="2700000" cy="217222"/>
          </a:xfrm>
          <a:prstGeom prst="rect">
            <a:avLst/>
          </a:prstGeom>
          <a:noFill/>
          <a:ln>
            <a:solidFill>
              <a:srgbClr val="03738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Retângulo 12">
            <a:extLst>
              <a:ext uri="{FF2B5EF4-FFF2-40B4-BE49-F238E27FC236}">
                <a16:creationId xmlns:a16="http://schemas.microsoft.com/office/drawing/2014/main" id="{AF390F39-845F-1BF2-F451-9A29B94E2D7D}"/>
              </a:ext>
            </a:extLst>
          </p:cNvPr>
          <p:cNvSpPr/>
          <p:nvPr/>
        </p:nvSpPr>
        <p:spPr>
          <a:xfrm>
            <a:off x="6017747" y="1979315"/>
            <a:ext cx="2700000" cy="1068242"/>
          </a:xfrm>
          <a:prstGeom prst="rect">
            <a:avLst/>
          </a:prstGeom>
          <a:noFill/>
          <a:ln>
            <a:solidFill>
              <a:srgbClr val="03738E"/>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aphicFrame>
        <p:nvGraphicFramePr>
          <p:cNvPr id="14" name="Tabela 13">
            <a:extLst>
              <a:ext uri="{FF2B5EF4-FFF2-40B4-BE49-F238E27FC236}">
                <a16:creationId xmlns:a16="http://schemas.microsoft.com/office/drawing/2014/main" id="{F607051E-CE6A-A7B1-B88B-811F45A69BF3}"/>
              </a:ext>
            </a:extLst>
          </p:cNvPr>
          <p:cNvGraphicFramePr>
            <a:graphicFrameLocks noGrp="1"/>
          </p:cNvGraphicFramePr>
          <p:nvPr/>
        </p:nvGraphicFramePr>
        <p:xfrm>
          <a:off x="9217021" y="2222245"/>
          <a:ext cx="2700000" cy="2948940"/>
        </p:xfrm>
        <a:graphic>
          <a:graphicData uri="http://schemas.openxmlformats.org/drawingml/2006/table">
            <a:tbl>
              <a:tblPr>
                <a:tableStyleId>{2D5ABB26-0587-4C30-8999-92F81FD0307C}</a:tableStyleId>
              </a:tblPr>
              <a:tblGrid>
                <a:gridCol w="2700000">
                  <a:extLst>
                    <a:ext uri="{9D8B030D-6E8A-4147-A177-3AD203B41FA5}">
                      <a16:colId xmlns:a16="http://schemas.microsoft.com/office/drawing/2014/main" val="977956249"/>
                    </a:ext>
                  </a:extLst>
                </a:gridCol>
              </a:tblGrid>
              <a:tr h="360000">
                <a:tc>
                  <a:txBody>
                    <a:bodyPr/>
                    <a:lstStyle/>
                    <a:p>
                      <a:pPr marL="0" algn="ctr" defTabSz="1055061" rtl="0" eaLnBrk="1" fontAlgn="b" latinLnBrk="0" hangingPunct="1">
                        <a:buNone/>
                      </a:pPr>
                      <a:r>
                        <a:rPr lang="pt-BR" sz="1600" b="1" i="0" u="none" strike="noStrike" kern="1200" dirty="0">
                          <a:solidFill>
                            <a:schemeClr val="bg1"/>
                          </a:solidFill>
                          <a:effectLst/>
                          <a:latin typeface="+mn-lt"/>
                          <a:ea typeface="+mn-ea"/>
                          <a:cs typeface="+mn-cs"/>
                        </a:rPr>
                        <a:t>Campos Obrigatórios</a:t>
                      </a:r>
                    </a:p>
                    <a:p>
                      <a:pPr marL="0" algn="ctr" defTabSz="1055061" rtl="0" eaLnBrk="1" fontAlgn="b" latinLnBrk="0" hangingPunct="1">
                        <a:buNone/>
                      </a:pPr>
                      <a:r>
                        <a:rPr lang="pt-BR" sz="1600" b="1" i="0" u="none" strike="noStrike" kern="1200" dirty="0">
                          <a:solidFill>
                            <a:schemeClr val="bg1"/>
                          </a:solidFill>
                          <a:effectLst/>
                          <a:latin typeface="+mn-lt"/>
                          <a:ea typeface="+mn-ea"/>
                          <a:cs typeface="+mn-cs"/>
                        </a:rPr>
                        <a:t>para Abertura via Mobile</a:t>
                      </a:r>
                    </a:p>
                  </a:txBody>
                  <a:tcPr marL="9525" marR="9525" marT="9525"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03738E"/>
                    </a:solidFill>
                  </a:tcPr>
                </a:tc>
                <a:extLst>
                  <a:ext uri="{0D108BD9-81ED-4DB2-BD59-A6C34878D82A}">
                    <a16:rowId xmlns:a16="http://schemas.microsoft.com/office/drawing/2014/main" val="2358182929"/>
                  </a:ext>
                </a:extLst>
              </a:tr>
              <a:tr h="216000">
                <a:tc>
                  <a:txBody>
                    <a:bodyPr/>
                    <a:lstStyle/>
                    <a:p>
                      <a:pPr algn="l" fontAlgn="b">
                        <a:buNone/>
                      </a:pPr>
                      <a:r>
                        <a:rPr lang="pt-BR" sz="1400" u="none" strike="noStrike" dirty="0" err="1">
                          <a:solidFill>
                            <a:schemeClr val="tx1"/>
                          </a:solidFill>
                          <a:effectLst/>
                        </a:rPr>
                        <a:t>idGMUD</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63643904"/>
                  </a:ext>
                </a:extLst>
              </a:tr>
              <a:tr h="216000">
                <a:tc>
                  <a:txBody>
                    <a:bodyPr/>
                    <a:lstStyle/>
                    <a:p>
                      <a:pPr algn="l" fontAlgn="b">
                        <a:buNone/>
                      </a:pPr>
                      <a:r>
                        <a:rPr lang="pt-BR" sz="1400" u="none" strike="noStrike" dirty="0">
                          <a:solidFill>
                            <a:schemeClr val="tx1"/>
                          </a:solidFill>
                          <a:effectLst/>
                        </a:rPr>
                        <a:t>Embarcação</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59435559"/>
                  </a:ext>
                </a:extLst>
              </a:tr>
              <a:tr h="216000">
                <a:tc>
                  <a:txBody>
                    <a:bodyPr/>
                    <a:lstStyle/>
                    <a:p>
                      <a:pPr algn="l" fontAlgn="b">
                        <a:buNone/>
                      </a:pPr>
                      <a:r>
                        <a:rPr lang="pt-BR" sz="1400" u="none" strike="noStrike" dirty="0">
                          <a:solidFill>
                            <a:schemeClr val="tx1"/>
                          </a:solidFill>
                          <a:effectLst/>
                        </a:rPr>
                        <a:t>id Obra</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887068474"/>
                  </a:ext>
                </a:extLst>
              </a:tr>
              <a:tr h="216000">
                <a:tc>
                  <a:txBody>
                    <a:bodyPr/>
                    <a:lstStyle/>
                    <a:p>
                      <a:pPr algn="l" fontAlgn="b">
                        <a:buNone/>
                      </a:pPr>
                      <a:r>
                        <a:rPr lang="pt-BR" sz="1400" u="none" strike="noStrike" dirty="0">
                          <a:solidFill>
                            <a:schemeClr val="tx1"/>
                          </a:solidFill>
                          <a:effectLst/>
                        </a:rPr>
                        <a:t>Solicitante</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809988388"/>
                  </a:ext>
                </a:extLst>
              </a:tr>
              <a:tr h="216000">
                <a:tc>
                  <a:txBody>
                    <a:bodyPr/>
                    <a:lstStyle/>
                    <a:p>
                      <a:pPr algn="l" fontAlgn="b">
                        <a:buNone/>
                      </a:pPr>
                      <a:r>
                        <a:rPr lang="pt-BR" sz="1400" u="none" strike="noStrike" dirty="0">
                          <a:solidFill>
                            <a:schemeClr val="tx1"/>
                          </a:solidFill>
                          <a:effectLst/>
                        </a:rPr>
                        <a:t>Prioridade da Mudança</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2294499063"/>
                  </a:ext>
                </a:extLst>
              </a:tr>
              <a:tr h="216000">
                <a:tc>
                  <a:txBody>
                    <a:bodyPr/>
                    <a:lstStyle/>
                    <a:p>
                      <a:pPr marL="0" marR="0" lvl="0" indent="0" algn="l" defTabSz="1055061" rtl="0" eaLnBrk="1" fontAlgn="b" latinLnBrk="0" hangingPunct="1">
                        <a:lnSpc>
                          <a:spcPct val="100000"/>
                        </a:lnSpc>
                        <a:spcBef>
                          <a:spcPts val="0"/>
                        </a:spcBef>
                        <a:spcAft>
                          <a:spcPts val="0"/>
                        </a:spcAft>
                        <a:buClrTx/>
                        <a:buSzTx/>
                        <a:buFontTx/>
                        <a:buNone/>
                        <a:tabLst/>
                        <a:defRPr/>
                      </a:pPr>
                      <a:r>
                        <a:rPr lang="pt-BR" sz="1400" u="none" strike="noStrike" dirty="0">
                          <a:solidFill>
                            <a:schemeClr val="tx1"/>
                          </a:solidFill>
                          <a:effectLst/>
                        </a:rPr>
                        <a:t>Descrição Resumida</a:t>
                      </a:r>
                      <a:endParaRPr lang="pt-BR" sz="1400" b="0" i="0" u="none" strike="noStrike" dirty="0">
                        <a:solidFill>
                          <a:schemeClr val="tx1"/>
                        </a:solidFill>
                        <a:effectLst/>
                        <a:latin typeface="Calibri" panose="020F0502020204030204" pitchFamily="34" charset="0"/>
                      </a:endParaRP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943817769"/>
                  </a:ext>
                </a:extLst>
              </a:tr>
              <a:tr h="216000">
                <a:tc>
                  <a:txBody>
                    <a:bodyPr/>
                    <a:lstStyle/>
                    <a:p>
                      <a:pPr marL="0" algn="l" defTabSz="1055061" rtl="0" eaLnBrk="1" fontAlgn="b" latinLnBrk="0" hangingPunct="1">
                        <a:buNone/>
                      </a:pPr>
                      <a:r>
                        <a:rPr lang="pt-BR" sz="1400" u="none" strike="noStrike" kern="1200" dirty="0">
                          <a:solidFill>
                            <a:schemeClr val="tx1"/>
                          </a:solidFill>
                          <a:effectLst/>
                          <a:latin typeface="+mn-lt"/>
                          <a:ea typeface="+mn-ea"/>
                          <a:cs typeface="+mn-cs"/>
                        </a:rPr>
                        <a:t>Tipo de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792302699"/>
                  </a:ext>
                </a:extLst>
              </a:tr>
              <a:tr h="216000">
                <a:tc>
                  <a:txBody>
                    <a:bodyPr/>
                    <a:lstStyle/>
                    <a:p>
                      <a:pPr marL="0" algn="l" defTabSz="1055061" rtl="0" eaLnBrk="1" fontAlgn="b" latinLnBrk="0" hangingPunct="1">
                        <a:buNone/>
                      </a:pPr>
                      <a:r>
                        <a:rPr lang="pt-BR" sz="1400" u="none" strike="noStrike" kern="1200" dirty="0">
                          <a:solidFill>
                            <a:schemeClr val="tx1"/>
                          </a:solidFill>
                          <a:effectLst/>
                          <a:latin typeface="+mn-lt"/>
                          <a:ea typeface="+mn-ea"/>
                          <a:cs typeface="+mn-cs"/>
                        </a:rPr>
                        <a:t>Motivo da Mudança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98689264"/>
                  </a:ext>
                </a:extLst>
              </a:tr>
              <a:tr h="216000">
                <a:tc>
                  <a:txBody>
                    <a:bodyPr/>
                    <a:lstStyle/>
                    <a:p>
                      <a:pPr marL="0" algn="l" defTabSz="1055061" rtl="0" eaLnBrk="1" fontAlgn="b" latinLnBrk="0" hangingPunct="1">
                        <a:buNone/>
                      </a:pPr>
                      <a:r>
                        <a:rPr lang="pt-BR" sz="1400" u="none" strike="noStrike" kern="1200" dirty="0">
                          <a:solidFill>
                            <a:schemeClr val="tx1"/>
                          </a:solidFill>
                          <a:effectLst/>
                          <a:latin typeface="+mn-lt"/>
                          <a:ea typeface="+mn-ea"/>
                          <a:cs typeface="+mn-cs"/>
                        </a:rPr>
                        <a:t>Outro Motivo</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570161304"/>
                  </a:ext>
                </a:extLst>
              </a:tr>
              <a:tr h="216000">
                <a:tc>
                  <a:txBody>
                    <a:bodyPr/>
                    <a:lstStyle/>
                    <a:p>
                      <a:pPr marL="0" algn="l" defTabSz="1055061" rtl="0" eaLnBrk="1" fontAlgn="b" latinLnBrk="0" hangingPunct="1">
                        <a:buNone/>
                      </a:pPr>
                      <a:r>
                        <a:rPr lang="pt-BR" sz="1400" u="none" strike="noStrike" kern="1200" dirty="0">
                          <a:solidFill>
                            <a:schemeClr val="tx1"/>
                          </a:solidFill>
                          <a:effectLst/>
                          <a:latin typeface="+mn-lt"/>
                          <a:ea typeface="+mn-ea"/>
                          <a:cs typeface="+mn-cs"/>
                        </a:rPr>
                        <a:t>Número da PCS</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378085411"/>
                  </a:ext>
                </a:extLst>
              </a:tr>
              <a:tr h="216000">
                <a:tc>
                  <a:txBody>
                    <a:bodyPr/>
                    <a:lstStyle/>
                    <a:p>
                      <a:pPr marL="0" algn="l" defTabSz="1055061" rtl="0" eaLnBrk="1" fontAlgn="b" latinLnBrk="0" hangingPunct="1">
                        <a:buNone/>
                      </a:pPr>
                      <a:r>
                        <a:rPr lang="pt-BR" sz="1400" u="none" strike="noStrike" kern="1200" dirty="0">
                          <a:solidFill>
                            <a:schemeClr val="tx1"/>
                          </a:solidFill>
                          <a:effectLst/>
                          <a:latin typeface="+mn-lt"/>
                          <a:ea typeface="+mn-ea"/>
                          <a:cs typeface="+mn-cs"/>
                        </a:rPr>
                        <a:t>Nome Nova Entrega</a:t>
                      </a:r>
                    </a:p>
                  </a:txBody>
                  <a:tcPr marL="72000" marR="9525" marT="9525" marB="0" anchor="b">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908900063"/>
                  </a:ext>
                </a:extLst>
              </a:tr>
            </a:tbl>
          </a:graphicData>
        </a:graphic>
      </p:graphicFrame>
      <p:sp>
        <p:nvSpPr>
          <p:cNvPr id="47" name="Triangle 12">
            <a:extLst>
              <a:ext uri="{FF2B5EF4-FFF2-40B4-BE49-F238E27FC236}">
                <a16:creationId xmlns:a16="http://schemas.microsoft.com/office/drawing/2014/main" id="{F74289E1-B1D9-5139-A1E7-0894625F81D9}"/>
              </a:ext>
            </a:extLst>
          </p:cNvPr>
          <p:cNvSpPr/>
          <p:nvPr/>
        </p:nvSpPr>
        <p:spPr>
          <a:xfrm rot="5400000">
            <a:off x="8437475" y="3598695"/>
            <a:ext cx="1060704" cy="196041"/>
          </a:xfrm>
          <a:prstGeom prst="triangle">
            <a:avLst/>
          </a:prstGeom>
          <a:solidFill>
            <a:schemeClr val="bg1">
              <a:lumMod val="75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12949692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2DD97-439D-EDA2-D55D-5518A9209E31}"/>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90CB500-362E-3FBF-D584-184D5B01166C}"/>
              </a:ext>
            </a:extLst>
          </p:cNvPr>
          <p:cNvSpPr>
            <a:spLocks noGrp="1"/>
          </p:cNvSpPr>
          <p:nvPr>
            <p:ph type="title"/>
          </p:nvPr>
        </p:nvSpPr>
        <p:spPr/>
        <p:txBody>
          <a:bodyPr/>
          <a:lstStyle/>
          <a:p>
            <a:r>
              <a:rPr lang="pt-BR" dirty="0"/>
              <a:t>GMUD</a:t>
            </a:r>
            <a:br>
              <a:rPr lang="pt-BR" dirty="0"/>
            </a:br>
            <a:r>
              <a:rPr lang="pt-BR" sz="1600" b="0" dirty="0"/>
              <a:t>Os </a:t>
            </a:r>
            <a:r>
              <a:rPr lang="pt-BR" sz="1600" dirty="0">
                <a:solidFill>
                  <a:srgbClr val="03738E"/>
                </a:solidFill>
              </a:rPr>
              <a:t>7 tipos </a:t>
            </a:r>
            <a:r>
              <a:rPr lang="pt-BR" sz="1600" b="0" dirty="0"/>
              <a:t>de GMUD</a:t>
            </a:r>
            <a:endParaRPr lang="pt-BR" b="0" dirty="0"/>
          </a:p>
        </p:txBody>
      </p:sp>
      <p:sp>
        <p:nvSpPr>
          <p:cNvPr id="3" name="Retângulo: Cantos Arredondados 2">
            <a:extLst>
              <a:ext uri="{FF2B5EF4-FFF2-40B4-BE49-F238E27FC236}">
                <a16:creationId xmlns:a16="http://schemas.microsoft.com/office/drawing/2014/main" id="{1B48B52F-C69A-8F6B-3DB3-C0A80FEC1F28}"/>
              </a:ext>
            </a:extLst>
          </p:cNvPr>
          <p:cNvSpPr/>
          <p:nvPr/>
        </p:nvSpPr>
        <p:spPr>
          <a:xfrm>
            <a:off x="510569" y="1196752"/>
            <a:ext cx="11186604" cy="495678"/>
          </a:xfrm>
          <a:prstGeom prst="roundRect">
            <a:avLst>
              <a:gd name="adj" fmla="val 0"/>
            </a:avLst>
          </a:prstGeom>
          <a:solidFill>
            <a:srgbClr val="03738E"/>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t"/>
          <a:lstStyle/>
          <a:p>
            <a:pPr algn="ctr"/>
            <a:r>
              <a:rPr lang="pt-BR" sz="1400" b="1" dirty="0">
                <a:solidFill>
                  <a:schemeClr val="bg1"/>
                </a:solidFill>
              </a:rPr>
              <a:t>Tipos de GMUD</a:t>
            </a:r>
          </a:p>
        </p:txBody>
      </p:sp>
      <p:sp>
        <p:nvSpPr>
          <p:cNvPr id="5" name="CaixaDeTexto 4">
            <a:extLst>
              <a:ext uri="{FF2B5EF4-FFF2-40B4-BE49-F238E27FC236}">
                <a16:creationId xmlns:a16="http://schemas.microsoft.com/office/drawing/2014/main" id="{0EF40A07-C16D-9CDB-62C8-A8AEEC346F16}"/>
              </a:ext>
            </a:extLst>
          </p:cNvPr>
          <p:cNvSpPr txBox="1"/>
          <p:nvPr/>
        </p:nvSpPr>
        <p:spPr>
          <a:xfrm>
            <a:off x="1901644"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Cancelamento</a:t>
            </a:r>
            <a:br>
              <a:rPr lang="pt-BR" b="1" dirty="0"/>
            </a:br>
            <a:r>
              <a:rPr lang="pt-BR" b="1" dirty="0"/>
              <a:t>de Entrega</a:t>
            </a:r>
          </a:p>
        </p:txBody>
      </p:sp>
      <p:sp>
        <p:nvSpPr>
          <p:cNvPr id="6" name="CaixaDeTexto 5">
            <a:extLst>
              <a:ext uri="{FF2B5EF4-FFF2-40B4-BE49-F238E27FC236}">
                <a16:creationId xmlns:a16="http://schemas.microsoft.com/office/drawing/2014/main" id="{71CC338F-CAEE-5DA8-A652-9CB6FF7E7DDC}"/>
              </a:ext>
            </a:extLst>
          </p:cNvPr>
          <p:cNvSpPr txBox="1"/>
          <p:nvPr/>
        </p:nvSpPr>
        <p:spPr>
          <a:xfrm>
            <a:off x="3615758"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Alteração</a:t>
            </a:r>
            <a:br>
              <a:rPr lang="pt-BR" b="1" dirty="0"/>
            </a:br>
            <a:r>
              <a:rPr lang="pt-BR" b="1" dirty="0"/>
              <a:t>de Entrega</a:t>
            </a:r>
          </a:p>
        </p:txBody>
      </p:sp>
      <p:sp>
        <p:nvSpPr>
          <p:cNvPr id="7" name="CaixaDeTexto 6">
            <a:extLst>
              <a:ext uri="{FF2B5EF4-FFF2-40B4-BE49-F238E27FC236}">
                <a16:creationId xmlns:a16="http://schemas.microsoft.com/office/drawing/2014/main" id="{71138BBD-B99D-A737-78C1-7C4D206C1E78}"/>
              </a:ext>
            </a:extLst>
          </p:cNvPr>
          <p:cNvSpPr txBox="1"/>
          <p:nvPr/>
        </p:nvSpPr>
        <p:spPr>
          <a:xfrm>
            <a:off x="5329870"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Postergação</a:t>
            </a:r>
            <a:br>
              <a:rPr lang="pt-BR" b="1" dirty="0"/>
            </a:br>
            <a:r>
              <a:rPr lang="pt-BR" b="1" dirty="0"/>
              <a:t>de Entrega</a:t>
            </a:r>
          </a:p>
        </p:txBody>
      </p:sp>
      <p:sp>
        <p:nvSpPr>
          <p:cNvPr id="8" name="CaixaDeTexto 7">
            <a:extLst>
              <a:ext uri="{FF2B5EF4-FFF2-40B4-BE49-F238E27FC236}">
                <a16:creationId xmlns:a16="http://schemas.microsoft.com/office/drawing/2014/main" id="{B8554E83-9080-8102-A4C4-F1AEAA91BFB1}"/>
              </a:ext>
            </a:extLst>
          </p:cNvPr>
          <p:cNvSpPr txBox="1"/>
          <p:nvPr/>
        </p:nvSpPr>
        <p:spPr>
          <a:xfrm>
            <a:off x="7043983"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Quebra de</a:t>
            </a:r>
            <a:br>
              <a:rPr lang="pt-BR" b="1" dirty="0"/>
            </a:br>
            <a:r>
              <a:rPr lang="pt-BR" b="1" dirty="0"/>
              <a:t>Entrega Planejada</a:t>
            </a:r>
          </a:p>
        </p:txBody>
      </p:sp>
      <p:sp>
        <p:nvSpPr>
          <p:cNvPr id="9" name="CaixaDeTexto 8">
            <a:extLst>
              <a:ext uri="{FF2B5EF4-FFF2-40B4-BE49-F238E27FC236}">
                <a16:creationId xmlns:a16="http://schemas.microsoft.com/office/drawing/2014/main" id="{1B3D85D7-D5EF-2801-0BF9-4E06FF152080}"/>
              </a:ext>
            </a:extLst>
          </p:cNvPr>
          <p:cNvSpPr txBox="1"/>
          <p:nvPr/>
        </p:nvSpPr>
        <p:spPr>
          <a:xfrm>
            <a:off x="10472211"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Mudança de Responsável</a:t>
            </a:r>
          </a:p>
        </p:txBody>
      </p:sp>
      <p:sp>
        <p:nvSpPr>
          <p:cNvPr id="10" name="CaixaDeTexto 9">
            <a:extLst>
              <a:ext uri="{FF2B5EF4-FFF2-40B4-BE49-F238E27FC236}">
                <a16:creationId xmlns:a16="http://schemas.microsoft.com/office/drawing/2014/main" id="{6B1134F0-0DCD-70C9-4A26-9823427017C3}"/>
              </a:ext>
            </a:extLst>
          </p:cNvPr>
          <p:cNvSpPr txBox="1"/>
          <p:nvPr/>
        </p:nvSpPr>
        <p:spPr>
          <a:xfrm>
            <a:off x="8758096"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t>Mudança de Fornecedor</a:t>
            </a:r>
          </a:p>
        </p:txBody>
      </p:sp>
      <p:sp>
        <p:nvSpPr>
          <p:cNvPr id="18" name="CaixaDeTexto 17">
            <a:extLst>
              <a:ext uri="{FF2B5EF4-FFF2-40B4-BE49-F238E27FC236}">
                <a16:creationId xmlns:a16="http://schemas.microsoft.com/office/drawing/2014/main" id="{6E9D04F9-0A0A-C189-367B-9FAB208455F3}"/>
              </a:ext>
            </a:extLst>
          </p:cNvPr>
          <p:cNvSpPr txBox="1"/>
          <p:nvPr/>
        </p:nvSpPr>
        <p:spPr>
          <a:xfrm>
            <a:off x="187531" y="1547144"/>
            <a:ext cx="1548000" cy="599772"/>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ctr"/>
            <a:r>
              <a:rPr lang="pt-BR" b="1" dirty="0">
                <a:solidFill>
                  <a:schemeClr val="tx1"/>
                </a:solidFill>
              </a:rPr>
              <a:t>Nova</a:t>
            </a:r>
            <a:br>
              <a:rPr lang="pt-BR" b="1" dirty="0">
                <a:solidFill>
                  <a:schemeClr val="tx1"/>
                </a:solidFill>
              </a:rPr>
            </a:br>
            <a:r>
              <a:rPr lang="pt-BR" b="1" dirty="0">
                <a:solidFill>
                  <a:schemeClr val="tx1"/>
                </a:solidFill>
              </a:rPr>
              <a:t>Entrega</a:t>
            </a:r>
          </a:p>
        </p:txBody>
      </p:sp>
      <p:sp>
        <p:nvSpPr>
          <p:cNvPr id="63" name="CaixaDeTexto 62">
            <a:extLst>
              <a:ext uri="{FF2B5EF4-FFF2-40B4-BE49-F238E27FC236}">
                <a16:creationId xmlns:a16="http://schemas.microsoft.com/office/drawing/2014/main" id="{F0C971A1-12F2-D634-0ED9-659392A3A2F0}"/>
              </a:ext>
            </a:extLst>
          </p:cNvPr>
          <p:cNvSpPr txBox="1"/>
          <p:nvPr/>
        </p:nvSpPr>
        <p:spPr>
          <a:xfrm>
            <a:off x="187531" y="2267224"/>
            <a:ext cx="15480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Inclusão de novo item de serviço no escopo da parada</a:t>
            </a:r>
          </a:p>
          <a:p>
            <a:pPr>
              <a:lnSpc>
                <a:spcPct val="90000"/>
              </a:lnSpc>
              <a:spcBef>
                <a:spcPts val="600"/>
              </a:spcBef>
            </a:pPr>
            <a:r>
              <a:rPr lang="pt-BR" sz="1200" dirty="0"/>
              <a:t>Havendo necessidade de  materiais ou equipamentos, é necessário criar o lançamento de material e, em seguida, fazer o vínculo com a linha do novo serviço criado</a:t>
            </a:r>
          </a:p>
        </p:txBody>
      </p:sp>
      <p:sp>
        <p:nvSpPr>
          <p:cNvPr id="80" name="CaixaDeTexto 79">
            <a:extLst>
              <a:ext uri="{FF2B5EF4-FFF2-40B4-BE49-F238E27FC236}">
                <a16:creationId xmlns:a16="http://schemas.microsoft.com/office/drawing/2014/main" id="{CA148160-4FD8-6F56-4BD6-F77E07856A16}"/>
              </a:ext>
            </a:extLst>
          </p:cNvPr>
          <p:cNvSpPr txBox="1"/>
          <p:nvPr/>
        </p:nvSpPr>
        <p:spPr>
          <a:xfrm>
            <a:off x="1901646" y="2267224"/>
            <a:ext cx="1548000" cy="3492000"/>
          </a:xfrm>
          <a:prstGeom prst="rect">
            <a:avLst/>
          </a:prstGeom>
          <a:noFill/>
        </p:spPr>
        <p:txBody>
          <a:bodyPr wrap="square" lIns="36000" rIns="36000" rtlCol="0">
            <a:noAutofit/>
          </a:bodyPr>
          <a:lstStyle/>
          <a:p>
            <a:pPr marL="177800" indent="-177800">
              <a:lnSpc>
                <a:spcPct val="90000"/>
              </a:lnSpc>
              <a:spcBef>
                <a:spcPts val="600"/>
              </a:spcBef>
              <a:buFont typeface="Wingdings" panose="05000000000000000000" pitchFamily="2" charset="2"/>
              <a:buChar char="§"/>
            </a:pPr>
            <a:r>
              <a:rPr lang="pt-BR" sz="1200" dirty="0"/>
              <a:t>Exclusão de item de serviço do escopo da parada</a:t>
            </a:r>
          </a:p>
          <a:p>
            <a:pPr marL="177800" indent="-177800">
              <a:lnSpc>
                <a:spcPct val="90000"/>
              </a:lnSpc>
              <a:spcBef>
                <a:spcPts val="600"/>
              </a:spcBef>
              <a:buFont typeface="Wingdings" panose="05000000000000000000" pitchFamily="2" charset="2"/>
              <a:buChar char="§"/>
            </a:pPr>
            <a:r>
              <a:rPr lang="pt-BR" sz="1200" dirty="0"/>
              <a:t>Pedidos de compra não aprovados são cancelados</a:t>
            </a:r>
          </a:p>
          <a:p>
            <a:pPr marL="177800" indent="-177800">
              <a:lnSpc>
                <a:spcPct val="90000"/>
              </a:lnSpc>
              <a:spcBef>
                <a:spcPts val="600"/>
              </a:spcBef>
              <a:buFont typeface="Wingdings" panose="05000000000000000000" pitchFamily="2" charset="2"/>
              <a:buChar char="§"/>
            </a:pPr>
            <a:r>
              <a:rPr lang="pt-BR" sz="1200" dirty="0"/>
              <a:t>Custos previstos na esteira financeira de serviços são excluídos do custo total da parada</a:t>
            </a:r>
          </a:p>
          <a:p>
            <a:pPr marL="177800" indent="-177800">
              <a:lnSpc>
                <a:spcPct val="90000"/>
              </a:lnSpc>
              <a:spcBef>
                <a:spcPts val="600"/>
              </a:spcBef>
              <a:buFont typeface="Wingdings" panose="05000000000000000000" pitchFamily="2" charset="2"/>
              <a:buChar char="§"/>
            </a:pPr>
            <a:r>
              <a:rPr lang="pt-BR" sz="1200" dirty="0"/>
              <a:t>Materiais já contabilizados: exclusão gerencial no HUB, mantendo a contabilização na parada </a:t>
            </a:r>
            <a:r>
              <a:rPr lang="pt-BR" sz="1200" i="1" dirty="0">
                <a:solidFill>
                  <a:srgbClr val="FF0000"/>
                </a:solidFill>
              </a:rPr>
              <a:t>(tema ainda em discussão)</a:t>
            </a:r>
          </a:p>
        </p:txBody>
      </p:sp>
      <p:sp>
        <p:nvSpPr>
          <p:cNvPr id="81" name="CaixaDeTexto 80">
            <a:extLst>
              <a:ext uri="{FF2B5EF4-FFF2-40B4-BE49-F238E27FC236}">
                <a16:creationId xmlns:a16="http://schemas.microsoft.com/office/drawing/2014/main" id="{4445B1B0-308D-E875-5A57-78251808DCF3}"/>
              </a:ext>
            </a:extLst>
          </p:cNvPr>
          <p:cNvSpPr txBox="1"/>
          <p:nvPr/>
        </p:nvSpPr>
        <p:spPr>
          <a:xfrm>
            <a:off x="5333470" y="2267224"/>
            <a:ext cx="15444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Postergação de um item de serviço para parada futura</a:t>
            </a:r>
          </a:p>
          <a:p>
            <a:pPr>
              <a:lnSpc>
                <a:spcPct val="90000"/>
              </a:lnSpc>
              <a:spcBef>
                <a:spcPts val="600"/>
              </a:spcBef>
            </a:pPr>
            <a:r>
              <a:rPr lang="pt-BR" sz="1200" dirty="0"/>
              <a:t>Pedidos de compra não aprovados são cancelados</a:t>
            </a:r>
          </a:p>
          <a:p>
            <a:pPr>
              <a:lnSpc>
                <a:spcPct val="90000"/>
              </a:lnSpc>
              <a:spcBef>
                <a:spcPts val="600"/>
              </a:spcBef>
            </a:pPr>
            <a:r>
              <a:rPr lang="pt-BR" sz="1200" dirty="0"/>
              <a:t>Custos previstos na esteira financeira de serviços são excluídos do custo total da parada</a:t>
            </a:r>
          </a:p>
          <a:p>
            <a:pPr>
              <a:lnSpc>
                <a:spcPct val="90000"/>
              </a:lnSpc>
              <a:spcBef>
                <a:spcPts val="600"/>
              </a:spcBef>
            </a:pPr>
            <a:r>
              <a:rPr lang="pt-BR" sz="1200" dirty="0"/>
              <a:t>Materiais já contabilizados: transferência gerencial no HUB, mantendo a contabilização na parada de origem </a:t>
            </a:r>
            <a:r>
              <a:rPr lang="pt-BR" sz="1200" i="1" dirty="0">
                <a:solidFill>
                  <a:srgbClr val="FF0000"/>
                </a:solidFill>
              </a:rPr>
              <a:t>(tema ainda em discussão)</a:t>
            </a:r>
            <a:endParaRPr lang="pt-BR" sz="1200" dirty="0"/>
          </a:p>
        </p:txBody>
      </p:sp>
      <p:sp>
        <p:nvSpPr>
          <p:cNvPr id="82" name="CaixaDeTexto 81">
            <a:extLst>
              <a:ext uri="{FF2B5EF4-FFF2-40B4-BE49-F238E27FC236}">
                <a16:creationId xmlns:a16="http://schemas.microsoft.com/office/drawing/2014/main" id="{D6BE37EB-44FD-CCD0-5112-B5FFFD7EE194}"/>
              </a:ext>
            </a:extLst>
          </p:cNvPr>
          <p:cNvSpPr txBox="1"/>
          <p:nvPr/>
        </p:nvSpPr>
        <p:spPr>
          <a:xfrm>
            <a:off x="3615758" y="2267224"/>
            <a:ext cx="15480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Alteração da descrição de um item de serviço nos campos “escopo do serviço” ou “descrição do serviço”</a:t>
            </a:r>
          </a:p>
          <a:p>
            <a:pPr>
              <a:lnSpc>
                <a:spcPct val="90000"/>
              </a:lnSpc>
              <a:spcBef>
                <a:spcPts val="600"/>
              </a:spcBef>
            </a:pPr>
            <a:r>
              <a:rPr lang="pt-BR" sz="1200" dirty="0"/>
              <a:t>Custos estimados ou cotados de serviços de oficinas são atualizados de acordo com previsto na GMUD</a:t>
            </a:r>
          </a:p>
          <a:p>
            <a:pPr>
              <a:lnSpc>
                <a:spcPct val="90000"/>
              </a:lnSpc>
              <a:spcBef>
                <a:spcPts val="600"/>
              </a:spcBef>
            </a:pPr>
            <a:r>
              <a:rPr lang="pt-BR" sz="1200" dirty="0"/>
              <a:t>Materiais são ajustados manualmente refletindo as necessidades dos serviços alterados</a:t>
            </a:r>
          </a:p>
        </p:txBody>
      </p:sp>
      <p:sp>
        <p:nvSpPr>
          <p:cNvPr id="83" name="CaixaDeTexto 82">
            <a:extLst>
              <a:ext uri="{FF2B5EF4-FFF2-40B4-BE49-F238E27FC236}">
                <a16:creationId xmlns:a16="http://schemas.microsoft.com/office/drawing/2014/main" id="{6C4B43D6-A70B-8533-43CF-AE1CF4C5907D}"/>
              </a:ext>
            </a:extLst>
          </p:cNvPr>
          <p:cNvSpPr txBox="1"/>
          <p:nvPr/>
        </p:nvSpPr>
        <p:spPr>
          <a:xfrm>
            <a:off x="7043983" y="2267223"/>
            <a:ext cx="15480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Divisão de um item de serviço em dois ou mais itens</a:t>
            </a:r>
          </a:p>
          <a:p>
            <a:pPr>
              <a:lnSpc>
                <a:spcPct val="90000"/>
              </a:lnSpc>
              <a:spcBef>
                <a:spcPts val="600"/>
              </a:spcBef>
            </a:pPr>
            <a:r>
              <a:rPr lang="pt-BR" sz="1200" dirty="0"/>
              <a:t>Custos estimados de serviços de oficinas devem ser atualizados manualmente no campo “valor estimado” </a:t>
            </a:r>
          </a:p>
          <a:p>
            <a:pPr>
              <a:lnSpc>
                <a:spcPct val="90000"/>
              </a:lnSpc>
              <a:spcBef>
                <a:spcPts val="600"/>
              </a:spcBef>
            </a:pPr>
            <a:r>
              <a:rPr lang="pt-BR" sz="1200" dirty="0"/>
              <a:t>Materiais são ajustados manualmente refletindo as necessidades dos serviços alterados</a:t>
            </a:r>
          </a:p>
        </p:txBody>
      </p:sp>
      <p:sp>
        <p:nvSpPr>
          <p:cNvPr id="84" name="CaixaDeTexto 83">
            <a:extLst>
              <a:ext uri="{FF2B5EF4-FFF2-40B4-BE49-F238E27FC236}">
                <a16:creationId xmlns:a16="http://schemas.microsoft.com/office/drawing/2014/main" id="{B373D08C-9146-3D98-1446-64576C3C31C7}"/>
              </a:ext>
            </a:extLst>
          </p:cNvPr>
          <p:cNvSpPr txBox="1"/>
          <p:nvPr/>
        </p:nvSpPr>
        <p:spPr>
          <a:xfrm>
            <a:off x="8758096" y="2267224"/>
            <a:ext cx="15480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Alteração do fornecedor definido para executar o serviço no campo “fornecedor”</a:t>
            </a:r>
          </a:p>
          <a:p>
            <a:pPr>
              <a:lnSpc>
                <a:spcPct val="90000"/>
              </a:lnSpc>
              <a:spcBef>
                <a:spcPts val="600"/>
              </a:spcBef>
            </a:pPr>
            <a:r>
              <a:rPr lang="pt-BR" sz="1200" dirty="0"/>
              <a:t>Custos estimados ou cotados de serviços de oficinas são atualizados de acordo com previsto na GMUD</a:t>
            </a:r>
          </a:p>
          <a:p>
            <a:pPr>
              <a:lnSpc>
                <a:spcPct val="90000"/>
              </a:lnSpc>
              <a:spcBef>
                <a:spcPts val="600"/>
              </a:spcBef>
            </a:pPr>
            <a:r>
              <a:rPr lang="pt-BR" sz="1200" dirty="0"/>
              <a:t>Materiais são ajustados refletindo as necessidades dos do novo fornecedor</a:t>
            </a:r>
          </a:p>
        </p:txBody>
      </p:sp>
      <p:sp>
        <p:nvSpPr>
          <p:cNvPr id="85" name="CaixaDeTexto 84">
            <a:extLst>
              <a:ext uri="{FF2B5EF4-FFF2-40B4-BE49-F238E27FC236}">
                <a16:creationId xmlns:a16="http://schemas.microsoft.com/office/drawing/2014/main" id="{034DB2AF-0588-3344-2C5E-5467B6505F2F}"/>
              </a:ext>
            </a:extLst>
          </p:cNvPr>
          <p:cNvSpPr txBox="1"/>
          <p:nvPr/>
        </p:nvSpPr>
        <p:spPr>
          <a:xfrm>
            <a:off x="10472211" y="2267224"/>
            <a:ext cx="1548000" cy="3492000"/>
          </a:xfrm>
          <a:prstGeom prst="rect">
            <a:avLst/>
          </a:prstGeom>
          <a:noFill/>
        </p:spPr>
        <p:txBody>
          <a:bodyPr wrap="square" lIns="36000" rIns="36000" rtlCol="0">
            <a:noAutofit/>
          </a:bodyPr>
          <a:lstStyle>
            <a:defPPr>
              <a:defRPr lang="pt-BR"/>
            </a:defPPr>
            <a:lvl1pPr marL="177800" indent="-177800">
              <a:buFont typeface="Wingdings" panose="05000000000000000000" pitchFamily="2" charset="2"/>
              <a:buChar char="§"/>
              <a:defRPr sz="1100"/>
            </a:lvl1pPr>
          </a:lstStyle>
          <a:p>
            <a:pPr>
              <a:lnSpc>
                <a:spcPct val="90000"/>
              </a:lnSpc>
              <a:spcBef>
                <a:spcPts val="600"/>
              </a:spcBef>
            </a:pPr>
            <a:r>
              <a:rPr lang="pt-BR" sz="1200" dirty="0"/>
              <a:t>Alteração da área e ponto focal responsável por acompanhar a execução do serviço no decorrer da parada</a:t>
            </a:r>
          </a:p>
          <a:p>
            <a:pPr>
              <a:lnSpc>
                <a:spcPct val="90000"/>
              </a:lnSpc>
              <a:spcBef>
                <a:spcPts val="600"/>
              </a:spcBef>
            </a:pPr>
            <a:r>
              <a:rPr lang="pt-BR" sz="1200" dirty="0"/>
              <a:t>Custos previstos na esteira financeira de serviços e materiais não são alterados</a:t>
            </a:r>
          </a:p>
        </p:txBody>
      </p:sp>
    </p:spTree>
    <p:extLst>
      <p:ext uri="{BB962C8B-B14F-4D97-AF65-F5344CB8AC3E}">
        <p14:creationId xmlns:p14="http://schemas.microsoft.com/office/powerpoint/2010/main" val="14808816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8599A-C80B-4E9D-431D-C5C85DC076FA}"/>
            </a:ext>
          </a:extLst>
        </p:cNvPr>
        <p:cNvGrpSpPr/>
        <p:nvPr/>
      </p:nvGrpSpPr>
      <p:grpSpPr>
        <a:xfrm>
          <a:off x="0" y="0"/>
          <a:ext cx="0" cy="0"/>
          <a:chOff x="0" y="0"/>
          <a:chExt cx="0" cy="0"/>
        </a:xfrm>
      </p:grpSpPr>
      <p:sp>
        <p:nvSpPr>
          <p:cNvPr id="56" name="Retângulo 55">
            <a:extLst>
              <a:ext uri="{FF2B5EF4-FFF2-40B4-BE49-F238E27FC236}">
                <a16:creationId xmlns:a16="http://schemas.microsoft.com/office/drawing/2014/main" id="{4EAE4C4A-2858-1D05-06B0-D4185E57CF77}"/>
              </a:ext>
            </a:extLst>
          </p:cNvPr>
          <p:cNvSpPr/>
          <p:nvPr/>
        </p:nvSpPr>
        <p:spPr>
          <a:xfrm>
            <a:off x="9929952" y="6131282"/>
            <a:ext cx="1100022" cy="5922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B22CA5D6-E7E9-24DC-392F-4EBDADDB529F}"/>
              </a:ext>
            </a:extLst>
          </p:cNvPr>
          <p:cNvSpPr/>
          <p:nvPr/>
        </p:nvSpPr>
        <p:spPr>
          <a:xfrm>
            <a:off x="619397" y="944458"/>
            <a:ext cx="11381257" cy="96790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D9413ACD-9425-E116-5D87-121E25E32E52}"/>
              </a:ext>
            </a:extLst>
          </p:cNvPr>
          <p:cNvSpPr txBox="1"/>
          <p:nvPr/>
        </p:nvSpPr>
        <p:spPr>
          <a:xfrm rot="16200000">
            <a:off x="416553" y="1297607"/>
            <a:ext cx="967909" cy="261610"/>
          </a:xfrm>
          <a:prstGeom prst="rect">
            <a:avLst/>
          </a:prstGeom>
          <a:noFill/>
        </p:spPr>
        <p:txBody>
          <a:bodyPr wrap="square" rtlCol="0">
            <a:spAutoFit/>
          </a:bodyPr>
          <a:lstStyle/>
          <a:p>
            <a:pPr algn="ctr"/>
            <a:r>
              <a:rPr lang="pt-BR" sz="1050" b="1" dirty="0"/>
              <a:t>Especialista</a:t>
            </a:r>
          </a:p>
        </p:txBody>
      </p:sp>
      <p:sp>
        <p:nvSpPr>
          <p:cNvPr id="12" name="Elipse 11">
            <a:extLst>
              <a:ext uri="{FF2B5EF4-FFF2-40B4-BE49-F238E27FC236}">
                <a16:creationId xmlns:a16="http://schemas.microsoft.com/office/drawing/2014/main" id="{EA9D45BD-0044-6994-BE0B-9C034F3B43A7}"/>
              </a:ext>
            </a:extLst>
          </p:cNvPr>
          <p:cNvSpPr/>
          <p:nvPr/>
        </p:nvSpPr>
        <p:spPr>
          <a:xfrm>
            <a:off x="1559332" y="1394039"/>
            <a:ext cx="270504" cy="270504"/>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1C3CED89-2C7E-F53B-9676-A6138D45A7D6}"/>
              </a:ext>
            </a:extLst>
          </p:cNvPr>
          <p:cNvSpPr txBox="1"/>
          <p:nvPr/>
        </p:nvSpPr>
        <p:spPr>
          <a:xfrm>
            <a:off x="1113614" y="984794"/>
            <a:ext cx="1161940" cy="369332"/>
          </a:xfrm>
          <a:prstGeom prst="rect">
            <a:avLst/>
          </a:prstGeom>
          <a:noFill/>
        </p:spPr>
        <p:txBody>
          <a:bodyPr wrap="square" rtlCol="0">
            <a:spAutoFit/>
          </a:bodyPr>
          <a:lstStyle/>
          <a:p>
            <a:pPr algn="ctr"/>
            <a:r>
              <a:rPr lang="pt-BR" sz="900" dirty="0"/>
              <a:t>Necessidade de GMUD identificada</a:t>
            </a:r>
          </a:p>
        </p:txBody>
      </p:sp>
      <p:sp>
        <p:nvSpPr>
          <p:cNvPr id="14" name="Retângulo: Cantos Arredondados 13">
            <a:extLst>
              <a:ext uri="{FF2B5EF4-FFF2-40B4-BE49-F238E27FC236}">
                <a16:creationId xmlns:a16="http://schemas.microsoft.com/office/drawing/2014/main" id="{0993F0B0-A96B-82F0-1B40-29942B8E3273}"/>
              </a:ext>
            </a:extLst>
          </p:cNvPr>
          <p:cNvSpPr/>
          <p:nvPr/>
        </p:nvSpPr>
        <p:spPr>
          <a:xfrm>
            <a:off x="2221979" y="1295291"/>
            <a:ext cx="1584176"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Abrir GMUD preenchendo informações obrigatórias</a:t>
            </a:r>
          </a:p>
        </p:txBody>
      </p:sp>
      <p:cxnSp>
        <p:nvCxnSpPr>
          <p:cNvPr id="17" name="Conector de Seta Reta 16">
            <a:extLst>
              <a:ext uri="{FF2B5EF4-FFF2-40B4-BE49-F238E27FC236}">
                <a16:creationId xmlns:a16="http://schemas.microsoft.com/office/drawing/2014/main" id="{DBE24B34-9BEC-903B-1275-DA044AE4DE76}"/>
              </a:ext>
            </a:extLst>
          </p:cNvPr>
          <p:cNvCxnSpPr>
            <a:cxnSpLocks/>
            <a:stCxn id="12" idx="6"/>
            <a:endCxn id="14" idx="1"/>
          </p:cNvCxnSpPr>
          <p:nvPr/>
        </p:nvCxnSpPr>
        <p:spPr>
          <a:xfrm>
            <a:off x="1829836" y="1529291"/>
            <a:ext cx="39214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tângulo: Cantos Arredondados 18">
            <a:extLst>
              <a:ext uri="{FF2B5EF4-FFF2-40B4-BE49-F238E27FC236}">
                <a16:creationId xmlns:a16="http://schemas.microsoft.com/office/drawing/2014/main" id="{FDFCFBCB-88CB-8546-A2EA-E47D385BD0FA}"/>
              </a:ext>
            </a:extLst>
          </p:cNvPr>
          <p:cNvSpPr/>
          <p:nvPr/>
        </p:nvSpPr>
        <p:spPr>
          <a:xfrm>
            <a:off x="2370556" y="2020487"/>
            <a:ext cx="1287023"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Detalhar GMUD e enviar para revisão</a:t>
            </a:r>
          </a:p>
        </p:txBody>
      </p:sp>
      <p:sp>
        <p:nvSpPr>
          <p:cNvPr id="20" name="Retângulo 19">
            <a:extLst>
              <a:ext uri="{FF2B5EF4-FFF2-40B4-BE49-F238E27FC236}">
                <a16:creationId xmlns:a16="http://schemas.microsoft.com/office/drawing/2014/main" id="{780DE285-AB03-D81C-3A7C-542C6D4E2735}"/>
              </a:ext>
            </a:extLst>
          </p:cNvPr>
          <p:cNvSpPr/>
          <p:nvPr/>
        </p:nvSpPr>
        <p:spPr>
          <a:xfrm>
            <a:off x="619397" y="1919771"/>
            <a:ext cx="11381257" cy="985516"/>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C8155356-8FBB-4B8B-19E2-3A1309E854A9}"/>
              </a:ext>
            </a:extLst>
          </p:cNvPr>
          <p:cNvSpPr txBox="1"/>
          <p:nvPr/>
        </p:nvSpPr>
        <p:spPr>
          <a:xfrm rot="16200000">
            <a:off x="450506" y="2177967"/>
            <a:ext cx="900000" cy="430887"/>
          </a:xfrm>
          <a:prstGeom prst="rect">
            <a:avLst/>
          </a:prstGeom>
          <a:noFill/>
        </p:spPr>
        <p:txBody>
          <a:bodyPr wrap="square" lIns="0" rIns="36000" rtlCol="0">
            <a:spAutoFit/>
          </a:bodyPr>
          <a:lstStyle/>
          <a:p>
            <a:pPr algn="ctr"/>
            <a:r>
              <a:rPr lang="pt-BR" sz="1050" b="1" dirty="0"/>
              <a:t>Administrativo &amp; Especialista</a:t>
            </a:r>
          </a:p>
        </p:txBody>
      </p:sp>
      <p:sp>
        <p:nvSpPr>
          <p:cNvPr id="24" name="CaixaDeTexto 23">
            <a:extLst>
              <a:ext uri="{FF2B5EF4-FFF2-40B4-BE49-F238E27FC236}">
                <a16:creationId xmlns:a16="http://schemas.microsoft.com/office/drawing/2014/main" id="{720B0005-F7BC-68D9-F675-4946CEBAA5CB}"/>
              </a:ext>
            </a:extLst>
          </p:cNvPr>
          <p:cNvSpPr txBox="1"/>
          <p:nvPr/>
        </p:nvSpPr>
        <p:spPr>
          <a:xfrm rot="16200000">
            <a:off x="317336" y="4332226"/>
            <a:ext cx="1166339" cy="430887"/>
          </a:xfrm>
          <a:prstGeom prst="rect">
            <a:avLst/>
          </a:prstGeom>
          <a:noFill/>
        </p:spPr>
        <p:txBody>
          <a:bodyPr wrap="square" rtlCol="0">
            <a:spAutoFit/>
          </a:bodyPr>
          <a:lstStyle/>
          <a:p>
            <a:pPr algn="ctr"/>
            <a:r>
              <a:rPr lang="pt-BR" sz="1050" b="1" dirty="0"/>
              <a:t>Diretor </a:t>
            </a:r>
          </a:p>
          <a:p>
            <a:pPr algn="ctr"/>
            <a:r>
              <a:rPr lang="pt-BR" sz="1050" b="1" dirty="0"/>
              <a:t>Técnico</a:t>
            </a:r>
          </a:p>
        </p:txBody>
      </p:sp>
      <p:sp>
        <p:nvSpPr>
          <p:cNvPr id="25" name="CaixaDeTexto 24">
            <a:extLst>
              <a:ext uri="{FF2B5EF4-FFF2-40B4-BE49-F238E27FC236}">
                <a16:creationId xmlns:a16="http://schemas.microsoft.com/office/drawing/2014/main" id="{8AA2E704-E584-E1F5-D404-7448CE49B5C2}"/>
              </a:ext>
            </a:extLst>
          </p:cNvPr>
          <p:cNvSpPr txBox="1"/>
          <p:nvPr/>
        </p:nvSpPr>
        <p:spPr>
          <a:xfrm rot="16200000">
            <a:off x="317335" y="5661052"/>
            <a:ext cx="1166339" cy="430887"/>
          </a:xfrm>
          <a:prstGeom prst="rect">
            <a:avLst/>
          </a:prstGeom>
          <a:noFill/>
        </p:spPr>
        <p:txBody>
          <a:bodyPr wrap="square" rtlCol="0" anchor="ctr">
            <a:spAutoFit/>
          </a:bodyPr>
          <a:lstStyle/>
          <a:p>
            <a:pPr algn="ctr"/>
            <a:r>
              <a:rPr lang="pt-BR" sz="1050" b="1" dirty="0"/>
              <a:t>Diretor de Operações</a:t>
            </a:r>
          </a:p>
        </p:txBody>
      </p:sp>
      <p:cxnSp>
        <p:nvCxnSpPr>
          <p:cNvPr id="29" name="Conector de Seta Reta 28">
            <a:extLst>
              <a:ext uri="{FF2B5EF4-FFF2-40B4-BE49-F238E27FC236}">
                <a16:creationId xmlns:a16="http://schemas.microsoft.com/office/drawing/2014/main" id="{76DD66AA-0CDE-EEE9-1E7C-90E6A022AF45}"/>
              </a:ext>
            </a:extLst>
          </p:cNvPr>
          <p:cNvCxnSpPr>
            <a:cxnSpLocks/>
            <a:stCxn id="14" idx="2"/>
            <a:endCxn id="19" idx="0"/>
          </p:cNvCxnSpPr>
          <p:nvPr/>
        </p:nvCxnSpPr>
        <p:spPr>
          <a:xfrm>
            <a:off x="3014067" y="1763291"/>
            <a:ext cx="1" cy="2571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ector: Angulado 43">
            <a:extLst>
              <a:ext uri="{FF2B5EF4-FFF2-40B4-BE49-F238E27FC236}">
                <a16:creationId xmlns:a16="http://schemas.microsoft.com/office/drawing/2014/main" id="{5A0F2C0C-A9DF-A628-75F7-31A029197D9C}"/>
              </a:ext>
            </a:extLst>
          </p:cNvPr>
          <p:cNvCxnSpPr>
            <a:cxnSpLocks/>
            <a:stCxn id="89" idx="0"/>
            <a:endCxn id="140" idx="1"/>
          </p:cNvCxnSpPr>
          <p:nvPr/>
        </p:nvCxnSpPr>
        <p:spPr>
          <a:xfrm rot="5400000" flipH="1" flipV="1">
            <a:off x="5917271" y="3035779"/>
            <a:ext cx="266036" cy="57311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ítulo 3">
            <a:extLst>
              <a:ext uri="{FF2B5EF4-FFF2-40B4-BE49-F238E27FC236}">
                <a16:creationId xmlns:a16="http://schemas.microsoft.com/office/drawing/2014/main" id="{8FD4B968-BAE3-4DF1-2414-C7AB60A01227}"/>
              </a:ext>
            </a:extLst>
          </p:cNvPr>
          <p:cNvSpPr>
            <a:spLocks noGrp="1"/>
          </p:cNvSpPr>
          <p:nvPr>
            <p:ph type="title"/>
          </p:nvPr>
        </p:nvSpPr>
        <p:spPr>
          <a:xfrm>
            <a:off x="1089653" y="303578"/>
            <a:ext cx="10485852" cy="645195"/>
          </a:xfrm>
        </p:spPr>
        <p:txBody>
          <a:bodyPr/>
          <a:lstStyle/>
          <a:p>
            <a:r>
              <a:rPr lang="pt-BR" dirty="0"/>
              <a:t>GMUD</a:t>
            </a:r>
            <a:br>
              <a:rPr lang="pt-BR" dirty="0"/>
            </a:br>
            <a:r>
              <a:rPr lang="pt-BR" sz="1600" b="0" dirty="0"/>
              <a:t>Fluxograma do Processo de </a:t>
            </a:r>
            <a:r>
              <a:rPr lang="pt-BR" sz="1600" dirty="0">
                <a:solidFill>
                  <a:srgbClr val="03738E"/>
                </a:solidFill>
              </a:rPr>
              <a:t>Abertura e Aprovação</a:t>
            </a:r>
            <a:endParaRPr lang="pt-BR" dirty="0">
              <a:solidFill>
                <a:srgbClr val="03738E"/>
              </a:solidFill>
            </a:endParaRPr>
          </a:p>
        </p:txBody>
      </p:sp>
      <p:sp>
        <p:nvSpPr>
          <p:cNvPr id="2" name="Retângulo 1">
            <a:extLst>
              <a:ext uri="{FF2B5EF4-FFF2-40B4-BE49-F238E27FC236}">
                <a16:creationId xmlns:a16="http://schemas.microsoft.com/office/drawing/2014/main" id="{07F27E3C-85E0-EB93-863D-5F6C2F1D239C}"/>
              </a:ext>
            </a:extLst>
          </p:cNvPr>
          <p:cNvSpPr/>
          <p:nvPr/>
        </p:nvSpPr>
        <p:spPr>
          <a:xfrm>
            <a:off x="619397" y="2903819"/>
            <a:ext cx="11381257" cy="11160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Retângulo 2">
            <a:extLst>
              <a:ext uri="{FF2B5EF4-FFF2-40B4-BE49-F238E27FC236}">
                <a16:creationId xmlns:a16="http://schemas.microsoft.com/office/drawing/2014/main" id="{5D31230F-1289-BB9A-6207-52A6D8A15592}"/>
              </a:ext>
            </a:extLst>
          </p:cNvPr>
          <p:cNvSpPr/>
          <p:nvPr/>
        </p:nvSpPr>
        <p:spPr>
          <a:xfrm>
            <a:off x="619397" y="4016336"/>
            <a:ext cx="11381257" cy="1116000"/>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D88CFDAD-656E-24EF-62BE-811CBCFDBBAD}"/>
              </a:ext>
            </a:extLst>
          </p:cNvPr>
          <p:cNvSpPr/>
          <p:nvPr/>
        </p:nvSpPr>
        <p:spPr>
          <a:xfrm>
            <a:off x="619397" y="5142249"/>
            <a:ext cx="11381257" cy="149752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7C348937-08C3-3A71-CEB3-8C7D9D303ADD}"/>
              </a:ext>
            </a:extLst>
          </p:cNvPr>
          <p:cNvSpPr txBox="1"/>
          <p:nvPr/>
        </p:nvSpPr>
        <p:spPr>
          <a:xfrm rot="16200000">
            <a:off x="342753" y="3304663"/>
            <a:ext cx="1115504" cy="261610"/>
          </a:xfrm>
          <a:prstGeom prst="rect">
            <a:avLst/>
          </a:prstGeom>
          <a:noFill/>
        </p:spPr>
        <p:txBody>
          <a:bodyPr wrap="square" rtlCol="0">
            <a:spAutoFit/>
          </a:bodyPr>
          <a:lstStyle/>
          <a:p>
            <a:pPr algn="ctr"/>
            <a:r>
              <a:rPr lang="pt-BR" sz="1050" b="1" dirty="0" err="1"/>
              <a:t>Coord</a:t>
            </a:r>
            <a:r>
              <a:rPr lang="pt-BR" sz="1050" b="1" dirty="0"/>
              <a:t> Obras</a:t>
            </a:r>
          </a:p>
        </p:txBody>
      </p:sp>
      <p:sp>
        <p:nvSpPr>
          <p:cNvPr id="89" name="Losango 88">
            <a:extLst>
              <a:ext uri="{FF2B5EF4-FFF2-40B4-BE49-F238E27FC236}">
                <a16:creationId xmlns:a16="http://schemas.microsoft.com/office/drawing/2014/main" id="{CBD618D7-8E3A-0519-95BF-3A57C5A777BE}"/>
              </a:ext>
            </a:extLst>
          </p:cNvPr>
          <p:cNvSpPr/>
          <p:nvPr/>
        </p:nvSpPr>
        <p:spPr>
          <a:xfrm>
            <a:off x="5592038" y="3455355"/>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x</a:t>
            </a:r>
          </a:p>
        </p:txBody>
      </p:sp>
      <p:sp>
        <p:nvSpPr>
          <p:cNvPr id="95" name="CaixaDeTexto 94">
            <a:extLst>
              <a:ext uri="{FF2B5EF4-FFF2-40B4-BE49-F238E27FC236}">
                <a16:creationId xmlns:a16="http://schemas.microsoft.com/office/drawing/2014/main" id="{3D6D22A0-B62A-F9D3-C7F7-3741322FC2E2}"/>
              </a:ext>
            </a:extLst>
          </p:cNvPr>
          <p:cNvSpPr txBox="1"/>
          <p:nvPr/>
        </p:nvSpPr>
        <p:spPr>
          <a:xfrm>
            <a:off x="5342994" y="2953519"/>
            <a:ext cx="1000020" cy="230832"/>
          </a:xfrm>
          <a:prstGeom prst="rect">
            <a:avLst/>
          </a:prstGeom>
          <a:noFill/>
        </p:spPr>
        <p:txBody>
          <a:bodyPr wrap="square" rtlCol="0">
            <a:spAutoFit/>
          </a:bodyPr>
          <a:lstStyle/>
          <a:p>
            <a:pPr algn="ctr"/>
            <a:r>
              <a:rPr lang="pt-BR" sz="900" i="1" dirty="0"/>
              <a:t>Necessita ajustes</a:t>
            </a:r>
          </a:p>
        </p:txBody>
      </p:sp>
      <p:sp>
        <p:nvSpPr>
          <p:cNvPr id="96" name="Retângulo: Cantos Arredondados 95">
            <a:extLst>
              <a:ext uri="{FF2B5EF4-FFF2-40B4-BE49-F238E27FC236}">
                <a16:creationId xmlns:a16="http://schemas.microsoft.com/office/drawing/2014/main" id="{256C1FD3-F8E3-E523-B463-160B37952D5A}"/>
              </a:ext>
            </a:extLst>
          </p:cNvPr>
          <p:cNvSpPr/>
          <p:nvPr/>
        </p:nvSpPr>
        <p:spPr>
          <a:xfrm>
            <a:off x="4141557" y="3451241"/>
            <a:ext cx="1063655" cy="351615"/>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Analisar GMUD</a:t>
            </a:r>
          </a:p>
        </p:txBody>
      </p:sp>
      <p:sp>
        <p:nvSpPr>
          <p:cNvPr id="107" name="Retângulo: Cantos Arredondados 106">
            <a:extLst>
              <a:ext uri="{FF2B5EF4-FFF2-40B4-BE49-F238E27FC236}">
                <a16:creationId xmlns:a16="http://schemas.microsoft.com/office/drawing/2014/main" id="{395DB434-0F67-8E3B-8016-8ED95AA9C5BF}"/>
              </a:ext>
            </a:extLst>
          </p:cNvPr>
          <p:cNvSpPr/>
          <p:nvPr/>
        </p:nvSpPr>
        <p:spPr>
          <a:xfrm>
            <a:off x="4029873" y="2020487"/>
            <a:ext cx="1287023"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Enviar para aprovação</a:t>
            </a:r>
          </a:p>
        </p:txBody>
      </p:sp>
      <p:cxnSp>
        <p:nvCxnSpPr>
          <p:cNvPr id="110" name="Conector de Seta Reta 109">
            <a:extLst>
              <a:ext uri="{FF2B5EF4-FFF2-40B4-BE49-F238E27FC236}">
                <a16:creationId xmlns:a16="http://schemas.microsoft.com/office/drawing/2014/main" id="{4A27E909-C280-AF25-EAB8-CDA4320B9005}"/>
              </a:ext>
            </a:extLst>
          </p:cNvPr>
          <p:cNvCxnSpPr>
            <a:cxnSpLocks/>
            <a:stCxn id="19" idx="3"/>
            <a:endCxn id="107" idx="1"/>
          </p:cNvCxnSpPr>
          <p:nvPr/>
        </p:nvCxnSpPr>
        <p:spPr>
          <a:xfrm>
            <a:off x="3657579" y="2254487"/>
            <a:ext cx="3722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ector de Seta Reta 131">
            <a:extLst>
              <a:ext uri="{FF2B5EF4-FFF2-40B4-BE49-F238E27FC236}">
                <a16:creationId xmlns:a16="http://schemas.microsoft.com/office/drawing/2014/main" id="{96EDB091-C6E8-9325-03CD-6A700412B3C0}"/>
              </a:ext>
            </a:extLst>
          </p:cNvPr>
          <p:cNvCxnSpPr>
            <a:cxnSpLocks/>
            <a:stCxn id="96" idx="3"/>
            <a:endCxn id="89" idx="1"/>
          </p:cNvCxnSpPr>
          <p:nvPr/>
        </p:nvCxnSpPr>
        <p:spPr>
          <a:xfrm flipV="1">
            <a:off x="5205212" y="3627048"/>
            <a:ext cx="38682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0" name="Retângulo: Cantos Arredondados 139">
            <a:extLst>
              <a:ext uri="{FF2B5EF4-FFF2-40B4-BE49-F238E27FC236}">
                <a16:creationId xmlns:a16="http://schemas.microsoft.com/office/drawing/2014/main" id="{D3DF33A4-BA7F-D4C1-FEF1-9DD6FA82BBBB}"/>
              </a:ext>
            </a:extLst>
          </p:cNvPr>
          <p:cNvSpPr/>
          <p:nvPr/>
        </p:nvSpPr>
        <p:spPr>
          <a:xfrm>
            <a:off x="6336848" y="2955319"/>
            <a:ext cx="1415725"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necessidade de alteração</a:t>
            </a:r>
          </a:p>
        </p:txBody>
      </p:sp>
      <p:sp>
        <p:nvSpPr>
          <p:cNvPr id="145" name="Retângulo: Cantos Arredondados 144">
            <a:extLst>
              <a:ext uri="{FF2B5EF4-FFF2-40B4-BE49-F238E27FC236}">
                <a16:creationId xmlns:a16="http://schemas.microsoft.com/office/drawing/2014/main" id="{833886B5-69FC-7FBD-9D5A-5323320A6B4B}"/>
              </a:ext>
            </a:extLst>
          </p:cNvPr>
          <p:cNvSpPr/>
          <p:nvPr/>
        </p:nvSpPr>
        <p:spPr>
          <a:xfrm>
            <a:off x="6401199" y="2021575"/>
            <a:ext cx="1287023"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Realizar alterações conforme solicitado</a:t>
            </a:r>
          </a:p>
        </p:txBody>
      </p:sp>
      <p:cxnSp>
        <p:nvCxnSpPr>
          <p:cNvPr id="146" name="Conector de Seta Reta 145">
            <a:extLst>
              <a:ext uri="{FF2B5EF4-FFF2-40B4-BE49-F238E27FC236}">
                <a16:creationId xmlns:a16="http://schemas.microsoft.com/office/drawing/2014/main" id="{2BF79D7A-F4AA-48B7-7C5E-BCE8F6161A2D}"/>
              </a:ext>
            </a:extLst>
          </p:cNvPr>
          <p:cNvCxnSpPr>
            <a:cxnSpLocks/>
            <a:stCxn id="140" idx="0"/>
            <a:endCxn id="145" idx="2"/>
          </p:cNvCxnSpPr>
          <p:nvPr/>
        </p:nvCxnSpPr>
        <p:spPr>
          <a:xfrm flipV="1">
            <a:off x="7044711" y="2489575"/>
            <a:ext cx="0" cy="4657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Conector de Seta Reta 148">
            <a:extLst>
              <a:ext uri="{FF2B5EF4-FFF2-40B4-BE49-F238E27FC236}">
                <a16:creationId xmlns:a16="http://schemas.microsoft.com/office/drawing/2014/main" id="{7ED126FF-02DF-97F9-BB6D-C063AA12473A}"/>
              </a:ext>
            </a:extLst>
          </p:cNvPr>
          <p:cNvCxnSpPr>
            <a:cxnSpLocks/>
            <a:stCxn id="145" idx="1"/>
            <a:endCxn id="107" idx="3"/>
          </p:cNvCxnSpPr>
          <p:nvPr/>
        </p:nvCxnSpPr>
        <p:spPr>
          <a:xfrm flipH="1" flipV="1">
            <a:off x="5316896" y="2254487"/>
            <a:ext cx="1084303" cy="10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Conector de Seta Reta 153">
            <a:extLst>
              <a:ext uri="{FF2B5EF4-FFF2-40B4-BE49-F238E27FC236}">
                <a16:creationId xmlns:a16="http://schemas.microsoft.com/office/drawing/2014/main" id="{A32A8A76-9471-7C4B-E498-1BF73BAD209C}"/>
              </a:ext>
            </a:extLst>
          </p:cNvPr>
          <p:cNvCxnSpPr>
            <a:cxnSpLocks/>
            <a:stCxn id="107" idx="2"/>
            <a:endCxn id="96" idx="0"/>
          </p:cNvCxnSpPr>
          <p:nvPr/>
        </p:nvCxnSpPr>
        <p:spPr>
          <a:xfrm>
            <a:off x="4673385" y="2488487"/>
            <a:ext cx="0" cy="962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4" name="Elipse 173">
            <a:extLst>
              <a:ext uri="{FF2B5EF4-FFF2-40B4-BE49-F238E27FC236}">
                <a16:creationId xmlns:a16="http://schemas.microsoft.com/office/drawing/2014/main" id="{DB712E54-D6F6-ECBB-649D-06D45D9A0E20}"/>
              </a:ext>
            </a:extLst>
          </p:cNvPr>
          <p:cNvSpPr/>
          <p:nvPr/>
        </p:nvSpPr>
        <p:spPr>
          <a:xfrm>
            <a:off x="7716832" y="3491796"/>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75" name="Conector de Seta Reta 174">
            <a:extLst>
              <a:ext uri="{FF2B5EF4-FFF2-40B4-BE49-F238E27FC236}">
                <a16:creationId xmlns:a16="http://schemas.microsoft.com/office/drawing/2014/main" id="{092A7A8C-F63D-581D-1D4C-303C19EAE033}"/>
              </a:ext>
            </a:extLst>
          </p:cNvPr>
          <p:cNvCxnSpPr>
            <a:cxnSpLocks/>
            <a:stCxn id="89" idx="3"/>
            <a:endCxn id="174" idx="2"/>
          </p:cNvCxnSpPr>
          <p:nvPr/>
        </p:nvCxnSpPr>
        <p:spPr>
          <a:xfrm>
            <a:off x="5935424" y="3627048"/>
            <a:ext cx="178140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9" name="CaixaDeTexto 178">
            <a:extLst>
              <a:ext uri="{FF2B5EF4-FFF2-40B4-BE49-F238E27FC236}">
                <a16:creationId xmlns:a16="http://schemas.microsoft.com/office/drawing/2014/main" id="{A9E76B7D-C06D-ABA1-060B-A027193D8733}"/>
              </a:ext>
            </a:extLst>
          </p:cNvPr>
          <p:cNvSpPr txBox="1"/>
          <p:nvPr/>
        </p:nvSpPr>
        <p:spPr>
          <a:xfrm>
            <a:off x="7992394" y="3445144"/>
            <a:ext cx="1647878" cy="369332"/>
          </a:xfrm>
          <a:prstGeom prst="rect">
            <a:avLst/>
          </a:prstGeom>
          <a:noFill/>
        </p:spPr>
        <p:txBody>
          <a:bodyPr wrap="square" rtlCol="0">
            <a:spAutoFit/>
          </a:bodyPr>
          <a:lstStyle/>
          <a:p>
            <a:r>
              <a:rPr lang="pt-BR" sz="900" i="1" dirty="0"/>
              <a:t>GMUD rejeitada e cancelada e envolvidos notificados</a:t>
            </a:r>
          </a:p>
        </p:txBody>
      </p:sp>
      <p:sp>
        <p:nvSpPr>
          <p:cNvPr id="180" name="CaixaDeTexto 179">
            <a:extLst>
              <a:ext uri="{FF2B5EF4-FFF2-40B4-BE49-F238E27FC236}">
                <a16:creationId xmlns:a16="http://schemas.microsoft.com/office/drawing/2014/main" id="{8C8D1688-0A6C-2681-F5F6-DE1D7C664E79}"/>
              </a:ext>
            </a:extLst>
          </p:cNvPr>
          <p:cNvSpPr txBox="1"/>
          <p:nvPr/>
        </p:nvSpPr>
        <p:spPr>
          <a:xfrm>
            <a:off x="6600056" y="3613591"/>
            <a:ext cx="1000020" cy="230832"/>
          </a:xfrm>
          <a:prstGeom prst="rect">
            <a:avLst/>
          </a:prstGeom>
          <a:noFill/>
        </p:spPr>
        <p:txBody>
          <a:bodyPr wrap="square" rtlCol="0">
            <a:spAutoFit/>
          </a:bodyPr>
          <a:lstStyle/>
          <a:p>
            <a:pPr algn="ctr"/>
            <a:r>
              <a:rPr lang="pt-BR" sz="900" i="1" dirty="0"/>
              <a:t>Rejeitada</a:t>
            </a:r>
          </a:p>
        </p:txBody>
      </p:sp>
      <p:sp>
        <p:nvSpPr>
          <p:cNvPr id="183" name="Retângulo: Cantos Arredondados 182">
            <a:extLst>
              <a:ext uri="{FF2B5EF4-FFF2-40B4-BE49-F238E27FC236}">
                <a16:creationId xmlns:a16="http://schemas.microsoft.com/office/drawing/2014/main" id="{71292AB1-E7CD-20D8-B2DF-BBA03AB39656}"/>
              </a:ext>
            </a:extLst>
          </p:cNvPr>
          <p:cNvSpPr/>
          <p:nvPr/>
        </p:nvSpPr>
        <p:spPr>
          <a:xfrm>
            <a:off x="5231904" y="4727916"/>
            <a:ext cx="1063655" cy="351615"/>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Analisar GMUD</a:t>
            </a:r>
          </a:p>
        </p:txBody>
      </p:sp>
      <p:cxnSp>
        <p:nvCxnSpPr>
          <p:cNvPr id="184" name="Conector de Seta Reta 183">
            <a:extLst>
              <a:ext uri="{FF2B5EF4-FFF2-40B4-BE49-F238E27FC236}">
                <a16:creationId xmlns:a16="http://schemas.microsoft.com/office/drawing/2014/main" id="{B2882978-090E-7041-E38E-DD20ACC9B95E}"/>
              </a:ext>
            </a:extLst>
          </p:cNvPr>
          <p:cNvCxnSpPr>
            <a:cxnSpLocks/>
            <a:stCxn id="89" idx="2"/>
            <a:endCxn id="183" idx="0"/>
          </p:cNvCxnSpPr>
          <p:nvPr/>
        </p:nvCxnSpPr>
        <p:spPr>
          <a:xfrm>
            <a:off x="5763731" y="3798741"/>
            <a:ext cx="1" cy="9291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CaixaDeTexto 186">
            <a:extLst>
              <a:ext uri="{FF2B5EF4-FFF2-40B4-BE49-F238E27FC236}">
                <a16:creationId xmlns:a16="http://schemas.microsoft.com/office/drawing/2014/main" id="{190FEE7F-1692-8603-554F-BFD9E94E4DBD}"/>
              </a:ext>
            </a:extLst>
          </p:cNvPr>
          <p:cNvSpPr txBox="1"/>
          <p:nvPr/>
        </p:nvSpPr>
        <p:spPr>
          <a:xfrm>
            <a:off x="5720413" y="3827414"/>
            <a:ext cx="1000020" cy="230832"/>
          </a:xfrm>
          <a:prstGeom prst="rect">
            <a:avLst/>
          </a:prstGeom>
          <a:noFill/>
        </p:spPr>
        <p:txBody>
          <a:bodyPr wrap="square" rtlCol="0">
            <a:spAutoFit/>
          </a:bodyPr>
          <a:lstStyle/>
          <a:p>
            <a:r>
              <a:rPr lang="pt-BR" sz="900" i="1" dirty="0"/>
              <a:t>Aprovada</a:t>
            </a:r>
          </a:p>
        </p:txBody>
      </p:sp>
      <p:sp>
        <p:nvSpPr>
          <p:cNvPr id="188" name="Losango 187">
            <a:extLst>
              <a:ext uri="{FF2B5EF4-FFF2-40B4-BE49-F238E27FC236}">
                <a16:creationId xmlns:a16="http://schemas.microsoft.com/office/drawing/2014/main" id="{375EDFAA-CB4E-C289-DD5D-B7BBE92CC07A}"/>
              </a:ext>
            </a:extLst>
          </p:cNvPr>
          <p:cNvSpPr/>
          <p:nvPr/>
        </p:nvSpPr>
        <p:spPr>
          <a:xfrm>
            <a:off x="6726008" y="4732030"/>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x</a:t>
            </a:r>
          </a:p>
        </p:txBody>
      </p:sp>
      <p:cxnSp>
        <p:nvCxnSpPr>
          <p:cNvPr id="189" name="Conector de Seta Reta 188">
            <a:extLst>
              <a:ext uri="{FF2B5EF4-FFF2-40B4-BE49-F238E27FC236}">
                <a16:creationId xmlns:a16="http://schemas.microsoft.com/office/drawing/2014/main" id="{F1531CF2-EC00-B03C-C98F-7F4F90AB43BD}"/>
              </a:ext>
            </a:extLst>
          </p:cNvPr>
          <p:cNvCxnSpPr>
            <a:cxnSpLocks/>
            <a:stCxn id="183" idx="3"/>
            <a:endCxn id="188" idx="1"/>
          </p:cNvCxnSpPr>
          <p:nvPr/>
        </p:nvCxnSpPr>
        <p:spPr>
          <a:xfrm flipV="1">
            <a:off x="6295559" y="4903723"/>
            <a:ext cx="430449"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6" name="Retângulo: Cantos Arredondados 195">
            <a:extLst>
              <a:ext uri="{FF2B5EF4-FFF2-40B4-BE49-F238E27FC236}">
                <a16:creationId xmlns:a16="http://schemas.microsoft.com/office/drawing/2014/main" id="{73DDF373-0135-3341-F9ED-D622A6CCEB3F}"/>
              </a:ext>
            </a:extLst>
          </p:cNvPr>
          <p:cNvSpPr/>
          <p:nvPr/>
        </p:nvSpPr>
        <p:spPr>
          <a:xfrm>
            <a:off x="9932840" y="4410375"/>
            <a:ext cx="1415725" cy="386777"/>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necessidade de alteração</a:t>
            </a:r>
          </a:p>
        </p:txBody>
      </p:sp>
      <p:sp>
        <p:nvSpPr>
          <p:cNvPr id="200" name="Elipse 199">
            <a:extLst>
              <a:ext uri="{FF2B5EF4-FFF2-40B4-BE49-F238E27FC236}">
                <a16:creationId xmlns:a16="http://schemas.microsoft.com/office/drawing/2014/main" id="{129B9F94-B166-588A-918D-8E2E335C8A7C}"/>
              </a:ext>
            </a:extLst>
          </p:cNvPr>
          <p:cNvSpPr/>
          <p:nvPr/>
        </p:nvSpPr>
        <p:spPr>
          <a:xfrm>
            <a:off x="11514128" y="4468511"/>
            <a:ext cx="270504" cy="270504"/>
          </a:xfrm>
          <a:prstGeom prst="ellipse">
            <a:avLst/>
          </a:prstGeom>
          <a:solidFill>
            <a:schemeClr val="bg1"/>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rgbClr val="03738E"/>
                </a:solidFill>
              </a:rPr>
              <a:t>1</a:t>
            </a:r>
          </a:p>
        </p:txBody>
      </p:sp>
      <p:sp>
        <p:nvSpPr>
          <p:cNvPr id="201" name="Elipse 200">
            <a:extLst>
              <a:ext uri="{FF2B5EF4-FFF2-40B4-BE49-F238E27FC236}">
                <a16:creationId xmlns:a16="http://schemas.microsoft.com/office/drawing/2014/main" id="{D7B76324-38B3-708C-722B-14CDF089C555}"/>
              </a:ext>
            </a:extLst>
          </p:cNvPr>
          <p:cNvSpPr/>
          <p:nvPr/>
        </p:nvSpPr>
        <p:spPr>
          <a:xfrm>
            <a:off x="8213425" y="2120323"/>
            <a:ext cx="270504" cy="270504"/>
          </a:xfrm>
          <a:prstGeom prst="ellipse">
            <a:avLst/>
          </a:prstGeom>
          <a:solidFill>
            <a:srgbClr val="03738E"/>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bg1"/>
                </a:solidFill>
              </a:rPr>
              <a:t>1</a:t>
            </a:r>
          </a:p>
        </p:txBody>
      </p:sp>
      <p:cxnSp>
        <p:nvCxnSpPr>
          <p:cNvPr id="202" name="Conector de Seta Reta 201">
            <a:extLst>
              <a:ext uri="{FF2B5EF4-FFF2-40B4-BE49-F238E27FC236}">
                <a16:creationId xmlns:a16="http://schemas.microsoft.com/office/drawing/2014/main" id="{6E54C733-6B55-9883-BFF7-51566402F9DC}"/>
              </a:ext>
            </a:extLst>
          </p:cNvPr>
          <p:cNvCxnSpPr>
            <a:cxnSpLocks/>
            <a:stCxn id="201" idx="2"/>
            <a:endCxn id="145" idx="3"/>
          </p:cNvCxnSpPr>
          <p:nvPr/>
        </p:nvCxnSpPr>
        <p:spPr>
          <a:xfrm flipH="1">
            <a:off x="7688222" y="2255575"/>
            <a:ext cx="5252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Conector de Seta Reta 204">
            <a:extLst>
              <a:ext uri="{FF2B5EF4-FFF2-40B4-BE49-F238E27FC236}">
                <a16:creationId xmlns:a16="http://schemas.microsoft.com/office/drawing/2014/main" id="{CF1CF9B0-C218-A78C-853F-A83C3819CCF8}"/>
              </a:ext>
            </a:extLst>
          </p:cNvPr>
          <p:cNvCxnSpPr>
            <a:cxnSpLocks/>
            <a:stCxn id="196" idx="3"/>
            <a:endCxn id="200" idx="2"/>
          </p:cNvCxnSpPr>
          <p:nvPr/>
        </p:nvCxnSpPr>
        <p:spPr>
          <a:xfrm flipV="1">
            <a:off x="11348565" y="4603763"/>
            <a:ext cx="165563"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4" name="CaixaDeTexto 213">
            <a:extLst>
              <a:ext uri="{FF2B5EF4-FFF2-40B4-BE49-F238E27FC236}">
                <a16:creationId xmlns:a16="http://schemas.microsoft.com/office/drawing/2014/main" id="{D5C7C11D-3AB7-1809-630A-134ECAD619EF}"/>
              </a:ext>
            </a:extLst>
          </p:cNvPr>
          <p:cNvSpPr txBox="1"/>
          <p:nvPr/>
        </p:nvSpPr>
        <p:spPr>
          <a:xfrm>
            <a:off x="7093064" y="4376857"/>
            <a:ext cx="1027382" cy="230832"/>
          </a:xfrm>
          <a:prstGeom prst="rect">
            <a:avLst/>
          </a:prstGeom>
          <a:noFill/>
        </p:spPr>
        <p:txBody>
          <a:bodyPr wrap="square" rtlCol="0">
            <a:spAutoFit/>
          </a:bodyPr>
          <a:lstStyle/>
          <a:p>
            <a:r>
              <a:rPr lang="pt-BR" sz="900" i="1" dirty="0"/>
              <a:t>Necessita ajustes</a:t>
            </a:r>
          </a:p>
        </p:txBody>
      </p:sp>
      <p:sp>
        <p:nvSpPr>
          <p:cNvPr id="222" name="Retângulo: Cantos Arredondados 221">
            <a:extLst>
              <a:ext uri="{FF2B5EF4-FFF2-40B4-BE49-F238E27FC236}">
                <a16:creationId xmlns:a16="http://schemas.microsoft.com/office/drawing/2014/main" id="{AAB9BFA8-3CEC-38C1-5C30-881CDDB78435}"/>
              </a:ext>
            </a:extLst>
          </p:cNvPr>
          <p:cNvSpPr/>
          <p:nvPr/>
        </p:nvSpPr>
        <p:spPr>
          <a:xfrm>
            <a:off x="6365874" y="5775455"/>
            <a:ext cx="1063655" cy="351615"/>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Analisar GMUD</a:t>
            </a:r>
          </a:p>
        </p:txBody>
      </p:sp>
      <p:cxnSp>
        <p:nvCxnSpPr>
          <p:cNvPr id="223" name="Conector de Seta Reta 222">
            <a:extLst>
              <a:ext uri="{FF2B5EF4-FFF2-40B4-BE49-F238E27FC236}">
                <a16:creationId xmlns:a16="http://schemas.microsoft.com/office/drawing/2014/main" id="{BEAE686A-B054-1530-ACC2-3DAA2D45A9C0}"/>
              </a:ext>
            </a:extLst>
          </p:cNvPr>
          <p:cNvCxnSpPr>
            <a:cxnSpLocks/>
            <a:stCxn id="188" idx="2"/>
            <a:endCxn id="222" idx="0"/>
          </p:cNvCxnSpPr>
          <p:nvPr/>
        </p:nvCxnSpPr>
        <p:spPr>
          <a:xfrm>
            <a:off x="6897701" y="5075416"/>
            <a:ext cx="1" cy="7000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4" name="CaixaDeTexto 223">
            <a:extLst>
              <a:ext uri="{FF2B5EF4-FFF2-40B4-BE49-F238E27FC236}">
                <a16:creationId xmlns:a16="http://schemas.microsoft.com/office/drawing/2014/main" id="{18132220-E419-C45E-3FE4-934E49C0ABA7}"/>
              </a:ext>
            </a:extLst>
          </p:cNvPr>
          <p:cNvSpPr txBox="1"/>
          <p:nvPr/>
        </p:nvSpPr>
        <p:spPr>
          <a:xfrm>
            <a:off x="7093064" y="4706690"/>
            <a:ext cx="1000020" cy="230832"/>
          </a:xfrm>
          <a:prstGeom prst="rect">
            <a:avLst/>
          </a:prstGeom>
          <a:noFill/>
        </p:spPr>
        <p:txBody>
          <a:bodyPr wrap="square" rtlCol="0">
            <a:spAutoFit/>
          </a:bodyPr>
          <a:lstStyle/>
          <a:p>
            <a:r>
              <a:rPr lang="pt-BR" sz="900" i="1" dirty="0"/>
              <a:t>Rejeitada</a:t>
            </a:r>
          </a:p>
        </p:txBody>
      </p:sp>
      <p:sp>
        <p:nvSpPr>
          <p:cNvPr id="231" name="Losango 230">
            <a:extLst>
              <a:ext uri="{FF2B5EF4-FFF2-40B4-BE49-F238E27FC236}">
                <a16:creationId xmlns:a16="http://schemas.microsoft.com/office/drawing/2014/main" id="{B3A25404-EE47-AF08-4B08-84479ED54A33}"/>
              </a:ext>
            </a:extLst>
          </p:cNvPr>
          <p:cNvSpPr/>
          <p:nvPr/>
        </p:nvSpPr>
        <p:spPr>
          <a:xfrm>
            <a:off x="8004263" y="5779569"/>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x</a:t>
            </a:r>
          </a:p>
        </p:txBody>
      </p:sp>
      <p:cxnSp>
        <p:nvCxnSpPr>
          <p:cNvPr id="232" name="Conector de Seta Reta 231">
            <a:extLst>
              <a:ext uri="{FF2B5EF4-FFF2-40B4-BE49-F238E27FC236}">
                <a16:creationId xmlns:a16="http://schemas.microsoft.com/office/drawing/2014/main" id="{E5583278-E802-D4DA-F728-4F4F126A7686}"/>
              </a:ext>
            </a:extLst>
          </p:cNvPr>
          <p:cNvCxnSpPr>
            <a:cxnSpLocks/>
            <a:stCxn id="222" idx="3"/>
            <a:endCxn id="231" idx="1"/>
          </p:cNvCxnSpPr>
          <p:nvPr/>
        </p:nvCxnSpPr>
        <p:spPr>
          <a:xfrm flipV="1">
            <a:off x="7429529" y="5951262"/>
            <a:ext cx="574734"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Retângulo: Cantos Arredondados 15">
            <a:extLst>
              <a:ext uri="{FF2B5EF4-FFF2-40B4-BE49-F238E27FC236}">
                <a16:creationId xmlns:a16="http://schemas.microsoft.com/office/drawing/2014/main" id="{3BACBE7B-465C-9948-A48E-3C3360DECF1E}"/>
              </a:ext>
            </a:extLst>
          </p:cNvPr>
          <p:cNvSpPr/>
          <p:nvPr/>
        </p:nvSpPr>
        <p:spPr>
          <a:xfrm>
            <a:off x="8826249" y="5215038"/>
            <a:ext cx="1415725" cy="468000"/>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necessidade de alteração</a:t>
            </a:r>
          </a:p>
        </p:txBody>
      </p:sp>
      <p:sp>
        <p:nvSpPr>
          <p:cNvPr id="21" name="Elipse 20">
            <a:extLst>
              <a:ext uri="{FF2B5EF4-FFF2-40B4-BE49-F238E27FC236}">
                <a16:creationId xmlns:a16="http://schemas.microsoft.com/office/drawing/2014/main" id="{DE08C440-79A4-2443-9A58-DE729755DAF1}"/>
              </a:ext>
            </a:extLst>
          </p:cNvPr>
          <p:cNvSpPr/>
          <p:nvPr/>
        </p:nvSpPr>
        <p:spPr>
          <a:xfrm>
            <a:off x="10411985" y="5313786"/>
            <a:ext cx="270504" cy="270504"/>
          </a:xfrm>
          <a:prstGeom prst="ellipse">
            <a:avLst/>
          </a:prstGeom>
          <a:solidFill>
            <a:schemeClr val="bg1"/>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rgbClr val="03738E"/>
                </a:solidFill>
              </a:rPr>
              <a:t>1</a:t>
            </a:r>
          </a:p>
        </p:txBody>
      </p:sp>
      <p:cxnSp>
        <p:nvCxnSpPr>
          <p:cNvPr id="22" name="Conector: Angulado 21">
            <a:extLst>
              <a:ext uri="{FF2B5EF4-FFF2-40B4-BE49-F238E27FC236}">
                <a16:creationId xmlns:a16="http://schemas.microsoft.com/office/drawing/2014/main" id="{62A83004-FF63-612F-52D1-1CDE14552CAD}"/>
              </a:ext>
            </a:extLst>
          </p:cNvPr>
          <p:cNvCxnSpPr>
            <a:cxnSpLocks/>
            <a:stCxn id="231" idx="0"/>
            <a:endCxn id="16" idx="1"/>
          </p:cNvCxnSpPr>
          <p:nvPr/>
        </p:nvCxnSpPr>
        <p:spPr>
          <a:xfrm rot="5400000" flipH="1" flipV="1">
            <a:off x="8335837" y="5289158"/>
            <a:ext cx="330531" cy="650293"/>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30">
            <a:extLst>
              <a:ext uri="{FF2B5EF4-FFF2-40B4-BE49-F238E27FC236}">
                <a16:creationId xmlns:a16="http://schemas.microsoft.com/office/drawing/2014/main" id="{BC870EF5-A18C-4445-91ED-F20B8CBDD525}"/>
              </a:ext>
            </a:extLst>
          </p:cNvPr>
          <p:cNvCxnSpPr>
            <a:cxnSpLocks/>
            <a:stCxn id="16" idx="3"/>
            <a:endCxn id="21" idx="2"/>
          </p:cNvCxnSpPr>
          <p:nvPr/>
        </p:nvCxnSpPr>
        <p:spPr>
          <a:xfrm>
            <a:off x="10241974" y="5449038"/>
            <a:ext cx="17001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Elipse 33">
            <a:extLst>
              <a:ext uri="{FF2B5EF4-FFF2-40B4-BE49-F238E27FC236}">
                <a16:creationId xmlns:a16="http://schemas.microsoft.com/office/drawing/2014/main" id="{1BBACE26-A2E7-E069-040A-E391F16B16BF}"/>
              </a:ext>
            </a:extLst>
          </p:cNvPr>
          <p:cNvSpPr/>
          <p:nvPr/>
        </p:nvSpPr>
        <p:spPr>
          <a:xfrm>
            <a:off x="9284398" y="5816010"/>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CaixaDeTexto 34">
            <a:extLst>
              <a:ext uri="{FF2B5EF4-FFF2-40B4-BE49-F238E27FC236}">
                <a16:creationId xmlns:a16="http://schemas.microsoft.com/office/drawing/2014/main" id="{1B6660C2-81E1-815D-36B2-56B3AB89D564}"/>
              </a:ext>
            </a:extLst>
          </p:cNvPr>
          <p:cNvSpPr txBox="1"/>
          <p:nvPr/>
        </p:nvSpPr>
        <p:spPr>
          <a:xfrm>
            <a:off x="9559959" y="5766596"/>
            <a:ext cx="1788605" cy="369332"/>
          </a:xfrm>
          <a:prstGeom prst="rect">
            <a:avLst/>
          </a:prstGeom>
          <a:noFill/>
        </p:spPr>
        <p:txBody>
          <a:bodyPr wrap="square" rtlCol="0">
            <a:spAutoFit/>
          </a:bodyPr>
          <a:lstStyle/>
          <a:p>
            <a:r>
              <a:rPr lang="pt-BR" sz="900" i="1" dirty="0"/>
              <a:t>GMUD rejeitada e cancelada e envolvidos notificados</a:t>
            </a:r>
          </a:p>
        </p:txBody>
      </p:sp>
      <p:cxnSp>
        <p:nvCxnSpPr>
          <p:cNvPr id="36" name="Conector de Seta Reta 35">
            <a:extLst>
              <a:ext uri="{FF2B5EF4-FFF2-40B4-BE49-F238E27FC236}">
                <a16:creationId xmlns:a16="http://schemas.microsoft.com/office/drawing/2014/main" id="{58ECCDF0-3A68-7E84-B199-E9E43F515335}"/>
              </a:ext>
            </a:extLst>
          </p:cNvPr>
          <p:cNvCxnSpPr>
            <a:cxnSpLocks/>
            <a:stCxn id="231" idx="3"/>
            <a:endCxn id="34" idx="2"/>
          </p:cNvCxnSpPr>
          <p:nvPr/>
        </p:nvCxnSpPr>
        <p:spPr>
          <a:xfrm>
            <a:off x="8347649" y="5951262"/>
            <a:ext cx="93674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Elipse 39">
            <a:extLst>
              <a:ext uri="{FF2B5EF4-FFF2-40B4-BE49-F238E27FC236}">
                <a16:creationId xmlns:a16="http://schemas.microsoft.com/office/drawing/2014/main" id="{61D8B98B-FBCC-9CE8-BE2B-824D821C012F}"/>
              </a:ext>
            </a:extLst>
          </p:cNvPr>
          <p:cNvSpPr/>
          <p:nvPr/>
        </p:nvSpPr>
        <p:spPr>
          <a:xfrm>
            <a:off x="8490673" y="6291983"/>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CaixaDeTexto 40">
            <a:extLst>
              <a:ext uri="{FF2B5EF4-FFF2-40B4-BE49-F238E27FC236}">
                <a16:creationId xmlns:a16="http://schemas.microsoft.com/office/drawing/2014/main" id="{ECFD08C1-2F8A-0982-3027-02278DD865F0}"/>
              </a:ext>
            </a:extLst>
          </p:cNvPr>
          <p:cNvSpPr txBox="1"/>
          <p:nvPr/>
        </p:nvSpPr>
        <p:spPr>
          <a:xfrm>
            <a:off x="8793963" y="6242569"/>
            <a:ext cx="1888525" cy="369332"/>
          </a:xfrm>
          <a:prstGeom prst="rect">
            <a:avLst/>
          </a:prstGeom>
          <a:noFill/>
        </p:spPr>
        <p:txBody>
          <a:bodyPr wrap="square" rtlCol="0">
            <a:spAutoFit/>
          </a:bodyPr>
          <a:lstStyle/>
          <a:p>
            <a:r>
              <a:rPr lang="pt-BR" sz="900" i="1" dirty="0"/>
              <a:t>GMUD aprovada e HUB atualizado e envolvidos notificados</a:t>
            </a:r>
          </a:p>
        </p:txBody>
      </p:sp>
      <p:sp>
        <p:nvSpPr>
          <p:cNvPr id="49" name="CaixaDeTexto 48">
            <a:extLst>
              <a:ext uri="{FF2B5EF4-FFF2-40B4-BE49-F238E27FC236}">
                <a16:creationId xmlns:a16="http://schemas.microsoft.com/office/drawing/2014/main" id="{C63AC30F-4F73-7DC4-DE28-91575330D235}"/>
              </a:ext>
            </a:extLst>
          </p:cNvPr>
          <p:cNvSpPr txBox="1"/>
          <p:nvPr/>
        </p:nvSpPr>
        <p:spPr>
          <a:xfrm>
            <a:off x="7793944" y="5238915"/>
            <a:ext cx="1000020" cy="230832"/>
          </a:xfrm>
          <a:prstGeom prst="rect">
            <a:avLst/>
          </a:prstGeom>
          <a:noFill/>
        </p:spPr>
        <p:txBody>
          <a:bodyPr wrap="square" rtlCol="0">
            <a:spAutoFit/>
          </a:bodyPr>
          <a:lstStyle/>
          <a:p>
            <a:pPr algn="ctr"/>
            <a:r>
              <a:rPr lang="pt-BR" sz="900" i="1" dirty="0"/>
              <a:t>Necessita ajustes</a:t>
            </a:r>
          </a:p>
        </p:txBody>
      </p:sp>
      <p:sp>
        <p:nvSpPr>
          <p:cNvPr id="50" name="CaixaDeTexto 49">
            <a:extLst>
              <a:ext uri="{FF2B5EF4-FFF2-40B4-BE49-F238E27FC236}">
                <a16:creationId xmlns:a16="http://schemas.microsoft.com/office/drawing/2014/main" id="{55A6162A-2876-5C63-22BA-5C10B802A87D}"/>
              </a:ext>
            </a:extLst>
          </p:cNvPr>
          <p:cNvSpPr txBox="1"/>
          <p:nvPr/>
        </p:nvSpPr>
        <p:spPr>
          <a:xfrm>
            <a:off x="7179199" y="6289843"/>
            <a:ext cx="1000020" cy="230832"/>
          </a:xfrm>
          <a:prstGeom prst="rect">
            <a:avLst/>
          </a:prstGeom>
          <a:noFill/>
        </p:spPr>
        <p:txBody>
          <a:bodyPr wrap="square" rtlCol="0">
            <a:spAutoFit/>
          </a:bodyPr>
          <a:lstStyle/>
          <a:p>
            <a:pPr algn="r"/>
            <a:r>
              <a:rPr lang="pt-BR" sz="900" i="1" dirty="0"/>
              <a:t>Aprovada</a:t>
            </a:r>
          </a:p>
        </p:txBody>
      </p:sp>
      <p:sp>
        <p:nvSpPr>
          <p:cNvPr id="51" name="CaixaDeTexto 50">
            <a:extLst>
              <a:ext uri="{FF2B5EF4-FFF2-40B4-BE49-F238E27FC236}">
                <a16:creationId xmlns:a16="http://schemas.microsoft.com/office/drawing/2014/main" id="{F97308F4-9689-7537-EA9F-373E5777C991}"/>
              </a:ext>
            </a:extLst>
          </p:cNvPr>
          <p:cNvSpPr txBox="1"/>
          <p:nvPr/>
        </p:nvSpPr>
        <p:spPr>
          <a:xfrm>
            <a:off x="8459855" y="5751508"/>
            <a:ext cx="626627" cy="230832"/>
          </a:xfrm>
          <a:prstGeom prst="rect">
            <a:avLst/>
          </a:prstGeom>
          <a:noFill/>
        </p:spPr>
        <p:txBody>
          <a:bodyPr wrap="square" rtlCol="0">
            <a:spAutoFit/>
          </a:bodyPr>
          <a:lstStyle/>
          <a:p>
            <a:r>
              <a:rPr lang="pt-BR" sz="900" i="1" dirty="0"/>
              <a:t>Rejeitada</a:t>
            </a:r>
          </a:p>
        </p:txBody>
      </p:sp>
      <p:cxnSp>
        <p:nvCxnSpPr>
          <p:cNvPr id="53" name="Conector: Angulado 52">
            <a:extLst>
              <a:ext uri="{FF2B5EF4-FFF2-40B4-BE49-F238E27FC236}">
                <a16:creationId xmlns:a16="http://schemas.microsoft.com/office/drawing/2014/main" id="{94698A7B-CACA-F8F2-CC23-8F65E78F0FF9}"/>
              </a:ext>
            </a:extLst>
          </p:cNvPr>
          <p:cNvCxnSpPr>
            <a:cxnSpLocks/>
            <a:stCxn id="231" idx="2"/>
            <a:endCxn id="40" idx="2"/>
          </p:cNvCxnSpPr>
          <p:nvPr/>
        </p:nvCxnSpPr>
        <p:spPr>
          <a:xfrm rot="16200000" flipH="1">
            <a:off x="8181174" y="6117736"/>
            <a:ext cx="304280" cy="31471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ector: Angulado 44">
            <a:extLst>
              <a:ext uri="{FF2B5EF4-FFF2-40B4-BE49-F238E27FC236}">
                <a16:creationId xmlns:a16="http://schemas.microsoft.com/office/drawing/2014/main" id="{1C5BF705-9FE0-EA84-F0E5-47D4F8F88CFF}"/>
              </a:ext>
            </a:extLst>
          </p:cNvPr>
          <p:cNvCxnSpPr>
            <a:cxnSpLocks/>
            <a:stCxn id="188" idx="0"/>
            <a:endCxn id="196" idx="1"/>
          </p:cNvCxnSpPr>
          <p:nvPr/>
        </p:nvCxnSpPr>
        <p:spPr>
          <a:xfrm rot="5400000" flipH="1" flipV="1">
            <a:off x="8351137" y="3150328"/>
            <a:ext cx="128266" cy="3035139"/>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Elipse 56">
            <a:extLst>
              <a:ext uri="{FF2B5EF4-FFF2-40B4-BE49-F238E27FC236}">
                <a16:creationId xmlns:a16="http://schemas.microsoft.com/office/drawing/2014/main" id="{A617FAE1-A4F0-2AA8-56C6-AFF16F82010C}"/>
              </a:ext>
            </a:extLst>
          </p:cNvPr>
          <p:cNvSpPr/>
          <p:nvPr/>
        </p:nvSpPr>
        <p:spPr>
          <a:xfrm>
            <a:off x="7958682" y="4768471"/>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CaixaDeTexto 57">
            <a:extLst>
              <a:ext uri="{FF2B5EF4-FFF2-40B4-BE49-F238E27FC236}">
                <a16:creationId xmlns:a16="http://schemas.microsoft.com/office/drawing/2014/main" id="{710B723F-BBC2-7626-A391-E730273391A0}"/>
              </a:ext>
            </a:extLst>
          </p:cNvPr>
          <p:cNvSpPr txBox="1"/>
          <p:nvPr/>
        </p:nvSpPr>
        <p:spPr>
          <a:xfrm>
            <a:off x="8234244" y="4719057"/>
            <a:ext cx="1647878" cy="369332"/>
          </a:xfrm>
          <a:prstGeom prst="rect">
            <a:avLst/>
          </a:prstGeom>
          <a:noFill/>
        </p:spPr>
        <p:txBody>
          <a:bodyPr wrap="square" rtlCol="0">
            <a:spAutoFit/>
          </a:bodyPr>
          <a:lstStyle/>
          <a:p>
            <a:r>
              <a:rPr lang="pt-BR" sz="900" i="1" dirty="0"/>
              <a:t>GMUD rejeitada e cancelada e envolvidos notificados</a:t>
            </a:r>
          </a:p>
        </p:txBody>
      </p:sp>
      <p:cxnSp>
        <p:nvCxnSpPr>
          <p:cNvPr id="64" name="Conector de Seta Reta 63">
            <a:extLst>
              <a:ext uri="{FF2B5EF4-FFF2-40B4-BE49-F238E27FC236}">
                <a16:creationId xmlns:a16="http://schemas.microsoft.com/office/drawing/2014/main" id="{D6AC56A5-CE3B-0581-AE81-26B0532F5218}"/>
              </a:ext>
            </a:extLst>
          </p:cNvPr>
          <p:cNvCxnSpPr>
            <a:cxnSpLocks/>
            <a:stCxn id="188" idx="3"/>
            <a:endCxn id="57" idx="2"/>
          </p:cNvCxnSpPr>
          <p:nvPr/>
        </p:nvCxnSpPr>
        <p:spPr>
          <a:xfrm>
            <a:off x="7069394" y="4903723"/>
            <a:ext cx="88928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CaixaDeTexto 66">
            <a:extLst>
              <a:ext uri="{FF2B5EF4-FFF2-40B4-BE49-F238E27FC236}">
                <a16:creationId xmlns:a16="http://schemas.microsoft.com/office/drawing/2014/main" id="{978B2754-5923-F960-DEE1-BEEE778CA868}"/>
              </a:ext>
            </a:extLst>
          </p:cNvPr>
          <p:cNvSpPr txBox="1"/>
          <p:nvPr/>
        </p:nvSpPr>
        <p:spPr>
          <a:xfrm>
            <a:off x="6858989" y="5195366"/>
            <a:ext cx="1000020" cy="369332"/>
          </a:xfrm>
          <a:prstGeom prst="rect">
            <a:avLst/>
          </a:prstGeom>
          <a:noFill/>
        </p:spPr>
        <p:txBody>
          <a:bodyPr wrap="square" rtlCol="0">
            <a:spAutoFit/>
          </a:bodyPr>
          <a:lstStyle>
            <a:defPPr>
              <a:defRPr lang="pt-BR"/>
            </a:defPPr>
            <a:lvl1pPr algn="ctr">
              <a:defRPr sz="900" i="1"/>
            </a:lvl1pPr>
          </a:lstStyle>
          <a:p>
            <a:pPr algn="l"/>
            <a:r>
              <a:rPr lang="pt-BR" dirty="0"/>
              <a:t>Aprovação Delegada</a:t>
            </a:r>
          </a:p>
        </p:txBody>
      </p:sp>
      <p:sp>
        <p:nvSpPr>
          <p:cNvPr id="70" name="Elipse 69">
            <a:extLst>
              <a:ext uri="{FF2B5EF4-FFF2-40B4-BE49-F238E27FC236}">
                <a16:creationId xmlns:a16="http://schemas.microsoft.com/office/drawing/2014/main" id="{F0D0DBBA-39A5-0C9D-3A62-DF335E22A37C}"/>
              </a:ext>
            </a:extLst>
          </p:cNvPr>
          <p:cNvSpPr/>
          <p:nvPr/>
        </p:nvSpPr>
        <p:spPr>
          <a:xfrm>
            <a:off x="8345776" y="4097459"/>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CaixaDeTexto 70">
            <a:extLst>
              <a:ext uri="{FF2B5EF4-FFF2-40B4-BE49-F238E27FC236}">
                <a16:creationId xmlns:a16="http://schemas.microsoft.com/office/drawing/2014/main" id="{71995901-88CC-248E-CC2C-8D77EB1F60E1}"/>
              </a:ext>
            </a:extLst>
          </p:cNvPr>
          <p:cNvSpPr txBox="1"/>
          <p:nvPr/>
        </p:nvSpPr>
        <p:spPr>
          <a:xfrm>
            <a:off x="8621654" y="4048045"/>
            <a:ext cx="1794826" cy="369332"/>
          </a:xfrm>
          <a:prstGeom prst="rect">
            <a:avLst/>
          </a:prstGeom>
          <a:noFill/>
        </p:spPr>
        <p:txBody>
          <a:bodyPr wrap="square" rtlCol="0">
            <a:spAutoFit/>
          </a:bodyPr>
          <a:lstStyle/>
          <a:p>
            <a:r>
              <a:rPr lang="pt-BR" sz="900" i="1" dirty="0"/>
              <a:t>GMUD aprovada e HUB atualizado e envolvidos notificados</a:t>
            </a:r>
          </a:p>
        </p:txBody>
      </p:sp>
      <p:cxnSp>
        <p:nvCxnSpPr>
          <p:cNvPr id="80" name="Conector: Angulado 79">
            <a:extLst>
              <a:ext uri="{FF2B5EF4-FFF2-40B4-BE49-F238E27FC236}">
                <a16:creationId xmlns:a16="http://schemas.microsoft.com/office/drawing/2014/main" id="{9ACC6ADC-DCDB-962C-18D0-DFED20B07667}"/>
              </a:ext>
            </a:extLst>
          </p:cNvPr>
          <p:cNvCxnSpPr>
            <a:cxnSpLocks/>
            <a:stCxn id="188" idx="0"/>
            <a:endCxn id="70" idx="2"/>
          </p:cNvCxnSpPr>
          <p:nvPr/>
        </p:nvCxnSpPr>
        <p:spPr>
          <a:xfrm rot="5400000" flipH="1" flipV="1">
            <a:off x="7372079" y="3758334"/>
            <a:ext cx="499319" cy="144807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CaixaDeTexto 82">
            <a:extLst>
              <a:ext uri="{FF2B5EF4-FFF2-40B4-BE49-F238E27FC236}">
                <a16:creationId xmlns:a16="http://schemas.microsoft.com/office/drawing/2014/main" id="{670C7B4D-9444-EA72-0518-F03AF18635E3}"/>
              </a:ext>
            </a:extLst>
          </p:cNvPr>
          <p:cNvSpPr txBox="1"/>
          <p:nvPr/>
        </p:nvSpPr>
        <p:spPr>
          <a:xfrm>
            <a:off x="7093064" y="4031784"/>
            <a:ext cx="1027382" cy="230832"/>
          </a:xfrm>
          <a:prstGeom prst="rect">
            <a:avLst/>
          </a:prstGeom>
          <a:noFill/>
        </p:spPr>
        <p:txBody>
          <a:bodyPr wrap="square" rtlCol="0">
            <a:spAutoFit/>
          </a:bodyPr>
          <a:lstStyle/>
          <a:p>
            <a:r>
              <a:rPr lang="pt-BR" sz="900" i="1" dirty="0"/>
              <a:t>Aprovada</a:t>
            </a:r>
          </a:p>
        </p:txBody>
      </p:sp>
      <p:sp>
        <p:nvSpPr>
          <p:cNvPr id="6" name="Rectangle 5">
            <a:extLst>
              <a:ext uri="{FF2B5EF4-FFF2-40B4-BE49-F238E27FC236}">
                <a16:creationId xmlns:a16="http://schemas.microsoft.com/office/drawing/2014/main" id="{D8A241DA-7AD2-3624-0A28-C05E4AA9BE25}"/>
              </a:ext>
            </a:extLst>
          </p:cNvPr>
          <p:cNvSpPr/>
          <p:nvPr/>
        </p:nvSpPr>
        <p:spPr>
          <a:xfrm>
            <a:off x="10964404" y="6109846"/>
            <a:ext cx="1227596" cy="74815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pic>
        <p:nvPicPr>
          <p:cNvPr id="7" name="Picture 2">
            <a:extLst>
              <a:ext uri="{FF2B5EF4-FFF2-40B4-BE49-F238E27FC236}">
                <a16:creationId xmlns:a16="http://schemas.microsoft.com/office/drawing/2014/main" id="{A7DAE20F-0491-4FD3-7813-52841D4FD6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66782" y="6381328"/>
            <a:ext cx="873176" cy="3186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720369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5003B-1510-0BB7-D53E-5E1D30765E7A}"/>
            </a:ext>
          </a:extLst>
        </p:cNvPr>
        <p:cNvGrpSpPr/>
        <p:nvPr/>
      </p:nvGrpSpPr>
      <p:grpSpPr>
        <a:xfrm>
          <a:off x="0" y="0"/>
          <a:ext cx="0" cy="0"/>
          <a:chOff x="0" y="0"/>
          <a:chExt cx="0" cy="0"/>
        </a:xfrm>
      </p:grpSpPr>
      <p:sp>
        <p:nvSpPr>
          <p:cNvPr id="10" name="Retângulo 9">
            <a:extLst>
              <a:ext uri="{FF2B5EF4-FFF2-40B4-BE49-F238E27FC236}">
                <a16:creationId xmlns:a16="http://schemas.microsoft.com/office/drawing/2014/main" id="{E7DC6EFF-DF5A-F2B0-865D-7FF95891B55B}"/>
              </a:ext>
            </a:extLst>
          </p:cNvPr>
          <p:cNvSpPr/>
          <p:nvPr/>
        </p:nvSpPr>
        <p:spPr>
          <a:xfrm>
            <a:off x="525225" y="1088919"/>
            <a:ext cx="11237243" cy="2190841"/>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04888A08-1376-FE26-51E5-A35B139B8009}"/>
              </a:ext>
            </a:extLst>
          </p:cNvPr>
          <p:cNvSpPr txBox="1"/>
          <p:nvPr/>
        </p:nvSpPr>
        <p:spPr>
          <a:xfrm rot="16200000">
            <a:off x="-198931" y="2045840"/>
            <a:ext cx="1952584" cy="276999"/>
          </a:xfrm>
          <a:prstGeom prst="rect">
            <a:avLst/>
          </a:prstGeom>
          <a:noFill/>
        </p:spPr>
        <p:txBody>
          <a:bodyPr wrap="square" rtlCol="0">
            <a:spAutoFit/>
          </a:bodyPr>
          <a:lstStyle/>
          <a:p>
            <a:pPr algn="ctr"/>
            <a:r>
              <a:rPr lang="pt-BR" sz="1200" b="1" dirty="0"/>
              <a:t>Analista de </a:t>
            </a:r>
            <a:r>
              <a:rPr lang="pt-BR" sz="1200" b="1" dirty="0" err="1"/>
              <a:t>Plan</a:t>
            </a:r>
            <a:r>
              <a:rPr lang="pt-BR" sz="1200" b="1" dirty="0"/>
              <a:t>. De Obras</a:t>
            </a:r>
          </a:p>
        </p:txBody>
      </p:sp>
      <p:sp>
        <p:nvSpPr>
          <p:cNvPr id="12" name="Elipse 11">
            <a:extLst>
              <a:ext uri="{FF2B5EF4-FFF2-40B4-BE49-F238E27FC236}">
                <a16:creationId xmlns:a16="http://schemas.microsoft.com/office/drawing/2014/main" id="{8E3756C7-A87B-8317-29E3-284D2FF412F3}"/>
              </a:ext>
            </a:extLst>
          </p:cNvPr>
          <p:cNvSpPr/>
          <p:nvPr/>
        </p:nvSpPr>
        <p:spPr>
          <a:xfrm>
            <a:off x="1391832" y="1441219"/>
            <a:ext cx="360040" cy="360040"/>
          </a:xfrm>
          <a:prstGeom prst="ellips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804F71FE-CBB3-4E50-9BD8-ED5EAC86681E}"/>
              </a:ext>
            </a:extLst>
          </p:cNvPr>
          <p:cNvSpPr txBox="1"/>
          <p:nvPr/>
        </p:nvSpPr>
        <p:spPr>
          <a:xfrm>
            <a:off x="990882" y="1160449"/>
            <a:ext cx="1161940" cy="230832"/>
          </a:xfrm>
          <a:prstGeom prst="rect">
            <a:avLst/>
          </a:prstGeom>
          <a:noFill/>
        </p:spPr>
        <p:txBody>
          <a:bodyPr wrap="square" rtlCol="0">
            <a:spAutoFit/>
          </a:bodyPr>
          <a:lstStyle/>
          <a:p>
            <a:pPr algn="ctr"/>
            <a:r>
              <a:rPr lang="pt-BR" sz="900" dirty="0"/>
              <a:t>GMUD Aprovada</a:t>
            </a:r>
          </a:p>
        </p:txBody>
      </p:sp>
      <p:sp>
        <p:nvSpPr>
          <p:cNvPr id="14" name="Retângulo: Cantos Arredondados 13">
            <a:extLst>
              <a:ext uri="{FF2B5EF4-FFF2-40B4-BE49-F238E27FC236}">
                <a16:creationId xmlns:a16="http://schemas.microsoft.com/office/drawing/2014/main" id="{1F2C7E41-C11D-B0D7-E224-605037C660FD}"/>
              </a:ext>
            </a:extLst>
          </p:cNvPr>
          <p:cNvSpPr/>
          <p:nvPr/>
        </p:nvSpPr>
        <p:spPr>
          <a:xfrm>
            <a:off x="2154535" y="1358721"/>
            <a:ext cx="1190215"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Aceitar alterações no HUB</a:t>
            </a:r>
          </a:p>
        </p:txBody>
      </p:sp>
      <p:sp>
        <p:nvSpPr>
          <p:cNvPr id="15" name="Elipse 14">
            <a:extLst>
              <a:ext uri="{FF2B5EF4-FFF2-40B4-BE49-F238E27FC236}">
                <a16:creationId xmlns:a16="http://schemas.microsoft.com/office/drawing/2014/main" id="{721E9D8C-33A6-D363-61A2-10C8A14669DF}"/>
              </a:ext>
            </a:extLst>
          </p:cNvPr>
          <p:cNvSpPr/>
          <p:nvPr/>
        </p:nvSpPr>
        <p:spPr>
          <a:xfrm>
            <a:off x="11149767" y="1485987"/>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6" name="CaixaDeTexto 15">
            <a:extLst>
              <a:ext uri="{FF2B5EF4-FFF2-40B4-BE49-F238E27FC236}">
                <a16:creationId xmlns:a16="http://schemas.microsoft.com/office/drawing/2014/main" id="{9358C1C4-606E-1625-2F8B-D2DD24085691}"/>
              </a:ext>
            </a:extLst>
          </p:cNvPr>
          <p:cNvSpPr txBox="1"/>
          <p:nvPr/>
        </p:nvSpPr>
        <p:spPr>
          <a:xfrm>
            <a:off x="10848528" y="1814498"/>
            <a:ext cx="872983" cy="415498"/>
          </a:xfrm>
          <a:prstGeom prst="rect">
            <a:avLst/>
          </a:prstGeom>
          <a:noFill/>
        </p:spPr>
        <p:txBody>
          <a:bodyPr wrap="square" rtlCol="0">
            <a:spAutoFit/>
          </a:bodyPr>
          <a:lstStyle/>
          <a:p>
            <a:pPr algn="ctr"/>
            <a:r>
              <a:rPr lang="pt-BR" sz="1050" dirty="0"/>
              <a:t>Cronograma atualizado</a:t>
            </a:r>
          </a:p>
        </p:txBody>
      </p:sp>
      <p:cxnSp>
        <p:nvCxnSpPr>
          <p:cNvPr id="17" name="Conector de Seta Reta 16">
            <a:extLst>
              <a:ext uri="{FF2B5EF4-FFF2-40B4-BE49-F238E27FC236}">
                <a16:creationId xmlns:a16="http://schemas.microsoft.com/office/drawing/2014/main" id="{99D7D8B3-4C6D-A950-4115-076EF1E9A11C}"/>
              </a:ext>
            </a:extLst>
          </p:cNvPr>
          <p:cNvCxnSpPr>
            <a:cxnSpLocks/>
            <a:stCxn id="12" idx="6"/>
            <a:endCxn id="14" idx="1"/>
          </p:cNvCxnSpPr>
          <p:nvPr/>
        </p:nvCxnSpPr>
        <p:spPr>
          <a:xfrm>
            <a:off x="1751872" y="1621239"/>
            <a:ext cx="40266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82B40131-F299-6CB1-1EAC-191EC5B63FFD}"/>
              </a:ext>
            </a:extLst>
          </p:cNvPr>
          <p:cNvCxnSpPr>
            <a:cxnSpLocks/>
            <a:stCxn id="64" idx="3"/>
            <a:endCxn id="3" idx="1"/>
          </p:cNvCxnSpPr>
          <p:nvPr/>
        </p:nvCxnSpPr>
        <p:spPr>
          <a:xfrm>
            <a:off x="4047367" y="1621239"/>
            <a:ext cx="107832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Retângulo 19">
            <a:extLst>
              <a:ext uri="{FF2B5EF4-FFF2-40B4-BE49-F238E27FC236}">
                <a16:creationId xmlns:a16="http://schemas.microsoft.com/office/drawing/2014/main" id="{9C50D975-88BD-12A8-0A4F-18F0E345CF2F}"/>
              </a:ext>
            </a:extLst>
          </p:cNvPr>
          <p:cNvSpPr/>
          <p:nvPr/>
        </p:nvSpPr>
        <p:spPr>
          <a:xfrm>
            <a:off x="525225" y="3279761"/>
            <a:ext cx="11237243" cy="138788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Retângulo 20">
            <a:extLst>
              <a:ext uri="{FF2B5EF4-FFF2-40B4-BE49-F238E27FC236}">
                <a16:creationId xmlns:a16="http://schemas.microsoft.com/office/drawing/2014/main" id="{AC28285B-CC6D-F762-4F34-B2DF780C4EBC}"/>
              </a:ext>
            </a:extLst>
          </p:cNvPr>
          <p:cNvSpPr/>
          <p:nvPr/>
        </p:nvSpPr>
        <p:spPr>
          <a:xfrm>
            <a:off x="525225" y="4677888"/>
            <a:ext cx="11237243" cy="1559424"/>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CaixaDeTexto 22">
            <a:extLst>
              <a:ext uri="{FF2B5EF4-FFF2-40B4-BE49-F238E27FC236}">
                <a16:creationId xmlns:a16="http://schemas.microsoft.com/office/drawing/2014/main" id="{CF4611D2-DD63-5664-B4BC-7D107A337204}"/>
              </a:ext>
            </a:extLst>
          </p:cNvPr>
          <p:cNvSpPr txBox="1"/>
          <p:nvPr/>
        </p:nvSpPr>
        <p:spPr>
          <a:xfrm rot="16200000">
            <a:off x="135685" y="3742873"/>
            <a:ext cx="1341296" cy="461665"/>
          </a:xfrm>
          <a:prstGeom prst="rect">
            <a:avLst/>
          </a:prstGeom>
          <a:noFill/>
        </p:spPr>
        <p:txBody>
          <a:bodyPr wrap="square" rtlCol="0">
            <a:spAutoFit/>
          </a:bodyPr>
          <a:lstStyle/>
          <a:p>
            <a:pPr algn="ctr"/>
            <a:r>
              <a:rPr lang="pt-BR" sz="1200" b="1" dirty="0"/>
              <a:t>Manut. Prev. / Obras / Operação</a:t>
            </a:r>
          </a:p>
        </p:txBody>
      </p:sp>
      <p:sp>
        <p:nvSpPr>
          <p:cNvPr id="24" name="CaixaDeTexto 23">
            <a:extLst>
              <a:ext uri="{FF2B5EF4-FFF2-40B4-BE49-F238E27FC236}">
                <a16:creationId xmlns:a16="http://schemas.microsoft.com/office/drawing/2014/main" id="{8F779EF8-B840-56AD-405C-C662765A65D7}"/>
              </a:ext>
            </a:extLst>
          </p:cNvPr>
          <p:cNvSpPr txBox="1"/>
          <p:nvPr/>
        </p:nvSpPr>
        <p:spPr>
          <a:xfrm rot="16200000">
            <a:off x="99789" y="5319101"/>
            <a:ext cx="1413091" cy="276999"/>
          </a:xfrm>
          <a:prstGeom prst="rect">
            <a:avLst/>
          </a:prstGeom>
          <a:noFill/>
        </p:spPr>
        <p:txBody>
          <a:bodyPr wrap="square" rtlCol="0">
            <a:spAutoFit/>
          </a:bodyPr>
          <a:lstStyle/>
          <a:p>
            <a:pPr algn="ctr"/>
            <a:r>
              <a:rPr lang="pt-BR" sz="1200" b="1" dirty="0"/>
              <a:t>Comissionamento</a:t>
            </a:r>
          </a:p>
        </p:txBody>
      </p:sp>
      <p:cxnSp>
        <p:nvCxnSpPr>
          <p:cNvPr id="44" name="Conector: Angulado 43">
            <a:extLst>
              <a:ext uri="{FF2B5EF4-FFF2-40B4-BE49-F238E27FC236}">
                <a16:creationId xmlns:a16="http://schemas.microsoft.com/office/drawing/2014/main" id="{32554C15-8BB8-9D53-B1A8-B704BFA5AF5A}"/>
              </a:ext>
            </a:extLst>
          </p:cNvPr>
          <p:cNvCxnSpPr>
            <a:cxnSpLocks/>
            <a:stCxn id="78" idx="4"/>
            <a:endCxn id="101" idx="2"/>
          </p:cNvCxnSpPr>
          <p:nvPr/>
        </p:nvCxnSpPr>
        <p:spPr>
          <a:xfrm rot="5400000" flipH="1" flipV="1">
            <a:off x="7363079" y="-255652"/>
            <a:ext cx="622944" cy="4901761"/>
          </a:xfrm>
          <a:prstGeom prst="bentConnector3">
            <a:avLst>
              <a:gd name="adj1" fmla="val -3669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E43056A3-C3B8-D3CB-B35F-5385D44337B0}"/>
              </a:ext>
            </a:extLst>
          </p:cNvPr>
          <p:cNvCxnSpPr>
            <a:cxnSpLocks/>
            <a:stCxn id="101" idx="3"/>
            <a:endCxn id="15" idx="2"/>
          </p:cNvCxnSpPr>
          <p:nvPr/>
        </p:nvCxnSpPr>
        <p:spPr>
          <a:xfrm>
            <a:off x="10780050" y="1621239"/>
            <a:ext cx="3697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2" name="Título 3">
            <a:extLst>
              <a:ext uri="{FF2B5EF4-FFF2-40B4-BE49-F238E27FC236}">
                <a16:creationId xmlns:a16="http://schemas.microsoft.com/office/drawing/2014/main" id="{F83FC04A-FE80-C139-D6C5-1EC5EB88F107}"/>
              </a:ext>
            </a:extLst>
          </p:cNvPr>
          <p:cNvSpPr>
            <a:spLocks noGrp="1"/>
          </p:cNvSpPr>
          <p:nvPr>
            <p:ph type="title"/>
          </p:nvPr>
        </p:nvSpPr>
        <p:spPr>
          <a:xfrm>
            <a:off x="1089653" y="303578"/>
            <a:ext cx="10485852" cy="645195"/>
          </a:xfrm>
        </p:spPr>
        <p:txBody>
          <a:bodyPr/>
          <a:lstStyle/>
          <a:p>
            <a:r>
              <a:rPr lang="pt-BR" dirty="0"/>
              <a:t>GMUD</a:t>
            </a:r>
            <a:br>
              <a:rPr lang="pt-BR" dirty="0"/>
            </a:br>
            <a:r>
              <a:rPr lang="pt-BR" sz="1600" b="0" dirty="0"/>
              <a:t>Fluxograma do Processo de </a:t>
            </a:r>
            <a:r>
              <a:rPr lang="pt-BR" sz="1600" dirty="0">
                <a:solidFill>
                  <a:srgbClr val="03738E"/>
                </a:solidFill>
              </a:rPr>
              <a:t>Atualização em Controles e Sistemas Terceiros</a:t>
            </a:r>
            <a:endParaRPr lang="pt-BR" dirty="0">
              <a:solidFill>
                <a:srgbClr val="03738E"/>
              </a:solidFill>
            </a:endParaRPr>
          </a:p>
        </p:txBody>
      </p:sp>
      <p:sp>
        <p:nvSpPr>
          <p:cNvPr id="3" name="Retângulo: Cantos Arredondados 2">
            <a:extLst>
              <a:ext uri="{FF2B5EF4-FFF2-40B4-BE49-F238E27FC236}">
                <a16:creationId xmlns:a16="http://schemas.microsoft.com/office/drawing/2014/main" id="{CD5A5BA0-CFE8-6F28-15AC-2990F140E09A}"/>
              </a:ext>
            </a:extLst>
          </p:cNvPr>
          <p:cNvSpPr/>
          <p:nvPr/>
        </p:nvSpPr>
        <p:spPr>
          <a:xfrm>
            <a:off x="5125689" y="1358721"/>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Preencher campos restantes da linha de serviço</a:t>
            </a:r>
          </a:p>
        </p:txBody>
      </p:sp>
      <p:sp>
        <p:nvSpPr>
          <p:cNvPr id="4" name="Retângulo: Cantos Arredondados 3">
            <a:extLst>
              <a:ext uri="{FF2B5EF4-FFF2-40B4-BE49-F238E27FC236}">
                <a16:creationId xmlns:a16="http://schemas.microsoft.com/office/drawing/2014/main" id="{9DC4D5DE-CBB3-046B-72AA-6EE5D73B011C}"/>
              </a:ext>
            </a:extLst>
          </p:cNvPr>
          <p:cNvSpPr/>
          <p:nvPr/>
        </p:nvSpPr>
        <p:spPr>
          <a:xfrm>
            <a:off x="6649900" y="1358721"/>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Atualizar materiais necessários</a:t>
            </a:r>
          </a:p>
        </p:txBody>
      </p:sp>
      <p:cxnSp>
        <p:nvCxnSpPr>
          <p:cNvPr id="7" name="Conector de Seta Reta 6">
            <a:extLst>
              <a:ext uri="{FF2B5EF4-FFF2-40B4-BE49-F238E27FC236}">
                <a16:creationId xmlns:a16="http://schemas.microsoft.com/office/drawing/2014/main" id="{77E04F11-A073-6694-585D-3C54AE9BA84C}"/>
              </a:ext>
            </a:extLst>
          </p:cNvPr>
          <p:cNvCxnSpPr>
            <a:cxnSpLocks/>
            <a:stCxn id="3" idx="3"/>
            <a:endCxn id="4" idx="1"/>
          </p:cNvCxnSpPr>
          <p:nvPr/>
        </p:nvCxnSpPr>
        <p:spPr>
          <a:xfrm>
            <a:off x="6434926" y="1621239"/>
            <a:ext cx="2149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ector de Seta Reta 59">
            <a:extLst>
              <a:ext uri="{FF2B5EF4-FFF2-40B4-BE49-F238E27FC236}">
                <a16:creationId xmlns:a16="http://schemas.microsoft.com/office/drawing/2014/main" id="{349B353E-0463-53C2-8576-0F7B62CE0C5D}"/>
              </a:ext>
            </a:extLst>
          </p:cNvPr>
          <p:cNvCxnSpPr>
            <a:cxnSpLocks/>
            <a:stCxn id="14" idx="3"/>
            <a:endCxn id="64" idx="1"/>
          </p:cNvCxnSpPr>
          <p:nvPr/>
        </p:nvCxnSpPr>
        <p:spPr>
          <a:xfrm>
            <a:off x="3344750" y="1621239"/>
            <a:ext cx="3592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Losango 63">
            <a:extLst>
              <a:ext uri="{FF2B5EF4-FFF2-40B4-BE49-F238E27FC236}">
                <a16:creationId xmlns:a16="http://schemas.microsoft.com/office/drawing/2014/main" id="{24BE68CE-0CB1-B9BE-F43E-50363A0DD0BC}"/>
              </a:ext>
            </a:extLst>
          </p:cNvPr>
          <p:cNvSpPr/>
          <p:nvPr/>
        </p:nvSpPr>
        <p:spPr>
          <a:xfrm>
            <a:off x="3703981" y="1449546"/>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x</a:t>
            </a:r>
          </a:p>
        </p:txBody>
      </p:sp>
      <p:sp>
        <p:nvSpPr>
          <p:cNvPr id="73" name="Elipse 72">
            <a:extLst>
              <a:ext uri="{FF2B5EF4-FFF2-40B4-BE49-F238E27FC236}">
                <a16:creationId xmlns:a16="http://schemas.microsoft.com/office/drawing/2014/main" id="{F5DFC0A4-63B6-C1C4-27F4-1A2B0AB3488C}"/>
              </a:ext>
            </a:extLst>
          </p:cNvPr>
          <p:cNvSpPr/>
          <p:nvPr/>
        </p:nvSpPr>
        <p:spPr>
          <a:xfrm>
            <a:off x="8319754" y="1485987"/>
            <a:ext cx="270504" cy="270504"/>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4" name="CaixaDeTexto 73">
            <a:extLst>
              <a:ext uri="{FF2B5EF4-FFF2-40B4-BE49-F238E27FC236}">
                <a16:creationId xmlns:a16="http://schemas.microsoft.com/office/drawing/2014/main" id="{28A3CD6F-E911-93D5-BDB6-97BB0ABF5853}"/>
              </a:ext>
            </a:extLst>
          </p:cNvPr>
          <p:cNvSpPr txBox="1"/>
          <p:nvPr/>
        </p:nvSpPr>
        <p:spPr>
          <a:xfrm>
            <a:off x="7874036" y="1160449"/>
            <a:ext cx="1161940" cy="230832"/>
          </a:xfrm>
          <a:prstGeom prst="rect">
            <a:avLst/>
          </a:prstGeom>
          <a:noFill/>
        </p:spPr>
        <p:txBody>
          <a:bodyPr wrap="square" rtlCol="0">
            <a:spAutoFit/>
          </a:bodyPr>
          <a:lstStyle/>
          <a:p>
            <a:pPr algn="ctr"/>
            <a:r>
              <a:rPr lang="pt-BR" sz="900" dirty="0"/>
              <a:t>HUB atualizado</a:t>
            </a:r>
          </a:p>
        </p:txBody>
      </p:sp>
      <p:cxnSp>
        <p:nvCxnSpPr>
          <p:cNvPr id="75" name="Conector de Seta Reta 74">
            <a:extLst>
              <a:ext uri="{FF2B5EF4-FFF2-40B4-BE49-F238E27FC236}">
                <a16:creationId xmlns:a16="http://schemas.microsoft.com/office/drawing/2014/main" id="{EA1B6EF4-A29A-DE1B-2A19-8967236DD7B0}"/>
              </a:ext>
            </a:extLst>
          </p:cNvPr>
          <p:cNvCxnSpPr>
            <a:cxnSpLocks/>
            <a:stCxn id="4" idx="3"/>
            <a:endCxn id="73" idx="2"/>
          </p:cNvCxnSpPr>
          <p:nvPr/>
        </p:nvCxnSpPr>
        <p:spPr>
          <a:xfrm>
            <a:off x="7959137" y="1621239"/>
            <a:ext cx="36061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Elipse 77">
            <a:extLst>
              <a:ext uri="{FF2B5EF4-FFF2-40B4-BE49-F238E27FC236}">
                <a16:creationId xmlns:a16="http://schemas.microsoft.com/office/drawing/2014/main" id="{5063A91D-1FB1-75F9-B0A5-7440A439E312}"/>
              </a:ext>
            </a:extLst>
          </p:cNvPr>
          <p:cNvSpPr/>
          <p:nvPr/>
        </p:nvSpPr>
        <p:spPr>
          <a:xfrm>
            <a:off x="5088419" y="2236197"/>
            <a:ext cx="270504" cy="270504"/>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9" name="CaixaDeTexto 78">
            <a:extLst>
              <a:ext uri="{FF2B5EF4-FFF2-40B4-BE49-F238E27FC236}">
                <a16:creationId xmlns:a16="http://schemas.microsoft.com/office/drawing/2014/main" id="{FA1ADBC2-379C-AD08-2FA3-CDE142D906B9}"/>
              </a:ext>
            </a:extLst>
          </p:cNvPr>
          <p:cNvSpPr txBox="1"/>
          <p:nvPr/>
        </p:nvSpPr>
        <p:spPr>
          <a:xfrm>
            <a:off x="5386798" y="2069999"/>
            <a:ext cx="1853610" cy="577081"/>
          </a:xfrm>
          <a:prstGeom prst="rect">
            <a:avLst/>
          </a:prstGeom>
          <a:noFill/>
        </p:spPr>
        <p:txBody>
          <a:bodyPr wrap="square" rtlCol="0">
            <a:spAutoFit/>
          </a:bodyPr>
          <a:lstStyle/>
          <a:p>
            <a:r>
              <a:rPr lang="pt-BR" sz="1050" b="1" dirty="0"/>
              <a:t>HUB atualizado: </a:t>
            </a:r>
            <a:r>
              <a:rPr lang="pt-BR" sz="1050" dirty="0"/>
              <a:t>Linha de serviço com status cancelado e envolvidos notificados </a:t>
            </a:r>
          </a:p>
        </p:txBody>
      </p:sp>
      <p:sp>
        <p:nvSpPr>
          <p:cNvPr id="82" name="Retângulo: Cantos Arredondados 81">
            <a:extLst>
              <a:ext uri="{FF2B5EF4-FFF2-40B4-BE49-F238E27FC236}">
                <a16:creationId xmlns:a16="http://schemas.microsoft.com/office/drawing/2014/main" id="{BBD5EDCE-B436-45B9-7F1D-2BE275F539F0}"/>
              </a:ext>
            </a:extLst>
          </p:cNvPr>
          <p:cNvSpPr/>
          <p:nvPr/>
        </p:nvSpPr>
        <p:spPr>
          <a:xfrm>
            <a:off x="3221055" y="2108931"/>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Realocar materiais</a:t>
            </a:r>
          </a:p>
        </p:txBody>
      </p:sp>
      <p:cxnSp>
        <p:nvCxnSpPr>
          <p:cNvPr id="83" name="Conector de Seta Reta 82">
            <a:extLst>
              <a:ext uri="{FF2B5EF4-FFF2-40B4-BE49-F238E27FC236}">
                <a16:creationId xmlns:a16="http://schemas.microsoft.com/office/drawing/2014/main" id="{EAF3B356-7605-C022-64CB-04FB7494FDC6}"/>
              </a:ext>
            </a:extLst>
          </p:cNvPr>
          <p:cNvCxnSpPr>
            <a:cxnSpLocks/>
            <a:stCxn id="64" idx="2"/>
            <a:endCxn id="82" idx="0"/>
          </p:cNvCxnSpPr>
          <p:nvPr/>
        </p:nvCxnSpPr>
        <p:spPr>
          <a:xfrm>
            <a:off x="3875674" y="1792932"/>
            <a:ext cx="0" cy="3159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Conector de Seta Reta 86">
            <a:extLst>
              <a:ext uri="{FF2B5EF4-FFF2-40B4-BE49-F238E27FC236}">
                <a16:creationId xmlns:a16="http://schemas.microsoft.com/office/drawing/2014/main" id="{C5225B78-7992-B74D-D947-9F066AB5A1E7}"/>
              </a:ext>
            </a:extLst>
          </p:cNvPr>
          <p:cNvCxnSpPr>
            <a:cxnSpLocks/>
            <a:stCxn id="82" idx="3"/>
            <a:endCxn id="78" idx="2"/>
          </p:cNvCxnSpPr>
          <p:nvPr/>
        </p:nvCxnSpPr>
        <p:spPr>
          <a:xfrm>
            <a:off x="4530292" y="2371449"/>
            <a:ext cx="55812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CaixaDeTexto 89">
            <a:extLst>
              <a:ext uri="{FF2B5EF4-FFF2-40B4-BE49-F238E27FC236}">
                <a16:creationId xmlns:a16="http://schemas.microsoft.com/office/drawing/2014/main" id="{99721693-C850-97D3-473F-2C96470FC6E7}"/>
              </a:ext>
            </a:extLst>
          </p:cNvPr>
          <p:cNvSpPr txBox="1"/>
          <p:nvPr/>
        </p:nvSpPr>
        <p:spPr>
          <a:xfrm>
            <a:off x="3819223" y="1809000"/>
            <a:ext cx="1161940" cy="230832"/>
          </a:xfrm>
          <a:prstGeom prst="rect">
            <a:avLst/>
          </a:prstGeom>
          <a:noFill/>
        </p:spPr>
        <p:txBody>
          <a:bodyPr wrap="square" rtlCol="0">
            <a:spAutoFit/>
          </a:bodyPr>
          <a:lstStyle/>
          <a:p>
            <a:pPr algn="ctr"/>
            <a:r>
              <a:rPr lang="pt-BR" sz="900" dirty="0"/>
              <a:t>GMUD de Exclusão</a:t>
            </a:r>
          </a:p>
        </p:txBody>
      </p:sp>
      <p:sp>
        <p:nvSpPr>
          <p:cNvPr id="91" name="CaixaDeTexto 90">
            <a:extLst>
              <a:ext uri="{FF2B5EF4-FFF2-40B4-BE49-F238E27FC236}">
                <a16:creationId xmlns:a16="http://schemas.microsoft.com/office/drawing/2014/main" id="{DF01ED56-FF11-E6E7-7E90-AD85ECD850A7}"/>
              </a:ext>
            </a:extLst>
          </p:cNvPr>
          <p:cNvSpPr txBox="1"/>
          <p:nvPr/>
        </p:nvSpPr>
        <p:spPr>
          <a:xfrm>
            <a:off x="3941982" y="1227383"/>
            <a:ext cx="1161940" cy="369332"/>
          </a:xfrm>
          <a:prstGeom prst="rect">
            <a:avLst/>
          </a:prstGeom>
          <a:noFill/>
        </p:spPr>
        <p:txBody>
          <a:bodyPr wrap="square" rtlCol="0">
            <a:spAutoFit/>
          </a:bodyPr>
          <a:lstStyle/>
          <a:p>
            <a:pPr algn="ctr"/>
            <a:r>
              <a:rPr lang="pt-BR" sz="900" dirty="0"/>
              <a:t>GMUD de inclusão ou alteração</a:t>
            </a:r>
          </a:p>
        </p:txBody>
      </p:sp>
      <p:sp>
        <p:nvSpPr>
          <p:cNvPr id="94" name="Elipse 93">
            <a:extLst>
              <a:ext uri="{FF2B5EF4-FFF2-40B4-BE49-F238E27FC236}">
                <a16:creationId xmlns:a16="http://schemas.microsoft.com/office/drawing/2014/main" id="{8FCE64EB-4F0A-209F-DEE1-05A89F03A9A3}"/>
              </a:ext>
            </a:extLst>
          </p:cNvPr>
          <p:cNvSpPr/>
          <p:nvPr/>
        </p:nvSpPr>
        <p:spPr>
          <a:xfrm>
            <a:off x="8876886" y="1988840"/>
            <a:ext cx="270504" cy="270504"/>
          </a:xfrm>
          <a:prstGeom prst="ellipse">
            <a:avLst/>
          </a:prstGeom>
          <a:solidFill>
            <a:schemeClr val="bg1"/>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rgbClr val="009DC3"/>
                </a:solidFill>
              </a:rPr>
              <a:t>1</a:t>
            </a:r>
          </a:p>
        </p:txBody>
      </p:sp>
      <p:cxnSp>
        <p:nvCxnSpPr>
          <p:cNvPr id="95" name="Conector de Seta Reta 94">
            <a:extLst>
              <a:ext uri="{FF2B5EF4-FFF2-40B4-BE49-F238E27FC236}">
                <a16:creationId xmlns:a16="http://schemas.microsoft.com/office/drawing/2014/main" id="{3BA932EE-7AD7-8D42-1592-E2422E5067BF}"/>
              </a:ext>
            </a:extLst>
          </p:cNvPr>
          <p:cNvCxnSpPr>
            <a:cxnSpLocks/>
            <a:stCxn id="73" idx="6"/>
            <a:endCxn id="111" idx="1"/>
          </p:cNvCxnSpPr>
          <p:nvPr/>
        </p:nvCxnSpPr>
        <p:spPr>
          <a:xfrm>
            <a:off x="8590258" y="1621239"/>
            <a:ext cx="25018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Elipse 97">
            <a:extLst>
              <a:ext uri="{FF2B5EF4-FFF2-40B4-BE49-F238E27FC236}">
                <a16:creationId xmlns:a16="http://schemas.microsoft.com/office/drawing/2014/main" id="{7AEC76F8-2067-BD4D-381B-A8D8E1F3E7ED}"/>
              </a:ext>
            </a:extLst>
          </p:cNvPr>
          <p:cNvSpPr/>
          <p:nvPr/>
        </p:nvSpPr>
        <p:spPr>
          <a:xfrm>
            <a:off x="1398911" y="3653718"/>
            <a:ext cx="270504" cy="270504"/>
          </a:xfrm>
          <a:prstGeom prst="ellipse">
            <a:avLst/>
          </a:prstGeom>
          <a:solidFill>
            <a:srgbClr val="03738E"/>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bg1"/>
                </a:solidFill>
              </a:rPr>
              <a:t>1</a:t>
            </a:r>
          </a:p>
        </p:txBody>
      </p:sp>
      <p:sp>
        <p:nvSpPr>
          <p:cNvPr id="101" name="Retângulo: Cantos Arredondados 100">
            <a:extLst>
              <a:ext uri="{FF2B5EF4-FFF2-40B4-BE49-F238E27FC236}">
                <a16:creationId xmlns:a16="http://schemas.microsoft.com/office/drawing/2014/main" id="{28E451B7-685E-07D0-A7DF-733EC8F50E1F}"/>
              </a:ext>
            </a:extLst>
          </p:cNvPr>
          <p:cNvSpPr/>
          <p:nvPr/>
        </p:nvSpPr>
        <p:spPr>
          <a:xfrm>
            <a:off x="9470813" y="1358721"/>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Atualizar cronograma</a:t>
            </a:r>
          </a:p>
        </p:txBody>
      </p:sp>
      <p:cxnSp>
        <p:nvCxnSpPr>
          <p:cNvPr id="105" name="Conector de Seta Reta 104">
            <a:extLst>
              <a:ext uri="{FF2B5EF4-FFF2-40B4-BE49-F238E27FC236}">
                <a16:creationId xmlns:a16="http://schemas.microsoft.com/office/drawing/2014/main" id="{5D7E2B92-6FEE-D888-1B19-B255A516C63F}"/>
              </a:ext>
            </a:extLst>
          </p:cNvPr>
          <p:cNvCxnSpPr>
            <a:cxnSpLocks/>
            <a:stCxn id="111" idx="2"/>
            <a:endCxn id="94" idx="0"/>
          </p:cNvCxnSpPr>
          <p:nvPr/>
        </p:nvCxnSpPr>
        <p:spPr>
          <a:xfrm>
            <a:off x="9012138" y="1792932"/>
            <a:ext cx="0" cy="1959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Losango 110">
            <a:extLst>
              <a:ext uri="{FF2B5EF4-FFF2-40B4-BE49-F238E27FC236}">
                <a16:creationId xmlns:a16="http://schemas.microsoft.com/office/drawing/2014/main" id="{2C07017E-6FEF-E294-31B8-15AF31138BAA}"/>
              </a:ext>
            </a:extLst>
          </p:cNvPr>
          <p:cNvSpPr/>
          <p:nvPr/>
        </p:nvSpPr>
        <p:spPr>
          <a:xfrm>
            <a:off x="8840445" y="1449546"/>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a:t>
            </a:r>
          </a:p>
        </p:txBody>
      </p:sp>
      <p:cxnSp>
        <p:nvCxnSpPr>
          <p:cNvPr id="113" name="Conector de Seta Reta 112">
            <a:extLst>
              <a:ext uri="{FF2B5EF4-FFF2-40B4-BE49-F238E27FC236}">
                <a16:creationId xmlns:a16="http://schemas.microsoft.com/office/drawing/2014/main" id="{C2C89EAA-87A1-CDF3-BC90-CD004E11FB41}"/>
              </a:ext>
            </a:extLst>
          </p:cNvPr>
          <p:cNvCxnSpPr>
            <a:cxnSpLocks/>
            <a:stCxn id="111" idx="3"/>
            <a:endCxn id="101" idx="1"/>
          </p:cNvCxnSpPr>
          <p:nvPr/>
        </p:nvCxnSpPr>
        <p:spPr>
          <a:xfrm>
            <a:off x="9183831" y="1621239"/>
            <a:ext cx="286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Conector de Seta Reta 129">
            <a:extLst>
              <a:ext uri="{FF2B5EF4-FFF2-40B4-BE49-F238E27FC236}">
                <a16:creationId xmlns:a16="http://schemas.microsoft.com/office/drawing/2014/main" id="{0AA173E5-A1FF-40D3-4E75-5008270FA14E}"/>
              </a:ext>
            </a:extLst>
          </p:cNvPr>
          <p:cNvCxnSpPr>
            <a:cxnSpLocks/>
            <a:stCxn id="98" idx="6"/>
            <a:endCxn id="136" idx="1"/>
          </p:cNvCxnSpPr>
          <p:nvPr/>
        </p:nvCxnSpPr>
        <p:spPr>
          <a:xfrm>
            <a:off x="1669415" y="3788970"/>
            <a:ext cx="5324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3" name="Elipse 132">
            <a:extLst>
              <a:ext uri="{FF2B5EF4-FFF2-40B4-BE49-F238E27FC236}">
                <a16:creationId xmlns:a16="http://schemas.microsoft.com/office/drawing/2014/main" id="{26EDFEE6-FC7F-161B-D338-199D894702F7}"/>
              </a:ext>
            </a:extLst>
          </p:cNvPr>
          <p:cNvSpPr/>
          <p:nvPr/>
        </p:nvSpPr>
        <p:spPr>
          <a:xfrm>
            <a:off x="1398911" y="4991036"/>
            <a:ext cx="270504" cy="270504"/>
          </a:xfrm>
          <a:prstGeom prst="ellipse">
            <a:avLst/>
          </a:prstGeom>
          <a:solidFill>
            <a:srgbClr val="03738E"/>
          </a:solidFill>
          <a:ln>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600" dirty="0">
                <a:solidFill>
                  <a:schemeClr val="bg1"/>
                </a:solidFill>
              </a:rPr>
              <a:t>1</a:t>
            </a:r>
          </a:p>
        </p:txBody>
      </p:sp>
      <p:cxnSp>
        <p:nvCxnSpPr>
          <p:cNvPr id="135" name="Conector de Seta Reta 134">
            <a:extLst>
              <a:ext uri="{FF2B5EF4-FFF2-40B4-BE49-F238E27FC236}">
                <a16:creationId xmlns:a16="http://schemas.microsoft.com/office/drawing/2014/main" id="{5970205D-0D62-D6E9-5EA3-6EDD431E3F0E}"/>
              </a:ext>
            </a:extLst>
          </p:cNvPr>
          <p:cNvCxnSpPr>
            <a:cxnSpLocks/>
            <a:stCxn id="133" idx="6"/>
            <a:endCxn id="155" idx="1"/>
          </p:cNvCxnSpPr>
          <p:nvPr/>
        </p:nvCxnSpPr>
        <p:spPr>
          <a:xfrm>
            <a:off x="1669415" y="5126288"/>
            <a:ext cx="5233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6" name="Retângulo: Cantos Arredondados 135">
            <a:extLst>
              <a:ext uri="{FF2B5EF4-FFF2-40B4-BE49-F238E27FC236}">
                <a16:creationId xmlns:a16="http://schemas.microsoft.com/office/drawing/2014/main" id="{CAA5F5FB-C41C-99DF-9F3F-91C381736D5B}"/>
              </a:ext>
            </a:extLst>
          </p:cNvPr>
          <p:cNvSpPr/>
          <p:nvPr/>
        </p:nvSpPr>
        <p:spPr>
          <a:xfrm>
            <a:off x="2201816" y="3526452"/>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Criar ou Atualizar </a:t>
            </a:r>
            <a:r>
              <a:rPr lang="pt-BR" sz="1000" dirty="0" err="1">
                <a:solidFill>
                  <a:schemeClr val="tx1"/>
                </a:solidFill>
              </a:rPr>
              <a:t>Job</a:t>
            </a:r>
            <a:r>
              <a:rPr lang="pt-BR" sz="1000" dirty="0">
                <a:solidFill>
                  <a:schemeClr val="tx1"/>
                </a:solidFill>
              </a:rPr>
              <a:t> ou </a:t>
            </a:r>
            <a:r>
              <a:rPr lang="pt-BR" sz="1000" dirty="0" err="1">
                <a:solidFill>
                  <a:schemeClr val="tx1"/>
                </a:solidFill>
              </a:rPr>
              <a:t>OneTime</a:t>
            </a:r>
            <a:r>
              <a:rPr lang="pt-BR" sz="1000" dirty="0">
                <a:solidFill>
                  <a:schemeClr val="tx1"/>
                </a:solidFill>
              </a:rPr>
              <a:t> </a:t>
            </a:r>
            <a:r>
              <a:rPr lang="pt-BR" sz="1000" dirty="0" err="1">
                <a:solidFill>
                  <a:schemeClr val="tx1"/>
                </a:solidFill>
              </a:rPr>
              <a:t>Job</a:t>
            </a:r>
            <a:r>
              <a:rPr lang="pt-BR" sz="1000" dirty="0">
                <a:solidFill>
                  <a:schemeClr val="tx1"/>
                </a:solidFill>
              </a:rPr>
              <a:t> no TM Master</a:t>
            </a:r>
          </a:p>
        </p:txBody>
      </p:sp>
      <p:sp>
        <p:nvSpPr>
          <p:cNvPr id="140" name="Retângulo: Cantos Arredondados 139">
            <a:extLst>
              <a:ext uri="{FF2B5EF4-FFF2-40B4-BE49-F238E27FC236}">
                <a16:creationId xmlns:a16="http://schemas.microsoft.com/office/drawing/2014/main" id="{6562EAB3-2F2B-294D-37CF-D4FF4B15DBD8}"/>
              </a:ext>
            </a:extLst>
          </p:cNvPr>
          <p:cNvSpPr/>
          <p:nvPr/>
        </p:nvSpPr>
        <p:spPr>
          <a:xfrm>
            <a:off x="8660559" y="3526452"/>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no HUB que a OS foi criada ou atualizada</a:t>
            </a:r>
          </a:p>
        </p:txBody>
      </p:sp>
      <p:cxnSp>
        <p:nvCxnSpPr>
          <p:cNvPr id="141" name="Conector de Seta Reta 140">
            <a:extLst>
              <a:ext uri="{FF2B5EF4-FFF2-40B4-BE49-F238E27FC236}">
                <a16:creationId xmlns:a16="http://schemas.microsoft.com/office/drawing/2014/main" id="{F7963860-FB7C-ADF3-A811-D05C95542292}"/>
              </a:ext>
            </a:extLst>
          </p:cNvPr>
          <p:cNvCxnSpPr>
            <a:cxnSpLocks/>
            <a:stCxn id="136" idx="3"/>
            <a:endCxn id="38" idx="1"/>
          </p:cNvCxnSpPr>
          <p:nvPr/>
        </p:nvCxnSpPr>
        <p:spPr>
          <a:xfrm>
            <a:off x="3511053" y="3788970"/>
            <a:ext cx="5324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4" name="Elipse 143">
            <a:extLst>
              <a:ext uri="{FF2B5EF4-FFF2-40B4-BE49-F238E27FC236}">
                <a16:creationId xmlns:a16="http://schemas.microsoft.com/office/drawing/2014/main" id="{7E24457F-9D64-64E0-75F7-89621992FDD4}"/>
              </a:ext>
            </a:extLst>
          </p:cNvPr>
          <p:cNvSpPr/>
          <p:nvPr/>
        </p:nvSpPr>
        <p:spPr>
          <a:xfrm>
            <a:off x="10502199" y="3653718"/>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5" name="CaixaDeTexto 144">
            <a:extLst>
              <a:ext uri="{FF2B5EF4-FFF2-40B4-BE49-F238E27FC236}">
                <a16:creationId xmlns:a16="http://schemas.microsoft.com/office/drawing/2014/main" id="{3716F094-97C2-5DFC-4F10-89ED144C4A7A}"/>
              </a:ext>
            </a:extLst>
          </p:cNvPr>
          <p:cNvSpPr txBox="1"/>
          <p:nvPr/>
        </p:nvSpPr>
        <p:spPr>
          <a:xfrm>
            <a:off x="9864180" y="3993578"/>
            <a:ext cx="1546542" cy="577081"/>
          </a:xfrm>
          <a:prstGeom prst="rect">
            <a:avLst/>
          </a:prstGeom>
          <a:noFill/>
        </p:spPr>
        <p:txBody>
          <a:bodyPr wrap="square" rtlCol="0">
            <a:spAutoFit/>
          </a:bodyPr>
          <a:lstStyle/>
          <a:p>
            <a:pPr algn="ctr"/>
            <a:r>
              <a:rPr lang="pt-BR" sz="1050" dirty="0"/>
              <a:t>TM Master e HUB atualizados e envolvidos notificados</a:t>
            </a:r>
          </a:p>
        </p:txBody>
      </p:sp>
      <p:cxnSp>
        <p:nvCxnSpPr>
          <p:cNvPr id="146" name="Conector de Seta Reta 145">
            <a:extLst>
              <a:ext uri="{FF2B5EF4-FFF2-40B4-BE49-F238E27FC236}">
                <a16:creationId xmlns:a16="http://schemas.microsoft.com/office/drawing/2014/main" id="{90439DB6-A27A-1842-4FB7-AF9BB9DF21DD}"/>
              </a:ext>
            </a:extLst>
          </p:cNvPr>
          <p:cNvCxnSpPr>
            <a:cxnSpLocks/>
            <a:stCxn id="140" idx="3"/>
            <a:endCxn id="144" idx="2"/>
          </p:cNvCxnSpPr>
          <p:nvPr/>
        </p:nvCxnSpPr>
        <p:spPr>
          <a:xfrm>
            <a:off x="9969796" y="3788970"/>
            <a:ext cx="5324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Retângulo: Cantos Arredondados 148">
            <a:extLst>
              <a:ext uri="{FF2B5EF4-FFF2-40B4-BE49-F238E27FC236}">
                <a16:creationId xmlns:a16="http://schemas.microsoft.com/office/drawing/2014/main" id="{D76D1511-8E92-8384-D743-91714F142540}"/>
              </a:ext>
            </a:extLst>
          </p:cNvPr>
          <p:cNvSpPr/>
          <p:nvPr/>
        </p:nvSpPr>
        <p:spPr>
          <a:xfrm>
            <a:off x="6664796" y="4863770"/>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Atualizar PGC</a:t>
            </a:r>
          </a:p>
        </p:txBody>
      </p:sp>
      <p:sp>
        <p:nvSpPr>
          <p:cNvPr id="150" name="Retângulo: Cantos Arredondados 149">
            <a:extLst>
              <a:ext uri="{FF2B5EF4-FFF2-40B4-BE49-F238E27FC236}">
                <a16:creationId xmlns:a16="http://schemas.microsoft.com/office/drawing/2014/main" id="{AC7428D7-E3AB-E2C1-0AF7-A1AFD2104DD3}"/>
              </a:ext>
            </a:extLst>
          </p:cNvPr>
          <p:cNvSpPr/>
          <p:nvPr/>
        </p:nvSpPr>
        <p:spPr>
          <a:xfrm>
            <a:off x="8186178" y="4863770"/>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no HUB que o PGC foi atualizado</a:t>
            </a:r>
          </a:p>
        </p:txBody>
      </p:sp>
      <p:cxnSp>
        <p:nvCxnSpPr>
          <p:cNvPr id="151" name="Conector de Seta Reta 150">
            <a:extLst>
              <a:ext uri="{FF2B5EF4-FFF2-40B4-BE49-F238E27FC236}">
                <a16:creationId xmlns:a16="http://schemas.microsoft.com/office/drawing/2014/main" id="{48599032-56F9-63F9-BCE4-8285A5AFB1F8}"/>
              </a:ext>
            </a:extLst>
          </p:cNvPr>
          <p:cNvCxnSpPr>
            <a:cxnSpLocks/>
            <a:stCxn id="149" idx="3"/>
            <a:endCxn id="150" idx="1"/>
          </p:cNvCxnSpPr>
          <p:nvPr/>
        </p:nvCxnSpPr>
        <p:spPr>
          <a:xfrm>
            <a:off x="7974033" y="5126288"/>
            <a:ext cx="2121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Elipse 151">
            <a:extLst>
              <a:ext uri="{FF2B5EF4-FFF2-40B4-BE49-F238E27FC236}">
                <a16:creationId xmlns:a16="http://schemas.microsoft.com/office/drawing/2014/main" id="{BF469F57-B234-B69B-57B6-531E951A7EA8}"/>
              </a:ext>
            </a:extLst>
          </p:cNvPr>
          <p:cNvSpPr/>
          <p:nvPr/>
        </p:nvSpPr>
        <p:spPr>
          <a:xfrm>
            <a:off x="9812409" y="4991036"/>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3" name="CaixaDeTexto 152">
            <a:extLst>
              <a:ext uri="{FF2B5EF4-FFF2-40B4-BE49-F238E27FC236}">
                <a16:creationId xmlns:a16="http://schemas.microsoft.com/office/drawing/2014/main" id="{7FBB8746-9717-0758-F251-9DE0B896DE55}"/>
              </a:ext>
            </a:extLst>
          </p:cNvPr>
          <p:cNvSpPr txBox="1"/>
          <p:nvPr/>
        </p:nvSpPr>
        <p:spPr>
          <a:xfrm>
            <a:off x="10076789" y="4918539"/>
            <a:ext cx="1603840" cy="415498"/>
          </a:xfrm>
          <a:prstGeom prst="rect">
            <a:avLst/>
          </a:prstGeom>
          <a:noFill/>
        </p:spPr>
        <p:txBody>
          <a:bodyPr wrap="square" rtlCol="0">
            <a:spAutoFit/>
          </a:bodyPr>
          <a:lstStyle/>
          <a:p>
            <a:r>
              <a:rPr lang="pt-BR" sz="1050" dirty="0"/>
              <a:t>PGC e HUB atualizado e envolvidos notificados</a:t>
            </a:r>
          </a:p>
        </p:txBody>
      </p:sp>
      <p:cxnSp>
        <p:nvCxnSpPr>
          <p:cNvPr id="154" name="Conector de Seta Reta 153">
            <a:extLst>
              <a:ext uri="{FF2B5EF4-FFF2-40B4-BE49-F238E27FC236}">
                <a16:creationId xmlns:a16="http://schemas.microsoft.com/office/drawing/2014/main" id="{004C3CB7-311E-469E-4787-EE602A6234BC}"/>
              </a:ext>
            </a:extLst>
          </p:cNvPr>
          <p:cNvCxnSpPr>
            <a:cxnSpLocks/>
            <a:stCxn id="150" idx="3"/>
            <a:endCxn id="152" idx="2"/>
          </p:cNvCxnSpPr>
          <p:nvPr/>
        </p:nvCxnSpPr>
        <p:spPr>
          <a:xfrm>
            <a:off x="9495415" y="5126288"/>
            <a:ext cx="31699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tângulo: Cantos Arredondados 154">
            <a:extLst>
              <a:ext uri="{FF2B5EF4-FFF2-40B4-BE49-F238E27FC236}">
                <a16:creationId xmlns:a16="http://schemas.microsoft.com/office/drawing/2014/main" id="{1BC89B19-2AC8-08C3-B1FB-AF247FDBFC6C}"/>
              </a:ext>
            </a:extLst>
          </p:cNvPr>
          <p:cNvSpPr/>
          <p:nvPr/>
        </p:nvSpPr>
        <p:spPr>
          <a:xfrm>
            <a:off x="2192759" y="4863770"/>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Avaliar necessidade de revisar PGC</a:t>
            </a:r>
          </a:p>
        </p:txBody>
      </p:sp>
      <p:sp>
        <p:nvSpPr>
          <p:cNvPr id="159" name="Losango 158">
            <a:extLst>
              <a:ext uri="{FF2B5EF4-FFF2-40B4-BE49-F238E27FC236}">
                <a16:creationId xmlns:a16="http://schemas.microsoft.com/office/drawing/2014/main" id="{38A1C9B5-32BE-6370-F748-8F4A3C325588}"/>
              </a:ext>
            </a:extLst>
          </p:cNvPr>
          <p:cNvSpPr/>
          <p:nvPr/>
        </p:nvSpPr>
        <p:spPr>
          <a:xfrm>
            <a:off x="3743144" y="4954595"/>
            <a:ext cx="343386" cy="343386"/>
          </a:xfrm>
          <a:prstGeom prst="diamond">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rIns="0" bIns="36000" rtlCol="0" anchor="ctr"/>
          <a:lstStyle/>
          <a:p>
            <a:pPr algn="ctr"/>
            <a:r>
              <a:rPr lang="pt-BR" sz="1800" dirty="0"/>
              <a:t>x</a:t>
            </a:r>
          </a:p>
        </p:txBody>
      </p:sp>
      <p:sp>
        <p:nvSpPr>
          <p:cNvPr id="164" name="Retângulo: Cantos Arredondados 163">
            <a:extLst>
              <a:ext uri="{FF2B5EF4-FFF2-40B4-BE49-F238E27FC236}">
                <a16:creationId xmlns:a16="http://schemas.microsoft.com/office/drawing/2014/main" id="{988327D8-EDC3-1B3C-5209-AA2FAEC45715}"/>
              </a:ext>
            </a:extLst>
          </p:cNvPr>
          <p:cNvSpPr/>
          <p:nvPr/>
        </p:nvSpPr>
        <p:spPr>
          <a:xfrm>
            <a:off x="5143414" y="4863770"/>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no HUB que o serviço </a:t>
            </a:r>
            <a:r>
              <a:rPr lang="pt-BR" sz="1000" b="1" dirty="0">
                <a:solidFill>
                  <a:schemeClr val="tx1"/>
                </a:solidFill>
              </a:rPr>
              <a:t>deve ser </a:t>
            </a:r>
            <a:r>
              <a:rPr lang="pt-BR" sz="1000" dirty="0">
                <a:solidFill>
                  <a:schemeClr val="tx1"/>
                </a:solidFill>
              </a:rPr>
              <a:t>adicionado na PGC</a:t>
            </a:r>
          </a:p>
        </p:txBody>
      </p:sp>
      <p:cxnSp>
        <p:nvCxnSpPr>
          <p:cNvPr id="165" name="Conector de Seta Reta 164">
            <a:extLst>
              <a:ext uri="{FF2B5EF4-FFF2-40B4-BE49-F238E27FC236}">
                <a16:creationId xmlns:a16="http://schemas.microsoft.com/office/drawing/2014/main" id="{B61C201B-8137-9D4C-D24B-016D91927956}"/>
              </a:ext>
            </a:extLst>
          </p:cNvPr>
          <p:cNvCxnSpPr>
            <a:cxnSpLocks/>
            <a:stCxn id="164" idx="3"/>
            <a:endCxn id="149" idx="1"/>
          </p:cNvCxnSpPr>
          <p:nvPr/>
        </p:nvCxnSpPr>
        <p:spPr>
          <a:xfrm>
            <a:off x="6452651" y="5126288"/>
            <a:ext cx="2121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Conector de Seta Reta 167">
            <a:extLst>
              <a:ext uri="{FF2B5EF4-FFF2-40B4-BE49-F238E27FC236}">
                <a16:creationId xmlns:a16="http://schemas.microsoft.com/office/drawing/2014/main" id="{EA5176DB-6AE7-A3CF-2A27-D4213BB8A5BD}"/>
              </a:ext>
            </a:extLst>
          </p:cNvPr>
          <p:cNvCxnSpPr>
            <a:cxnSpLocks/>
            <a:stCxn id="159" idx="3"/>
            <a:endCxn id="164" idx="1"/>
          </p:cNvCxnSpPr>
          <p:nvPr/>
        </p:nvCxnSpPr>
        <p:spPr>
          <a:xfrm>
            <a:off x="4086530" y="5126288"/>
            <a:ext cx="10568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1" name="Conector de Seta Reta 170">
            <a:extLst>
              <a:ext uri="{FF2B5EF4-FFF2-40B4-BE49-F238E27FC236}">
                <a16:creationId xmlns:a16="http://schemas.microsoft.com/office/drawing/2014/main" id="{79124879-180D-2955-F1CF-5E689AC3467D}"/>
              </a:ext>
            </a:extLst>
          </p:cNvPr>
          <p:cNvCxnSpPr>
            <a:cxnSpLocks/>
            <a:stCxn id="155" idx="3"/>
            <a:endCxn id="159" idx="1"/>
          </p:cNvCxnSpPr>
          <p:nvPr/>
        </p:nvCxnSpPr>
        <p:spPr>
          <a:xfrm>
            <a:off x="3501996" y="5126288"/>
            <a:ext cx="2411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6" name="Retângulo: Cantos Arredondados 175">
            <a:extLst>
              <a:ext uri="{FF2B5EF4-FFF2-40B4-BE49-F238E27FC236}">
                <a16:creationId xmlns:a16="http://schemas.microsoft.com/office/drawing/2014/main" id="{38233F61-1DDD-F1D0-0928-3953A1A3820D}"/>
              </a:ext>
            </a:extLst>
          </p:cNvPr>
          <p:cNvSpPr/>
          <p:nvPr/>
        </p:nvSpPr>
        <p:spPr>
          <a:xfrm>
            <a:off x="4648714" y="5589240"/>
            <a:ext cx="1440161"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no HUB que o serviço </a:t>
            </a:r>
            <a:r>
              <a:rPr lang="pt-BR" sz="1000" b="1" dirty="0">
                <a:solidFill>
                  <a:schemeClr val="tx1"/>
                </a:solidFill>
              </a:rPr>
              <a:t>não</a:t>
            </a:r>
            <a:r>
              <a:rPr lang="pt-BR" sz="1000" dirty="0">
                <a:solidFill>
                  <a:schemeClr val="tx1"/>
                </a:solidFill>
              </a:rPr>
              <a:t> </a:t>
            </a:r>
            <a:r>
              <a:rPr lang="pt-BR" sz="1000" b="1" dirty="0">
                <a:solidFill>
                  <a:schemeClr val="tx1"/>
                </a:solidFill>
              </a:rPr>
              <a:t>deve</a:t>
            </a:r>
            <a:r>
              <a:rPr lang="pt-BR" sz="1000" dirty="0">
                <a:solidFill>
                  <a:schemeClr val="tx1"/>
                </a:solidFill>
              </a:rPr>
              <a:t> ser adicionado na PGC</a:t>
            </a:r>
          </a:p>
        </p:txBody>
      </p:sp>
      <p:cxnSp>
        <p:nvCxnSpPr>
          <p:cNvPr id="177" name="Conector: Angulado 176">
            <a:extLst>
              <a:ext uri="{FF2B5EF4-FFF2-40B4-BE49-F238E27FC236}">
                <a16:creationId xmlns:a16="http://schemas.microsoft.com/office/drawing/2014/main" id="{3B6527E4-E8A3-996E-89A7-095C23211988}"/>
              </a:ext>
            </a:extLst>
          </p:cNvPr>
          <p:cNvCxnSpPr>
            <a:cxnSpLocks/>
            <a:stCxn id="159" idx="2"/>
            <a:endCxn id="176" idx="1"/>
          </p:cNvCxnSpPr>
          <p:nvPr/>
        </p:nvCxnSpPr>
        <p:spPr>
          <a:xfrm rot="16200000" flipH="1">
            <a:off x="4004887" y="5207930"/>
            <a:ext cx="553777" cy="73387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0" name="Elipse 179">
            <a:extLst>
              <a:ext uri="{FF2B5EF4-FFF2-40B4-BE49-F238E27FC236}">
                <a16:creationId xmlns:a16="http://schemas.microsoft.com/office/drawing/2014/main" id="{AEE14D15-981D-A47E-4AD6-724400056414}"/>
              </a:ext>
            </a:extLst>
          </p:cNvPr>
          <p:cNvSpPr/>
          <p:nvPr/>
        </p:nvSpPr>
        <p:spPr>
          <a:xfrm>
            <a:off x="6446430" y="5727209"/>
            <a:ext cx="270504" cy="270504"/>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81" name="CaixaDeTexto 180">
            <a:extLst>
              <a:ext uri="{FF2B5EF4-FFF2-40B4-BE49-F238E27FC236}">
                <a16:creationId xmlns:a16="http://schemas.microsoft.com/office/drawing/2014/main" id="{B794DAA9-9D89-2944-9F56-809AE0E633A2}"/>
              </a:ext>
            </a:extLst>
          </p:cNvPr>
          <p:cNvSpPr txBox="1"/>
          <p:nvPr/>
        </p:nvSpPr>
        <p:spPr>
          <a:xfrm>
            <a:off x="6761702" y="5735503"/>
            <a:ext cx="1056309" cy="253916"/>
          </a:xfrm>
          <a:prstGeom prst="rect">
            <a:avLst/>
          </a:prstGeom>
          <a:noFill/>
        </p:spPr>
        <p:txBody>
          <a:bodyPr wrap="square" rtlCol="0">
            <a:spAutoFit/>
          </a:bodyPr>
          <a:lstStyle/>
          <a:p>
            <a:r>
              <a:rPr lang="pt-BR" sz="1050" dirty="0"/>
              <a:t>HUB atualizado</a:t>
            </a:r>
          </a:p>
        </p:txBody>
      </p:sp>
      <p:cxnSp>
        <p:nvCxnSpPr>
          <p:cNvPr id="182" name="Conector de Seta Reta 181">
            <a:extLst>
              <a:ext uri="{FF2B5EF4-FFF2-40B4-BE49-F238E27FC236}">
                <a16:creationId xmlns:a16="http://schemas.microsoft.com/office/drawing/2014/main" id="{F97D70A5-658F-8CB2-0D88-ECD2B4903179}"/>
              </a:ext>
            </a:extLst>
          </p:cNvPr>
          <p:cNvCxnSpPr>
            <a:cxnSpLocks/>
            <a:stCxn id="176" idx="3"/>
            <a:endCxn id="180" idx="2"/>
          </p:cNvCxnSpPr>
          <p:nvPr/>
        </p:nvCxnSpPr>
        <p:spPr>
          <a:xfrm>
            <a:off x="6088875" y="5851758"/>
            <a:ext cx="357555" cy="107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CaixaDeTexto 194">
            <a:extLst>
              <a:ext uri="{FF2B5EF4-FFF2-40B4-BE49-F238E27FC236}">
                <a16:creationId xmlns:a16="http://schemas.microsoft.com/office/drawing/2014/main" id="{55E68EFF-9E7F-4AE3-F281-7EAE2A760EBD}"/>
              </a:ext>
            </a:extLst>
          </p:cNvPr>
          <p:cNvSpPr txBox="1"/>
          <p:nvPr/>
        </p:nvSpPr>
        <p:spPr>
          <a:xfrm>
            <a:off x="4009923" y="4759588"/>
            <a:ext cx="1161940" cy="369332"/>
          </a:xfrm>
          <a:prstGeom prst="rect">
            <a:avLst/>
          </a:prstGeom>
          <a:noFill/>
        </p:spPr>
        <p:txBody>
          <a:bodyPr wrap="square" rtlCol="0">
            <a:spAutoFit/>
          </a:bodyPr>
          <a:lstStyle/>
          <a:p>
            <a:pPr algn="ctr"/>
            <a:r>
              <a:rPr lang="pt-BR" sz="900" dirty="0"/>
              <a:t>Serviço </a:t>
            </a:r>
            <a:r>
              <a:rPr lang="pt-BR" sz="900" b="1" dirty="0"/>
              <a:t>deve</a:t>
            </a:r>
            <a:r>
              <a:rPr lang="pt-BR" sz="900" dirty="0"/>
              <a:t> ser atualizado no PGC</a:t>
            </a:r>
          </a:p>
        </p:txBody>
      </p:sp>
      <p:sp>
        <p:nvSpPr>
          <p:cNvPr id="197" name="CaixaDeTexto 196">
            <a:extLst>
              <a:ext uri="{FF2B5EF4-FFF2-40B4-BE49-F238E27FC236}">
                <a16:creationId xmlns:a16="http://schemas.microsoft.com/office/drawing/2014/main" id="{DC286774-5109-D661-7103-A5AE4D67114F}"/>
              </a:ext>
            </a:extLst>
          </p:cNvPr>
          <p:cNvSpPr txBox="1"/>
          <p:nvPr/>
        </p:nvSpPr>
        <p:spPr>
          <a:xfrm>
            <a:off x="2788654" y="5534252"/>
            <a:ext cx="1161940" cy="369332"/>
          </a:xfrm>
          <a:prstGeom prst="rect">
            <a:avLst/>
          </a:prstGeom>
          <a:noFill/>
        </p:spPr>
        <p:txBody>
          <a:bodyPr wrap="square" rtlCol="0">
            <a:spAutoFit/>
          </a:bodyPr>
          <a:lstStyle/>
          <a:p>
            <a:pPr algn="ctr"/>
            <a:r>
              <a:rPr lang="pt-BR" sz="900" dirty="0"/>
              <a:t>Serviço </a:t>
            </a:r>
            <a:r>
              <a:rPr lang="pt-BR" sz="900" b="1" dirty="0"/>
              <a:t>não deve</a:t>
            </a:r>
            <a:r>
              <a:rPr lang="pt-BR" sz="900" dirty="0"/>
              <a:t> ser atualizado no PGC</a:t>
            </a:r>
          </a:p>
        </p:txBody>
      </p:sp>
      <p:sp>
        <p:nvSpPr>
          <p:cNvPr id="26" name="Retângulo: Cantos Arredondados 25">
            <a:extLst>
              <a:ext uri="{FF2B5EF4-FFF2-40B4-BE49-F238E27FC236}">
                <a16:creationId xmlns:a16="http://schemas.microsoft.com/office/drawing/2014/main" id="{44F1F802-3CFA-C7EF-39FA-7AE54F1D0C29}"/>
              </a:ext>
            </a:extLst>
          </p:cNvPr>
          <p:cNvSpPr/>
          <p:nvPr/>
        </p:nvSpPr>
        <p:spPr>
          <a:xfrm>
            <a:off x="6818921" y="3526452"/>
            <a:ext cx="1309237"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Atualizar ou criar OS no TM Master</a:t>
            </a:r>
          </a:p>
        </p:txBody>
      </p:sp>
      <p:cxnSp>
        <p:nvCxnSpPr>
          <p:cNvPr id="28" name="Conector de Seta Reta 27">
            <a:extLst>
              <a:ext uri="{FF2B5EF4-FFF2-40B4-BE49-F238E27FC236}">
                <a16:creationId xmlns:a16="http://schemas.microsoft.com/office/drawing/2014/main" id="{23FE9D23-9804-E8E4-FFA2-228040278C3B}"/>
              </a:ext>
            </a:extLst>
          </p:cNvPr>
          <p:cNvCxnSpPr>
            <a:cxnSpLocks/>
            <a:stCxn id="26" idx="3"/>
            <a:endCxn id="140" idx="1"/>
          </p:cNvCxnSpPr>
          <p:nvPr/>
        </p:nvCxnSpPr>
        <p:spPr>
          <a:xfrm>
            <a:off x="8128158" y="3788970"/>
            <a:ext cx="53240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Retângulo: Cantos Arredondados 37">
            <a:extLst>
              <a:ext uri="{FF2B5EF4-FFF2-40B4-BE49-F238E27FC236}">
                <a16:creationId xmlns:a16="http://schemas.microsoft.com/office/drawing/2014/main" id="{1D1A93D9-C880-37E3-299B-6850D744F4EC}"/>
              </a:ext>
            </a:extLst>
          </p:cNvPr>
          <p:cNvSpPr/>
          <p:nvPr/>
        </p:nvSpPr>
        <p:spPr>
          <a:xfrm>
            <a:off x="4043454" y="3526452"/>
            <a:ext cx="1440161" cy="525036"/>
          </a:xfrm>
          <a:prstGeom prst="roundRect">
            <a:avLst/>
          </a:prstGeom>
          <a:solidFill>
            <a:schemeClr val="accent1">
              <a:lumMod val="20000"/>
              <a:lumOff val="80000"/>
            </a:schemeClr>
          </a:solidFill>
          <a:ln w="9525">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000" dirty="0">
                <a:solidFill>
                  <a:schemeClr val="tx1"/>
                </a:solidFill>
              </a:rPr>
              <a:t>Sinalizar no HUB que o </a:t>
            </a:r>
            <a:r>
              <a:rPr lang="pt-BR" sz="1000" dirty="0" err="1">
                <a:solidFill>
                  <a:schemeClr val="tx1"/>
                </a:solidFill>
              </a:rPr>
              <a:t>Job</a:t>
            </a:r>
            <a:r>
              <a:rPr lang="pt-BR" sz="1000" dirty="0">
                <a:solidFill>
                  <a:schemeClr val="tx1"/>
                </a:solidFill>
              </a:rPr>
              <a:t> ou </a:t>
            </a:r>
            <a:r>
              <a:rPr lang="pt-BR" sz="1000" dirty="0" err="1">
                <a:solidFill>
                  <a:schemeClr val="tx1"/>
                </a:solidFill>
              </a:rPr>
              <a:t>OneTime</a:t>
            </a:r>
            <a:r>
              <a:rPr lang="pt-BR" sz="1000" dirty="0">
                <a:solidFill>
                  <a:schemeClr val="tx1"/>
                </a:solidFill>
              </a:rPr>
              <a:t> Jobs foi criado ou atualizado</a:t>
            </a:r>
          </a:p>
        </p:txBody>
      </p:sp>
      <p:cxnSp>
        <p:nvCxnSpPr>
          <p:cNvPr id="40" name="Conector de Seta Reta 39">
            <a:extLst>
              <a:ext uri="{FF2B5EF4-FFF2-40B4-BE49-F238E27FC236}">
                <a16:creationId xmlns:a16="http://schemas.microsoft.com/office/drawing/2014/main" id="{7799206A-2C55-F429-2402-971B0A9DB434}"/>
              </a:ext>
            </a:extLst>
          </p:cNvPr>
          <p:cNvCxnSpPr>
            <a:cxnSpLocks/>
            <a:stCxn id="38" idx="3"/>
            <a:endCxn id="47" idx="2"/>
          </p:cNvCxnSpPr>
          <p:nvPr/>
        </p:nvCxnSpPr>
        <p:spPr>
          <a:xfrm>
            <a:off x="5483615" y="3788970"/>
            <a:ext cx="5324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Elipse 46">
            <a:extLst>
              <a:ext uri="{FF2B5EF4-FFF2-40B4-BE49-F238E27FC236}">
                <a16:creationId xmlns:a16="http://schemas.microsoft.com/office/drawing/2014/main" id="{2AC276B0-A2DE-FE8D-F48F-40FB00637EAD}"/>
              </a:ext>
            </a:extLst>
          </p:cNvPr>
          <p:cNvSpPr/>
          <p:nvPr/>
        </p:nvSpPr>
        <p:spPr>
          <a:xfrm>
            <a:off x="6016022" y="3653718"/>
            <a:ext cx="270504" cy="270504"/>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49" name="Conector de Seta Reta 48">
            <a:extLst>
              <a:ext uri="{FF2B5EF4-FFF2-40B4-BE49-F238E27FC236}">
                <a16:creationId xmlns:a16="http://schemas.microsoft.com/office/drawing/2014/main" id="{F0F33518-DA57-F571-1BBF-62467ACE14DB}"/>
              </a:ext>
            </a:extLst>
          </p:cNvPr>
          <p:cNvCxnSpPr>
            <a:cxnSpLocks/>
            <a:stCxn id="47" idx="6"/>
            <a:endCxn id="26" idx="1"/>
          </p:cNvCxnSpPr>
          <p:nvPr/>
        </p:nvCxnSpPr>
        <p:spPr>
          <a:xfrm>
            <a:off x="6286526" y="3788970"/>
            <a:ext cx="53239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CaixaDeTexto 51">
            <a:extLst>
              <a:ext uri="{FF2B5EF4-FFF2-40B4-BE49-F238E27FC236}">
                <a16:creationId xmlns:a16="http://schemas.microsoft.com/office/drawing/2014/main" id="{D674D7B9-B157-EF3E-8E07-BDA8232D6DD1}"/>
              </a:ext>
            </a:extLst>
          </p:cNvPr>
          <p:cNvSpPr txBox="1"/>
          <p:nvPr/>
        </p:nvSpPr>
        <p:spPr>
          <a:xfrm>
            <a:off x="5385320" y="3943962"/>
            <a:ext cx="1531909" cy="577081"/>
          </a:xfrm>
          <a:prstGeom prst="rect">
            <a:avLst/>
          </a:prstGeom>
          <a:noFill/>
        </p:spPr>
        <p:txBody>
          <a:bodyPr wrap="square" rtlCol="0">
            <a:spAutoFit/>
          </a:bodyPr>
          <a:lstStyle/>
          <a:p>
            <a:pPr algn="ctr"/>
            <a:r>
              <a:rPr lang="pt-BR" sz="1050" dirty="0"/>
              <a:t>TM Master e HUB atualizados e envolvidos notificados</a:t>
            </a:r>
          </a:p>
        </p:txBody>
      </p:sp>
    </p:spTree>
    <p:extLst>
      <p:ext uri="{BB962C8B-B14F-4D97-AF65-F5344CB8AC3E}">
        <p14:creationId xmlns:p14="http://schemas.microsoft.com/office/powerpoint/2010/main" val="35476806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075E-F12F-0E43-1AD9-BD0BDA051285}"/>
            </a:ext>
          </a:extLst>
        </p:cNvPr>
        <p:cNvGrpSpPr/>
        <p:nvPr/>
      </p:nvGrpSpPr>
      <p:grpSpPr>
        <a:xfrm>
          <a:off x="0" y="0"/>
          <a:ext cx="0" cy="0"/>
          <a:chOff x="0" y="0"/>
          <a:chExt cx="0" cy="0"/>
        </a:xfrm>
      </p:grpSpPr>
      <p:sp>
        <p:nvSpPr>
          <p:cNvPr id="2" name="Retângulo: Cantos Arredondados 2">
            <a:extLst>
              <a:ext uri="{FF2B5EF4-FFF2-40B4-BE49-F238E27FC236}">
                <a16:creationId xmlns:a16="http://schemas.microsoft.com/office/drawing/2014/main" id="{5A27BD7D-54B1-5EB6-BA9F-CAA17E68E995}"/>
              </a:ext>
            </a:extLst>
          </p:cNvPr>
          <p:cNvSpPr/>
          <p:nvPr/>
        </p:nvSpPr>
        <p:spPr>
          <a:xfrm rot="16200000">
            <a:off x="-1360571" y="3631913"/>
            <a:ext cx="5264068" cy="545246"/>
          </a:xfrm>
          <a:prstGeom prst="roundRect">
            <a:avLst>
              <a:gd name="adj" fmla="val 0"/>
            </a:avLst>
          </a:prstGeom>
          <a:solidFill>
            <a:srgbClr val="03738E"/>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144000" rtlCol="0" anchor="t"/>
          <a:lstStyle/>
          <a:p>
            <a:pPr algn="ctr"/>
            <a:r>
              <a:rPr lang="pt-BR" sz="1400" b="1" dirty="0">
                <a:solidFill>
                  <a:schemeClr val="bg1"/>
                </a:solidFill>
              </a:rPr>
              <a:t>Tipos de GMUD</a:t>
            </a:r>
          </a:p>
        </p:txBody>
      </p:sp>
      <p:sp>
        <p:nvSpPr>
          <p:cNvPr id="62" name="Título 3">
            <a:extLst>
              <a:ext uri="{FF2B5EF4-FFF2-40B4-BE49-F238E27FC236}">
                <a16:creationId xmlns:a16="http://schemas.microsoft.com/office/drawing/2014/main" id="{D114BB0D-FECF-B5B7-5219-AA7B72091F22}"/>
              </a:ext>
            </a:extLst>
          </p:cNvPr>
          <p:cNvSpPr>
            <a:spLocks noGrp="1"/>
          </p:cNvSpPr>
          <p:nvPr>
            <p:ph type="title"/>
          </p:nvPr>
        </p:nvSpPr>
        <p:spPr>
          <a:xfrm>
            <a:off x="1089653" y="303578"/>
            <a:ext cx="10485852" cy="645195"/>
          </a:xfrm>
        </p:spPr>
        <p:txBody>
          <a:bodyPr/>
          <a:lstStyle/>
          <a:p>
            <a:r>
              <a:rPr lang="pt-BR" dirty="0"/>
              <a:t>GMUD</a:t>
            </a:r>
            <a:br>
              <a:rPr lang="pt-BR" dirty="0"/>
            </a:br>
            <a:r>
              <a:rPr lang="pt-BR" sz="1600" dirty="0">
                <a:solidFill>
                  <a:srgbClr val="03738E"/>
                </a:solidFill>
              </a:rPr>
              <a:t>Processo Detalhado </a:t>
            </a:r>
            <a:r>
              <a:rPr lang="pt-BR" sz="1600" b="0" dirty="0"/>
              <a:t>por Tipo de GMUD</a:t>
            </a:r>
            <a:endParaRPr lang="pt-BR" b="0" dirty="0"/>
          </a:p>
        </p:txBody>
      </p:sp>
      <p:grpSp>
        <p:nvGrpSpPr>
          <p:cNvPr id="5" name="Agrupar 4">
            <a:extLst>
              <a:ext uri="{FF2B5EF4-FFF2-40B4-BE49-F238E27FC236}">
                <a16:creationId xmlns:a16="http://schemas.microsoft.com/office/drawing/2014/main" id="{EE6EB75D-13EA-1A94-A59C-49C23CB3224A}"/>
              </a:ext>
            </a:extLst>
          </p:cNvPr>
          <p:cNvGrpSpPr/>
          <p:nvPr/>
        </p:nvGrpSpPr>
        <p:grpSpPr>
          <a:xfrm>
            <a:off x="1343472" y="1075970"/>
            <a:ext cx="9649072" cy="5657132"/>
            <a:chOff x="1343472" y="1075970"/>
            <a:chExt cx="9649072" cy="5657132"/>
          </a:xfrm>
        </p:grpSpPr>
        <p:sp>
          <p:nvSpPr>
            <p:cNvPr id="22" name="CaixaDeTexto 21">
              <a:extLst>
                <a:ext uri="{FF2B5EF4-FFF2-40B4-BE49-F238E27FC236}">
                  <a16:creationId xmlns:a16="http://schemas.microsoft.com/office/drawing/2014/main" id="{73F2E264-60C9-A546-3C92-812731419695}"/>
                </a:ext>
              </a:extLst>
            </p:cNvPr>
            <p:cNvSpPr txBox="1"/>
            <p:nvPr/>
          </p:nvSpPr>
          <p:spPr>
            <a:xfrm>
              <a:off x="1343472" y="1876665"/>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Cancelamento</a:t>
              </a:r>
              <a:br>
                <a:rPr lang="pt-BR" dirty="0"/>
              </a:br>
              <a:r>
                <a:rPr lang="pt-BR" dirty="0"/>
                <a:t>de Entrega</a:t>
              </a:r>
            </a:p>
          </p:txBody>
        </p:sp>
        <p:sp>
          <p:nvSpPr>
            <p:cNvPr id="60" name="CaixaDeTexto 59">
              <a:extLst>
                <a:ext uri="{FF2B5EF4-FFF2-40B4-BE49-F238E27FC236}">
                  <a16:creationId xmlns:a16="http://schemas.microsoft.com/office/drawing/2014/main" id="{A0066D92-C388-715A-650A-3CD1BEC68001}"/>
                </a:ext>
              </a:extLst>
            </p:cNvPr>
            <p:cNvSpPr txBox="1"/>
            <p:nvPr/>
          </p:nvSpPr>
          <p:spPr>
            <a:xfrm>
              <a:off x="1343472" y="2702807"/>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Alteração</a:t>
              </a:r>
              <a:br>
                <a:rPr lang="pt-BR" dirty="0"/>
              </a:br>
              <a:r>
                <a:rPr lang="pt-BR" dirty="0"/>
                <a:t>de Entrega</a:t>
              </a:r>
            </a:p>
          </p:txBody>
        </p:sp>
        <p:sp>
          <p:nvSpPr>
            <p:cNvPr id="61" name="CaixaDeTexto 60">
              <a:extLst>
                <a:ext uri="{FF2B5EF4-FFF2-40B4-BE49-F238E27FC236}">
                  <a16:creationId xmlns:a16="http://schemas.microsoft.com/office/drawing/2014/main" id="{26238F22-1121-A81A-3C74-E26B03D33A22}"/>
                </a:ext>
              </a:extLst>
            </p:cNvPr>
            <p:cNvSpPr txBox="1"/>
            <p:nvPr/>
          </p:nvSpPr>
          <p:spPr>
            <a:xfrm>
              <a:off x="1343472" y="3528950"/>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Postergação</a:t>
              </a:r>
              <a:br>
                <a:rPr lang="pt-BR" dirty="0"/>
              </a:br>
              <a:r>
                <a:rPr lang="pt-BR" dirty="0"/>
                <a:t>de Entrega</a:t>
              </a:r>
            </a:p>
          </p:txBody>
        </p:sp>
        <p:sp>
          <p:nvSpPr>
            <p:cNvPr id="63" name="CaixaDeTexto 62">
              <a:extLst>
                <a:ext uri="{FF2B5EF4-FFF2-40B4-BE49-F238E27FC236}">
                  <a16:creationId xmlns:a16="http://schemas.microsoft.com/office/drawing/2014/main" id="{CDD8B1F4-6BB4-DFA0-CD36-7B38B4255CBF}"/>
                </a:ext>
              </a:extLst>
            </p:cNvPr>
            <p:cNvSpPr txBox="1"/>
            <p:nvPr/>
          </p:nvSpPr>
          <p:spPr>
            <a:xfrm>
              <a:off x="1343472" y="4355093"/>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Quebra de Entrega Planejada</a:t>
              </a:r>
            </a:p>
          </p:txBody>
        </p:sp>
        <p:sp>
          <p:nvSpPr>
            <p:cNvPr id="64" name="CaixaDeTexto 63">
              <a:extLst>
                <a:ext uri="{FF2B5EF4-FFF2-40B4-BE49-F238E27FC236}">
                  <a16:creationId xmlns:a16="http://schemas.microsoft.com/office/drawing/2014/main" id="{B877235E-7307-A85F-3A88-618871994940}"/>
                </a:ext>
              </a:extLst>
            </p:cNvPr>
            <p:cNvSpPr txBox="1"/>
            <p:nvPr/>
          </p:nvSpPr>
          <p:spPr>
            <a:xfrm>
              <a:off x="1343472" y="5181236"/>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Mudança de Responsável</a:t>
              </a:r>
            </a:p>
          </p:txBody>
        </p:sp>
        <p:sp>
          <p:nvSpPr>
            <p:cNvPr id="65" name="CaixaDeTexto 64">
              <a:extLst>
                <a:ext uri="{FF2B5EF4-FFF2-40B4-BE49-F238E27FC236}">
                  <a16:creationId xmlns:a16="http://schemas.microsoft.com/office/drawing/2014/main" id="{FD69465F-5D9C-8E46-7A9C-A59642E4747C}"/>
                </a:ext>
              </a:extLst>
            </p:cNvPr>
            <p:cNvSpPr txBox="1"/>
            <p:nvPr/>
          </p:nvSpPr>
          <p:spPr>
            <a:xfrm>
              <a:off x="1343472" y="6007378"/>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Mudança de Fornecedor</a:t>
              </a:r>
            </a:p>
          </p:txBody>
        </p:sp>
        <p:sp>
          <p:nvSpPr>
            <p:cNvPr id="113" name="CaixaDeTexto 112">
              <a:extLst>
                <a:ext uri="{FF2B5EF4-FFF2-40B4-BE49-F238E27FC236}">
                  <a16:creationId xmlns:a16="http://schemas.microsoft.com/office/drawing/2014/main" id="{BAF03ADC-42C5-AABD-8076-A4606FE1673E}"/>
                </a:ext>
              </a:extLst>
            </p:cNvPr>
            <p:cNvSpPr txBox="1"/>
            <p:nvPr/>
          </p:nvSpPr>
          <p:spPr>
            <a:xfrm>
              <a:off x="1343472" y="1075970"/>
              <a:ext cx="1728192"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lgn="ctr">
                <a:defRPr sz="1400" b="1">
                  <a:solidFill>
                    <a:schemeClr val="tx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pt-BR" dirty="0"/>
                <a:t>Nova Entrega</a:t>
              </a:r>
            </a:p>
          </p:txBody>
        </p:sp>
        <p:sp>
          <p:nvSpPr>
            <p:cNvPr id="116" name="CaixaDeTexto 115">
              <a:extLst>
                <a:ext uri="{FF2B5EF4-FFF2-40B4-BE49-F238E27FC236}">
                  <a16:creationId xmlns:a16="http://schemas.microsoft.com/office/drawing/2014/main" id="{2280F5BB-75FD-4466-6C89-DDD8F58FDBB9}"/>
                </a:ext>
              </a:extLst>
            </p:cNvPr>
            <p:cNvSpPr txBox="1"/>
            <p:nvPr/>
          </p:nvSpPr>
          <p:spPr>
            <a:xfrm>
              <a:off x="3215680" y="1075970"/>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Preencher informações sobre novo serviço  Submeter à aprovação  Nova linha de serviço criada e identificada com status “novo serviço” no HUB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cronograma e PGC </a:t>
              </a:r>
              <a:r>
                <a:rPr lang="pt-BR" sz="1200" b="1" dirty="0">
                  <a:solidFill>
                    <a:schemeClr val="tx1"/>
                  </a:solidFill>
                  <a:sym typeface="Wingdings" panose="05000000000000000000" pitchFamily="2" charset="2"/>
                </a:rPr>
                <a:t>manualmente </a:t>
              </a:r>
              <a:r>
                <a:rPr lang="pt-BR" sz="1200" dirty="0">
                  <a:solidFill>
                    <a:schemeClr val="tx1"/>
                  </a:solidFill>
                  <a:sym typeface="Wingdings" panose="05000000000000000000" pitchFamily="2" charset="2"/>
                </a:rPr>
                <a:t> Registrar log de alteração no HUB com data e responsável</a:t>
              </a:r>
              <a:endParaRPr lang="pt-BR" sz="1200" dirty="0">
                <a:solidFill>
                  <a:schemeClr val="tx1"/>
                </a:solidFill>
              </a:endParaRPr>
            </a:p>
          </p:txBody>
        </p:sp>
        <p:sp>
          <p:nvSpPr>
            <p:cNvPr id="117" name="CaixaDeTexto 116">
              <a:extLst>
                <a:ext uri="{FF2B5EF4-FFF2-40B4-BE49-F238E27FC236}">
                  <a16:creationId xmlns:a16="http://schemas.microsoft.com/office/drawing/2014/main" id="{6D7016ED-DFA4-D2D6-19B8-8C93705A396D}"/>
                </a:ext>
              </a:extLst>
            </p:cNvPr>
            <p:cNvSpPr txBox="1"/>
            <p:nvPr/>
          </p:nvSpPr>
          <p:spPr>
            <a:xfrm>
              <a:off x="3215680" y="1876665"/>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cancelado </a:t>
              </a:r>
              <a:r>
                <a:rPr lang="pt-BR" sz="1200" dirty="0">
                  <a:solidFill>
                    <a:schemeClr val="tx1"/>
                  </a:solidFill>
                  <a:sym typeface="Wingdings" panose="05000000000000000000" pitchFamily="2" charset="2"/>
                </a:rPr>
                <a:t> Submeter à aprovação  Linha de serviço com status “cancelada”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cronograma e PGC </a:t>
              </a:r>
              <a:r>
                <a:rPr lang="pt-BR" sz="1200" b="1" dirty="0">
                  <a:solidFill>
                    <a:schemeClr val="tx1"/>
                  </a:solidFill>
                  <a:sym typeface="Wingdings" panose="05000000000000000000" pitchFamily="2" charset="2"/>
                </a:rPr>
                <a:t>manualmente </a:t>
              </a:r>
              <a:r>
                <a:rPr lang="pt-BR" sz="1200" dirty="0">
                  <a:solidFill>
                    <a:schemeClr val="tx1"/>
                  </a:solidFill>
                  <a:sym typeface="Wingdings" panose="05000000000000000000" pitchFamily="2" charset="2"/>
                </a:rPr>
                <a:t> Registrar log de alteração no HUB com data e responsável</a:t>
              </a:r>
              <a:endParaRPr lang="pt-BR" sz="1200" dirty="0">
                <a:solidFill>
                  <a:schemeClr val="tx1"/>
                </a:solidFill>
              </a:endParaRPr>
            </a:p>
          </p:txBody>
        </p:sp>
        <p:sp>
          <p:nvSpPr>
            <p:cNvPr id="118" name="CaixaDeTexto 117">
              <a:extLst>
                <a:ext uri="{FF2B5EF4-FFF2-40B4-BE49-F238E27FC236}">
                  <a16:creationId xmlns:a16="http://schemas.microsoft.com/office/drawing/2014/main" id="{C4F37CA3-C519-182E-0E85-CD61ED03CF7B}"/>
                </a:ext>
              </a:extLst>
            </p:cNvPr>
            <p:cNvSpPr txBox="1"/>
            <p:nvPr/>
          </p:nvSpPr>
          <p:spPr>
            <a:xfrm>
              <a:off x="3215680" y="2702806"/>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alterado </a:t>
              </a:r>
              <a:r>
                <a:rPr lang="pt-BR" sz="1200" dirty="0">
                  <a:solidFill>
                    <a:schemeClr val="tx1"/>
                  </a:solidFill>
                  <a:sym typeface="Wingdings" panose="05000000000000000000" pitchFamily="2" charset="2"/>
                </a:rPr>
                <a:t> Indicar alteração no campo “serviço” e/ou “detalhamento de serviço”  Submeter à aprovação  Linha de serviço alterada e com status “atualizada”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cronograma e PGC </a:t>
              </a:r>
              <a:r>
                <a:rPr lang="pt-BR" sz="1200" b="1" dirty="0">
                  <a:solidFill>
                    <a:schemeClr val="tx1"/>
                  </a:solidFill>
                  <a:sym typeface="Wingdings" panose="05000000000000000000" pitchFamily="2" charset="2"/>
                </a:rPr>
                <a:t>manualmente </a:t>
              </a:r>
              <a:r>
                <a:rPr lang="pt-BR" sz="1200" dirty="0">
                  <a:solidFill>
                    <a:schemeClr val="tx1"/>
                  </a:solidFill>
                  <a:sym typeface="Wingdings" panose="05000000000000000000" pitchFamily="2" charset="2"/>
                </a:rPr>
                <a:t> Registrar log de alteração no HUB com data e responsável</a:t>
              </a:r>
              <a:endParaRPr lang="pt-BR" sz="1200" dirty="0">
                <a:solidFill>
                  <a:schemeClr val="tx1"/>
                </a:solidFill>
              </a:endParaRPr>
            </a:p>
          </p:txBody>
        </p:sp>
        <p:sp>
          <p:nvSpPr>
            <p:cNvPr id="119" name="CaixaDeTexto 118">
              <a:extLst>
                <a:ext uri="{FF2B5EF4-FFF2-40B4-BE49-F238E27FC236}">
                  <a16:creationId xmlns:a16="http://schemas.microsoft.com/office/drawing/2014/main" id="{E73BAA17-BB66-2BFF-5BAE-60C1E464B99C}"/>
                </a:ext>
              </a:extLst>
            </p:cNvPr>
            <p:cNvSpPr txBox="1"/>
            <p:nvPr/>
          </p:nvSpPr>
          <p:spPr>
            <a:xfrm>
              <a:off x="3215680" y="3528949"/>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postergado </a:t>
              </a:r>
              <a:r>
                <a:rPr lang="pt-BR" sz="1200" dirty="0">
                  <a:solidFill>
                    <a:schemeClr val="tx1"/>
                  </a:solidFill>
                  <a:sym typeface="Wingdings" panose="05000000000000000000" pitchFamily="2" charset="2"/>
                </a:rPr>
                <a:t> Submeter à aprovação  Linha de serviço com status “postergada” e inativa para a obra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cronograma e PGC </a:t>
              </a:r>
              <a:r>
                <a:rPr lang="pt-BR" sz="1200" b="1" dirty="0">
                  <a:solidFill>
                    <a:schemeClr val="tx1"/>
                  </a:solidFill>
                  <a:sym typeface="Wingdings" panose="05000000000000000000" pitchFamily="2" charset="2"/>
                </a:rPr>
                <a:t>manualmente </a:t>
              </a:r>
              <a:r>
                <a:rPr lang="pt-BR" sz="1200" dirty="0">
                  <a:solidFill>
                    <a:schemeClr val="tx1"/>
                  </a:solidFill>
                  <a:sym typeface="Wingdings" panose="05000000000000000000" pitchFamily="2" charset="2"/>
                </a:rPr>
                <a:t> Registrar log de alteração no HUB com data e responsável</a:t>
              </a:r>
              <a:endParaRPr lang="pt-BR" sz="1200" dirty="0">
                <a:solidFill>
                  <a:schemeClr val="tx1"/>
                </a:solidFill>
              </a:endParaRPr>
            </a:p>
          </p:txBody>
        </p:sp>
        <p:sp>
          <p:nvSpPr>
            <p:cNvPr id="120" name="CaixaDeTexto 119">
              <a:extLst>
                <a:ext uri="{FF2B5EF4-FFF2-40B4-BE49-F238E27FC236}">
                  <a16:creationId xmlns:a16="http://schemas.microsoft.com/office/drawing/2014/main" id="{C140EBA5-F059-B6F3-1487-7D5009B0936C}"/>
                </a:ext>
              </a:extLst>
            </p:cNvPr>
            <p:cNvSpPr txBox="1"/>
            <p:nvPr/>
          </p:nvSpPr>
          <p:spPr>
            <a:xfrm>
              <a:off x="3215680" y="4355092"/>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quebrado </a:t>
              </a:r>
              <a:r>
                <a:rPr lang="pt-BR" sz="1200" dirty="0">
                  <a:solidFill>
                    <a:schemeClr val="tx1"/>
                  </a:solidFill>
                  <a:sym typeface="Wingdings" panose="05000000000000000000" pitchFamily="2" charset="2"/>
                </a:rPr>
                <a:t> Indicar alterações nas linhas de serviço  Submeter à aprovação  Nova linha de serviço criada e linha original alterada  Linhas com status “quebra de serviço” e linkadas pelos </a:t>
              </a:r>
              <a:r>
                <a:rPr lang="pt-BR" sz="1200" dirty="0" err="1">
                  <a:solidFill>
                    <a:schemeClr val="tx1"/>
                  </a:solidFill>
                  <a:sym typeface="Wingdings" panose="05000000000000000000" pitchFamily="2" charset="2"/>
                </a:rPr>
                <a:t>ID’s</a:t>
              </a:r>
              <a:r>
                <a:rPr lang="pt-BR" sz="1200" dirty="0">
                  <a:solidFill>
                    <a:schemeClr val="tx1"/>
                  </a:solidFill>
                  <a:sym typeface="Wingdings" panose="05000000000000000000" pitchFamily="2" charset="2"/>
                </a:rPr>
                <a:t>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cronograma e PGC </a:t>
              </a:r>
              <a:r>
                <a:rPr lang="pt-BR" sz="1200" b="1" dirty="0">
                  <a:solidFill>
                    <a:schemeClr val="tx1"/>
                  </a:solidFill>
                  <a:sym typeface="Wingdings" panose="05000000000000000000" pitchFamily="2" charset="2"/>
                </a:rPr>
                <a:t>manualmente </a:t>
              </a:r>
              <a:r>
                <a:rPr lang="pt-BR" sz="1200" dirty="0">
                  <a:solidFill>
                    <a:schemeClr val="tx1"/>
                  </a:solidFill>
                  <a:sym typeface="Wingdings" panose="05000000000000000000" pitchFamily="2" charset="2"/>
                </a:rPr>
                <a:t> Registrar log de alteração no HUB com data e responsável</a:t>
              </a:r>
              <a:endParaRPr lang="pt-BR" sz="1200" dirty="0">
                <a:solidFill>
                  <a:schemeClr val="tx1"/>
                </a:solidFill>
              </a:endParaRPr>
            </a:p>
          </p:txBody>
        </p:sp>
        <p:sp>
          <p:nvSpPr>
            <p:cNvPr id="121" name="CaixaDeTexto 120">
              <a:extLst>
                <a:ext uri="{FF2B5EF4-FFF2-40B4-BE49-F238E27FC236}">
                  <a16:creationId xmlns:a16="http://schemas.microsoft.com/office/drawing/2014/main" id="{08E6334F-855D-8ADE-2B5E-97397C8E380B}"/>
                </a:ext>
              </a:extLst>
            </p:cNvPr>
            <p:cNvSpPr txBox="1"/>
            <p:nvPr/>
          </p:nvSpPr>
          <p:spPr>
            <a:xfrm>
              <a:off x="3215680" y="5181235"/>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alterado </a:t>
              </a:r>
              <a:r>
                <a:rPr lang="pt-BR" sz="1200" dirty="0">
                  <a:solidFill>
                    <a:schemeClr val="tx1"/>
                  </a:solidFill>
                  <a:sym typeface="Wingdings" panose="05000000000000000000" pitchFamily="2" charset="2"/>
                </a:rPr>
                <a:t> Indicar novo responsável pelo serviço  Submeter à aprovação  Linha de serviço alterada e com status “responsável atualizado”  Registrar log de alteração no HUB com data e responsável</a:t>
              </a:r>
              <a:endParaRPr lang="pt-BR" sz="1200" dirty="0">
                <a:solidFill>
                  <a:schemeClr val="tx1"/>
                </a:solidFill>
              </a:endParaRPr>
            </a:p>
          </p:txBody>
        </p:sp>
        <p:sp>
          <p:nvSpPr>
            <p:cNvPr id="122" name="CaixaDeTexto 121">
              <a:extLst>
                <a:ext uri="{FF2B5EF4-FFF2-40B4-BE49-F238E27FC236}">
                  <a16:creationId xmlns:a16="http://schemas.microsoft.com/office/drawing/2014/main" id="{8DE534B4-516A-B81A-1EA3-F890D388640E}"/>
                </a:ext>
              </a:extLst>
            </p:cNvPr>
            <p:cNvSpPr txBox="1"/>
            <p:nvPr/>
          </p:nvSpPr>
          <p:spPr>
            <a:xfrm>
              <a:off x="3215680" y="6007377"/>
              <a:ext cx="7776864" cy="725724"/>
            </a:xfrm>
            <a:prstGeom prst="rect">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144000" rtlCol="0" anchor="ctr"/>
            <a:lstStyle>
              <a:defPPr>
                <a:defRPr lang="pt-BR"/>
              </a:defPPr>
              <a:lvl1pPr>
                <a:defRPr sz="14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pt-BR" sz="1200" dirty="0">
                  <a:solidFill>
                    <a:schemeClr val="tx1"/>
                  </a:solidFill>
                </a:rPr>
                <a:t>Preencher formulário GMUD </a:t>
              </a:r>
              <a:r>
                <a:rPr lang="pt-BR" sz="1200" dirty="0">
                  <a:solidFill>
                    <a:schemeClr val="tx1"/>
                  </a:solidFill>
                  <a:sym typeface="Wingdings" panose="05000000000000000000" pitchFamily="2" charset="2"/>
                </a:rPr>
                <a:t> </a:t>
              </a:r>
              <a:r>
                <a:rPr lang="pt-BR" sz="1200" dirty="0">
                  <a:solidFill>
                    <a:schemeClr val="tx1"/>
                  </a:solidFill>
                </a:rPr>
                <a:t>Selecionar ID de serviço a ser alterado </a:t>
              </a:r>
              <a:r>
                <a:rPr lang="pt-BR" sz="1200" dirty="0">
                  <a:solidFill>
                    <a:schemeClr val="tx1"/>
                  </a:solidFill>
                  <a:sym typeface="Wingdings" panose="05000000000000000000" pitchFamily="2" charset="2"/>
                </a:rPr>
                <a:t> Indicar novo fornecedor do serviço  Submeter à aprovação  Linha de serviço alterada e com status “fornecedor atualizado”  Atualizar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 </a:t>
              </a:r>
              <a:r>
                <a:rPr lang="pt-BR" sz="1200" dirty="0" err="1">
                  <a:solidFill>
                    <a:schemeClr val="tx1"/>
                  </a:solidFill>
                  <a:sym typeface="Wingdings" panose="05000000000000000000" pitchFamily="2" charset="2"/>
                </a:rPr>
                <a:t>OneTime</a:t>
              </a:r>
              <a:r>
                <a:rPr lang="pt-BR" sz="1200" dirty="0">
                  <a:solidFill>
                    <a:schemeClr val="tx1"/>
                  </a:solidFill>
                  <a:sym typeface="Wingdings" panose="05000000000000000000" pitchFamily="2" charset="2"/>
                </a:rPr>
                <a:t> </a:t>
              </a:r>
              <a:r>
                <a:rPr lang="pt-BR" sz="1200" dirty="0" err="1">
                  <a:solidFill>
                    <a:schemeClr val="tx1"/>
                  </a:solidFill>
                  <a:sym typeface="Wingdings" panose="05000000000000000000" pitchFamily="2" charset="2"/>
                </a:rPr>
                <a:t>Job</a:t>
              </a:r>
              <a:r>
                <a:rPr lang="pt-BR" sz="1200" dirty="0">
                  <a:solidFill>
                    <a:schemeClr val="tx1"/>
                  </a:solidFill>
                  <a:sym typeface="Wingdings" panose="05000000000000000000" pitchFamily="2" charset="2"/>
                </a:rPr>
                <a:t> </a:t>
              </a:r>
              <a:r>
                <a:rPr lang="pt-BR" sz="1200" b="1" dirty="0">
                  <a:solidFill>
                    <a:schemeClr val="tx1"/>
                  </a:solidFill>
                  <a:sym typeface="Wingdings" panose="05000000000000000000" pitchFamily="2" charset="2"/>
                </a:rPr>
                <a:t>manualmente</a:t>
              </a:r>
              <a:r>
                <a:rPr lang="pt-BR" sz="1200" dirty="0">
                  <a:solidFill>
                    <a:schemeClr val="tx1"/>
                  </a:solidFill>
                  <a:sym typeface="Wingdings" panose="05000000000000000000" pitchFamily="2" charset="2"/>
                </a:rPr>
                <a:t>  Registrar log de alteração no HUB com data e responsável</a:t>
              </a:r>
              <a:endParaRPr lang="pt-BR" sz="1200" dirty="0">
                <a:solidFill>
                  <a:schemeClr val="tx1"/>
                </a:solidFill>
              </a:endParaRPr>
            </a:p>
          </p:txBody>
        </p:sp>
      </p:grpSp>
    </p:spTree>
    <p:extLst>
      <p:ext uri="{BB962C8B-B14F-4D97-AF65-F5344CB8AC3E}">
        <p14:creationId xmlns:p14="http://schemas.microsoft.com/office/powerpoint/2010/main" val="409062892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5AC7-650B-959C-D419-FA06A4898022}"/>
            </a:ext>
          </a:extLst>
        </p:cNvPr>
        <p:cNvGrpSpPr/>
        <p:nvPr/>
      </p:nvGrpSpPr>
      <p:grpSpPr>
        <a:xfrm>
          <a:off x="0" y="0"/>
          <a:ext cx="0" cy="0"/>
          <a:chOff x="0" y="0"/>
          <a:chExt cx="0" cy="0"/>
        </a:xfrm>
      </p:grpSpPr>
      <p:sp>
        <p:nvSpPr>
          <p:cNvPr id="5" name="Content Placeholder 1">
            <a:extLst>
              <a:ext uri="{FF2B5EF4-FFF2-40B4-BE49-F238E27FC236}">
                <a16:creationId xmlns:a16="http://schemas.microsoft.com/office/drawing/2014/main" id="{3D9D6CDC-0754-4C54-55BA-E859F0DE23E9}"/>
              </a:ext>
            </a:extLst>
          </p:cNvPr>
          <p:cNvSpPr>
            <a:spLocks noGrp="1"/>
          </p:cNvSpPr>
          <p:nvPr>
            <p:ph idx="1"/>
          </p:nvPr>
        </p:nvSpPr>
        <p:spPr>
          <a:xfrm>
            <a:off x="2711624" y="404664"/>
            <a:ext cx="7716520" cy="6300000"/>
          </a:xfrm>
        </p:spPr>
        <p:txBody>
          <a:bodyPr anchor="ctr">
            <a:normAutofit/>
          </a:bodyPr>
          <a:lstStyle/>
          <a:p>
            <a:pPr marL="227013" indent="-227013">
              <a:lnSpc>
                <a:spcPct val="110000"/>
              </a:lnSpc>
              <a:spcBef>
                <a:spcPts val="900"/>
              </a:spcBef>
            </a:pPr>
            <a:r>
              <a:rPr lang="en-BR" sz="1800" dirty="0"/>
              <a:t>Tema 01: Cadastro da Parada</a:t>
            </a:r>
          </a:p>
          <a:p>
            <a:pPr marL="227013" indent="-227013">
              <a:lnSpc>
                <a:spcPct val="110000"/>
              </a:lnSpc>
              <a:spcBef>
                <a:spcPts val="900"/>
              </a:spcBef>
            </a:pPr>
            <a:r>
              <a:rPr lang="en-BR" sz="1800" dirty="0"/>
              <a:t>Tema 02: Templates</a:t>
            </a:r>
          </a:p>
          <a:p>
            <a:pPr marL="227013" indent="-227013">
              <a:lnSpc>
                <a:spcPct val="110000"/>
              </a:lnSpc>
              <a:spcBef>
                <a:spcPts val="900"/>
              </a:spcBef>
            </a:pPr>
            <a:r>
              <a:rPr lang="en-BR" sz="1800" dirty="0"/>
              <a:t>Tema 03: Status e Dinâmica de FEL’s</a:t>
            </a:r>
          </a:p>
          <a:p>
            <a:pPr marL="227013" indent="-227013">
              <a:lnSpc>
                <a:spcPct val="110000"/>
              </a:lnSpc>
              <a:spcBef>
                <a:spcPts val="900"/>
              </a:spcBef>
            </a:pPr>
            <a:r>
              <a:rPr lang="en-BR" sz="1800" dirty="0"/>
              <a:t>Tema 04: Planejamento de Escopo / Demandas</a:t>
            </a:r>
          </a:p>
          <a:p>
            <a:pPr marL="227013" indent="-227013">
              <a:lnSpc>
                <a:spcPct val="110000"/>
              </a:lnSpc>
              <a:spcBef>
                <a:spcPts val="900"/>
              </a:spcBef>
            </a:pPr>
            <a:r>
              <a:rPr lang="en-BR" sz="1800" dirty="0"/>
              <a:t>Tema 05: Simulação de Cenários</a:t>
            </a:r>
          </a:p>
          <a:p>
            <a:pPr marL="227013" indent="-227013">
              <a:lnSpc>
                <a:spcPct val="110000"/>
              </a:lnSpc>
              <a:spcBef>
                <a:spcPts val="900"/>
              </a:spcBef>
            </a:pPr>
            <a:r>
              <a:rPr lang="en-BR" sz="1800" dirty="0"/>
              <a:t>Tema 06: Esteira Financeira</a:t>
            </a:r>
            <a:endParaRPr lang="en-BR" sz="1800" b="0" i="1" dirty="0">
              <a:solidFill>
                <a:srgbClr val="FF0000"/>
              </a:solidFill>
            </a:endParaRPr>
          </a:p>
          <a:p>
            <a:pPr marL="227013" indent="-227013">
              <a:lnSpc>
                <a:spcPct val="110000"/>
              </a:lnSpc>
              <a:spcBef>
                <a:spcPts val="900"/>
              </a:spcBef>
            </a:pPr>
            <a:r>
              <a:rPr lang="en-BR" sz="1800" dirty="0"/>
              <a:t>Tema 07: Outlook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08: Lançamento Materiais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09: Lançamento Serviços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a:t>
            </a:r>
            <a:r>
              <a:rPr lang="en-US" sz="1800" dirty="0"/>
              <a:t>e</a:t>
            </a:r>
            <a:r>
              <a:rPr lang="en-BR" sz="1800" dirty="0"/>
              <a:t>ma 10: Não Conformidades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11: GMUDs</a:t>
            </a:r>
          </a:p>
          <a:p>
            <a:pPr marL="227013" indent="-227013">
              <a:lnSpc>
                <a:spcPct val="110000"/>
              </a:lnSpc>
              <a:spcBef>
                <a:spcPts val="900"/>
              </a:spcBef>
            </a:pPr>
            <a:r>
              <a:rPr lang="en-BR" sz="1800" dirty="0"/>
              <a:t>Tema 12: Movimentação de Obras e Escopos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13: Fechamento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endParaRPr lang="en-BR" sz="1800" dirty="0"/>
          </a:p>
          <a:p>
            <a:pPr marL="227013" indent="-227013">
              <a:lnSpc>
                <a:spcPct val="110000"/>
              </a:lnSpc>
              <a:spcBef>
                <a:spcPts val="900"/>
              </a:spcBef>
            </a:pPr>
            <a:r>
              <a:rPr lang="en-BR" sz="1800" dirty="0"/>
              <a:t>Tema 14: P</a:t>
            </a:r>
            <a:r>
              <a:rPr lang="en-US" sz="1800" dirty="0"/>
              <a:t>o</a:t>
            </a:r>
            <a:r>
              <a:rPr lang="en-BR" sz="1800" dirty="0"/>
              <a:t>st Morten </a:t>
            </a:r>
            <a:r>
              <a:rPr kumimoji="0" lang="en-BR" sz="1400" b="0" i="1" u="none" strike="noStrike" kern="1200" cap="none" spc="0" normalizeH="0" baseline="0" noProof="0" dirty="0">
                <a:ln>
                  <a:noFill/>
                </a:ln>
                <a:solidFill>
                  <a:srgbClr val="FF0000"/>
                </a:solidFill>
                <a:effectLst/>
                <a:uLnTx/>
                <a:uFillTx/>
                <a:latin typeface="Calibri"/>
                <a:ea typeface="+mn-ea"/>
                <a:cs typeface="+mn-cs"/>
              </a:rPr>
              <a:t>(em desenvolvimento)</a:t>
            </a:r>
          </a:p>
          <a:p>
            <a:pPr marL="227013" indent="-227013">
              <a:lnSpc>
                <a:spcPct val="110000"/>
              </a:lnSpc>
              <a:spcBef>
                <a:spcPts val="900"/>
              </a:spcBef>
            </a:pPr>
            <a:r>
              <a:rPr lang="en-BR" sz="1800" dirty="0"/>
              <a:t>Anexo: BI Capex</a:t>
            </a:r>
          </a:p>
        </p:txBody>
      </p:sp>
      <p:sp>
        <p:nvSpPr>
          <p:cNvPr id="6" name="Rectangle 5">
            <a:extLst>
              <a:ext uri="{FF2B5EF4-FFF2-40B4-BE49-F238E27FC236}">
                <a16:creationId xmlns:a16="http://schemas.microsoft.com/office/drawing/2014/main" id="{5B00795E-13FD-260B-B320-1A0DBFA81F25}"/>
              </a:ext>
            </a:extLst>
          </p:cNvPr>
          <p:cNvSpPr/>
          <p:nvPr/>
        </p:nvSpPr>
        <p:spPr>
          <a:xfrm>
            <a:off x="2711624" y="404664"/>
            <a:ext cx="6552728" cy="5850300"/>
          </a:xfrm>
          <a:prstGeom prst="rect">
            <a:avLst/>
          </a:prstGeom>
          <a:solidFill>
            <a:srgbClr val="FFFFFF">
              <a:alpha val="8117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R"/>
          </a:p>
        </p:txBody>
      </p:sp>
    </p:spTree>
    <p:extLst>
      <p:ext uri="{BB962C8B-B14F-4D97-AF65-F5344CB8AC3E}">
        <p14:creationId xmlns:p14="http://schemas.microsoft.com/office/powerpoint/2010/main" val="10498729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3697B-5F57-56EE-22FB-DC094B5629CB}"/>
            </a:ext>
          </a:extLst>
        </p:cNvPr>
        <p:cNvGrpSpPr/>
        <p:nvPr/>
      </p:nvGrpSpPr>
      <p:grpSpPr>
        <a:xfrm>
          <a:off x="0" y="0"/>
          <a:ext cx="0" cy="0"/>
          <a:chOff x="0" y="0"/>
          <a:chExt cx="0" cy="0"/>
        </a:xfrm>
      </p:grpSpPr>
      <p:sp>
        <p:nvSpPr>
          <p:cNvPr id="62" name="Título 3">
            <a:extLst>
              <a:ext uri="{FF2B5EF4-FFF2-40B4-BE49-F238E27FC236}">
                <a16:creationId xmlns:a16="http://schemas.microsoft.com/office/drawing/2014/main" id="{6F47D9A0-D0AB-901D-D5D9-BEE3A0996BF2}"/>
              </a:ext>
            </a:extLst>
          </p:cNvPr>
          <p:cNvSpPr>
            <a:spLocks noGrp="1"/>
          </p:cNvSpPr>
          <p:nvPr>
            <p:ph type="title"/>
          </p:nvPr>
        </p:nvSpPr>
        <p:spPr>
          <a:xfrm>
            <a:off x="1089653" y="303578"/>
            <a:ext cx="10485852" cy="645195"/>
          </a:xfrm>
        </p:spPr>
        <p:txBody>
          <a:bodyPr/>
          <a:lstStyle/>
          <a:p>
            <a:r>
              <a:rPr lang="pt-BR" dirty="0"/>
              <a:t>BI </a:t>
            </a:r>
            <a:r>
              <a:rPr lang="pt-BR" dirty="0" err="1"/>
              <a:t>Capex</a:t>
            </a:r>
            <a:br>
              <a:rPr lang="pt-BR" dirty="0"/>
            </a:br>
            <a:r>
              <a:rPr lang="pt-BR" sz="1600" b="0" dirty="0"/>
              <a:t>Visualizações possíveis no </a:t>
            </a:r>
            <a:r>
              <a:rPr lang="pt-BR" sz="1600" dirty="0">
                <a:solidFill>
                  <a:srgbClr val="03738E"/>
                </a:solidFill>
              </a:rPr>
              <a:t>atual BI de Acompanhamento de </a:t>
            </a:r>
            <a:r>
              <a:rPr lang="pt-BR" sz="1600" dirty="0" err="1">
                <a:solidFill>
                  <a:srgbClr val="03738E"/>
                </a:solidFill>
              </a:rPr>
              <a:t>Capex</a:t>
            </a:r>
            <a:r>
              <a:rPr lang="pt-BR" sz="1600" dirty="0">
                <a:solidFill>
                  <a:srgbClr val="03738E"/>
                </a:solidFill>
              </a:rPr>
              <a:t> </a:t>
            </a:r>
            <a:r>
              <a:rPr lang="pt-BR" sz="1600" b="0" dirty="0"/>
              <a:t>– para referência</a:t>
            </a:r>
          </a:p>
        </p:txBody>
      </p:sp>
      <p:pic>
        <p:nvPicPr>
          <p:cNvPr id="4" name="Picture 3" descr="A screenshot of a computer&#10;&#10;AI-generated content may be incorrect.">
            <a:extLst>
              <a:ext uri="{FF2B5EF4-FFF2-40B4-BE49-F238E27FC236}">
                <a16:creationId xmlns:a16="http://schemas.microsoft.com/office/drawing/2014/main" id="{C781B09C-4F12-853B-BFA6-D595CAEE7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400" y="1103002"/>
            <a:ext cx="10345064" cy="5680549"/>
          </a:xfrm>
          <a:prstGeom prst="rect">
            <a:avLst/>
          </a:prstGeom>
        </p:spPr>
      </p:pic>
    </p:spTree>
    <p:extLst>
      <p:ext uri="{BB962C8B-B14F-4D97-AF65-F5344CB8AC3E}">
        <p14:creationId xmlns:p14="http://schemas.microsoft.com/office/powerpoint/2010/main" val="113510920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E9954-1D0F-9DA9-26F1-3939F61F4A5A}"/>
            </a:ext>
          </a:extLst>
        </p:cNvPr>
        <p:cNvGrpSpPr/>
        <p:nvPr/>
      </p:nvGrpSpPr>
      <p:grpSpPr>
        <a:xfrm>
          <a:off x="0" y="0"/>
          <a:ext cx="0" cy="0"/>
          <a:chOff x="0" y="0"/>
          <a:chExt cx="0" cy="0"/>
        </a:xfrm>
      </p:grpSpPr>
      <p:sp>
        <p:nvSpPr>
          <p:cNvPr id="62" name="Título 3">
            <a:extLst>
              <a:ext uri="{FF2B5EF4-FFF2-40B4-BE49-F238E27FC236}">
                <a16:creationId xmlns:a16="http://schemas.microsoft.com/office/drawing/2014/main" id="{67BDB9DA-8336-FA10-213D-3E140FA8AD77}"/>
              </a:ext>
            </a:extLst>
          </p:cNvPr>
          <p:cNvSpPr>
            <a:spLocks noGrp="1"/>
          </p:cNvSpPr>
          <p:nvPr>
            <p:ph type="title"/>
          </p:nvPr>
        </p:nvSpPr>
        <p:spPr>
          <a:xfrm>
            <a:off x="1089653" y="303578"/>
            <a:ext cx="10485852" cy="645195"/>
          </a:xfrm>
        </p:spPr>
        <p:txBody>
          <a:bodyPr/>
          <a:lstStyle/>
          <a:p>
            <a:r>
              <a:rPr lang="pt-BR" dirty="0"/>
              <a:t>BI </a:t>
            </a:r>
            <a:r>
              <a:rPr lang="pt-BR" dirty="0" err="1"/>
              <a:t>Capex</a:t>
            </a:r>
            <a:br>
              <a:rPr lang="pt-BR" dirty="0"/>
            </a:br>
            <a:r>
              <a:rPr lang="pt-BR" sz="1600" b="0" dirty="0"/>
              <a:t>Visualizações possíveis no </a:t>
            </a:r>
            <a:r>
              <a:rPr lang="pt-BR" sz="1600" dirty="0">
                <a:solidFill>
                  <a:srgbClr val="03738E"/>
                </a:solidFill>
              </a:rPr>
              <a:t>atual BI de Acompanhamento de </a:t>
            </a:r>
            <a:r>
              <a:rPr lang="pt-BR" sz="1600" dirty="0" err="1">
                <a:solidFill>
                  <a:srgbClr val="03738E"/>
                </a:solidFill>
              </a:rPr>
              <a:t>Capex</a:t>
            </a:r>
            <a:r>
              <a:rPr lang="pt-BR" sz="1600" dirty="0">
                <a:solidFill>
                  <a:srgbClr val="03738E"/>
                </a:solidFill>
              </a:rPr>
              <a:t> </a:t>
            </a:r>
            <a:r>
              <a:rPr lang="pt-BR" sz="1600" b="0" dirty="0"/>
              <a:t>– para referência</a:t>
            </a:r>
          </a:p>
        </p:txBody>
      </p:sp>
      <p:pic>
        <p:nvPicPr>
          <p:cNvPr id="3" name="Picture 2" descr="A screenshot of a computer&#10;&#10;AI-generated content may be incorrect.">
            <a:extLst>
              <a:ext uri="{FF2B5EF4-FFF2-40B4-BE49-F238E27FC236}">
                <a16:creationId xmlns:a16="http://schemas.microsoft.com/office/drawing/2014/main" id="{E23823D1-3DA8-4339-9BE5-8E39B6C6A8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400" y="1103002"/>
            <a:ext cx="10153128" cy="5735355"/>
          </a:xfrm>
          <a:prstGeom prst="rect">
            <a:avLst/>
          </a:prstGeom>
        </p:spPr>
      </p:pic>
    </p:spTree>
    <p:extLst>
      <p:ext uri="{BB962C8B-B14F-4D97-AF65-F5344CB8AC3E}">
        <p14:creationId xmlns:p14="http://schemas.microsoft.com/office/powerpoint/2010/main" val="27683770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F264D-DB6F-5EC3-75BA-1333C9BDC9F9}"/>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B2AFDD97-B74F-37DE-97F7-4E799F693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400" y="1103002"/>
            <a:ext cx="10153128" cy="5664377"/>
          </a:xfrm>
          <a:prstGeom prst="rect">
            <a:avLst/>
          </a:prstGeom>
        </p:spPr>
      </p:pic>
      <p:sp>
        <p:nvSpPr>
          <p:cNvPr id="62" name="Título 3">
            <a:extLst>
              <a:ext uri="{FF2B5EF4-FFF2-40B4-BE49-F238E27FC236}">
                <a16:creationId xmlns:a16="http://schemas.microsoft.com/office/drawing/2014/main" id="{E2BF8A23-7C26-29EA-1177-78D68A12A1A9}"/>
              </a:ext>
            </a:extLst>
          </p:cNvPr>
          <p:cNvSpPr>
            <a:spLocks noGrp="1"/>
          </p:cNvSpPr>
          <p:nvPr>
            <p:ph type="title"/>
          </p:nvPr>
        </p:nvSpPr>
        <p:spPr>
          <a:xfrm>
            <a:off x="1089653" y="303578"/>
            <a:ext cx="10485852" cy="645195"/>
          </a:xfrm>
        </p:spPr>
        <p:txBody>
          <a:bodyPr/>
          <a:lstStyle/>
          <a:p>
            <a:r>
              <a:rPr lang="pt-BR" dirty="0"/>
              <a:t>BI </a:t>
            </a:r>
            <a:r>
              <a:rPr lang="pt-BR" dirty="0" err="1"/>
              <a:t>Capex</a:t>
            </a:r>
            <a:br>
              <a:rPr lang="pt-BR" dirty="0"/>
            </a:br>
            <a:r>
              <a:rPr lang="pt-BR" sz="1600" b="0" dirty="0"/>
              <a:t>Visualizações possíveis no </a:t>
            </a:r>
            <a:r>
              <a:rPr lang="pt-BR" sz="1600" dirty="0">
                <a:solidFill>
                  <a:srgbClr val="03738E"/>
                </a:solidFill>
              </a:rPr>
              <a:t>atual BI de Acompanhamento de </a:t>
            </a:r>
            <a:r>
              <a:rPr lang="pt-BR" sz="1600" dirty="0" err="1">
                <a:solidFill>
                  <a:srgbClr val="03738E"/>
                </a:solidFill>
              </a:rPr>
              <a:t>Capex</a:t>
            </a:r>
            <a:r>
              <a:rPr lang="pt-BR" sz="1600" dirty="0">
                <a:solidFill>
                  <a:srgbClr val="03738E"/>
                </a:solidFill>
              </a:rPr>
              <a:t> </a:t>
            </a:r>
            <a:r>
              <a:rPr lang="pt-BR" sz="1600" b="0" dirty="0"/>
              <a:t>– para referência</a:t>
            </a:r>
          </a:p>
        </p:txBody>
      </p:sp>
    </p:spTree>
    <p:extLst>
      <p:ext uri="{BB962C8B-B14F-4D97-AF65-F5344CB8AC3E}">
        <p14:creationId xmlns:p14="http://schemas.microsoft.com/office/powerpoint/2010/main" val="337921340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21404E19-F113-6A67-BE8B-7E545BF8019E}"/>
              </a:ext>
            </a:extLst>
          </p:cNvPr>
          <p:cNvSpPr>
            <a:spLocks noGrp="1"/>
          </p:cNvSpPr>
          <p:nvPr>
            <p:ph type="body" sz="quarter" idx="14"/>
          </p:nvPr>
        </p:nvSpPr>
        <p:spPr>
          <a:xfrm>
            <a:off x="911424" y="6459966"/>
            <a:ext cx="1270276" cy="188912"/>
          </a:xfrm>
        </p:spPr>
        <p:txBody>
          <a:bodyPr anchor="ctr"/>
          <a:lstStyle/>
          <a:p>
            <a:r>
              <a:rPr lang="pt-BR" dirty="0"/>
              <a:t>Telas prioritárias</a:t>
            </a:r>
          </a:p>
        </p:txBody>
      </p:sp>
      <p:sp>
        <p:nvSpPr>
          <p:cNvPr id="4" name="Título 3">
            <a:extLst>
              <a:ext uri="{FF2B5EF4-FFF2-40B4-BE49-F238E27FC236}">
                <a16:creationId xmlns:a16="http://schemas.microsoft.com/office/drawing/2014/main" id="{A8753DCF-6B05-B0F7-F774-DCB1995B9824}"/>
              </a:ext>
            </a:extLst>
          </p:cNvPr>
          <p:cNvSpPr>
            <a:spLocks noGrp="1"/>
          </p:cNvSpPr>
          <p:nvPr>
            <p:ph type="title"/>
          </p:nvPr>
        </p:nvSpPr>
        <p:spPr/>
        <p:txBody>
          <a:bodyPr/>
          <a:lstStyle/>
          <a:p>
            <a:r>
              <a:rPr lang="pt-BR" dirty="0"/>
              <a:t>Mapa de Telas</a:t>
            </a:r>
          </a:p>
        </p:txBody>
      </p:sp>
      <p:sp>
        <p:nvSpPr>
          <p:cNvPr id="5" name="Retângulo: Cantos Arredondados 4">
            <a:extLst>
              <a:ext uri="{FF2B5EF4-FFF2-40B4-BE49-F238E27FC236}">
                <a16:creationId xmlns:a16="http://schemas.microsoft.com/office/drawing/2014/main" id="{3EE1AE0E-1D09-4388-DF68-BA3EDBD23AFD}"/>
              </a:ext>
            </a:extLst>
          </p:cNvPr>
          <p:cNvSpPr/>
          <p:nvPr/>
        </p:nvSpPr>
        <p:spPr>
          <a:xfrm>
            <a:off x="1271464" y="2060897"/>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 Home/</a:t>
            </a:r>
            <a:r>
              <a:rPr lang="pt-BR" sz="1100" dirty="0" err="1">
                <a:solidFill>
                  <a:schemeClr val="bg1"/>
                </a:solidFill>
              </a:rPr>
              <a:t>Kanban</a:t>
            </a:r>
            <a:endParaRPr lang="pt-BR" sz="1100" dirty="0">
              <a:solidFill>
                <a:schemeClr val="bg1"/>
              </a:solidFill>
            </a:endParaRPr>
          </a:p>
        </p:txBody>
      </p:sp>
      <p:sp>
        <p:nvSpPr>
          <p:cNvPr id="7" name="Retângulo: Cantos Arredondados 6">
            <a:extLst>
              <a:ext uri="{FF2B5EF4-FFF2-40B4-BE49-F238E27FC236}">
                <a16:creationId xmlns:a16="http://schemas.microsoft.com/office/drawing/2014/main" id="{608B89DA-B917-AD40-6A51-280167FEBCB9}"/>
              </a:ext>
            </a:extLst>
          </p:cNvPr>
          <p:cNvSpPr/>
          <p:nvPr/>
        </p:nvSpPr>
        <p:spPr>
          <a:xfrm>
            <a:off x="4655840" y="2060897"/>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2. Edição e Ger. da Parada</a:t>
            </a:r>
          </a:p>
        </p:txBody>
      </p:sp>
      <p:sp>
        <p:nvSpPr>
          <p:cNvPr id="8" name="Retângulo: Cantos Arredondados 7">
            <a:extLst>
              <a:ext uri="{FF2B5EF4-FFF2-40B4-BE49-F238E27FC236}">
                <a16:creationId xmlns:a16="http://schemas.microsoft.com/office/drawing/2014/main" id="{AB7028AB-83A6-F80C-5C1A-24F96AFF84F0}"/>
              </a:ext>
            </a:extLst>
          </p:cNvPr>
          <p:cNvSpPr/>
          <p:nvPr/>
        </p:nvSpPr>
        <p:spPr>
          <a:xfrm>
            <a:off x="2972800" y="1187569"/>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3. Visual. e Ger. de alertas (por usuário)</a:t>
            </a:r>
          </a:p>
        </p:txBody>
      </p:sp>
      <p:sp>
        <p:nvSpPr>
          <p:cNvPr id="9" name="Retângulo: Cantos Arredondados 8">
            <a:extLst>
              <a:ext uri="{FF2B5EF4-FFF2-40B4-BE49-F238E27FC236}">
                <a16:creationId xmlns:a16="http://schemas.microsoft.com/office/drawing/2014/main" id="{E347696D-B231-E910-E1A8-674675249A94}"/>
              </a:ext>
            </a:extLst>
          </p:cNvPr>
          <p:cNvSpPr/>
          <p:nvPr/>
        </p:nvSpPr>
        <p:spPr>
          <a:xfrm>
            <a:off x="2972800" y="2633155"/>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4. Visualização de não conformidades</a:t>
            </a:r>
          </a:p>
        </p:txBody>
      </p:sp>
      <p:sp>
        <p:nvSpPr>
          <p:cNvPr id="10" name="Retângulo: Cantos Arredondados 9">
            <a:extLst>
              <a:ext uri="{FF2B5EF4-FFF2-40B4-BE49-F238E27FC236}">
                <a16:creationId xmlns:a16="http://schemas.microsoft.com/office/drawing/2014/main" id="{148A57EF-9830-6C58-2B4F-EB530B7942EB}"/>
              </a:ext>
            </a:extLst>
          </p:cNvPr>
          <p:cNvSpPr/>
          <p:nvPr/>
        </p:nvSpPr>
        <p:spPr>
          <a:xfrm>
            <a:off x="2972800" y="3637532"/>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5. Configurações Administrativas</a:t>
            </a:r>
          </a:p>
        </p:txBody>
      </p:sp>
      <p:sp>
        <p:nvSpPr>
          <p:cNvPr id="11" name="Retângulo: Cantos Arredondados 10">
            <a:extLst>
              <a:ext uri="{FF2B5EF4-FFF2-40B4-BE49-F238E27FC236}">
                <a16:creationId xmlns:a16="http://schemas.microsoft.com/office/drawing/2014/main" id="{C589E440-3DE2-47FC-3F78-02C7AD4DF64C}"/>
              </a:ext>
            </a:extLst>
          </p:cNvPr>
          <p:cNvSpPr/>
          <p:nvPr/>
        </p:nvSpPr>
        <p:spPr>
          <a:xfrm>
            <a:off x="2972800" y="4641909"/>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6. Cadastro e </a:t>
            </a:r>
            <a:r>
              <a:rPr lang="pt-BR" sz="1100" dirty="0" err="1">
                <a:solidFill>
                  <a:schemeClr val="tx1"/>
                </a:solidFill>
              </a:rPr>
              <a:t>Gerenc</a:t>
            </a:r>
            <a:r>
              <a:rPr lang="pt-BR" sz="1100" dirty="0">
                <a:solidFill>
                  <a:schemeClr val="tx1"/>
                </a:solidFill>
              </a:rPr>
              <a:t>. de </a:t>
            </a:r>
            <a:r>
              <a:rPr lang="pt-BR" sz="1100" dirty="0" err="1">
                <a:solidFill>
                  <a:schemeClr val="tx1"/>
                </a:solidFill>
              </a:rPr>
              <a:t>Templates</a:t>
            </a:r>
            <a:endParaRPr lang="pt-BR" sz="1100" dirty="0">
              <a:solidFill>
                <a:schemeClr val="tx1"/>
              </a:solidFill>
            </a:endParaRPr>
          </a:p>
        </p:txBody>
      </p:sp>
      <p:sp>
        <p:nvSpPr>
          <p:cNvPr id="12" name="Retângulo: Cantos Arredondados 11">
            <a:extLst>
              <a:ext uri="{FF2B5EF4-FFF2-40B4-BE49-F238E27FC236}">
                <a16:creationId xmlns:a16="http://schemas.microsoft.com/office/drawing/2014/main" id="{21E71D7B-7C12-69E4-AFA9-E2A2ED3B9031}"/>
              </a:ext>
            </a:extLst>
          </p:cNvPr>
          <p:cNvSpPr/>
          <p:nvPr/>
        </p:nvSpPr>
        <p:spPr>
          <a:xfrm>
            <a:off x="10214801" y="4900358"/>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12. Form. Inclusão/Solicitação Materiais</a:t>
            </a:r>
          </a:p>
        </p:txBody>
      </p:sp>
      <p:sp>
        <p:nvSpPr>
          <p:cNvPr id="13" name="Retângulo: Cantos Arredondados 12">
            <a:extLst>
              <a:ext uri="{FF2B5EF4-FFF2-40B4-BE49-F238E27FC236}">
                <a16:creationId xmlns:a16="http://schemas.microsoft.com/office/drawing/2014/main" id="{0CF7CF77-E27C-1109-6292-CB7207CAF54B}"/>
              </a:ext>
            </a:extLst>
          </p:cNvPr>
          <p:cNvSpPr/>
          <p:nvPr/>
        </p:nvSpPr>
        <p:spPr>
          <a:xfrm>
            <a:off x="9003064" y="5840386"/>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13. Solicitação de Cadastro de Código M</a:t>
            </a:r>
          </a:p>
        </p:txBody>
      </p:sp>
      <p:cxnSp>
        <p:nvCxnSpPr>
          <p:cNvPr id="15" name="Conector: Curvo 14">
            <a:extLst>
              <a:ext uri="{FF2B5EF4-FFF2-40B4-BE49-F238E27FC236}">
                <a16:creationId xmlns:a16="http://schemas.microsoft.com/office/drawing/2014/main" id="{7DF039AE-16D3-06B3-A9B3-6FAC38621339}"/>
              </a:ext>
            </a:extLst>
          </p:cNvPr>
          <p:cNvCxnSpPr>
            <a:stCxn id="5" idx="0"/>
            <a:endCxn id="8" idx="1"/>
          </p:cNvCxnSpPr>
          <p:nvPr/>
        </p:nvCxnSpPr>
        <p:spPr>
          <a:xfrm rot="5400000" flipH="1" flipV="1">
            <a:off x="2162648" y="1250745"/>
            <a:ext cx="611968" cy="1008336"/>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Conector: Curvo 15">
            <a:extLst>
              <a:ext uri="{FF2B5EF4-FFF2-40B4-BE49-F238E27FC236}">
                <a16:creationId xmlns:a16="http://schemas.microsoft.com/office/drawing/2014/main" id="{D4E3747E-FF02-CD38-9F15-B6421CEF32DC}"/>
              </a:ext>
            </a:extLst>
          </p:cNvPr>
          <p:cNvCxnSpPr>
            <a:cxnSpLocks/>
            <a:stCxn id="7" idx="0"/>
            <a:endCxn id="8" idx="3"/>
          </p:cNvCxnSpPr>
          <p:nvPr/>
        </p:nvCxnSpPr>
        <p:spPr>
          <a:xfrm rot="16200000" flipV="1">
            <a:off x="4547836" y="1259893"/>
            <a:ext cx="611968" cy="990040"/>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Conector: Curvo 18">
            <a:extLst>
              <a:ext uri="{FF2B5EF4-FFF2-40B4-BE49-F238E27FC236}">
                <a16:creationId xmlns:a16="http://schemas.microsoft.com/office/drawing/2014/main" id="{40ED6960-7086-33B0-71B8-6085C82924B1}"/>
              </a:ext>
            </a:extLst>
          </p:cNvPr>
          <p:cNvCxnSpPr>
            <a:cxnSpLocks/>
            <a:stCxn id="9" idx="1"/>
            <a:endCxn id="5" idx="2"/>
          </p:cNvCxnSpPr>
          <p:nvPr/>
        </p:nvCxnSpPr>
        <p:spPr>
          <a:xfrm rot="10800000">
            <a:off x="1964464" y="2583617"/>
            <a:ext cx="1008336" cy="310898"/>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Conector: Curvo 21">
            <a:extLst>
              <a:ext uri="{FF2B5EF4-FFF2-40B4-BE49-F238E27FC236}">
                <a16:creationId xmlns:a16="http://schemas.microsoft.com/office/drawing/2014/main" id="{AB9AB19E-3F7D-5A72-F7AB-274670B6B988}"/>
              </a:ext>
            </a:extLst>
          </p:cNvPr>
          <p:cNvCxnSpPr>
            <a:cxnSpLocks/>
            <a:stCxn id="10" idx="1"/>
            <a:endCxn id="5" idx="2"/>
          </p:cNvCxnSpPr>
          <p:nvPr/>
        </p:nvCxnSpPr>
        <p:spPr>
          <a:xfrm rot="10800000">
            <a:off x="1964464" y="2583618"/>
            <a:ext cx="1008336" cy="1315275"/>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Conector: Curvo 24">
            <a:extLst>
              <a:ext uri="{FF2B5EF4-FFF2-40B4-BE49-F238E27FC236}">
                <a16:creationId xmlns:a16="http://schemas.microsoft.com/office/drawing/2014/main" id="{56D23AAD-7579-180F-6AEE-355A2E61FA77}"/>
              </a:ext>
            </a:extLst>
          </p:cNvPr>
          <p:cNvCxnSpPr>
            <a:cxnSpLocks/>
            <a:stCxn id="11" idx="1"/>
            <a:endCxn id="5" idx="2"/>
          </p:cNvCxnSpPr>
          <p:nvPr/>
        </p:nvCxnSpPr>
        <p:spPr>
          <a:xfrm rot="10800000">
            <a:off x="1964464" y="2583617"/>
            <a:ext cx="1008336" cy="2319652"/>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Conector: Curvo 27">
            <a:extLst>
              <a:ext uri="{FF2B5EF4-FFF2-40B4-BE49-F238E27FC236}">
                <a16:creationId xmlns:a16="http://schemas.microsoft.com/office/drawing/2014/main" id="{2CFC8778-2A60-2D4F-D880-8504897B4AD2}"/>
              </a:ext>
            </a:extLst>
          </p:cNvPr>
          <p:cNvCxnSpPr>
            <a:cxnSpLocks/>
            <a:stCxn id="11" idx="3"/>
            <a:endCxn id="7" idx="2"/>
          </p:cNvCxnSpPr>
          <p:nvPr/>
        </p:nvCxnSpPr>
        <p:spPr>
          <a:xfrm flipV="1">
            <a:off x="4358800" y="2583617"/>
            <a:ext cx="990040" cy="2319652"/>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Conector: Curvo 30">
            <a:extLst>
              <a:ext uri="{FF2B5EF4-FFF2-40B4-BE49-F238E27FC236}">
                <a16:creationId xmlns:a16="http://schemas.microsoft.com/office/drawing/2014/main" id="{74BE2804-5425-9916-17C1-4D95FF99EB2C}"/>
              </a:ext>
            </a:extLst>
          </p:cNvPr>
          <p:cNvCxnSpPr>
            <a:cxnSpLocks/>
            <a:stCxn id="37" idx="1"/>
            <a:endCxn id="7" idx="2"/>
          </p:cNvCxnSpPr>
          <p:nvPr/>
        </p:nvCxnSpPr>
        <p:spPr>
          <a:xfrm rot="10800000">
            <a:off x="5348841" y="2583618"/>
            <a:ext cx="2850743" cy="2578101"/>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Conector de Seta Reta 34">
            <a:extLst>
              <a:ext uri="{FF2B5EF4-FFF2-40B4-BE49-F238E27FC236}">
                <a16:creationId xmlns:a16="http://schemas.microsoft.com/office/drawing/2014/main" id="{10DFC9BD-FFDE-E0F7-BA2A-CF9DDF9C2397}"/>
              </a:ext>
            </a:extLst>
          </p:cNvPr>
          <p:cNvCxnSpPr>
            <a:cxnSpLocks/>
            <a:stCxn id="37" idx="3"/>
            <a:endCxn id="12" idx="1"/>
          </p:cNvCxnSpPr>
          <p:nvPr/>
        </p:nvCxnSpPr>
        <p:spPr>
          <a:xfrm>
            <a:off x="9585583" y="5161718"/>
            <a:ext cx="6292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Retângulo: Cantos Arredondados 35">
            <a:extLst>
              <a:ext uri="{FF2B5EF4-FFF2-40B4-BE49-F238E27FC236}">
                <a16:creationId xmlns:a16="http://schemas.microsoft.com/office/drawing/2014/main" id="{A7CD7B63-49F3-585B-1C9F-7E384DAAD460}"/>
              </a:ext>
            </a:extLst>
          </p:cNvPr>
          <p:cNvSpPr/>
          <p:nvPr/>
        </p:nvSpPr>
        <p:spPr>
          <a:xfrm>
            <a:off x="8199583" y="2060897"/>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14. Visualização e ger. de Serviços</a:t>
            </a:r>
          </a:p>
        </p:txBody>
      </p:sp>
      <p:sp>
        <p:nvSpPr>
          <p:cNvPr id="37" name="Retângulo: Cantos Arredondados 36">
            <a:extLst>
              <a:ext uri="{FF2B5EF4-FFF2-40B4-BE49-F238E27FC236}">
                <a16:creationId xmlns:a16="http://schemas.microsoft.com/office/drawing/2014/main" id="{1C33DCB0-0A3B-CFDA-6118-C580F4099D57}"/>
              </a:ext>
            </a:extLst>
          </p:cNvPr>
          <p:cNvSpPr/>
          <p:nvPr/>
        </p:nvSpPr>
        <p:spPr>
          <a:xfrm>
            <a:off x="8199583" y="4900358"/>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11. Visualização e ger. de Materiais</a:t>
            </a:r>
          </a:p>
        </p:txBody>
      </p:sp>
      <p:cxnSp>
        <p:nvCxnSpPr>
          <p:cNvPr id="40" name="Conector: Curvo 39">
            <a:extLst>
              <a:ext uri="{FF2B5EF4-FFF2-40B4-BE49-F238E27FC236}">
                <a16:creationId xmlns:a16="http://schemas.microsoft.com/office/drawing/2014/main" id="{A3C01FE8-2AC0-70E6-9D93-1BBA65C0FE2A}"/>
              </a:ext>
            </a:extLst>
          </p:cNvPr>
          <p:cNvCxnSpPr>
            <a:cxnSpLocks/>
            <a:stCxn id="12" idx="2"/>
            <a:endCxn id="13" idx="3"/>
          </p:cNvCxnSpPr>
          <p:nvPr/>
        </p:nvCxnSpPr>
        <p:spPr>
          <a:xfrm rot="5400000">
            <a:off x="10309099" y="5503044"/>
            <a:ext cx="678668" cy="518737"/>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3" name="Conector: Curvo 42">
            <a:extLst>
              <a:ext uri="{FF2B5EF4-FFF2-40B4-BE49-F238E27FC236}">
                <a16:creationId xmlns:a16="http://schemas.microsoft.com/office/drawing/2014/main" id="{2B5FE2E0-CC26-8CD1-C575-0973D9D79327}"/>
              </a:ext>
            </a:extLst>
          </p:cNvPr>
          <p:cNvCxnSpPr>
            <a:cxnSpLocks/>
            <a:stCxn id="73" idx="0"/>
            <a:endCxn id="7" idx="3"/>
          </p:cNvCxnSpPr>
          <p:nvPr/>
        </p:nvCxnSpPr>
        <p:spPr>
          <a:xfrm rot="16200000" flipV="1">
            <a:off x="6287052" y="2077045"/>
            <a:ext cx="310898" cy="801322"/>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0" name="Retângulo: Cantos Arredondados 59">
            <a:extLst>
              <a:ext uri="{FF2B5EF4-FFF2-40B4-BE49-F238E27FC236}">
                <a16:creationId xmlns:a16="http://schemas.microsoft.com/office/drawing/2014/main" id="{3FE9C014-1D93-9D52-C1F0-B2A72841953E}"/>
              </a:ext>
            </a:extLst>
          </p:cNvPr>
          <p:cNvSpPr/>
          <p:nvPr/>
        </p:nvSpPr>
        <p:spPr>
          <a:xfrm>
            <a:off x="2972800" y="5646287"/>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7. Pendências / Histórico de Aprovações</a:t>
            </a:r>
          </a:p>
        </p:txBody>
      </p:sp>
      <p:cxnSp>
        <p:nvCxnSpPr>
          <p:cNvPr id="65" name="Conector: Curvo 64">
            <a:extLst>
              <a:ext uri="{FF2B5EF4-FFF2-40B4-BE49-F238E27FC236}">
                <a16:creationId xmlns:a16="http://schemas.microsoft.com/office/drawing/2014/main" id="{C18B773B-04E2-CDA3-6BAB-FB7DA33B1567}"/>
              </a:ext>
            </a:extLst>
          </p:cNvPr>
          <p:cNvCxnSpPr>
            <a:cxnSpLocks/>
            <a:stCxn id="60" idx="1"/>
            <a:endCxn id="5" idx="2"/>
          </p:cNvCxnSpPr>
          <p:nvPr/>
        </p:nvCxnSpPr>
        <p:spPr>
          <a:xfrm rot="10800000">
            <a:off x="1964464" y="2583617"/>
            <a:ext cx="1008336" cy="3324030"/>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Conector: Curvo 67">
            <a:extLst>
              <a:ext uri="{FF2B5EF4-FFF2-40B4-BE49-F238E27FC236}">
                <a16:creationId xmlns:a16="http://schemas.microsoft.com/office/drawing/2014/main" id="{E5DB58BA-89DD-FEBF-2A2B-BE21F9A42680}"/>
              </a:ext>
            </a:extLst>
          </p:cNvPr>
          <p:cNvCxnSpPr>
            <a:cxnSpLocks/>
            <a:stCxn id="60" idx="3"/>
            <a:endCxn id="7" idx="2"/>
          </p:cNvCxnSpPr>
          <p:nvPr/>
        </p:nvCxnSpPr>
        <p:spPr>
          <a:xfrm flipV="1">
            <a:off x="4358800" y="2583617"/>
            <a:ext cx="990040" cy="3324030"/>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73" name="Retângulo: Cantos Arredondados 72">
            <a:extLst>
              <a:ext uri="{FF2B5EF4-FFF2-40B4-BE49-F238E27FC236}">
                <a16:creationId xmlns:a16="http://schemas.microsoft.com/office/drawing/2014/main" id="{98A48706-EBE1-0D49-A313-5C24433C7653}"/>
              </a:ext>
            </a:extLst>
          </p:cNvPr>
          <p:cNvSpPr/>
          <p:nvPr/>
        </p:nvSpPr>
        <p:spPr>
          <a:xfrm>
            <a:off x="6150162" y="2633155"/>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8. Visualização / Edição de Demanda</a:t>
            </a:r>
          </a:p>
        </p:txBody>
      </p:sp>
      <p:sp>
        <p:nvSpPr>
          <p:cNvPr id="77" name="Retângulo: Cantos Arredondados 76">
            <a:extLst>
              <a:ext uri="{FF2B5EF4-FFF2-40B4-BE49-F238E27FC236}">
                <a16:creationId xmlns:a16="http://schemas.microsoft.com/office/drawing/2014/main" id="{40EB8EAD-91E4-869C-7287-C23F262AD372}"/>
              </a:ext>
            </a:extLst>
          </p:cNvPr>
          <p:cNvSpPr/>
          <p:nvPr/>
        </p:nvSpPr>
        <p:spPr>
          <a:xfrm>
            <a:off x="6150162" y="3539756"/>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9. Resumo financeiro</a:t>
            </a:r>
          </a:p>
        </p:txBody>
      </p:sp>
      <p:cxnSp>
        <p:nvCxnSpPr>
          <p:cNvPr id="78" name="Conector: Curvo 77">
            <a:extLst>
              <a:ext uri="{FF2B5EF4-FFF2-40B4-BE49-F238E27FC236}">
                <a16:creationId xmlns:a16="http://schemas.microsoft.com/office/drawing/2014/main" id="{F44ECB89-F514-DE0A-1B73-8600FBCC2FBC}"/>
              </a:ext>
            </a:extLst>
          </p:cNvPr>
          <p:cNvCxnSpPr>
            <a:cxnSpLocks/>
            <a:stCxn id="77" idx="1"/>
            <a:endCxn id="7" idx="2"/>
          </p:cNvCxnSpPr>
          <p:nvPr/>
        </p:nvCxnSpPr>
        <p:spPr>
          <a:xfrm rot="10800000">
            <a:off x="5348840" y="2583618"/>
            <a:ext cx="801322" cy="121749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Conector de Seta Reta 81">
            <a:extLst>
              <a:ext uri="{FF2B5EF4-FFF2-40B4-BE49-F238E27FC236}">
                <a16:creationId xmlns:a16="http://schemas.microsoft.com/office/drawing/2014/main" id="{384BEC98-340F-0753-E3E1-54CDB5E0F256}"/>
              </a:ext>
            </a:extLst>
          </p:cNvPr>
          <p:cNvCxnSpPr>
            <a:cxnSpLocks/>
            <a:stCxn id="77" idx="0"/>
            <a:endCxn id="73" idx="2"/>
          </p:cNvCxnSpPr>
          <p:nvPr/>
        </p:nvCxnSpPr>
        <p:spPr>
          <a:xfrm flipV="1">
            <a:off x="6843162" y="3155875"/>
            <a:ext cx="0" cy="38388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7" name="Conector: Curvo 86">
            <a:extLst>
              <a:ext uri="{FF2B5EF4-FFF2-40B4-BE49-F238E27FC236}">
                <a16:creationId xmlns:a16="http://schemas.microsoft.com/office/drawing/2014/main" id="{A524DC09-A2C0-39D7-99F5-89B26290C782}"/>
              </a:ext>
            </a:extLst>
          </p:cNvPr>
          <p:cNvCxnSpPr>
            <a:cxnSpLocks/>
            <a:stCxn id="37" idx="0"/>
            <a:endCxn id="73" idx="3"/>
          </p:cNvCxnSpPr>
          <p:nvPr/>
        </p:nvCxnSpPr>
        <p:spPr>
          <a:xfrm rot="16200000" flipV="1">
            <a:off x="7211452" y="3219226"/>
            <a:ext cx="2005843" cy="1356421"/>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90" name="Retângulo: Cantos Arredondados 89">
            <a:extLst>
              <a:ext uri="{FF2B5EF4-FFF2-40B4-BE49-F238E27FC236}">
                <a16:creationId xmlns:a16="http://schemas.microsoft.com/office/drawing/2014/main" id="{B605135E-92C2-3010-ED56-A2DC3D6DA782}"/>
              </a:ext>
            </a:extLst>
          </p:cNvPr>
          <p:cNvSpPr/>
          <p:nvPr/>
        </p:nvSpPr>
        <p:spPr>
          <a:xfrm>
            <a:off x="6951723" y="428962"/>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10. Construção e Visualização de base para pleito FMM</a:t>
            </a:r>
          </a:p>
        </p:txBody>
      </p:sp>
      <p:cxnSp>
        <p:nvCxnSpPr>
          <p:cNvPr id="110" name="Conector: Curvo 109">
            <a:extLst>
              <a:ext uri="{FF2B5EF4-FFF2-40B4-BE49-F238E27FC236}">
                <a16:creationId xmlns:a16="http://schemas.microsoft.com/office/drawing/2014/main" id="{B125E5C8-8FED-30D3-B2AE-ED5D062AD289}"/>
              </a:ext>
            </a:extLst>
          </p:cNvPr>
          <p:cNvCxnSpPr>
            <a:cxnSpLocks/>
            <a:stCxn id="7" idx="0"/>
            <a:endCxn id="90" idx="1"/>
          </p:cNvCxnSpPr>
          <p:nvPr/>
        </p:nvCxnSpPr>
        <p:spPr>
          <a:xfrm rot="5400000" flipH="1" flipV="1">
            <a:off x="5464994" y="574169"/>
            <a:ext cx="1370575" cy="160288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3" name="Conector de Seta Reta 112">
            <a:extLst>
              <a:ext uri="{FF2B5EF4-FFF2-40B4-BE49-F238E27FC236}">
                <a16:creationId xmlns:a16="http://schemas.microsoft.com/office/drawing/2014/main" id="{448F96E3-EEDA-0EB0-BFD0-B7577C2380E6}"/>
              </a:ext>
            </a:extLst>
          </p:cNvPr>
          <p:cNvCxnSpPr>
            <a:cxnSpLocks/>
            <a:stCxn id="7" idx="3"/>
            <a:endCxn id="36" idx="1"/>
          </p:cNvCxnSpPr>
          <p:nvPr/>
        </p:nvCxnSpPr>
        <p:spPr>
          <a:xfrm>
            <a:off x="6041840" y="2322257"/>
            <a:ext cx="215774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9" name="Retângulo: Cantos Arredondados 118">
            <a:extLst>
              <a:ext uri="{FF2B5EF4-FFF2-40B4-BE49-F238E27FC236}">
                <a16:creationId xmlns:a16="http://schemas.microsoft.com/office/drawing/2014/main" id="{E8DFC02F-0BF9-37DF-95CE-CEDE03FCA911}"/>
              </a:ext>
            </a:extLst>
          </p:cNvPr>
          <p:cNvSpPr/>
          <p:nvPr/>
        </p:nvSpPr>
        <p:spPr>
          <a:xfrm>
            <a:off x="10214801" y="2060897"/>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15. Formulário de Inclusão de Serviços</a:t>
            </a:r>
          </a:p>
        </p:txBody>
      </p:sp>
      <p:cxnSp>
        <p:nvCxnSpPr>
          <p:cNvPr id="120" name="Conector de Seta Reta 119">
            <a:extLst>
              <a:ext uri="{FF2B5EF4-FFF2-40B4-BE49-F238E27FC236}">
                <a16:creationId xmlns:a16="http://schemas.microsoft.com/office/drawing/2014/main" id="{AA96B7BA-C2FE-BB19-EF6E-626E402ACE15}"/>
              </a:ext>
            </a:extLst>
          </p:cNvPr>
          <p:cNvCxnSpPr>
            <a:cxnSpLocks/>
            <a:stCxn id="36" idx="3"/>
            <a:endCxn id="119" idx="1"/>
          </p:cNvCxnSpPr>
          <p:nvPr/>
        </p:nvCxnSpPr>
        <p:spPr>
          <a:xfrm>
            <a:off x="9585583" y="2322257"/>
            <a:ext cx="6292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7" name="Conector: Curvo 136">
            <a:extLst>
              <a:ext uri="{FF2B5EF4-FFF2-40B4-BE49-F238E27FC236}">
                <a16:creationId xmlns:a16="http://schemas.microsoft.com/office/drawing/2014/main" id="{10B17B40-37B8-8C64-FFDA-CBB176066C79}"/>
              </a:ext>
            </a:extLst>
          </p:cNvPr>
          <p:cNvCxnSpPr>
            <a:cxnSpLocks/>
            <a:stCxn id="36" idx="2"/>
            <a:endCxn id="73" idx="3"/>
          </p:cNvCxnSpPr>
          <p:nvPr/>
        </p:nvCxnSpPr>
        <p:spPr>
          <a:xfrm rot="5400000">
            <a:off x="8058924" y="2060856"/>
            <a:ext cx="310898" cy="1356421"/>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ector: Curvo 164">
            <a:extLst>
              <a:ext uri="{FF2B5EF4-FFF2-40B4-BE49-F238E27FC236}">
                <a16:creationId xmlns:a16="http://schemas.microsoft.com/office/drawing/2014/main" id="{9D5DBB44-2491-790F-7EF9-B298BCF79F67}"/>
              </a:ext>
            </a:extLst>
          </p:cNvPr>
          <p:cNvCxnSpPr>
            <a:cxnSpLocks/>
            <a:stCxn id="12" idx="0"/>
            <a:endCxn id="36" idx="3"/>
          </p:cNvCxnSpPr>
          <p:nvPr/>
        </p:nvCxnSpPr>
        <p:spPr>
          <a:xfrm rot="16200000" flipV="1">
            <a:off x="8957642" y="2950199"/>
            <a:ext cx="2578101" cy="1322218"/>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73" name="Retângulo: Cantos Arredondados 172">
            <a:extLst>
              <a:ext uri="{FF2B5EF4-FFF2-40B4-BE49-F238E27FC236}">
                <a16:creationId xmlns:a16="http://schemas.microsoft.com/office/drawing/2014/main" id="{BBBA79CE-350A-25B8-1239-75E0851439F6}"/>
              </a:ext>
            </a:extLst>
          </p:cNvPr>
          <p:cNvSpPr/>
          <p:nvPr/>
        </p:nvSpPr>
        <p:spPr>
          <a:xfrm>
            <a:off x="6201464" y="1179767"/>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16. Conciliação FEL-2</a:t>
            </a:r>
          </a:p>
          <a:p>
            <a:pPr algn="ctr"/>
            <a:r>
              <a:rPr lang="pt-BR" sz="1100" dirty="0">
                <a:solidFill>
                  <a:schemeClr val="tx1"/>
                </a:solidFill>
              </a:rPr>
              <a:t> (serviços HUB </a:t>
            </a:r>
            <a:r>
              <a:rPr lang="pt-BR" sz="1100" dirty="0" err="1">
                <a:solidFill>
                  <a:schemeClr val="tx1"/>
                </a:solidFill>
              </a:rPr>
              <a:t>vs</a:t>
            </a:r>
            <a:r>
              <a:rPr lang="pt-BR" sz="1100" dirty="0">
                <a:solidFill>
                  <a:schemeClr val="tx1"/>
                </a:solidFill>
              </a:rPr>
              <a:t> Jobs TM Master)</a:t>
            </a:r>
          </a:p>
        </p:txBody>
      </p:sp>
      <p:cxnSp>
        <p:nvCxnSpPr>
          <p:cNvPr id="174" name="Conector: Curvo 173">
            <a:extLst>
              <a:ext uri="{FF2B5EF4-FFF2-40B4-BE49-F238E27FC236}">
                <a16:creationId xmlns:a16="http://schemas.microsoft.com/office/drawing/2014/main" id="{F5C65C98-6B08-135B-C8BA-D3E4C2D7E3ED}"/>
              </a:ext>
            </a:extLst>
          </p:cNvPr>
          <p:cNvCxnSpPr>
            <a:cxnSpLocks/>
            <a:stCxn id="7" idx="0"/>
            <a:endCxn id="173" idx="1"/>
          </p:cNvCxnSpPr>
          <p:nvPr/>
        </p:nvCxnSpPr>
        <p:spPr>
          <a:xfrm rot="5400000" flipH="1" flipV="1">
            <a:off x="5465267" y="1324700"/>
            <a:ext cx="619770" cy="852624"/>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8" name="Conector: Curvo 177">
            <a:extLst>
              <a:ext uri="{FF2B5EF4-FFF2-40B4-BE49-F238E27FC236}">
                <a16:creationId xmlns:a16="http://schemas.microsoft.com/office/drawing/2014/main" id="{1D3DE8C4-8E0D-42FC-DBC2-5B157D27C8CA}"/>
              </a:ext>
            </a:extLst>
          </p:cNvPr>
          <p:cNvCxnSpPr>
            <a:cxnSpLocks/>
            <a:stCxn id="173" idx="3"/>
            <a:endCxn id="36" idx="0"/>
          </p:cNvCxnSpPr>
          <p:nvPr/>
        </p:nvCxnSpPr>
        <p:spPr>
          <a:xfrm>
            <a:off x="7587464" y="1441127"/>
            <a:ext cx="1305119" cy="619770"/>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89" name="Retângulo: Cantos Arredondados 188">
            <a:extLst>
              <a:ext uri="{FF2B5EF4-FFF2-40B4-BE49-F238E27FC236}">
                <a16:creationId xmlns:a16="http://schemas.microsoft.com/office/drawing/2014/main" id="{C86A8CC7-4E3F-D9B9-4812-0BCF1CAA97C1}"/>
              </a:ext>
            </a:extLst>
          </p:cNvPr>
          <p:cNvSpPr/>
          <p:nvPr/>
        </p:nvSpPr>
        <p:spPr>
          <a:xfrm>
            <a:off x="9169936" y="3290522"/>
            <a:ext cx="1386000" cy="522720"/>
          </a:xfrm>
          <a:prstGeom prst="roundRect">
            <a:avLst>
              <a:gd name="adj" fmla="val 13394"/>
            </a:avLst>
          </a:prstGeom>
          <a:solidFill>
            <a:schemeClr val="bg1"/>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tx1"/>
                </a:solidFill>
              </a:rPr>
              <a:t>18. Formulário qualificação GMUD</a:t>
            </a:r>
          </a:p>
        </p:txBody>
      </p:sp>
      <p:cxnSp>
        <p:nvCxnSpPr>
          <p:cNvPr id="190" name="Conector de Seta Reta 189">
            <a:extLst>
              <a:ext uri="{FF2B5EF4-FFF2-40B4-BE49-F238E27FC236}">
                <a16:creationId xmlns:a16="http://schemas.microsoft.com/office/drawing/2014/main" id="{F2747D28-0D7B-E201-D22E-9FB519159986}"/>
              </a:ext>
            </a:extLst>
          </p:cNvPr>
          <p:cNvCxnSpPr>
            <a:cxnSpLocks/>
            <a:stCxn id="12" idx="0"/>
            <a:endCxn id="119" idx="2"/>
          </p:cNvCxnSpPr>
          <p:nvPr/>
        </p:nvCxnSpPr>
        <p:spPr>
          <a:xfrm flipV="1">
            <a:off x="10907801" y="2583617"/>
            <a:ext cx="0" cy="231674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ector: Curvo 192">
            <a:extLst>
              <a:ext uri="{FF2B5EF4-FFF2-40B4-BE49-F238E27FC236}">
                <a16:creationId xmlns:a16="http://schemas.microsoft.com/office/drawing/2014/main" id="{7ED31E2C-BDCE-DFB9-425B-85AD1113B88C}"/>
              </a:ext>
            </a:extLst>
          </p:cNvPr>
          <p:cNvCxnSpPr>
            <a:cxnSpLocks/>
            <a:stCxn id="36" idx="2"/>
            <a:endCxn id="189" idx="1"/>
          </p:cNvCxnSpPr>
          <p:nvPr/>
        </p:nvCxnSpPr>
        <p:spPr>
          <a:xfrm rot="16200000" flipH="1">
            <a:off x="8547127" y="2929072"/>
            <a:ext cx="968265" cy="277353"/>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Conector: Curvo 198">
            <a:extLst>
              <a:ext uri="{FF2B5EF4-FFF2-40B4-BE49-F238E27FC236}">
                <a16:creationId xmlns:a16="http://schemas.microsoft.com/office/drawing/2014/main" id="{F6D0A94E-9E5F-3F83-9654-B31F2EF195AE}"/>
              </a:ext>
            </a:extLst>
          </p:cNvPr>
          <p:cNvCxnSpPr>
            <a:cxnSpLocks/>
            <a:stCxn id="189" idx="0"/>
            <a:endCxn id="119" idx="1"/>
          </p:cNvCxnSpPr>
          <p:nvPr/>
        </p:nvCxnSpPr>
        <p:spPr>
          <a:xfrm rot="5400000" flipH="1" flipV="1">
            <a:off x="9554736" y="2630458"/>
            <a:ext cx="968265" cy="351865"/>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5" name="Retângulo: Cantos Arredondados 204">
            <a:extLst>
              <a:ext uri="{FF2B5EF4-FFF2-40B4-BE49-F238E27FC236}">
                <a16:creationId xmlns:a16="http://schemas.microsoft.com/office/drawing/2014/main" id="{47C28918-AF9F-7F1A-AE61-50612F4020B0}"/>
              </a:ext>
            </a:extLst>
          </p:cNvPr>
          <p:cNvSpPr/>
          <p:nvPr/>
        </p:nvSpPr>
        <p:spPr>
          <a:xfrm>
            <a:off x="5990851" y="5416873"/>
            <a:ext cx="1386000" cy="522720"/>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pt-BR" sz="1100" dirty="0">
                <a:solidFill>
                  <a:schemeClr val="bg1"/>
                </a:solidFill>
              </a:rPr>
              <a:t>17. Visualização e Gerenciamento de </a:t>
            </a:r>
            <a:r>
              <a:rPr lang="pt-BR" sz="1100" dirty="0" err="1">
                <a:solidFill>
                  <a:schemeClr val="bg1"/>
                </a:solidFill>
              </a:rPr>
              <a:t>GMUD's</a:t>
            </a:r>
            <a:endParaRPr lang="pt-BR" sz="1100" dirty="0">
              <a:solidFill>
                <a:schemeClr val="bg1"/>
              </a:solidFill>
            </a:endParaRPr>
          </a:p>
        </p:txBody>
      </p:sp>
      <p:cxnSp>
        <p:nvCxnSpPr>
          <p:cNvPr id="208" name="Conector: Curvo 207">
            <a:extLst>
              <a:ext uri="{FF2B5EF4-FFF2-40B4-BE49-F238E27FC236}">
                <a16:creationId xmlns:a16="http://schemas.microsoft.com/office/drawing/2014/main" id="{E81AB0C0-AE2A-5FD4-4D36-B029201DD8F4}"/>
              </a:ext>
            </a:extLst>
          </p:cNvPr>
          <p:cNvCxnSpPr>
            <a:cxnSpLocks/>
            <a:stCxn id="205" idx="1"/>
            <a:endCxn id="7" idx="2"/>
          </p:cNvCxnSpPr>
          <p:nvPr/>
        </p:nvCxnSpPr>
        <p:spPr>
          <a:xfrm rot="10800000">
            <a:off x="5348841" y="2583617"/>
            <a:ext cx="642011" cy="3094616"/>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1" name="Conector: Curvo 210">
            <a:extLst>
              <a:ext uri="{FF2B5EF4-FFF2-40B4-BE49-F238E27FC236}">
                <a16:creationId xmlns:a16="http://schemas.microsoft.com/office/drawing/2014/main" id="{603CB993-03F2-6116-C4C0-33F6D036A8BB}"/>
              </a:ext>
            </a:extLst>
          </p:cNvPr>
          <p:cNvCxnSpPr>
            <a:cxnSpLocks/>
            <a:stCxn id="205" idx="0"/>
            <a:endCxn id="189" idx="1"/>
          </p:cNvCxnSpPr>
          <p:nvPr/>
        </p:nvCxnSpPr>
        <p:spPr>
          <a:xfrm rot="5400000" flipH="1" flipV="1">
            <a:off x="6994398" y="3241336"/>
            <a:ext cx="1864991" cy="2486085"/>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9" name="Retângulo: Cantos Arredondados 218">
            <a:extLst>
              <a:ext uri="{FF2B5EF4-FFF2-40B4-BE49-F238E27FC236}">
                <a16:creationId xmlns:a16="http://schemas.microsoft.com/office/drawing/2014/main" id="{E4E577E0-7B4F-00A6-1993-F294A5624B98}"/>
              </a:ext>
            </a:extLst>
          </p:cNvPr>
          <p:cNvSpPr/>
          <p:nvPr/>
        </p:nvSpPr>
        <p:spPr>
          <a:xfrm>
            <a:off x="701459" y="6457373"/>
            <a:ext cx="209965" cy="194099"/>
          </a:xfrm>
          <a:prstGeom prst="roundRect">
            <a:avLst>
              <a:gd name="adj" fmla="val 13394"/>
            </a:avLst>
          </a:prstGeom>
          <a:solidFill>
            <a:srgbClr val="014A65"/>
          </a:solidFill>
          <a:ln w="6350">
            <a:solidFill>
              <a:srgbClr val="03738E"/>
            </a:solid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pt-BR" sz="1100" dirty="0">
              <a:solidFill>
                <a:schemeClr val="bg1"/>
              </a:solidFill>
            </a:endParaRPr>
          </a:p>
        </p:txBody>
      </p:sp>
    </p:spTree>
    <p:extLst>
      <p:ext uri="{BB962C8B-B14F-4D97-AF65-F5344CB8AC3E}">
        <p14:creationId xmlns:p14="http://schemas.microsoft.com/office/powerpoint/2010/main" val="6744031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D0708-0448-0104-FD03-B708E4BFE6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A0FC52-A599-C39E-4C73-D92D389F6AED}"/>
              </a:ext>
            </a:extLst>
          </p:cNvPr>
          <p:cNvSpPr txBox="1">
            <a:spLocks/>
          </p:cNvSpPr>
          <p:nvPr/>
        </p:nvSpPr>
        <p:spPr>
          <a:xfrm>
            <a:off x="725574" y="1825413"/>
            <a:ext cx="9307426" cy="2387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800" b="1" kern="1200">
                <a:solidFill>
                  <a:schemeClr val="bg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pt-BR" sz="4800" b="1" i="0" u="none" strike="noStrike" kern="1200" cap="none" spc="0" normalizeH="0" baseline="0" noProof="1">
                <a:ln>
                  <a:noFill/>
                </a:ln>
                <a:solidFill>
                  <a:sysClr val="window" lastClr="FFFFFF"/>
                </a:solidFill>
                <a:effectLst/>
                <a:uLnTx/>
                <a:uFillTx/>
                <a:latin typeface="Calibri" panose="020F0502020204030204"/>
                <a:ea typeface="+mj-ea"/>
                <a:cs typeface="+mj-cs"/>
              </a:rPr>
              <a:t>HUB DE OBRAS</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pt-BR" sz="4100" b="1" i="0" u="none" strike="noStrike" kern="1200" cap="none" spc="0" normalizeH="0" baseline="0" noProof="1">
                <a:ln>
                  <a:noFill/>
                </a:ln>
                <a:solidFill>
                  <a:sysClr val="window" lastClr="FFFFFF"/>
                </a:solidFill>
                <a:effectLst/>
                <a:uLnTx/>
                <a:uFillTx/>
                <a:latin typeface="Calibri" panose="020F0502020204030204"/>
                <a:ea typeface="+mj-ea"/>
                <a:cs typeface="+mj-cs"/>
              </a:rPr>
              <a:t>Macro Processos</a:t>
            </a:r>
            <a:endParaRPr kumimoji="0" lang="pt-BR" sz="4100" b="1" i="0" u="none" strike="sngStrike" kern="1200" cap="none" spc="0" normalizeH="0" baseline="0" noProof="1">
              <a:ln>
                <a:noFill/>
              </a:ln>
              <a:solidFill>
                <a:sysClr val="window" lastClr="FFFFFF"/>
              </a:solidFill>
              <a:effectLst/>
              <a:uLnTx/>
              <a:uFillTx/>
              <a:latin typeface="Calibri" panose="020F0502020204030204"/>
              <a:ea typeface="+mj-ea"/>
              <a:cs typeface="+mj-cs"/>
            </a:endParaRPr>
          </a:p>
        </p:txBody>
      </p:sp>
    </p:spTree>
    <p:extLst>
      <p:ext uri="{BB962C8B-B14F-4D97-AF65-F5344CB8AC3E}">
        <p14:creationId xmlns:p14="http://schemas.microsoft.com/office/powerpoint/2010/main" val="42197589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o Office">
  <a:themeElements>
    <a:clrScheme name="Vectis std">
      <a:dk1>
        <a:sysClr val="windowText" lastClr="000000"/>
      </a:dk1>
      <a:lt1>
        <a:sysClr val="window" lastClr="FFFFFF"/>
      </a:lt1>
      <a:dk2>
        <a:srgbClr val="004C97"/>
      </a:dk2>
      <a:lt2>
        <a:srgbClr val="EEECE1"/>
      </a:lt2>
      <a:accent1>
        <a:srgbClr val="004C97"/>
      </a:accent1>
      <a:accent2>
        <a:srgbClr val="994D00"/>
      </a:accent2>
      <a:accent3>
        <a:srgbClr val="4D9900"/>
      </a:accent3>
      <a:accent4>
        <a:srgbClr val="260099"/>
      </a:accent4>
      <a:accent5>
        <a:srgbClr val="990000"/>
      </a:accent5>
      <a:accent6>
        <a:srgbClr val="F79646"/>
      </a:accent6>
      <a:hlink>
        <a:srgbClr val="999900"/>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marL="285750" indent="-285750">
          <a:buFont typeface="Wingdings" panose="05000000000000000000" pitchFamily="2" charset="2"/>
          <a:buChar char="§"/>
          <a:defRPr sz="1600" dirty="0" smtClean="0"/>
        </a:defPPr>
      </a:lstStyle>
    </a:txDef>
  </a:objectDefaults>
  <a:extraClrSchemeLst/>
</a:theme>
</file>

<file path=ppt/theme/theme2.xml><?xml version="1.0" encoding="utf-8"?>
<a:theme xmlns:a="http://schemas.openxmlformats.org/drawingml/2006/main" name="Personalizar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Vectis std">
      <a:dk1>
        <a:sysClr val="windowText" lastClr="000000"/>
      </a:dk1>
      <a:lt1>
        <a:sysClr val="window" lastClr="FFFFFF"/>
      </a:lt1>
      <a:dk2>
        <a:srgbClr val="004C97"/>
      </a:dk2>
      <a:lt2>
        <a:srgbClr val="EEECE1"/>
      </a:lt2>
      <a:accent1>
        <a:srgbClr val="004C97"/>
      </a:accent1>
      <a:accent2>
        <a:srgbClr val="994D00"/>
      </a:accent2>
      <a:accent3>
        <a:srgbClr val="4D9900"/>
      </a:accent3>
      <a:accent4>
        <a:srgbClr val="260099"/>
      </a:accent4>
      <a:accent5>
        <a:srgbClr val="990000"/>
      </a:accent5>
      <a:accent6>
        <a:srgbClr val="F79646"/>
      </a:accent6>
      <a:hlink>
        <a:srgbClr val="999900"/>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111385</TotalTime>
  <Words>17585</Words>
  <Application>Microsoft Office PowerPoint</Application>
  <PresentationFormat>Widescreen</PresentationFormat>
  <Paragraphs>3618</Paragraphs>
  <Slides>94</Slides>
  <Notes>12</Notes>
  <HiddenSlides>2</HiddenSlides>
  <MMClips>0</MMClips>
  <ScaleCrop>false</ScaleCrop>
  <HeadingPairs>
    <vt:vector size="8" baseType="variant">
      <vt:variant>
        <vt:lpstr>Fontes usadas</vt:lpstr>
      </vt:variant>
      <vt:variant>
        <vt:i4>6</vt:i4>
      </vt:variant>
      <vt:variant>
        <vt:lpstr>Tema</vt:lpstr>
      </vt:variant>
      <vt:variant>
        <vt:i4>2</vt:i4>
      </vt:variant>
      <vt:variant>
        <vt:lpstr>Servidores OLE inseridos</vt:lpstr>
      </vt:variant>
      <vt:variant>
        <vt:i4>2</vt:i4>
      </vt:variant>
      <vt:variant>
        <vt:lpstr>Títulos de slides</vt:lpstr>
      </vt:variant>
      <vt:variant>
        <vt:i4>94</vt:i4>
      </vt:variant>
    </vt:vector>
  </HeadingPairs>
  <TitlesOfParts>
    <vt:vector size="104" baseType="lpstr">
      <vt:lpstr>Aptos</vt:lpstr>
      <vt:lpstr>Arial</vt:lpstr>
      <vt:lpstr>Calibri</vt:lpstr>
      <vt:lpstr>System Font Regular</vt:lpstr>
      <vt:lpstr>Webdings</vt:lpstr>
      <vt:lpstr>Wingdings</vt:lpstr>
      <vt:lpstr>Tema do Office</vt:lpstr>
      <vt:lpstr>Personalizar design</vt:lpstr>
      <vt:lpstr>Slide do think-cell</vt:lpstr>
      <vt:lpstr>Worksheet</vt:lpstr>
      <vt:lpstr>Apresentação do PowerPoint</vt:lpstr>
      <vt:lpstr>HUB de Obras visão geral de escopo e funções</vt:lpstr>
      <vt:lpstr>HUB de Obras status da Documentação de Processos</vt:lpstr>
      <vt:lpstr>Apresentação do PowerPoint</vt:lpstr>
      <vt:lpstr>Apresentação do PowerPoint</vt:lpstr>
      <vt:lpstr>HUB de Obras tema 01: Cadastro da Parada</vt:lpstr>
      <vt:lpstr>Cadastro da Parada</vt:lpstr>
      <vt:lpstr>Cadastro de Parada Macro Processo</vt:lpstr>
      <vt:lpstr>SGO – Sistema de Gestão de Obras</vt:lpstr>
      <vt:lpstr>Cadastro da Parada Relação autoritativa entre os sistemas SGO e HUB</vt:lpstr>
      <vt:lpstr>Cadastro e edição da parada e relação entre SGO e HUB Fluxo detalhado</vt:lpstr>
      <vt:lpstr>Cadastro e edição da parada e relação entre SGO e HUB Lista de Campos</vt:lpstr>
      <vt:lpstr>Cadastro de Paradas Mock-up tela inicial</vt:lpstr>
      <vt:lpstr>Apresentação do PowerPoint</vt:lpstr>
      <vt:lpstr>HUB de Obras tema 02: Templates de Obras</vt:lpstr>
      <vt:lpstr>Templates de Obras</vt:lpstr>
      <vt:lpstr>Templates de Obras Criação de Template</vt:lpstr>
      <vt:lpstr>Templates de Obras Macro Processo de Importação do Template</vt:lpstr>
      <vt:lpstr>Templates de Obras Mockup – Tela de Criação de Template</vt:lpstr>
      <vt:lpstr>Templates de Obras Mockup – Tela de Edição de Template</vt:lpstr>
      <vt:lpstr>Apresentação do PowerPoint</vt:lpstr>
      <vt:lpstr>Apresentação do PowerPoint</vt:lpstr>
      <vt:lpstr>Status da Parada   (1/2) Marcos de início e pré-requisitos mínimos para a mudança de status</vt:lpstr>
      <vt:lpstr>Status da Parada   (2/2) Marcos de início e pré-requisitos mínimos para a mudança de status</vt:lpstr>
      <vt:lpstr>[FEL-0 para FEL-1] Da primeira estimativa financeira à abertura de Orçamento e Coletores </vt:lpstr>
      <vt:lpstr>[FEL-1 para FEL-2] Importação da Lista de Serviços TM Master</vt:lpstr>
      <vt:lpstr>[FEL-2 para FEL-3] Refinamento e congelamento do(s) Escopo(s) da(s) Obra(s)</vt:lpstr>
      <vt:lpstr>[FEL-3 para FEL-4] Processo de Cotação de Serviços</vt:lpstr>
      <vt:lpstr>Detalhes importantes</vt:lpstr>
      <vt:lpstr>Apresentação do PowerPoint</vt:lpstr>
      <vt:lpstr>HUB de Obras tema 04: Planejamento por Escopo/Demanda</vt:lpstr>
      <vt:lpstr>Planejamento por Escopo/Demanda Estrutura de Dados – Modelo Atual</vt:lpstr>
      <vt:lpstr>HUB de Obras Exemplo de Descrição de Escopo em Ficha de Abertura/Atualização de Paradas Técnicas</vt:lpstr>
      <vt:lpstr>HUB de Obras Exemplo de Detalhamento (ID-83) em Executável Orçamento 24-28 – V3.2</vt:lpstr>
      <vt:lpstr>Planejamento por Escopo/Demanda Estrutura de Dados – Gaps do Modelo Atual</vt:lpstr>
      <vt:lpstr>Planejamento por Escopo/Demanda Coletores Financeiros Analíticos Categorizados em Materiais, Oficinas e Estaleiro</vt:lpstr>
      <vt:lpstr>Planejamento por Escopo/Demanda Estrutura de Dados – Novo Modelo</vt:lpstr>
      <vt:lpstr>Planejamento por Escopo/Demanda Estrutura de Dados – Novo Modelo</vt:lpstr>
      <vt:lpstr>Planejamento por Escopo/Demanda Estrutura de Dados - Exemplo</vt:lpstr>
      <vt:lpstr>Planejamento por Escopo/Demanda Conceito dos diferentes níveis da estrutura de dados do novo modelo</vt:lpstr>
      <vt:lpstr>Planejamento por Escopo/Demanda Macro Processo</vt:lpstr>
      <vt:lpstr>Planejamento por Escopo/Demanda Observações importantes</vt:lpstr>
      <vt:lpstr>Planejamento por Escopo/Demanda Mockup Ficha da Parada</vt:lpstr>
      <vt:lpstr>Planejamento por Escopo/Demanda Mockup Ficha de Demanda</vt:lpstr>
      <vt:lpstr>Apresentação do PowerPoint</vt:lpstr>
      <vt:lpstr>HUB de Obras tema 05: Simulações de Cenários</vt:lpstr>
      <vt:lpstr>Simulação de Cenários</vt:lpstr>
      <vt:lpstr>Simulação de Cenários</vt:lpstr>
      <vt:lpstr>Simulação de Cenários Macro Processo</vt:lpstr>
      <vt:lpstr>Simulação de Cenários Fluxograma do Processo</vt:lpstr>
      <vt:lpstr>Simulação de Cenários Detalhe do Macro Processo e Fluxo de Dados de Cenário com Quebra de Escopo da Parada</vt:lpstr>
      <vt:lpstr>Simulação de Cenários Mock-up tela inicial – Ilustração de Parada com simulação de cenários em andamento</vt:lpstr>
      <vt:lpstr>Simulação de Cenários Mock-up tela de edição e análise de cenários de Parada</vt:lpstr>
      <vt:lpstr>Apresentação do PowerPoint</vt:lpstr>
      <vt:lpstr>HUB Capex tema 06: Esteira Financeira</vt:lpstr>
      <vt:lpstr>Esteira Financeira Proposta HUB</vt:lpstr>
      <vt:lpstr>Esteira Financeira Proposta HUB</vt:lpstr>
      <vt:lpstr>Esteira Financeira Proposta HUB</vt:lpstr>
      <vt:lpstr>Esteira Financeira Proposta HUB</vt:lpstr>
      <vt:lpstr>Esteira Financeira Proposta HUB</vt:lpstr>
      <vt:lpstr>Esteira Financeira</vt:lpstr>
      <vt:lpstr>Esteira Financeira Fluxo de Dados | Pedidos de Compras de Serviços - Oficinas</vt:lpstr>
      <vt:lpstr>Esteira Financeira Processo | Pedidos de Compras de Serviços - Oficinas</vt:lpstr>
      <vt:lpstr>Apresentação do PowerPoint</vt:lpstr>
      <vt:lpstr>Esteira Financeira Fluxo de Dados | Pedidos de Compras de Serviços - Estaleiro</vt:lpstr>
      <vt:lpstr>Esteira Financeira Processo | Pedidos de Compras de Serviços - Estaleiro</vt:lpstr>
      <vt:lpstr>Esteira Financeira Fluxo de Dados | Pedidos de Compras de Materiais Nacionais</vt:lpstr>
      <vt:lpstr>Esteira Financeira Processo | Pedidos de Compras de Materiais Nacionais</vt:lpstr>
      <vt:lpstr>Esteira Financeira Fluxo de Dados | Pedidos de Compras de Materiais Importados</vt:lpstr>
      <vt:lpstr>Esteira Financeira Processo| Pedidos de Compras de Materiais Importados</vt:lpstr>
      <vt:lpstr>Apresentação do PowerPoint</vt:lpstr>
      <vt:lpstr>HUB de Obras visão geral de escopo e funções</vt:lpstr>
      <vt:lpstr>Apresentação do PowerPoint</vt:lpstr>
      <vt:lpstr>HUB de Obras visão geral de escopo e funções</vt:lpstr>
      <vt:lpstr>Podemos categorizar os serviços em 3 tipos que possuem dinâmicas distintas</vt:lpstr>
      <vt:lpstr>O fluxo de pagamento ao Estaleiro é feito através de 2 instrumentos principais: PPU e VOR’s</vt:lpstr>
      <vt:lpstr>O fluxo financeiro do Estaleiro é feito através de 2 instrumentos: PPU e VOR’s</vt:lpstr>
      <vt:lpstr>Apresentação do PowerPoint</vt:lpstr>
      <vt:lpstr>HUB de Obras tema 11: GMUD</vt:lpstr>
      <vt:lpstr>GMUD</vt:lpstr>
      <vt:lpstr>GMUD Solução e processo “as is”</vt:lpstr>
      <vt:lpstr>GMUD Processo “to be”</vt:lpstr>
      <vt:lpstr>GMUD Lista de campos</vt:lpstr>
      <vt:lpstr>GMUD Lista de campos para abertura de GMUD no App Mobile</vt:lpstr>
      <vt:lpstr>GMUD Os 7 tipos de GMUD</vt:lpstr>
      <vt:lpstr>GMUD Fluxograma do Processo de Abertura e Aprovação</vt:lpstr>
      <vt:lpstr>GMUD Fluxograma do Processo de Atualização em Controles e Sistemas Terceiros</vt:lpstr>
      <vt:lpstr>GMUD Processo Detalhado por Tipo de GMUD</vt:lpstr>
      <vt:lpstr>Apresentação do PowerPoint</vt:lpstr>
      <vt:lpstr>BI Capex Visualizações possíveis no atual BI de Acompanhamento de Capex – para referência</vt:lpstr>
      <vt:lpstr>BI Capex Visualizações possíveis no atual BI de Acompanhamento de Capex – para referência</vt:lpstr>
      <vt:lpstr>BI Capex Visualizações possíveis no atual BI de Acompanhamento de Capex – para referência</vt:lpstr>
      <vt:lpstr>Mapa de Telas</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Renato Rezende</dc:creator>
  <cp:lastModifiedBy>Anderson Bravim - Vectis</cp:lastModifiedBy>
  <cp:revision>1698</cp:revision>
  <cp:lastPrinted>2025-04-17T20:54:29Z</cp:lastPrinted>
  <dcterms:created xsi:type="dcterms:W3CDTF">2019-03-12T12:45:35Z</dcterms:created>
  <dcterms:modified xsi:type="dcterms:W3CDTF">2025-12-29T19:44:02Z</dcterms:modified>
</cp:coreProperties>
</file>